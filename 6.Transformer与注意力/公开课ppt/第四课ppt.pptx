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 id="2147483661" r:id="rId4"/>
    <p:sldMasterId id="2147483672" r:id="rId5"/>
    <p:sldMasterId id="2147483683" r:id="rId6"/>
    <p:sldMasterId id="2147483694" r:id="rId7"/>
    <p:sldMasterId id="2147483705" r:id="rId8"/>
  </p:sldMasterIdLst>
  <p:notesMasterIdLst>
    <p:notesMasterId r:id="rId10"/>
  </p:notesMasterIdLst>
  <p:sldIdLst>
    <p:sldId id="256" r:id="rId9"/>
    <p:sldId id="257" r:id="rId11"/>
    <p:sldId id="258" r:id="rId12"/>
    <p:sldId id="259" r:id="rId13"/>
    <p:sldId id="261" r:id="rId14"/>
    <p:sldId id="260" r:id="rId15"/>
    <p:sldId id="262" r:id="rId16"/>
    <p:sldId id="263" r:id="rId17"/>
    <p:sldId id="264" r:id="rId18"/>
    <p:sldId id="265" r:id="rId19"/>
    <p:sldId id="266" r:id="rId20"/>
    <p:sldId id="267" r:id="rId21"/>
    <p:sldId id="268" r:id="rId22"/>
    <p:sldId id="269" r:id="rId23"/>
    <p:sldId id="270" r:id="rId24"/>
    <p:sldId id="271" r:id="rId25"/>
    <p:sldId id="272" r:id="rId26"/>
    <p:sldId id="278" r:id="rId27"/>
    <p:sldId id="274" r:id="rId28"/>
    <p:sldId id="275" r:id="rId29"/>
    <p:sldId id="279" r:id="rId30"/>
    <p:sldId id="277" r:id="rId31"/>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8E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en-US" altLang="zh-CN">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a:spcAft>
                <a:spcPts val="600"/>
              </a:spcAft>
            </a:pPr>
            <a:endParaRPr lang="zh-CN" altLang="en-US" sz="1200" b="0">
              <a:solidFill>
                <a:srgbClr val="1F2937"/>
              </a:solidFill>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a:spcAft>
                <a:spcPts val="600"/>
              </a:spcAft>
            </a:pPr>
            <a:endParaRPr lang="zh-CN" altLang="en-US" sz="1200" b="0">
              <a:solidFill>
                <a:srgbClr val="1F2937"/>
              </a:solidFill>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a:spcAft>
                <a:spcPts val="600"/>
              </a:spcAft>
            </a:pPr>
            <a:endParaRPr lang="zh-CN" altLang="en-US" sz="1200" b="0">
              <a:solidFill>
                <a:srgbClr val="1F2937"/>
              </a:solidFill>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Pr>
              <a:spcAft>
                <a:spcPts val="600"/>
              </a:spcAft>
            </a:pPr>
            <a:endParaRPr lang="zh-CN" altLang="en-US" sz="1200" b="0">
              <a:solidFill>
                <a:srgbClr val="1F2937"/>
              </a:solidFill>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latin typeface="Source Han Sans SC"/>
              <a:ea typeface="Source Han Sans SC"/>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a:spcAft>
                <a:spcPts val="600"/>
              </a:spcAft>
            </a:pPr>
            <a:endParaRPr lang="zh-CN" altLang="en-US" sz="1200" b="0">
              <a:solidFill>
                <a:srgbClr val="1F2937"/>
              </a:solidFill>
              <a:latin typeface="Source Han Sans SC"/>
              <a:ea typeface="Source Han Sans SC"/>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p:pic>
        <p:nvPicPr>
          <p:cNvPr id="14" name="图片 4"/>
          <p:cNvPicPr>
            <a:picLocks noChangeAspect="1"/>
          </p:cNvPicPr>
          <p:nvPr/>
        </p:nvPicPr>
        <p:blipFill>
          <a:blip r:embed="rId2"/>
          <a:stretch>
            <a:fillRect/>
          </a:stretch>
        </p:blipFill>
        <p:spPr>
          <a:xfrm>
            <a:off x="0" y="0"/>
            <a:ext cx="12192000" cy="6858000"/>
          </a:xfrm>
          <a:prstGeom prst="rect">
            <a:avLst/>
          </a:prstGeom>
        </p:spPr>
      </p:pic>
      <p:sp>
        <p:nvSpPr>
          <p:cNvPr id="8" name="标题 1"/>
          <p:cNvSpPr>
            <a:spLocks noGrp="1"/>
          </p:cNvSpPr>
          <p:nvPr>
            <p:ph type="ctrTitle"/>
          </p:nvPr>
        </p:nvSpPr>
        <p:spPr>
          <a:xfrm>
            <a:off x="743985" y="2437178"/>
            <a:ext cx="9144000" cy="1369968"/>
          </a:xfrm>
        </p:spPr>
        <p:txBody>
          <a:bodyPr anchor="b">
            <a:normAutofit/>
          </a:bodyPr>
          <a:lstStyle>
            <a:lvl1pPr algn="l">
              <a:lnSpc>
                <a:spcPct val="100000"/>
              </a:lnSpc>
              <a:buNone/>
              <a:defRPr sz="4400" b="1" i="0" baseline="0">
                <a:solidFill>
                  <a:schemeClr val="bg1"/>
                </a:solidFill>
                <a:latin typeface="Arial" panose="020B0604020202020204"/>
                <a:ea typeface="Arial" panose="020B0604020202020204"/>
                <a:cs typeface="Arial" panose="020B0604020202020204"/>
              </a:defRPr>
            </a:lvl1pPr>
          </a:lstStyle>
          <a:p/>
        </p:txBody>
      </p:sp>
      <p:sp>
        <p:nvSpPr>
          <p:cNvPr id="10" name="副标题 2"/>
          <p:cNvSpPr>
            <a:spLocks noGrp="1"/>
          </p:cNvSpPr>
          <p:nvPr>
            <p:ph type="subTitle" idx="1"/>
          </p:nvPr>
        </p:nvSpPr>
        <p:spPr>
          <a:xfrm>
            <a:off x="743985" y="4174810"/>
            <a:ext cx="9144000" cy="424021"/>
          </a:xfrm>
        </p:spPr>
        <p:txBody>
          <a:bodyPr>
            <a:normAutofit/>
          </a:bodyPr>
          <a:lstStyle>
            <a:lvl1pPr marL="0" indent="0" algn="l">
              <a:buNone/>
              <a:defRPr sz="1600" b="0" i="0" baseline="0">
                <a:solidFill>
                  <a:schemeClr val="bg1"/>
                </a:solidFill>
                <a:latin typeface="Arial" panose="020B0604020202020204"/>
                <a:ea typeface="Arial" panose="020B0604020202020204"/>
                <a:cs typeface="Arial" panose="020B0604020202020204"/>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p:txBody>
      </p:sp>
      <p:sp>
        <p:nvSpPr>
          <p:cNvPr id="11" name="矩形 10"/>
          <p:cNvSpPr>
            <a:spLocks noGrp="1"/>
          </p:cNvSpPr>
          <p:nvPr/>
        </p:nvSpPr>
        <p:spPr>
          <a:xfrm>
            <a:off x="853207" y="3849897"/>
            <a:ext cx="2080493" cy="10455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pic>
        <p:nvPicPr>
          <p:cNvPr id="18" name="图片 11"/>
          <p:cNvPicPr>
            <a:picLocks noChangeAspect="1"/>
          </p:cNvPicPr>
          <p:nvPr/>
        </p:nvPicPr>
        <p:blipFill>
          <a:blip r:embed="rId3"/>
          <a:stretch>
            <a:fillRect/>
          </a:stretch>
        </p:blipFill>
        <p:spPr>
          <a:xfrm>
            <a:off x="865907" y="412582"/>
            <a:ext cx="1492015" cy="36191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p:pic>
        <p:nvPicPr>
          <p:cNvPr id="11" name="图片 6"/>
          <p:cNvPicPr>
            <a:picLocks noChangeAspect="1"/>
          </p:cNvPicPr>
          <p:nvPr/>
        </p:nvPicPr>
        <p:blipFill>
          <a:blip r:embed="rId2"/>
          <a:stretch>
            <a:fillRect/>
          </a:stretch>
        </p:blipFill>
        <p:spPr>
          <a:xfrm>
            <a:off x="-1235002" y="-1412301"/>
            <a:ext cx="12969802" cy="9727351"/>
          </a:xfrm>
          <a:prstGeom prst="rect">
            <a:avLst/>
          </a:prstGeom>
        </p:spPr>
      </p:pic>
      <p:sp>
        <p:nvSpPr>
          <p:cNvPr id="2" name="标题 1"/>
          <p:cNvSpPr>
            <a:spLocks noGrp="1"/>
          </p:cNvSpPr>
          <p:nvPr>
            <p:ph type="title"/>
          </p:nvPr>
        </p:nvSpPr>
        <p:spPr>
          <a:xfrm>
            <a:off x="5649153" y="3033425"/>
            <a:ext cx="5711080" cy="677368"/>
          </a:xfrm>
        </p:spPr>
        <p:txBody>
          <a:bodyPr anchor="b">
            <a:noAutofit/>
          </a:bodyPr>
          <a:lstStyle>
            <a:lvl1pPr>
              <a:buNone/>
              <a:defRPr sz="3600" b="1" baseline="0">
                <a:latin typeface="Arial" panose="020B0604020202020204"/>
                <a:ea typeface="Arial" panose="020B0604020202020204"/>
                <a:cs typeface="Arial" panose="020B0604020202020204"/>
              </a:defRPr>
            </a:lvl1pPr>
          </a:lstStyle>
          <a:p/>
        </p:txBody>
      </p:sp>
      <p:sp>
        <p:nvSpPr>
          <p:cNvPr id="8" name="直接连接符 28"/>
          <p:cNvSpPr>
            <a:spLocks noGrp="1"/>
          </p:cNvSpPr>
          <p:nvPr/>
        </p:nvSpPr>
        <p:spPr>
          <a:xfrm flipH="1">
            <a:off x="5601528" y="3824575"/>
            <a:ext cx="5711080" cy="0"/>
          </a:xfrm>
          <a:prstGeom prst="line">
            <a:avLst/>
          </a:prstGeom>
          <a:gradFill rotWithShape="1">
            <a:gsLst>
              <a:gs pos="100000">
                <a:srgbClr val="06DEB7">
                  <a:alpha val="40000"/>
                </a:srgbClr>
              </a:gs>
              <a:gs pos="1000">
                <a:srgbClr val="06DEB7">
                  <a:alpha val="0"/>
                </a:srgbClr>
              </a:gs>
            </a:gsLst>
            <a:path path="circle">
              <a:fillToRect l="50000" t="50000" r="50000" b="50000"/>
            </a:path>
            <a:tileRect/>
          </a:gradFill>
          <a:ln w="63500">
            <a:solidFill>
              <a:srgbClr val="660773"/>
            </a:solidFill>
          </a:ln>
        </p:spPr>
        <p:style>
          <a:lnRef idx="2">
            <a:schemeClr val="accent1">
              <a:shade val="50000"/>
            </a:schemeClr>
          </a:lnRef>
          <a:fillRef idx="1">
            <a:schemeClr val="accent1"/>
          </a:fillRef>
          <a:effectRef idx="0">
            <a:schemeClr val="accent1"/>
          </a:effectRef>
          <a:fontRef idx="minor">
            <a:schemeClr val="lt1"/>
          </a:fontRef>
        </p:style>
      </p:sp>
      <p:pic>
        <p:nvPicPr>
          <p:cNvPr id="14" name="图片 9"/>
          <p:cNvPicPr>
            <a:picLocks noChangeAspect="1"/>
          </p:cNvPicPr>
          <p:nvPr/>
        </p:nvPicPr>
        <p:blipFill>
          <a:blip r:embed="rId3"/>
          <a:srcRect/>
          <a:stretch>
            <a:fillRect/>
          </a:stretch>
        </p:blipFill>
        <p:spPr>
          <a:xfrm>
            <a:off x="10235812" y="492349"/>
            <a:ext cx="1498988" cy="3636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p:sp>
        <p:nvSpPr>
          <p:cNvPr id="2" name="标题 1"/>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7"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7" name="内容占位符 2"/>
          <p:cNvSpPr>
            <a:spLocks noGrp="1"/>
          </p:cNvSpPr>
          <p:nvPr>
            <p:ph idx="1"/>
          </p:nvPr>
        </p:nvSpPr>
        <p:spPr>
          <a:xfrm>
            <a:off x="838199" y="1074490"/>
            <a:ext cx="10417629" cy="5102473"/>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p:sp>
        <p:nvSpPr>
          <p:cNvPr id="2" name="标题 1"/>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3"/>
          <p:cNvPicPr>
            <a:picLocks noChangeAspect="1"/>
          </p:cNvPicPr>
          <p:nvPr/>
        </p:nvPicPr>
        <p:blipFill>
          <a:blip r:embed="rId2"/>
          <a:srcRect/>
          <a:stretch>
            <a:fillRect/>
          </a:stretch>
        </p:blipFill>
        <p:spPr>
          <a:xfrm>
            <a:off x="10502900" y="466185"/>
            <a:ext cx="1114425" cy="270319"/>
          </a:xfrm>
          <a:prstGeom prst="rect">
            <a:avLst/>
          </a:prstGeom>
        </p:spPr>
      </p:pic>
      <p:sp>
        <p:nvSpPr>
          <p:cNvPr id="8" name="内容占位符 2"/>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0" name="内容占位符 2"/>
          <p:cNvSpPr>
            <a:spLocks noGrp="1"/>
          </p:cNvSpPr>
          <p:nvPr>
            <p:ph idx="14"/>
          </p:nvPr>
        </p:nvSpPr>
        <p:spPr>
          <a:xfrm>
            <a:off x="6096000"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ual Subject">
    <p:spTree>
      <p:nvGrpSpPr>
        <p:cNvPr id="1" name=""/>
        <p:cNvGrpSpPr/>
        <p:nvPr/>
      </p:nvGrpSpPr>
      <p:grpSpPr/>
      <p:sp>
        <p:nvSpPr>
          <p:cNvPr id="2" name="标题 1"/>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idx="1"/>
          </p:nvPr>
        </p:nvSpPr>
        <p:spPr>
          <a:xfrm>
            <a:off x="838199" y="1074491"/>
            <a:ext cx="10417629" cy="218982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p:cNvSpPr>
            <a:spLocks noGrp="1"/>
          </p:cNvSpPr>
          <p:nvPr>
            <p:ph idx="10"/>
          </p:nvPr>
        </p:nvSpPr>
        <p:spPr>
          <a:xfrm>
            <a:off x="838199" y="3593690"/>
            <a:ext cx="10417629" cy="2797278"/>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rio Subject">
    <p:spTree>
      <p:nvGrpSpPr>
        <p:cNvPr id="1" name=""/>
        <p:cNvGrpSpPr/>
        <p:nvPr/>
      </p:nvGrpSpPr>
      <p:grpSpPr/>
      <p:sp>
        <p:nvSpPr>
          <p:cNvPr id="2" name="标题 1"/>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8"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p:cNvSpPr>
            <a:spLocks noGrp="1"/>
          </p:cNvSpPr>
          <p:nvPr>
            <p:ph idx="14"/>
          </p:nvPr>
        </p:nvSpPr>
        <p:spPr>
          <a:xfrm>
            <a:off x="6096000" y="1099825"/>
            <a:ext cx="5732462" cy="2587604"/>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3" name="内容占位符 2"/>
          <p:cNvSpPr>
            <a:spLocks noGrp="1"/>
          </p:cNvSpPr>
          <p:nvPr>
            <p:ph idx="15"/>
          </p:nvPr>
        </p:nvSpPr>
        <p:spPr>
          <a:xfrm>
            <a:off x="6096000" y="3951887"/>
            <a:ext cx="5732462" cy="2166338"/>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
    <p:spTree>
      <p:nvGrpSpPr>
        <p:cNvPr id="1" name=""/>
        <p:cNvGrpSpPr/>
        <p:nvPr/>
      </p:nvGrpSpPr>
      <p:grpSpPr/>
      <p:sp>
        <p:nvSpPr>
          <p:cNvPr id="2" name="标题 1"/>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panose="020B0604020202020204"/>
                <a:ea typeface="Arial" panose="020B0604020202020204"/>
                <a:cs typeface="Arial" panose="020B0604020202020204"/>
              </a:defRPr>
            </a:lvl1pPr>
          </a:lstStyle>
          <a:p>
            <a:pPr lvl="0">
              <a:buNone/>
            </a:pPr>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p:pic>
        <p:nvPicPr>
          <p:cNvPr id="13" name="图片 2"/>
          <p:cNvPicPr>
            <a:picLocks noChangeAspect="1"/>
          </p:cNvPicPr>
          <p:nvPr/>
        </p:nvPicPr>
        <p:blipFill>
          <a:blip r:embed="rId2"/>
          <a:srcRect/>
          <a:stretch>
            <a:fillRect/>
          </a:stretch>
        </p:blipFill>
        <p:spPr>
          <a:xfrm>
            <a:off x="10502900" y="466185"/>
            <a:ext cx="1114425" cy="270319"/>
          </a:xfrm>
          <a:prstGeom prst="rect">
            <a:avLst/>
          </a:prstGeom>
        </p:spPr>
      </p:pic>
      <p:pic>
        <p:nvPicPr>
          <p:cNvPr id="14" name="图片 5"/>
          <p:cNvPicPr>
            <a:picLocks noChangeAspect="1"/>
          </p:cNvPicPr>
          <p:nvPr/>
        </p:nvPicPr>
        <p:blipFill>
          <a:blip r:embed="rId3"/>
          <a:stretch>
            <a:fillRect/>
          </a:stretch>
        </p:blipFill>
        <p:spPr>
          <a:xfrm>
            <a:off x="4450501" y="-645610"/>
            <a:ext cx="11947547" cy="8960660"/>
          </a:xfrm>
          <a:prstGeom prst="rect">
            <a:avLst/>
          </a:prstGeom>
        </p:spPr>
      </p:pic>
      <p:sp>
        <p:nvSpPr>
          <p:cNvPr id="7" name="内容占位符 2"/>
          <p:cNvSpPr>
            <a:spLocks noGrp="1"/>
          </p:cNvSpPr>
          <p:nvPr>
            <p:ph idx="1" hasCustomPrompt="1"/>
          </p:nvPr>
        </p:nvSpPr>
        <p:spPr>
          <a:xfrm>
            <a:off x="838200" y="1478782"/>
            <a:ext cx="4931979" cy="4351338"/>
          </a:xfrm>
        </p:spPr>
        <p:txBody>
          <a:bodyPr/>
          <a:lstStyle>
            <a:lvl1pPr marL="228600" indent="-228600">
              <a:lnSpc>
                <a:spcPct val="150000"/>
              </a:lnSpc>
              <a:buSzPct val="150000"/>
              <a:buFontTx/>
              <a:buNone/>
              <a:defRPr sz="2400" b="0" i="0" baseline="0">
                <a:latin typeface="Arial" panose="020B0604020202020204"/>
                <a:ea typeface="Arial" panose="020B0604020202020204"/>
                <a:cs typeface="Arial" panose="020B0604020202020204"/>
              </a:defRPr>
            </a:lvl1pPr>
            <a:lvl2pPr marL="685800" indent="-228600">
              <a:lnSpc>
                <a:spcPct val="150000"/>
              </a:lnSpc>
              <a:buClr>
                <a:srgbClr val="660874"/>
              </a:buClr>
              <a:buSzPct val="80000"/>
              <a:buFont typeface="ZapfDingbatsITC"/>
              <a:buChar char="➤"/>
              <a:defRPr sz="1800" b="0" i="0">
                <a:latin typeface="思源黑体 CN Regular"/>
                <a:ea typeface="思源黑体 CN Regular"/>
                <a:cs typeface="思源黑体 CN Regular"/>
              </a:defRPr>
            </a:lvl2pPr>
            <a:lvl3pPr marL="1143000" indent="-228600">
              <a:lnSpc>
                <a:spcPct val="150000"/>
              </a:lnSpc>
              <a:buClr>
                <a:srgbClr val="660874"/>
              </a:buClr>
              <a:buFont typeface="AppleSymbols"/>
              <a:buChar char="▻"/>
              <a:defRPr sz="1600" b="0" i="0">
                <a:latin typeface="思源黑体 CN Regular"/>
                <a:ea typeface="思源黑体 CN Regular"/>
                <a:cs typeface="思源黑体 CN Regular"/>
              </a:defRPr>
            </a:lvl3pPr>
            <a:lvl4pPr marL="1600200" indent="-228600">
              <a:lnSpc>
                <a:spcPct val="150000"/>
              </a:lnSpc>
              <a:buClr>
                <a:srgbClr val="660874"/>
              </a:buClr>
              <a:buFont typeface="Helvetica"/>
              <a:buChar char="‣"/>
              <a:defRPr sz="1200" b="0" i="0">
                <a:latin typeface="思源黑体 CN Regular"/>
                <a:ea typeface="思源黑体 CN Regular"/>
                <a:cs typeface="思源黑体 CN Regular"/>
              </a:defRPr>
            </a:lvl4pPr>
            <a:lvl5pPr>
              <a:lnSpc>
                <a:spcPct val="150000"/>
              </a:lnSpc>
              <a:buClr>
                <a:srgbClr val="660874"/>
              </a:buClr>
              <a:buNone/>
              <a:defRPr sz="1000" b="0" i="0">
                <a:latin typeface="思源黑体 CN Regular"/>
                <a:ea typeface="思源黑体 CN Regular"/>
                <a:cs typeface="思源黑体 CN Regular"/>
              </a:defRPr>
            </a:lvl5pPr>
          </a:lstStyle>
          <a:p>
            <a:pPr lvl="0">
              <a:buNone/>
            </a:pPr>
            <a:r>
              <a:t>  单击此处编辑母版文本样式</a:t>
            </a:r>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0" name="标题 1"/>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panose="020B0604020202020204"/>
                <a:ea typeface="Arial" panose="020B0604020202020204"/>
                <a:cs typeface="Arial" panose="020B0604020202020204"/>
              </a:defRPr>
            </a:lvl1pPr>
          </a:lstStyle>
          <a:p>
            <a:pPr lvl="0">
              <a:buNone/>
            </a:p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版式说明">
    <p:spTree>
      <p:nvGrpSpPr>
        <p:cNvPr id="1" name=""/>
        <p:cNvGrpSpPr/>
        <p:nvPr/>
      </p:nvGrpSpPr>
      <p:grpSpPr/>
      <p:pic>
        <p:nvPicPr>
          <p:cNvPr id="15" name="图片 7"/>
          <p:cNvPicPr>
            <a:picLocks noChangeAspect="1"/>
          </p:cNvPicPr>
          <p:nvPr/>
        </p:nvPicPr>
        <p:blipFill>
          <a:blip r:embed="rId2"/>
          <a:srcRect/>
          <a:stretch>
            <a:fillRect/>
          </a:stretch>
        </p:blipFill>
        <p:spPr>
          <a:xfrm>
            <a:off x="10491224" y="488311"/>
            <a:ext cx="1126345" cy="273211"/>
          </a:xfrm>
          <a:prstGeom prst="rect">
            <a:avLst/>
          </a:prstGeom>
        </p:spPr>
      </p:pic>
      <p:sp>
        <p:nvSpPr>
          <p:cNvPr id="4" name="文本框 3"/>
          <p:cNvSpPr>
            <a:spLocks noGrp="1"/>
          </p:cNvSpPr>
          <p:nvPr/>
        </p:nvSpPr>
        <p:spPr>
          <a:xfrm>
            <a:off x="334257" y="1030778"/>
            <a:ext cx="11378376" cy="5301229"/>
          </a:xfrm>
          <a:prstGeom prst="rect">
            <a:avLst/>
          </a:prstGeom>
        </p:spPr>
        <p:txBody>
          <a:bodyPr vert="horz" wrap="square" lIns="91440" tIns="45720" rIns="91440" bIns="45720" anchor="ctr">
            <a:normAutofit/>
          </a:bodyPr>
          <a:lstStyle/>
          <a:p/>
        </p:txBody>
      </p:sp>
      <p:sp>
        <p:nvSpPr>
          <p:cNvPr id="6" name="文本框 5"/>
          <p:cNvSpPr>
            <a:spLocks noGrp="1"/>
          </p:cNvSpPr>
          <p:nvPr/>
        </p:nvSpPr>
        <p:spPr>
          <a:xfrm>
            <a:off x="479367" y="115209"/>
            <a:ext cx="9894917" cy="571061"/>
          </a:xfrm>
          <a:prstGeom prst="rect">
            <a:avLst/>
          </a:prstGeom>
        </p:spPr>
        <p:txBody>
          <a:bodyPr vert="horz" wrap="square" lIns="91440" tIns="45720" rIns="91440" bIns="45720" anchor="ctr">
            <a:normAutofit/>
          </a:bodyPr>
          <a:lstStyle/>
          <a:p/>
        </p:txBody>
      </p:sp>
      <p:sp>
        <p:nvSpPr>
          <p:cNvPr id="10" name="直接连接符 9"/>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3" name="矩形 12"/>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1" name="文本框 10"/>
          <p:cNvSpPr>
            <a:spLocks noGrp="1"/>
          </p:cNvSpPr>
          <p:nvPr/>
        </p:nvSpPr>
        <p:spPr>
          <a:xfrm>
            <a:off x="297277" y="45898"/>
            <a:ext cx="7732626" cy="746234"/>
          </a:xfrm>
          <a:prstGeom prst="rect">
            <a:avLst/>
          </a:prstGeom>
        </p:spPr>
        <p:txBody>
          <a:bodyPr vert="horz" wrap="square" lIns="91440" tIns="45720" rIns="91440" bIns="45720" anchor="ctr">
            <a:noAutofit/>
          </a:bodyPr>
          <a:lstStyle/>
          <a:p>
            <a:r>
              <a:rPr sz="3200" b="1" i="0">
                <a:solidFill>
                  <a:schemeClr val="tx1"/>
                </a:solidFill>
                <a:latin typeface="Arial" panose="020B0604020202020204"/>
                <a:ea typeface="Arial" panose="020B0604020202020204"/>
                <a:cs typeface="Arial" panose="020B0604020202020204"/>
              </a:rPr>
              <a:t>DISCLAIMER &amp; ATTRIBUTION</a:t>
            </a:r>
            <a:endParaRPr sz="3200" b="1" i="0" baseline="0">
              <a:solidFill>
                <a:schemeClr val="tx1"/>
              </a:solidFill>
              <a:latin typeface="Arial" panose="020B0604020202020204"/>
              <a:ea typeface="Arial" panose="020B0604020202020204"/>
              <a:cs typeface="Arial" panose="020B0604020202020204"/>
            </a:endParaRPr>
          </a:p>
        </p:txBody>
      </p:sp>
      <p:sp>
        <p:nvSpPr>
          <p:cNvPr id="2" name="文本框 1"/>
          <p:cNvSpPr>
            <a:spLocks noGrp="1"/>
          </p:cNvSpPr>
          <p:nvPr/>
        </p:nvSpPr>
        <p:spPr>
          <a:xfrm>
            <a:off x="386807" y="1183967"/>
            <a:ext cx="11507916" cy="4994850"/>
          </a:xfrm>
          <a:prstGeom prst="rect">
            <a:avLst/>
          </a:prstGeom>
        </p:spPr>
        <p:txBody>
          <a:bodyPr vert="horz" wrap="square" lIns="91440" tIns="45720" rIns="91440" bIns="45720" anchor="ctr">
            <a:normAutofit/>
          </a:bodyPr>
          <a:lstStyle/>
          <a:p>
            <a:r>
              <a:rPr sz="1600" b="0" i="0">
                <a:solidFill>
                  <a:srgbClr val="000000"/>
                </a:solidFill>
                <a:latin typeface="+mn-lt"/>
                <a:ea typeface="+mn-lt"/>
                <a:cs typeface="+mn-lt"/>
              </a:rPr>
              <a:t>This presentation may contain privileged and confidential information and is intended only for </a:t>
            </a:r>
            <a:r>
              <a:rPr sz="1600" b="0" i="0">
                <a:solidFill>
                  <a:srgbClr val="000000"/>
                </a:solidFill>
                <a:latin typeface="+mn-lt"/>
                <a:ea typeface="+mn-lt"/>
                <a:cs typeface="+mn-lt"/>
              </a:rPr>
              <a:t>MetaX</a:t>
            </a:r>
            <a:r>
              <a:rPr sz="1600" b="0" i="0">
                <a:solidFill>
                  <a:srgbClr val="000000"/>
                </a:solidFill>
                <a:latin typeface="+mn-lt"/>
                <a:ea typeface="+mn-lt"/>
                <a:cs typeface="+mn-lt"/>
              </a:rPr>
              <a:t> Integrated Circuits (Shanghai) Co., Ltd. and/or its affiliates (hereinafter collectively referred to as “</a:t>
            </a:r>
            <a:r>
              <a:rPr sz="1600" b="0" i="0">
                <a:solidFill>
                  <a:srgbClr val="000000"/>
                </a:solidFill>
                <a:latin typeface="+mn-lt"/>
                <a:ea typeface="+mn-lt"/>
                <a:cs typeface="+mn-lt"/>
              </a:rPr>
              <a:t>MetaX</a:t>
            </a:r>
            <a:r>
              <a:rPr sz="1600" b="0" i="0">
                <a:solidFill>
                  <a:srgbClr val="000000"/>
                </a:solidFill>
                <a:latin typeface="+mn-lt"/>
                <a:ea typeface="+mn-lt"/>
                <a:cs typeface="+mn-lt"/>
              </a:rPr>
              <a:t>”).  The information presented in this presentation should be kept strictly confidential and should not be allowed to make available to others without written consent from </a:t>
            </a:r>
            <a:r>
              <a:rPr sz="1600" b="0" i="0">
                <a:solidFill>
                  <a:srgbClr val="000000"/>
                </a:solidFill>
                <a:latin typeface="+mn-lt"/>
                <a:ea typeface="+mn-lt"/>
                <a:cs typeface="+mn-lt"/>
              </a:rPr>
              <a:t>MetaX</a:t>
            </a:r>
            <a:r>
              <a:rPr sz="1600" b="0" i="0">
                <a:solidFill>
                  <a:srgbClr val="000000"/>
                </a:solidFill>
                <a:latin typeface="+mn-lt"/>
                <a:ea typeface="+mn-lt"/>
                <a:cs typeface="+mn-lt"/>
              </a:rPr>
              <a:t>.</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The information presented in this presentation is for informational purposes only and may contain technical inaccuracies, omissions and typographical errors.  </a:t>
            </a:r>
            <a:r>
              <a:rPr sz="1600" b="0" i="0">
                <a:solidFill>
                  <a:srgbClr val="000000"/>
                </a:solidFill>
                <a:latin typeface="+mn-lt"/>
                <a:ea typeface="+mn-lt"/>
                <a:cs typeface="+mn-lt"/>
              </a:rPr>
              <a:t>MetaX</a:t>
            </a:r>
            <a:r>
              <a:rPr sz="1600" b="0" i="0">
                <a:solidFill>
                  <a:srgbClr val="000000"/>
                </a:solidFill>
                <a:latin typeface="+mn-lt"/>
                <a:ea typeface="+mn-lt"/>
                <a:cs typeface="+mn-lt"/>
              </a:rPr>
              <a:t> makes no representation or warranty of any kind, express or implied, regarding the reliability, availability or completeness of any information on the Slides. </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MetaX</a:t>
            </a:r>
            <a:r>
              <a:rPr sz="1600" b="0" i="0">
                <a:solidFill>
                  <a:srgbClr val="000000"/>
                </a:solidFill>
                <a:latin typeface="+mn-lt"/>
                <a:ea typeface="+mn-lt"/>
                <a:cs typeface="+mn-lt"/>
              </a:rPr>
              <a:t> is the owner of the presentation and all portions thereof.  Except as expressly provided, you are prohibited from copying, modifying, distributing, displaying or transmitting any of the contents of the Slides for any purposes. </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MetaX</a:t>
            </a:r>
            <a:r>
              <a:rPr sz="1600" b="0" i="0">
                <a:solidFill>
                  <a:srgbClr val="000000"/>
                </a:solidFill>
                <a:latin typeface="+mn-lt"/>
                <a:ea typeface="+mn-lt"/>
                <a:cs typeface="+mn-lt"/>
              </a:rPr>
              <a:t>, </a:t>
            </a:r>
            <a:r>
              <a:rPr sz="1600" b="0" i="0">
                <a:solidFill>
                  <a:srgbClr val="000000"/>
                </a:solidFill>
                <a:latin typeface="+mn-ea"/>
                <a:ea typeface="+mn-ea"/>
                <a:cs typeface="+mn-ea"/>
              </a:rPr>
              <a:t>沐曦</a:t>
            </a:r>
            <a:r>
              <a:rPr sz="1600" b="0" i="0">
                <a:solidFill>
                  <a:srgbClr val="000000"/>
                </a:solidFill>
                <a:latin typeface="+mn-ea"/>
                <a:ea typeface="+mn-ea"/>
                <a:cs typeface="+mn-ea"/>
              </a:rPr>
              <a:t>,</a:t>
            </a:r>
            <a:r>
              <a:rPr sz="1600" b="0" i="0">
                <a:solidFill>
                  <a:srgbClr val="000000"/>
                </a:solidFill>
                <a:latin typeface="+mn-lt"/>
                <a:ea typeface="+mn-lt"/>
                <a:cs typeface="+mn-lt"/>
              </a:rPr>
              <a:t> the </a:t>
            </a:r>
            <a:r>
              <a:rPr sz="1600" b="0" i="0">
                <a:solidFill>
                  <a:srgbClr val="000000"/>
                </a:solidFill>
                <a:latin typeface="+mn-lt"/>
                <a:ea typeface="+mn-lt"/>
                <a:cs typeface="+mn-lt"/>
              </a:rPr>
              <a:t>MetaX</a:t>
            </a:r>
            <a:r>
              <a:rPr sz="1600" b="0" i="0">
                <a:solidFill>
                  <a:srgbClr val="000000"/>
                </a:solidFill>
                <a:latin typeface="+mn-lt"/>
                <a:ea typeface="+mn-lt"/>
                <a:cs typeface="+mn-lt"/>
              </a:rPr>
              <a:t> logo and combinations thereof are trademarks of </a:t>
            </a:r>
            <a:r>
              <a:rPr sz="1600" b="0" i="0">
                <a:solidFill>
                  <a:srgbClr val="000000"/>
                </a:solidFill>
                <a:latin typeface="+mn-lt"/>
                <a:ea typeface="+mn-lt"/>
                <a:cs typeface="+mn-lt"/>
              </a:rPr>
              <a:t>MetaX</a:t>
            </a:r>
            <a:r>
              <a:rPr sz="1600" b="0" i="0">
                <a:solidFill>
                  <a:srgbClr val="000000"/>
                </a:solidFill>
                <a:latin typeface="+mn-lt"/>
                <a:ea typeface="+mn-lt"/>
                <a:cs typeface="+mn-lt"/>
              </a:rPr>
              <a:t>. Other product and company names used in this presentation are for identification purposes only and may be trademarks or trade names of their respective owners.</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 http://www.metax-tech.com/</a:t>
            </a:r>
            <a:endParaRPr sz="1600" b="0" i="0">
              <a:solidFill>
                <a:srgbClr val="000000"/>
              </a:solidFill>
              <a:latin typeface="+mn-lt"/>
              <a:ea typeface="+mn-lt"/>
              <a:cs typeface="+mn-l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a:xfrm>
            <a:off x="838200" y="6356350"/>
            <a:ext cx="2743200" cy="365125"/>
          </a:xfrm>
        </p:spPr>
        <p:txBody>
          <a:bodyPr/>
          <a:lstStyle/>
          <a:p/>
        </p:txBody>
      </p:sp>
      <p:sp>
        <p:nvSpPr>
          <p:cNvPr id="3" name="页脚占位符 2"/>
          <p:cNvSpPr>
            <a:spLocks noGrp="1"/>
          </p:cNvSpPr>
          <p:nvPr>
            <p:ph type="ftr" idx="11"/>
          </p:nvPr>
        </p:nvSpPr>
        <p:spPr>
          <a:xfrm>
            <a:off x="4038600" y="6356350"/>
            <a:ext cx="4114800" cy="365125"/>
          </a:xfrm>
        </p:spPr>
        <p:txBody>
          <a:bodyPr/>
          <a:lstStyle/>
          <a:p/>
        </p:txBody>
      </p:sp>
      <p:sp>
        <p:nvSpPr>
          <p:cNvPr id="4" name="灯片编号占位符 3"/>
          <p:cNvSpPr>
            <a:spLocks noGrp="1"/>
          </p:cNvSpPr>
          <p:nvPr>
            <p:ph type="sldNum" idx="12"/>
          </p:nvPr>
        </p:nvSpPr>
        <p:spPr>
          <a:xfrm>
            <a:off x="8610600" y="6356350"/>
            <a:ext cx="2743200" cy="365125"/>
          </a:xfrm>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空白-旧">
    <p:spTree>
      <p:nvGrpSpPr>
        <p:cNvPr id="1" name=""/>
        <p:cNvGrpSpPr/>
        <p:nvPr/>
      </p:nvGrpSpPr>
      <p:grpSpPr/>
      <p:sp>
        <p:nvSpPr>
          <p:cNvPr id="10" name="直接连接符 9"/>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51318E"/>
              </a:solidFill>
              <a:latin typeface="思源黑体 CN Regular"/>
              <a:ea typeface="思源黑体 CN Regular"/>
              <a:cs typeface="思源黑体 CN Regular"/>
            </a:endParaRPr>
          </a:p>
        </p:txBody>
      </p:sp>
      <p:pic>
        <p:nvPicPr>
          <p:cNvPr id="19" name="图片 13"/>
          <p:cNvPicPr>
            <a:picLocks noChangeAspect="1"/>
          </p:cNvPicPr>
          <p:nvPr/>
        </p:nvPicPr>
        <p:blipFill>
          <a:blip r:embed="rId2"/>
          <a:srcRect/>
          <a:stretch>
            <a:fillRect/>
          </a:stretch>
        </p:blipFill>
        <p:spPr>
          <a:xfrm>
            <a:off x="10502900" y="466185"/>
            <a:ext cx="1114425" cy="270319"/>
          </a:xfrm>
          <a:prstGeom prst="rect">
            <a:avLst/>
          </a:prstGeom>
        </p:spPr>
      </p:pic>
      <p:sp>
        <p:nvSpPr>
          <p:cNvPr id="15" name="标题 1"/>
          <p:cNvSpPr>
            <a:spLocks noGrp="1"/>
          </p:cNvSpPr>
          <p:nvPr>
            <p:ph type="title"/>
          </p:nvPr>
        </p:nvSpPr>
        <p:spPr>
          <a:xfrm>
            <a:off x="297277" y="45720"/>
            <a:ext cx="10515600" cy="757026"/>
          </a:xfrm>
        </p:spPr>
        <p:txBody>
          <a:bodyPr>
            <a:normAutofit/>
          </a:bodyPr>
          <a:lstStyle>
            <a:lvl1pPr>
              <a:buNone/>
              <a:defRPr sz="3200" b="1" i="0" baseline="0">
                <a:solidFill>
                  <a:schemeClr val="tx1"/>
                </a:solidFill>
                <a:latin typeface="Arial" panose="020B0604020202020204"/>
                <a:ea typeface="Arial" panose="020B0604020202020204"/>
                <a:cs typeface="Arial" panose="020B0604020202020204"/>
              </a:defRPr>
            </a:lvl1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p:pic>
        <p:nvPicPr>
          <p:cNvPr id="14" name="图片 4"/>
          <p:cNvPicPr>
            <a:picLocks noChangeAspect="1"/>
          </p:cNvPicPr>
          <p:nvPr/>
        </p:nvPicPr>
        <p:blipFill>
          <a:blip r:embed="rId2"/>
          <a:stretch>
            <a:fillRect/>
          </a:stretch>
        </p:blipFill>
        <p:spPr>
          <a:xfrm>
            <a:off x="0" y="0"/>
            <a:ext cx="12192000" cy="6858000"/>
          </a:xfrm>
          <a:prstGeom prst="rect">
            <a:avLst/>
          </a:prstGeom>
        </p:spPr>
      </p:pic>
      <p:sp>
        <p:nvSpPr>
          <p:cNvPr id="8" name="标题 1"/>
          <p:cNvSpPr>
            <a:spLocks noGrp="1"/>
          </p:cNvSpPr>
          <p:nvPr>
            <p:ph type="ctrTitle"/>
          </p:nvPr>
        </p:nvSpPr>
        <p:spPr>
          <a:xfrm>
            <a:off x="743985" y="2437178"/>
            <a:ext cx="9144000" cy="1369968"/>
          </a:xfrm>
        </p:spPr>
        <p:txBody>
          <a:bodyPr anchor="b">
            <a:normAutofit/>
          </a:bodyPr>
          <a:lstStyle>
            <a:lvl1pPr algn="l">
              <a:lnSpc>
                <a:spcPct val="100000"/>
              </a:lnSpc>
              <a:buNone/>
              <a:defRPr sz="4400" b="1" i="0" baseline="0">
                <a:solidFill>
                  <a:schemeClr val="bg1"/>
                </a:solidFill>
                <a:latin typeface="Arial" panose="020B0604020202020204"/>
                <a:ea typeface="Arial" panose="020B0604020202020204"/>
                <a:cs typeface="Arial" panose="020B0604020202020204"/>
              </a:defRPr>
            </a:lvl1pPr>
          </a:lstStyle>
          <a:p/>
        </p:txBody>
      </p:sp>
      <p:sp>
        <p:nvSpPr>
          <p:cNvPr id="10" name="副标题 2"/>
          <p:cNvSpPr>
            <a:spLocks noGrp="1"/>
          </p:cNvSpPr>
          <p:nvPr>
            <p:ph type="subTitle" idx="1"/>
          </p:nvPr>
        </p:nvSpPr>
        <p:spPr>
          <a:xfrm>
            <a:off x="743985" y="4174810"/>
            <a:ext cx="9144000" cy="424021"/>
          </a:xfrm>
        </p:spPr>
        <p:txBody>
          <a:bodyPr>
            <a:normAutofit/>
          </a:bodyPr>
          <a:lstStyle>
            <a:lvl1pPr marL="0" indent="0" algn="l">
              <a:buNone/>
              <a:defRPr sz="1600" b="0" i="0" baseline="0">
                <a:solidFill>
                  <a:schemeClr val="bg1"/>
                </a:solidFill>
                <a:latin typeface="Arial" panose="020B0604020202020204"/>
                <a:ea typeface="Arial" panose="020B0604020202020204"/>
                <a:cs typeface="Arial" panose="020B0604020202020204"/>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p:txBody>
      </p:sp>
      <p:sp>
        <p:nvSpPr>
          <p:cNvPr id="11" name="矩形 10"/>
          <p:cNvSpPr>
            <a:spLocks noGrp="1"/>
          </p:cNvSpPr>
          <p:nvPr/>
        </p:nvSpPr>
        <p:spPr>
          <a:xfrm>
            <a:off x="853207" y="3849897"/>
            <a:ext cx="2080493" cy="10455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pic>
        <p:nvPicPr>
          <p:cNvPr id="18" name="图片 11"/>
          <p:cNvPicPr>
            <a:picLocks noChangeAspect="1"/>
          </p:cNvPicPr>
          <p:nvPr/>
        </p:nvPicPr>
        <p:blipFill>
          <a:blip r:embed="rId3"/>
          <a:stretch>
            <a:fillRect/>
          </a:stretch>
        </p:blipFill>
        <p:spPr>
          <a:xfrm>
            <a:off x="865907" y="412582"/>
            <a:ext cx="1492015" cy="36191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p:pic>
        <p:nvPicPr>
          <p:cNvPr id="11" name="图片 6"/>
          <p:cNvPicPr>
            <a:picLocks noChangeAspect="1"/>
          </p:cNvPicPr>
          <p:nvPr/>
        </p:nvPicPr>
        <p:blipFill>
          <a:blip r:embed="rId2"/>
          <a:stretch>
            <a:fillRect/>
          </a:stretch>
        </p:blipFill>
        <p:spPr>
          <a:xfrm>
            <a:off x="-1235002" y="-1412301"/>
            <a:ext cx="12969802" cy="9727351"/>
          </a:xfrm>
          <a:prstGeom prst="rect">
            <a:avLst/>
          </a:prstGeom>
        </p:spPr>
      </p:pic>
      <p:sp>
        <p:nvSpPr>
          <p:cNvPr id="2" name="标题 1"/>
          <p:cNvSpPr>
            <a:spLocks noGrp="1"/>
          </p:cNvSpPr>
          <p:nvPr>
            <p:ph type="title"/>
          </p:nvPr>
        </p:nvSpPr>
        <p:spPr>
          <a:xfrm>
            <a:off x="5649153" y="3033425"/>
            <a:ext cx="5711080" cy="677368"/>
          </a:xfrm>
        </p:spPr>
        <p:txBody>
          <a:bodyPr anchor="b">
            <a:noAutofit/>
          </a:bodyPr>
          <a:lstStyle>
            <a:lvl1pPr>
              <a:buNone/>
              <a:defRPr sz="3600" b="1" baseline="0">
                <a:latin typeface="Arial" panose="020B0604020202020204"/>
                <a:ea typeface="Arial" panose="020B0604020202020204"/>
                <a:cs typeface="Arial" panose="020B0604020202020204"/>
              </a:defRPr>
            </a:lvl1pPr>
          </a:lstStyle>
          <a:p/>
        </p:txBody>
      </p:sp>
      <p:sp>
        <p:nvSpPr>
          <p:cNvPr id="8" name="直接连接符 28"/>
          <p:cNvSpPr>
            <a:spLocks noGrp="1"/>
          </p:cNvSpPr>
          <p:nvPr/>
        </p:nvSpPr>
        <p:spPr>
          <a:xfrm flipH="1">
            <a:off x="5601528" y="3824575"/>
            <a:ext cx="5711080" cy="0"/>
          </a:xfrm>
          <a:prstGeom prst="line">
            <a:avLst/>
          </a:prstGeom>
          <a:gradFill rotWithShape="1">
            <a:gsLst>
              <a:gs pos="100000">
                <a:srgbClr val="06DEB7">
                  <a:alpha val="40000"/>
                </a:srgbClr>
              </a:gs>
              <a:gs pos="1000">
                <a:srgbClr val="06DEB7">
                  <a:alpha val="0"/>
                </a:srgbClr>
              </a:gs>
            </a:gsLst>
            <a:path path="circle">
              <a:fillToRect l="50000" t="50000" r="50000" b="50000"/>
            </a:path>
            <a:tileRect/>
          </a:gradFill>
          <a:ln w="63500">
            <a:solidFill>
              <a:srgbClr val="660773"/>
            </a:solidFill>
          </a:ln>
        </p:spPr>
        <p:style>
          <a:lnRef idx="2">
            <a:schemeClr val="accent1">
              <a:shade val="50000"/>
            </a:schemeClr>
          </a:lnRef>
          <a:fillRef idx="1">
            <a:schemeClr val="accent1"/>
          </a:fillRef>
          <a:effectRef idx="0">
            <a:schemeClr val="accent1"/>
          </a:effectRef>
          <a:fontRef idx="minor">
            <a:schemeClr val="lt1"/>
          </a:fontRef>
        </p:style>
      </p:sp>
      <p:pic>
        <p:nvPicPr>
          <p:cNvPr id="14" name="图片 9"/>
          <p:cNvPicPr>
            <a:picLocks noChangeAspect="1"/>
          </p:cNvPicPr>
          <p:nvPr/>
        </p:nvPicPr>
        <p:blipFill>
          <a:blip r:embed="rId3"/>
          <a:srcRect/>
          <a:stretch>
            <a:fillRect/>
          </a:stretch>
        </p:blipFill>
        <p:spPr>
          <a:xfrm>
            <a:off x="10235812" y="492349"/>
            <a:ext cx="1498988" cy="36360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p:sp>
        <p:nvSpPr>
          <p:cNvPr id="2" name="标题 1"/>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7"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7" name="内容占位符 2"/>
          <p:cNvSpPr>
            <a:spLocks noGrp="1"/>
          </p:cNvSpPr>
          <p:nvPr>
            <p:ph idx="1"/>
          </p:nvPr>
        </p:nvSpPr>
        <p:spPr>
          <a:xfrm>
            <a:off x="838199" y="1074490"/>
            <a:ext cx="10417629" cy="5102473"/>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p:sp>
        <p:nvSpPr>
          <p:cNvPr id="2" name="标题 1"/>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3"/>
          <p:cNvPicPr>
            <a:picLocks noChangeAspect="1"/>
          </p:cNvPicPr>
          <p:nvPr/>
        </p:nvPicPr>
        <p:blipFill>
          <a:blip r:embed="rId2"/>
          <a:srcRect/>
          <a:stretch>
            <a:fillRect/>
          </a:stretch>
        </p:blipFill>
        <p:spPr>
          <a:xfrm>
            <a:off x="10502900" y="466185"/>
            <a:ext cx="1114425" cy="270319"/>
          </a:xfrm>
          <a:prstGeom prst="rect">
            <a:avLst/>
          </a:prstGeom>
        </p:spPr>
      </p:pic>
      <p:sp>
        <p:nvSpPr>
          <p:cNvPr id="8" name="内容占位符 2"/>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0" name="内容占位符 2"/>
          <p:cNvSpPr>
            <a:spLocks noGrp="1"/>
          </p:cNvSpPr>
          <p:nvPr>
            <p:ph idx="14"/>
          </p:nvPr>
        </p:nvSpPr>
        <p:spPr>
          <a:xfrm>
            <a:off x="6096000"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ual Subject">
    <p:spTree>
      <p:nvGrpSpPr>
        <p:cNvPr id="1" name=""/>
        <p:cNvGrpSpPr/>
        <p:nvPr/>
      </p:nvGrpSpPr>
      <p:grpSpPr/>
      <p:sp>
        <p:nvSpPr>
          <p:cNvPr id="2" name="标题 1"/>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idx="1"/>
          </p:nvPr>
        </p:nvSpPr>
        <p:spPr>
          <a:xfrm>
            <a:off x="838199" y="1074491"/>
            <a:ext cx="10417629" cy="218982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p:cNvSpPr>
            <a:spLocks noGrp="1"/>
          </p:cNvSpPr>
          <p:nvPr>
            <p:ph idx="10"/>
          </p:nvPr>
        </p:nvSpPr>
        <p:spPr>
          <a:xfrm>
            <a:off x="838199" y="3593690"/>
            <a:ext cx="10417629" cy="2797278"/>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rio Subject">
    <p:spTree>
      <p:nvGrpSpPr>
        <p:cNvPr id="1" name=""/>
        <p:cNvGrpSpPr/>
        <p:nvPr/>
      </p:nvGrpSpPr>
      <p:grpSpPr/>
      <p:sp>
        <p:nvSpPr>
          <p:cNvPr id="2" name="标题 1"/>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8"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p:cNvSpPr>
            <a:spLocks noGrp="1"/>
          </p:cNvSpPr>
          <p:nvPr>
            <p:ph idx="14"/>
          </p:nvPr>
        </p:nvSpPr>
        <p:spPr>
          <a:xfrm>
            <a:off x="6096000" y="1099825"/>
            <a:ext cx="5732462" cy="2587604"/>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3" name="内容占位符 2"/>
          <p:cNvSpPr>
            <a:spLocks noGrp="1"/>
          </p:cNvSpPr>
          <p:nvPr>
            <p:ph idx="15"/>
          </p:nvPr>
        </p:nvSpPr>
        <p:spPr>
          <a:xfrm>
            <a:off x="6096000" y="3951887"/>
            <a:ext cx="5732462" cy="2166338"/>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自定义">
    <p:spTree>
      <p:nvGrpSpPr>
        <p:cNvPr id="1" name=""/>
        <p:cNvGrpSpPr/>
        <p:nvPr/>
      </p:nvGrpSpPr>
      <p:grpSpPr/>
      <p:sp>
        <p:nvSpPr>
          <p:cNvPr id="2" name="标题 1"/>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panose="020B0604020202020204"/>
                <a:ea typeface="Arial" panose="020B0604020202020204"/>
                <a:cs typeface="Arial" panose="020B0604020202020204"/>
              </a:defRPr>
            </a:lvl1pPr>
          </a:lstStyle>
          <a:p>
            <a:pPr lvl="0">
              <a:buNone/>
            </a:pPr>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p:pic>
        <p:nvPicPr>
          <p:cNvPr id="13" name="图片 2"/>
          <p:cNvPicPr>
            <a:picLocks noChangeAspect="1"/>
          </p:cNvPicPr>
          <p:nvPr/>
        </p:nvPicPr>
        <p:blipFill>
          <a:blip r:embed="rId2"/>
          <a:srcRect/>
          <a:stretch>
            <a:fillRect/>
          </a:stretch>
        </p:blipFill>
        <p:spPr>
          <a:xfrm>
            <a:off x="10502900" y="466185"/>
            <a:ext cx="1114425" cy="270319"/>
          </a:xfrm>
          <a:prstGeom prst="rect">
            <a:avLst/>
          </a:prstGeom>
        </p:spPr>
      </p:pic>
      <p:pic>
        <p:nvPicPr>
          <p:cNvPr id="14" name="图片 5"/>
          <p:cNvPicPr>
            <a:picLocks noChangeAspect="1"/>
          </p:cNvPicPr>
          <p:nvPr/>
        </p:nvPicPr>
        <p:blipFill>
          <a:blip r:embed="rId3"/>
          <a:stretch>
            <a:fillRect/>
          </a:stretch>
        </p:blipFill>
        <p:spPr>
          <a:xfrm>
            <a:off x="4450501" y="-645610"/>
            <a:ext cx="11947547" cy="8960660"/>
          </a:xfrm>
          <a:prstGeom prst="rect">
            <a:avLst/>
          </a:prstGeom>
        </p:spPr>
      </p:pic>
      <p:sp>
        <p:nvSpPr>
          <p:cNvPr id="7" name="内容占位符 2"/>
          <p:cNvSpPr>
            <a:spLocks noGrp="1"/>
          </p:cNvSpPr>
          <p:nvPr>
            <p:ph idx="1" hasCustomPrompt="1"/>
          </p:nvPr>
        </p:nvSpPr>
        <p:spPr>
          <a:xfrm>
            <a:off x="838200" y="1478782"/>
            <a:ext cx="4931979" cy="4351338"/>
          </a:xfrm>
        </p:spPr>
        <p:txBody>
          <a:bodyPr/>
          <a:lstStyle>
            <a:lvl1pPr marL="228600" indent="-228600">
              <a:lnSpc>
                <a:spcPct val="150000"/>
              </a:lnSpc>
              <a:buSzPct val="150000"/>
              <a:buFontTx/>
              <a:buNone/>
              <a:defRPr sz="2400" b="0" i="0" baseline="0">
                <a:latin typeface="Arial" panose="020B0604020202020204"/>
                <a:ea typeface="Arial" panose="020B0604020202020204"/>
                <a:cs typeface="Arial" panose="020B0604020202020204"/>
              </a:defRPr>
            </a:lvl1pPr>
            <a:lvl2pPr marL="685800" indent="-228600">
              <a:lnSpc>
                <a:spcPct val="150000"/>
              </a:lnSpc>
              <a:buClr>
                <a:srgbClr val="660874"/>
              </a:buClr>
              <a:buSzPct val="80000"/>
              <a:buFont typeface="ZapfDingbatsITC"/>
              <a:buChar char="➤"/>
              <a:defRPr sz="1800" b="0" i="0">
                <a:latin typeface="思源黑体 CN Regular"/>
                <a:ea typeface="思源黑体 CN Regular"/>
                <a:cs typeface="思源黑体 CN Regular"/>
              </a:defRPr>
            </a:lvl2pPr>
            <a:lvl3pPr marL="1143000" indent="-228600">
              <a:lnSpc>
                <a:spcPct val="150000"/>
              </a:lnSpc>
              <a:buClr>
                <a:srgbClr val="660874"/>
              </a:buClr>
              <a:buFont typeface="AppleSymbols"/>
              <a:buChar char="▻"/>
              <a:defRPr sz="1600" b="0" i="0">
                <a:latin typeface="思源黑体 CN Regular"/>
                <a:ea typeface="思源黑体 CN Regular"/>
                <a:cs typeface="思源黑体 CN Regular"/>
              </a:defRPr>
            </a:lvl3pPr>
            <a:lvl4pPr marL="1600200" indent="-228600">
              <a:lnSpc>
                <a:spcPct val="150000"/>
              </a:lnSpc>
              <a:buClr>
                <a:srgbClr val="660874"/>
              </a:buClr>
              <a:buFont typeface="Helvetica"/>
              <a:buChar char="‣"/>
              <a:defRPr sz="1200" b="0" i="0">
                <a:latin typeface="思源黑体 CN Regular"/>
                <a:ea typeface="思源黑体 CN Regular"/>
                <a:cs typeface="思源黑体 CN Regular"/>
              </a:defRPr>
            </a:lvl4pPr>
            <a:lvl5pPr>
              <a:lnSpc>
                <a:spcPct val="150000"/>
              </a:lnSpc>
              <a:buClr>
                <a:srgbClr val="660874"/>
              </a:buClr>
              <a:buNone/>
              <a:defRPr sz="1000" b="0" i="0">
                <a:latin typeface="思源黑体 CN Regular"/>
                <a:ea typeface="思源黑体 CN Regular"/>
                <a:cs typeface="思源黑体 CN Regular"/>
              </a:defRPr>
            </a:lvl5pPr>
          </a:lstStyle>
          <a:p>
            <a:pPr lvl="0">
              <a:buNone/>
            </a:pPr>
            <a:r>
              <a:t>  单击此处编辑母版文本样式</a:t>
            </a:r>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0" name="标题 1"/>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panose="020B0604020202020204"/>
                <a:ea typeface="Arial" panose="020B0604020202020204"/>
                <a:cs typeface="Arial" panose="020B0604020202020204"/>
              </a:defRPr>
            </a:lvl1pPr>
          </a:lstStyle>
          <a:p>
            <a:pPr lvl="0">
              <a:buNone/>
            </a:p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版式说明">
    <p:spTree>
      <p:nvGrpSpPr>
        <p:cNvPr id="1" name=""/>
        <p:cNvGrpSpPr/>
        <p:nvPr/>
      </p:nvGrpSpPr>
      <p:grpSpPr/>
      <p:pic>
        <p:nvPicPr>
          <p:cNvPr id="15" name="图片 7"/>
          <p:cNvPicPr>
            <a:picLocks noChangeAspect="1"/>
          </p:cNvPicPr>
          <p:nvPr/>
        </p:nvPicPr>
        <p:blipFill>
          <a:blip r:embed="rId2"/>
          <a:srcRect/>
          <a:stretch>
            <a:fillRect/>
          </a:stretch>
        </p:blipFill>
        <p:spPr>
          <a:xfrm>
            <a:off x="10491224" y="488311"/>
            <a:ext cx="1126345" cy="273211"/>
          </a:xfrm>
          <a:prstGeom prst="rect">
            <a:avLst/>
          </a:prstGeom>
        </p:spPr>
      </p:pic>
      <p:sp>
        <p:nvSpPr>
          <p:cNvPr id="4" name="文本框 3"/>
          <p:cNvSpPr>
            <a:spLocks noGrp="1"/>
          </p:cNvSpPr>
          <p:nvPr/>
        </p:nvSpPr>
        <p:spPr>
          <a:xfrm>
            <a:off x="334257" y="1030778"/>
            <a:ext cx="11378376" cy="5301229"/>
          </a:xfrm>
          <a:prstGeom prst="rect">
            <a:avLst/>
          </a:prstGeom>
        </p:spPr>
        <p:txBody>
          <a:bodyPr vert="horz" wrap="square" lIns="91440" tIns="45720" rIns="91440" bIns="45720" anchor="ctr">
            <a:normAutofit/>
          </a:bodyPr>
          <a:lstStyle/>
          <a:p/>
        </p:txBody>
      </p:sp>
      <p:sp>
        <p:nvSpPr>
          <p:cNvPr id="6" name="文本框 5"/>
          <p:cNvSpPr>
            <a:spLocks noGrp="1"/>
          </p:cNvSpPr>
          <p:nvPr/>
        </p:nvSpPr>
        <p:spPr>
          <a:xfrm>
            <a:off x="479367" y="115209"/>
            <a:ext cx="9894917" cy="571061"/>
          </a:xfrm>
          <a:prstGeom prst="rect">
            <a:avLst/>
          </a:prstGeom>
        </p:spPr>
        <p:txBody>
          <a:bodyPr vert="horz" wrap="square" lIns="91440" tIns="45720" rIns="91440" bIns="45720" anchor="ctr">
            <a:normAutofit/>
          </a:bodyPr>
          <a:lstStyle/>
          <a:p/>
        </p:txBody>
      </p:sp>
      <p:sp>
        <p:nvSpPr>
          <p:cNvPr id="10" name="直接连接符 9"/>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3" name="矩形 12"/>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1" name="文本框 10"/>
          <p:cNvSpPr>
            <a:spLocks noGrp="1"/>
          </p:cNvSpPr>
          <p:nvPr/>
        </p:nvSpPr>
        <p:spPr>
          <a:xfrm>
            <a:off x="297277" y="45898"/>
            <a:ext cx="7732626" cy="746234"/>
          </a:xfrm>
          <a:prstGeom prst="rect">
            <a:avLst/>
          </a:prstGeom>
        </p:spPr>
        <p:txBody>
          <a:bodyPr vert="horz" wrap="square" lIns="91440" tIns="45720" rIns="91440" bIns="45720" anchor="ctr">
            <a:noAutofit/>
          </a:bodyPr>
          <a:lstStyle/>
          <a:p>
            <a:r>
              <a:rPr sz="3200" b="1" i="0">
                <a:solidFill>
                  <a:schemeClr val="tx1"/>
                </a:solidFill>
                <a:latin typeface="Arial" panose="020B0604020202020204"/>
                <a:ea typeface="Arial" panose="020B0604020202020204"/>
                <a:cs typeface="Arial" panose="020B0604020202020204"/>
              </a:rPr>
              <a:t>DISCLAIMER &amp; ATTRIBUTION</a:t>
            </a:r>
            <a:endParaRPr sz="3200" b="1" i="0" baseline="0">
              <a:solidFill>
                <a:schemeClr val="tx1"/>
              </a:solidFill>
              <a:latin typeface="Arial" panose="020B0604020202020204"/>
              <a:ea typeface="Arial" panose="020B0604020202020204"/>
              <a:cs typeface="Arial" panose="020B0604020202020204"/>
            </a:endParaRPr>
          </a:p>
        </p:txBody>
      </p:sp>
      <p:sp>
        <p:nvSpPr>
          <p:cNvPr id="2" name="文本框 1"/>
          <p:cNvSpPr>
            <a:spLocks noGrp="1"/>
          </p:cNvSpPr>
          <p:nvPr/>
        </p:nvSpPr>
        <p:spPr>
          <a:xfrm>
            <a:off x="386807" y="1183967"/>
            <a:ext cx="11507916" cy="4994850"/>
          </a:xfrm>
          <a:prstGeom prst="rect">
            <a:avLst/>
          </a:prstGeom>
        </p:spPr>
        <p:txBody>
          <a:bodyPr vert="horz" wrap="square" lIns="91440" tIns="45720" rIns="91440" bIns="45720" anchor="ctr">
            <a:normAutofit/>
          </a:bodyPr>
          <a:lstStyle/>
          <a:p>
            <a:r>
              <a:rPr sz="1600" b="0" i="0">
                <a:solidFill>
                  <a:srgbClr val="000000"/>
                </a:solidFill>
                <a:latin typeface="+mn-lt"/>
                <a:ea typeface="+mn-lt"/>
                <a:cs typeface="+mn-lt"/>
              </a:rPr>
              <a:t>This presentation may contain privileged and confidential information and is intended only for </a:t>
            </a:r>
            <a:r>
              <a:rPr sz="1600" b="0" i="0">
                <a:solidFill>
                  <a:srgbClr val="000000"/>
                </a:solidFill>
                <a:latin typeface="+mn-lt"/>
                <a:ea typeface="+mn-lt"/>
                <a:cs typeface="+mn-lt"/>
              </a:rPr>
              <a:t>MetaX</a:t>
            </a:r>
            <a:r>
              <a:rPr sz="1600" b="0" i="0">
                <a:solidFill>
                  <a:srgbClr val="000000"/>
                </a:solidFill>
                <a:latin typeface="+mn-lt"/>
                <a:ea typeface="+mn-lt"/>
                <a:cs typeface="+mn-lt"/>
              </a:rPr>
              <a:t> Integrated Circuits (Shanghai) Co., Ltd. and/or its affiliates (hereinafter collectively referred to as “</a:t>
            </a:r>
            <a:r>
              <a:rPr sz="1600" b="0" i="0">
                <a:solidFill>
                  <a:srgbClr val="000000"/>
                </a:solidFill>
                <a:latin typeface="+mn-lt"/>
                <a:ea typeface="+mn-lt"/>
                <a:cs typeface="+mn-lt"/>
              </a:rPr>
              <a:t>MetaX</a:t>
            </a:r>
            <a:r>
              <a:rPr sz="1600" b="0" i="0">
                <a:solidFill>
                  <a:srgbClr val="000000"/>
                </a:solidFill>
                <a:latin typeface="+mn-lt"/>
                <a:ea typeface="+mn-lt"/>
                <a:cs typeface="+mn-lt"/>
              </a:rPr>
              <a:t>”).  The information presented in this presentation should be kept strictly confidential and should not be allowed to make available to others without written consent from </a:t>
            </a:r>
            <a:r>
              <a:rPr sz="1600" b="0" i="0">
                <a:solidFill>
                  <a:srgbClr val="000000"/>
                </a:solidFill>
                <a:latin typeface="+mn-lt"/>
                <a:ea typeface="+mn-lt"/>
                <a:cs typeface="+mn-lt"/>
              </a:rPr>
              <a:t>MetaX</a:t>
            </a:r>
            <a:r>
              <a:rPr sz="1600" b="0" i="0">
                <a:solidFill>
                  <a:srgbClr val="000000"/>
                </a:solidFill>
                <a:latin typeface="+mn-lt"/>
                <a:ea typeface="+mn-lt"/>
                <a:cs typeface="+mn-lt"/>
              </a:rPr>
              <a:t>.</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The information presented in this presentation is for informational purposes only and may contain technical inaccuracies, omissions and typographical errors.  </a:t>
            </a:r>
            <a:r>
              <a:rPr sz="1600" b="0" i="0">
                <a:solidFill>
                  <a:srgbClr val="000000"/>
                </a:solidFill>
                <a:latin typeface="+mn-lt"/>
                <a:ea typeface="+mn-lt"/>
                <a:cs typeface="+mn-lt"/>
              </a:rPr>
              <a:t>MetaX</a:t>
            </a:r>
            <a:r>
              <a:rPr sz="1600" b="0" i="0">
                <a:solidFill>
                  <a:srgbClr val="000000"/>
                </a:solidFill>
                <a:latin typeface="+mn-lt"/>
                <a:ea typeface="+mn-lt"/>
                <a:cs typeface="+mn-lt"/>
              </a:rPr>
              <a:t> makes no representation or warranty of any kind, express or implied, regarding the reliability, availability or completeness of any information on the Slides. </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MetaX</a:t>
            </a:r>
            <a:r>
              <a:rPr sz="1600" b="0" i="0">
                <a:solidFill>
                  <a:srgbClr val="000000"/>
                </a:solidFill>
                <a:latin typeface="+mn-lt"/>
                <a:ea typeface="+mn-lt"/>
                <a:cs typeface="+mn-lt"/>
              </a:rPr>
              <a:t> is the owner of the presentation and all portions thereof.  Except as expressly provided, you are prohibited from copying, modifying, distributing, displaying or transmitting any of the contents of the Slides for any purposes. </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MetaX</a:t>
            </a:r>
            <a:r>
              <a:rPr sz="1600" b="0" i="0">
                <a:solidFill>
                  <a:srgbClr val="000000"/>
                </a:solidFill>
                <a:latin typeface="+mn-lt"/>
                <a:ea typeface="+mn-lt"/>
                <a:cs typeface="+mn-lt"/>
              </a:rPr>
              <a:t>, </a:t>
            </a:r>
            <a:r>
              <a:rPr sz="1600" b="0" i="0">
                <a:solidFill>
                  <a:srgbClr val="000000"/>
                </a:solidFill>
                <a:latin typeface="+mn-ea"/>
                <a:ea typeface="+mn-ea"/>
                <a:cs typeface="+mn-ea"/>
              </a:rPr>
              <a:t>沐曦</a:t>
            </a:r>
            <a:r>
              <a:rPr sz="1600" b="0" i="0">
                <a:solidFill>
                  <a:srgbClr val="000000"/>
                </a:solidFill>
                <a:latin typeface="+mn-ea"/>
                <a:ea typeface="+mn-ea"/>
                <a:cs typeface="+mn-ea"/>
              </a:rPr>
              <a:t>,</a:t>
            </a:r>
            <a:r>
              <a:rPr sz="1600" b="0" i="0">
                <a:solidFill>
                  <a:srgbClr val="000000"/>
                </a:solidFill>
                <a:latin typeface="+mn-lt"/>
                <a:ea typeface="+mn-lt"/>
                <a:cs typeface="+mn-lt"/>
              </a:rPr>
              <a:t> the </a:t>
            </a:r>
            <a:r>
              <a:rPr sz="1600" b="0" i="0">
                <a:solidFill>
                  <a:srgbClr val="000000"/>
                </a:solidFill>
                <a:latin typeface="+mn-lt"/>
                <a:ea typeface="+mn-lt"/>
                <a:cs typeface="+mn-lt"/>
              </a:rPr>
              <a:t>MetaX</a:t>
            </a:r>
            <a:r>
              <a:rPr sz="1600" b="0" i="0">
                <a:solidFill>
                  <a:srgbClr val="000000"/>
                </a:solidFill>
                <a:latin typeface="+mn-lt"/>
                <a:ea typeface="+mn-lt"/>
                <a:cs typeface="+mn-lt"/>
              </a:rPr>
              <a:t> logo and combinations thereof are trademarks of </a:t>
            </a:r>
            <a:r>
              <a:rPr sz="1600" b="0" i="0">
                <a:solidFill>
                  <a:srgbClr val="000000"/>
                </a:solidFill>
                <a:latin typeface="+mn-lt"/>
                <a:ea typeface="+mn-lt"/>
                <a:cs typeface="+mn-lt"/>
              </a:rPr>
              <a:t>MetaX</a:t>
            </a:r>
            <a:r>
              <a:rPr sz="1600" b="0" i="0">
                <a:solidFill>
                  <a:srgbClr val="000000"/>
                </a:solidFill>
                <a:latin typeface="+mn-lt"/>
                <a:ea typeface="+mn-lt"/>
                <a:cs typeface="+mn-lt"/>
              </a:rPr>
              <a:t>. Other product and company names used in this presentation are for identification purposes only and may be trademarks or trade names of their respective owners.</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 http://www.metax-tech.com/</a:t>
            </a:r>
            <a:endParaRPr sz="1600" b="0" i="0">
              <a:solidFill>
                <a:srgbClr val="000000"/>
              </a:solidFill>
              <a:latin typeface="+mn-lt"/>
              <a:ea typeface="+mn-lt"/>
              <a:cs typeface="+mn-l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a:xfrm>
            <a:off x="838200" y="6356350"/>
            <a:ext cx="2743200" cy="365125"/>
          </a:xfrm>
        </p:spPr>
        <p:txBody>
          <a:bodyPr/>
          <a:lstStyle/>
          <a:p/>
        </p:txBody>
      </p:sp>
      <p:sp>
        <p:nvSpPr>
          <p:cNvPr id="3" name="页脚占位符 2"/>
          <p:cNvSpPr>
            <a:spLocks noGrp="1"/>
          </p:cNvSpPr>
          <p:nvPr>
            <p:ph type="ftr" idx="11"/>
          </p:nvPr>
        </p:nvSpPr>
        <p:spPr>
          <a:xfrm>
            <a:off x="4038600" y="6356350"/>
            <a:ext cx="4114800" cy="365125"/>
          </a:xfrm>
        </p:spPr>
        <p:txBody>
          <a:bodyPr/>
          <a:lstStyle/>
          <a:p/>
        </p:txBody>
      </p:sp>
      <p:sp>
        <p:nvSpPr>
          <p:cNvPr id="4" name="灯片编号占位符 3"/>
          <p:cNvSpPr>
            <a:spLocks noGrp="1"/>
          </p:cNvSpPr>
          <p:nvPr>
            <p:ph type="sldNum" idx="12"/>
          </p:nvPr>
        </p:nvSpPr>
        <p:spPr>
          <a:xfrm>
            <a:off x="8610600" y="6356350"/>
            <a:ext cx="2743200" cy="365125"/>
          </a:xfrm>
        </p:spPr>
        <p:txBody>
          <a:body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p:pic>
        <p:nvPicPr>
          <p:cNvPr id="14" name="图片 4"/>
          <p:cNvPicPr>
            <a:picLocks noChangeAspect="1"/>
          </p:cNvPicPr>
          <p:nvPr/>
        </p:nvPicPr>
        <p:blipFill>
          <a:blip r:embed="rId2"/>
          <a:stretch>
            <a:fillRect/>
          </a:stretch>
        </p:blipFill>
        <p:spPr>
          <a:xfrm>
            <a:off x="0" y="0"/>
            <a:ext cx="12192000" cy="6858000"/>
          </a:xfrm>
          <a:prstGeom prst="rect">
            <a:avLst/>
          </a:prstGeom>
        </p:spPr>
      </p:pic>
      <p:sp>
        <p:nvSpPr>
          <p:cNvPr id="8" name="标题 1"/>
          <p:cNvSpPr>
            <a:spLocks noGrp="1"/>
          </p:cNvSpPr>
          <p:nvPr>
            <p:ph type="ctrTitle"/>
          </p:nvPr>
        </p:nvSpPr>
        <p:spPr>
          <a:xfrm>
            <a:off x="743985" y="2437178"/>
            <a:ext cx="9144000" cy="1369968"/>
          </a:xfrm>
        </p:spPr>
        <p:txBody>
          <a:bodyPr anchor="b">
            <a:normAutofit/>
          </a:bodyPr>
          <a:lstStyle>
            <a:lvl1pPr algn="l">
              <a:lnSpc>
                <a:spcPct val="100000"/>
              </a:lnSpc>
              <a:buNone/>
              <a:defRPr sz="4400" b="1" i="0" baseline="0">
                <a:solidFill>
                  <a:schemeClr val="bg1"/>
                </a:solidFill>
                <a:latin typeface="Arial" panose="020B0604020202020204"/>
                <a:ea typeface="Arial" panose="020B0604020202020204"/>
                <a:cs typeface="Arial" panose="020B0604020202020204"/>
              </a:defRPr>
            </a:lvl1pPr>
          </a:lstStyle>
          <a:p/>
        </p:txBody>
      </p:sp>
      <p:sp>
        <p:nvSpPr>
          <p:cNvPr id="10" name="副标题 2"/>
          <p:cNvSpPr>
            <a:spLocks noGrp="1"/>
          </p:cNvSpPr>
          <p:nvPr>
            <p:ph type="subTitle" idx="1"/>
          </p:nvPr>
        </p:nvSpPr>
        <p:spPr>
          <a:xfrm>
            <a:off x="743985" y="4174810"/>
            <a:ext cx="9144000" cy="424021"/>
          </a:xfrm>
        </p:spPr>
        <p:txBody>
          <a:bodyPr>
            <a:normAutofit/>
          </a:bodyPr>
          <a:lstStyle>
            <a:lvl1pPr marL="0" indent="0" algn="l">
              <a:buNone/>
              <a:defRPr sz="1600" b="0" i="0" baseline="0">
                <a:solidFill>
                  <a:schemeClr val="bg1"/>
                </a:solidFill>
                <a:latin typeface="Arial" panose="020B0604020202020204"/>
                <a:ea typeface="Arial" panose="020B0604020202020204"/>
                <a:cs typeface="Arial" panose="020B0604020202020204"/>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p:txBody>
      </p:sp>
      <p:sp>
        <p:nvSpPr>
          <p:cNvPr id="11" name="矩形 10"/>
          <p:cNvSpPr>
            <a:spLocks noGrp="1"/>
          </p:cNvSpPr>
          <p:nvPr/>
        </p:nvSpPr>
        <p:spPr>
          <a:xfrm>
            <a:off x="853207" y="3849897"/>
            <a:ext cx="2080493" cy="10455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pic>
        <p:nvPicPr>
          <p:cNvPr id="18" name="图片 11"/>
          <p:cNvPicPr>
            <a:picLocks noChangeAspect="1"/>
          </p:cNvPicPr>
          <p:nvPr/>
        </p:nvPicPr>
        <p:blipFill>
          <a:blip r:embed="rId3"/>
          <a:stretch>
            <a:fillRect/>
          </a:stretch>
        </p:blipFill>
        <p:spPr>
          <a:xfrm>
            <a:off x="865907" y="412582"/>
            <a:ext cx="1492015" cy="36191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p:pic>
        <p:nvPicPr>
          <p:cNvPr id="11" name="图片 6"/>
          <p:cNvPicPr>
            <a:picLocks noChangeAspect="1"/>
          </p:cNvPicPr>
          <p:nvPr/>
        </p:nvPicPr>
        <p:blipFill>
          <a:blip r:embed="rId2"/>
          <a:stretch>
            <a:fillRect/>
          </a:stretch>
        </p:blipFill>
        <p:spPr>
          <a:xfrm>
            <a:off x="-1235002" y="-1412301"/>
            <a:ext cx="12969802" cy="9727351"/>
          </a:xfrm>
          <a:prstGeom prst="rect">
            <a:avLst/>
          </a:prstGeom>
        </p:spPr>
      </p:pic>
      <p:sp>
        <p:nvSpPr>
          <p:cNvPr id="2" name="标题 1"/>
          <p:cNvSpPr>
            <a:spLocks noGrp="1"/>
          </p:cNvSpPr>
          <p:nvPr>
            <p:ph type="title"/>
          </p:nvPr>
        </p:nvSpPr>
        <p:spPr>
          <a:xfrm>
            <a:off x="5649153" y="3033425"/>
            <a:ext cx="5711080" cy="677368"/>
          </a:xfrm>
        </p:spPr>
        <p:txBody>
          <a:bodyPr anchor="b">
            <a:noAutofit/>
          </a:bodyPr>
          <a:lstStyle>
            <a:lvl1pPr>
              <a:buNone/>
              <a:defRPr sz="3600" b="1" baseline="0">
                <a:latin typeface="Arial" panose="020B0604020202020204"/>
                <a:ea typeface="Arial" panose="020B0604020202020204"/>
                <a:cs typeface="Arial" panose="020B0604020202020204"/>
              </a:defRPr>
            </a:lvl1pPr>
          </a:lstStyle>
          <a:p/>
        </p:txBody>
      </p:sp>
      <p:sp>
        <p:nvSpPr>
          <p:cNvPr id="8" name="直接连接符 28"/>
          <p:cNvSpPr>
            <a:spLocks noGrp="1"/>
          </p:cNvSpPr>
          <p:nvPr/>
        </p:nvSpPr>
        <p:spPr>
          <a:xfrm flipH="1">
            <a:off x="5601528" y="3824575"/>
            <a:ext cx="5711080" cy="0"/>
          </a:xfrm>
          <a:prstGeom prst="line">
            <a:avLst/>
          </a:prstGeom>
          <a:gradFill rotWithShape="1">
            <a:gsLst>
              <a:gs pos="100000">
                <a:srgbClr val="06DEB7">
                  <a:alpha val="40000"/>
                </a:srgbClr>
              </a:gs>
              <a:gs pos="1000">
                <a:srgbClr val="06DEB7">
                  <a:alpha val="0"/>
                </a:srgbClr>
              </a:gs>
            </a:gsLst>
            <a:path path="circle">
              <a:fillToRect l="50000" t="50000" r="50000" b="50000"/>
            </a:path>
            <a:tileRect/>
          </a:gradFill>
          <a:ln w="63500">
            <a:solidFill>
              <a:srgbClr val="660773"/>
            </a:solidFill>
          </a:ln>
        </p:spPr>
        <p:style>
          <a:lnRef idx="2">
            <a:schemeClr val="accent1">
              <a:shade val="50000"/>
            </a:schemeClr>
          </a:lnRef>
          <a:fillRef idx="1">
            <a:schemeClr val="accent1"/>
          </a:fillRef>
          <a:effectRef idx="0">
            <a:schemeClr val="accent1"/>
          </a:effectRef>
          <a:fontRef idx="minor">
            <a:schemeClr val="lt1"/>
          </a:fontRef>
        </p:style>
      </p:sp>
      <p:pic>
        <p:nvPicPr>
          <p:cNvPr id="14" name="图片 9"/>
          <p:cNvPicPr>
            <a:picLocks noChangeAspect="1"/>
          </p:cNvPicPr>
          <p:nvPr/>
        </p:nvPicPr>
        <p:blipFill>
          <a:blip r:embed="rId3"/>
          <a:srcRect/>
          <a:stretch>
            <a:fillRect/>
          </a:stretch>
        </p:blipFill>
        <p:spPr>
          <a:xfrm>
            <a:off x="10235812" y="492349"/>
            <a:ext cx="1498988" cy="36360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p:sp>
        <p:nvSpPr>
          <p:cNvPr id="2" name="标题 1"/>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7"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7" name="内容占位符 2"/>
          <p:cNvSpPr>
            <a:spLocks noGrp="1"/>
          </p:cNvSpPr>
          <p:nvPr>
            <p:ph idx="1"/>
          </p:nvPr>
        </p:nvSpPr>
        <p:spPr>
          <a:xfrm>
            <a:off x="838199" y="1074490"/>
            <a:ext cx="10417629" cy="5102473"/>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p:sp>
        <p:nvSpPr>
          <p:cNvPr id="2" name="标题 1"/>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3"/>
          <p:cNvPicPr>
            <a:picLocks noChangeAspect="1"/>
          </p:cNvPicPr>
          <p:nvPr/>
        </p:nvPicPr>
        <p:blipFill>
          <a:blip r:embed="rId2"/>
          <a:srcRect/>
          <a:stretch>
            <a:fillRect/>
          </a:stretch>
        </p:blipFill>
        <p:spPr>
          <a:xfrm>
            <a:off x="10502900" y="466185"/>
            <a:ext cx="1114425" cy="270319"/>
          </a:xfrm>
          <a:prstGeom prst="rect">
            <a:avLst/>
          </a:prstGeom>
        </p:spPr>
      </p:pic>
      <p:sp>
        <p:nvSpPr>
          <p:cNvPr id="8" name="内容占位符 2"/>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0" name="内容占位符 2"/>
          <p:cNvSpPr>
            <a:spLocks noGrp="1"/>
          </p:cNvSpPr>
          <p:nvPr>
            <p:ph idx="14"/>
          </p:nvPr>
        </p:nvSpPr>
        <p:spPr>
          <a:xfrm>
            <a:off x="6096000"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Dual Subject">
    <p:spTree>
      <p:nvGrpSpPr>
        <p:cNvPr id="1" name=""/>
        <p:cNvGrpSpPr/>
        <p:nvPr/>
      </p:nvGrpSpPr>
      <p:grpSpPr/>
      <p:sp>
        <p:nvSpPr>
          <p:cNvPr id="2" name="标题 1"/>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idx="1"/>
          </p:nvPr>
        </p:nvSpPr>
        <p:spPr>
          <a:xfrm>
            <a:off x="838199" y="1074491"/>
            <a:ext cx="10417629" cy="218982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p:cNvSpPr>
            <a:spLocks noGrp="1"/>
          </p:cNvSpPr>
          <p:nvPr>
            <p:ph idx="10"/>
          </p:nvPr>
        </p:nvSpPr>
        <p:spPr>
          <a:xfrm>
            <a:off x="838199" y="3593690"/>
            <a:ext cx="10417629" cy="2797278"/>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Trio Subject">
    <p:spTree>
      <p:nvGrpSpPr>
        <p:cNvPr id="1" name=""/>
        <p:cNvGrpSpPr/>
        <p:nvPr/>
      </p:nvGrpSpPr>
      <p:grpSpPr/>
      <p:sp>
        <p:nvSpPr>
          <p:cNvPr id="2" name="标题 1"/>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8"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p:cNvSpPr>
            <a:spLocks noGrp="1"/>
          </p:cNvSpPr>
          <p:nvPr>
            <p:ph idx="14"/>
          </p:nvPr>
        </p:nvSpPr>
        <p:spPr>
          <a:xfrm>
            <a:off x="6096000" y="1099825"/>
            <a:ext cx="5732462" cy="2587604"/>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3" name="内容占位符 2"/>
          <p:cNvSpPr>
            <a:spLocks noGrp="1"/>
          </p:cNvSpPr>
          <p:nvPr>
            <p:ph idx="15"/>
          </p:nvPr>
        </p:nvSpPr>
        <p:spPr>
          <a:xfrm>
            <a:off x="6096000" y="3951887"/>
            <a:ext cx="5732462" cy="2166338"/>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自定义">
    <p:spTree>
      <p:nvGrpSpPr>
        <p:cNvPr id="1" name=""/>
        <p:cNvGrpSpPr/>
        <p:nvPr/>
      </p:nvGrpSpPr>
      <p:grpSpPr/>
      <p:sp>
        <p:nvSpPr>
          <p:cNvPr id="2" name="标题 1"/>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panose="020B0604020202020204"/>
                <a:ea typeface="Arial" panose="020B0604020202020204"/>
                <a:cs typeface="Arial" panose="020B0604020202020204"/>
              </a:defRPr>
            </a:lvl1pPr>
          </a:lstStyle>
          <a:p>
            <a:pPr lvl="0">
              <a:buNone/>
            </a:pPr>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p:pic>
        <p:nvPicPr>
          <p:cNvPr id="13" name="图片 2"/>
          <p:cNvPicPr>
            <a:picLocks noChangeAspect="1"/>
          </p:cNvPicPr>
          <p:nvPr/>
        </p:nvPicPr>
        <p:blipFill>
          <a:blip r:embed="rId2"/>
          <a:srcRect/>
          <a:stretch>
            <a:fillRect/>
          </a:stretch>
        </p:blipFill>
        <p:spPr>
          <a:xfrm>
            <a:off x="10502900" y="466185"/>
            <a:ext cx="1114425" cy="270319"/>
          </a:xfrm>
          <a:prstGeom prst="rect">
            <a:avLst/>
          </a:prstGeom>
        </p:spPr>
      </p:pic>
      <p:pic>
        <p:nvPicPr>
          <p:cNvPr id="14" name="图片 5"/>
          <p:cNvPicPr>
            <a:picLocks noChangeAspect="1"/>
          </p:cNvPicPr>
          <p:nvPr/>
        </p:nvPicPr>
        <p:blipFill>
          <a:blip r:embed="rId3"/>
          <a:stretch>
            <a:fillRect/>
          </a:stretch>
        </p:blipFill>
        <p:spPr>
          <a:xfrm>
            <a:off x="4450501" y="-645610"/>
            <a:ext cx="11947547" cy="8960660"/>
          </a:xfrm>
          <a:prstGeom prst="rect">
            <a:avLst/>
          </a:prstGeom>
        </p:spPr>
      </p:pic>
      <p:sp>
        <p:nvSpPr>
          <p:cNvPr id="7" name="内容占位符 2"/>
          <p:cNvSpPr>
            <a:spLocks noGrp="1"/>
          </p:cNvSpPr>
          <p:nvPr>
            <p:ph idx="1" hasCustomPrompt="1"/>
          </p:nvPr>
        </p:nvSpPr>
        <p:spPr>
          <a:xfrm>
            <a:off x="838200" y="1478782"/>
            <a:ext cx="4931979" cy="4351338"/>
          </a:xfrm>
        </p:spPr>
        <p:txBody>
          <a:bodyPr/>
          <a:lstStyle>
            <a:lvl1pPr marL="228600" indent="-228600">
              <a:lnSpc>
                <a:spcPct val="150000"/>
              </a:lnSpc>
              <a:buSzPct val="150000"/>
              <a:buFontTx/>
              <a:buNone/>
              <a:defRPr sz="2400" b="0" i="0" baseline="0">
                <a:latin typeface="Arial" panose="020B0604020202020204"/>
                <a:ea typeface="Arial" panose="020B0604020202020204"/>
                <a:cs typeface="Arial" panose="020B0604020202020204"/>
              </a:defRPr>
            </a:lvl1pPr>
            <a:lvl2pPr marL="685800" indent="-228600">
              <a:lnSpc>
                <a:spcPct val="150000"/>
              </a:lnSpc>
              <a:buClr>
                <a:srgbClr val="660874"/>
              </a:buClr>
              <a:buSzPct val="80000"/>
              <a:buFont typeface="ZapfDingbatsITC"/>
              <a:buChar char="➤"/>
              <a:defRPr sz="1800" b="0" i="0">
                <a:latin typeface="思源黑体 CN Regular"/>
                <a:ea typeface="思源黑体 CN Regular"/>
                <a:cs typeface="思源黑体 CN Regular"/>
              </a:defRPr>
            </a:lvl2pPr>
            <a:lvl3pPr marL="1143000" indent="-228600">
              <a:lnSpc>
                <a:spcPct val="150000"/>
              </a:lnSpc>
              <a:buClr>
                <a:srgbClr val="660874"/>
              </a:buClr>
              <a:buFont typeface="AppleSymbols"/>
              <a:buChar char="▻"/>
              <a:defRPr sz="1600" b="0" i="0">
                <a:latin typeface="思源黑体 CN Regular"/>
                <a:ea typeface="思源黑体 CN Regular"/>
                <a:cs typeface="思源黑体 CN Regular"/>
              </a:defRPr>
            </a:lvl3pPr>
            <a:lvl4pPr marL="1600200" indent="-228600">
              <a:lnSpc>
                <a:spcPct val="150000"/>
              </a:lnSpc>
              <a:buClr>
                <a:srgbClr val="660874"/>
              </a:buClr>
              <a:buFont typeface="Helvetica"/>
              <a:buChar char="‣"/>
              <a:defRPr sz="1200" b="0" i="0">
                <a:latin typeface="思源黑体 CN Regular"/>
                <a:ea typeface="思源黑体 CN Regular"/>
                <a:cs typeface="思源黑体 CN Regular"/>
              </a:defRPr>
            </a:lvl4pPr>
            <a:lvl5pPr>
              <a:lnSpc>
                <a:spcPct val="150000"/>
              </a:lnSpc>
              <a:buClr>
                <a:srgbClr val="660874"/>
              </a:buClr>
              <a:buNone/>
              <a:defRPr sz="1000" b="0" i="0">
                <a:latin typeface="思源黑体 CN Regular"/>
                <a:ea typeface="思源黑体 CN Regular"/>
                <a:cs typeface="思源黑体 CN Regular"/>
              </a:defRPr>
            </a:lvl5pPr>
          </a:lstStyle>
          <a:p>
            <a:pPr lvl="0">
              <a:buNone/>
            </a:pPr>
            <a:r>
              <a:t>  单击此处编辑母版文本样式</a:t>
            </a:r>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0" name="标题 1"/>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panose="020B0604020202020204"/>
                <a:ea typeface="Arial" panose="020B0604020202020204"/>
                <a:cs typeface="Arial" panose="020B0604020202020204"/>
              </a:defRPr>
            </a:lvl1pPr>
          </a:lstStyle>
          <a:p>
            <a:pPr lvl="0">
              <a:buNone/>
            </a:p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版式说明">
    <p:spTree>
      <p:nvGrpSpPr>
        <p:cNvPr id="1" name=""/>
        <p:cNvGrpSpPr/>
        <p:nvPr/>
      </p:nvGrpSpPr>
      <p:grpSpPr/>
      <p:pic>
        <p:nvPicPr>
          <p:cNvPr id="15" name="图片 7"/>
          <p:cNvPicPr>
            <a:picLocks noChangeAspect="1"/>
          </p:cNvPicPr>
          <p:nvPr/>
        </p:nvPicPr>
        <p:blipFill>
          <a:blip r:embed="rId2"/>
          <a:srcRect/>
          <a:stretch>
            <a:fillRect/>
          </a:stretch>
        </p:blipFill>
        <p:spPr>
          <a:xfrm>
            <a:off x="10491224" y="488311"/>
            <a:ext cx="1126345" cy="273211"/>
          </a:xfrm>
          <a:prstGeom prst="rect">
            <a:avLst/>
          </a:prstGeom>
        </p:spPr>
      </p:pic>
      <p:sp>
        <p:nvSpPr>
          <p:cNvPr id="4" name="文本框 3"/>
          <p:cNvSpPr>
            <a:spLocks noGrp="1"/>
          </p:cNvSpPr>
          <p:nvPr/>
        </p:nvSpPr>
        <p:spPr>
          <a:xfrm>
            <a:off x="334257" y="1030778"/>
            <a:ext cx="11378376" cy="5301229"/>
          </a:xfrm>
          <a:prstGeom prst="rect">
            <a:avLst/>
          </a:prstGeom>
        </p:spPr>
        <p:txBody>
          <a:bodyPr vert="horz" wrap="square" lIns="91440" tIns="45720" rIns="91440" bIns="45720" anchor="ctr">
            <a:normAutofit/>
          </a:bodyPr>
          <a:lstStyle/>
          <a:p/>
        </p:txBody>
      </p:sp>
      <p:sp>
        <p:nvSpPr>
          <p:cNvPr id="6" name="文本框 5"/>
          <p:cNvSpPr>
            <a:spLocks noGrp="1"/>
          </p:cNvSpPr>
          <p:nvPr/>
        </p:nvSpPr>
        <p:spPr>
          <a:xfrm>
            <a:off x="479367" y="115209"/>
            <a:ext cx="9894917" cy="571061"/>
          </a:xfrm>
          <a:prstGeom prst="rect">
            <a:avLst/>
          </a:prstGeom>
        </p:spPr>
        <p:txBody>
          <a:bodyPr vert="horz" wrap="square" lIns="91440" tIns="45720" rIns="91440" bIns="45720" anchor="ctr">
            <a:normAutofit/>
          </a:bodyPr>
          <a:lstStyle/>
          <a:p/>
        </p:txBody>
      </p:sp>
      <p:sp>
        <p:nvSpPr>
          <p:cNvPr id="10" name="直接连接符 9"/>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3" name="矩形 12"/>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1" name="文本框 10"/>
          <p:cNvSpPr>
            <a:spLocks noGrp="1"/>
          </p:cNvSpPr>
          <p:nvPr/>
        </p:nvSpPr>
        <p:spPr>
          <a:xfrm>
            <a:off x="297277" y="45898"/>
            <a:ext cx="7732626" cy="746234"/>
          </a:xfrm>
          <a:prstGeom prst="rect">
            <a:avLst/>
          </a:prstGeom>
        </p:spPr>
        <p:txBody>
          <a:bodyPr vert="horz" wrap="square" lIns="91440" tIns="45720" rIns="91440" bIns="45720" anchor="ctr">
            <a:noAutofit/>
          </a:bodyPr>
          <a:lstStyle/>
          <a:p>
            <a:r>
              <a:rPr sz="3200" b="1" i="0">
                <a:solidFill>
                  <a:schemeClr val="tx1"/>
                </a:solidFill>
                <a:latin typeface="Arial" panose="020B0604020202020204"/>
                <a:ea typeface="Arial" panose="020B0604020202020204"/>
                <a:cs typeface="Arial" panose="020B0604020202020204"/>
              </a:rPr>
              <a:t>DISCLAIMER &amp; ATTRIBUTION</a:t>
            </a:r>
            <a:endParaRPr sz="3200" b="1" i="0" baseline="0">
              <a:solidFill>
                <a:schemeClr val="tx1"/>
              </a:solidFill>
              <a:latin typeface="Arial" panose="020B0604020202020204"/>
              <a:ea typeface="Arial" panose="020B0604020202020204"/>
              <a:cs typeface="Arial" panose="020B0604020202020204"/>
            </a:endParaRPr>
          </a:p>
        </p:txBody>
      </p:sp>
      <p:sp>
        <p:nvSpPr>
          <p:cNvPr id="2" name="文本框 1"/>
          <p:cNvSpPr>
            <a:spLocks noGrp="1"/>
          </p:cNvSpPr>
          <p:nvPr/>
        </p:nvSpPr>
        <p:spPr>
          <a:xfrm>
            <a:off x="386807" y="1183967"/>
            <a:ext cx="11507916" cy="4994850"/>
          </a:xfrm>
          <a:prstGeom prst="rect">
            <a:avLst/>
          </a:prstGeom>
        </p:spPr>
        <p:txBody>
          <a:bodyPr vert="horz" wrap="square" lIns="91440" tIns="45720" rIns="91440" bIns="45720" anchor="ctr">
            <a:normAutofit/>
          </a:bodyPr>
          <a:lstStyle/>
          <a:p>
            <a:r>
              <a:rPr sz="1600" b="0" i="0">
                <a:solidFill>
                  <a:srgbClr val="000000"/>
                </a:solidFill>
                <a:latin typeface="+mn-lt"/>
                <a:ea typeface="+mn-lt"/>
                <a:cs typeface="+mn-lt"/>
              </a:rPr>
              <a:t>This presentation may contain privileged and confidential information and is intended only for </a:t>
            </a:r>
            <a:r>
              <a:rPr sz="1600" b="0" i="0">
                <a:solidFill>
                  <a:srgbClr val="000000"/>
                </a:solidFill>
                <a:latin typeface="+mn-lt"/>
                <a:ea typeface="+mn-lt"/>
                <a:cs typeface="+mn-lt"/>
              </a:rPr>
              <a:t>MetaX</a:t>
            </a:r>
            <a:r>
              <a:rPr sz="1600" b="0" i="0">
                <a:solidFill>
                  <a:srgbClr val="000000"/>
                </a:solidFill>
                <a:latin typeface="+mn-lt"/>
                <a:ea typeface="+mn-lt"/>
                <a:cs typeface="+mn-lt"/>
              </a:rPr>
              <a:t> Integrated Circuits (Shanghai) Co., Ltd. and/or its affiliates (hereinafter collectively referred to as “</a:t>
            </a:r>
            <a:r>
              <a:rPr sz="1600" b="0" i="0">
                <a:solidFill>
                  <a:srgbClr val="000000"/>
                </a:solidFill>
                <a:latin typeface="+mn-lt"/>
                <a:ea typeface="+mn-lt"/>
                <a:cs typeface="+mn-lt"/>
              </a:rPr>
              <a:t>MetaX</a:t>
            </a:r>
            <a:r>
              <a:rPr sz="1600" b="0" i="0">
                <a:solidFill>
                  <a:srgbClr val="000000"/>
                </a:solidFill>
                <a:latin typeface="+mn-lt"/>
                <a:ea typeface="+mn-lt"/>
                <a:cs typeface="+mn-lt"/>
              </a:rPr>
              <a:t>”).  The information presented in this presentation should be kept strictly confidential and should not be allowed to make available to others without written consent from </a:t>
            </a:r>
            <a:r>
              <a:rPr sz="1600" b="0" i="0">
                <a:solidFill>
                  <a:srgbClr val="000000"/>
                </a:solidFill>
                <a:latin typeface="+mn-lt"/>
                <a:ea typeface="+mn-lt"/>
                <a:cs typeface="+mn-lt"/>
              </a:rPr>
              <a:t>MetaX</a:t>
            </a:r>
            <a:r>
              <a:rPr sz="1600" b="0" i="0">
                <a:solidFill>
                  <a:srgbClr val="000000"/>
                </a:solidFill>
                <a:latin typeface="+mn-lt"/>
                <a:ea typeface="+mn-lt"/>
                <a:cs typeface="+mn-lt"/>
              </a:rPr>
              <a:t>.</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The information presented in this presentation is for informational purposes only and may contain technical inaccuracies, omissions and typographical errors.  </a:t>
            </a:r>
            <a:r>
              <a:rPr sz="1600" b="0" i="0">
                <a:solidFill>
                  <a:srgbClr val="000000"/>
                </a:solidFill>
                <a:latin typeface="+mn-lt"/>
                <a:ea typeface="+mn-lt"/>
                <a:cs typeface="+mn-lt"/>
              </a:rPr>
              <a:t>MetaX</a:t>
            </a:r>
            <a:r>
              <a:rPr sz="1600" b="0" i="0">
                <a:solidFill>
                  <a:srgbClr val="000000"/>
                </a:solidFill>
                <a:latin typeface="+mn-lt"/>
                <a:ea typeface="+mn-lt"/>
                <a:cs typeface="+mn-lt"/>
              </a:rPr>
              <a:t> makes no representation or warranty of any kind, express or implied, regarding the reliability, availability or completeness of any information on the Slides. </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MetaX</a:t>
            </a:r>
            <a:r>
              <a:rPr sz="1600" b="0" i="0">
                <a:solidFill>
                  <a:srgbClr val="000000"/>
                </a:solidFill>
                <a:latin typeface="+mn-lt"/>
                <a:ea typeface="+mn-lt"/>
                <a:cs typeface="+mn-lt"/>
              </a:rPr>
              <a:t> is the owner of the presentation and all portions thereof.  Except as expressly provided, you are prohibited from copying, modifying, distributing, displaying or transmitting any of the contents of the Slides for any purposes. </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MetaX</a:t>
            </a:r>
            <a:r>
              <a:rPr sz="1600" b="0" i="0">
                <a:solidFill>
                  <a:srgbClr val="000000"/>
                </a:solidFill>
                <a:latin typeface="+mn-lt"/>
                <a:ea typeface="+mn-lt"/>
                <a:cs typeface="+mn-lt"/>
              </a:rPr>
              <a:t>, </a:t>
            </a:r>
            <a:r>
              <a:rPr sz="1600" b="0" i="0">
                <a:solidFill>
                  <a:srgbClr val="000000"/>
                </a:solidFill>
                <a:latin typeface="+mn-ea"/>
                <a:ea typeface="+mn-ea"/>
                <a:cs typeface="+mn-ea"/>
              </a:rPr>
              <a:t>沐曦</a:t>
            </a:r>
            <a:r>
              <a:rPr sz="1600" b="0" i="0">
                <a:solidFill>
                  <a:srgbClr val="000000"/>
                </a:solidFill>
                <a:latin typeface="+mn-ea"/>
                <a:ea typeface="+mn-ea"/>
                <a:cs typeface="+mn-ea"/>
              </a:rPr>
              <a:t>,</a:t>
            </a:r>
            <a:r>
              <a:rPr sz="1600" b="0" i="0">
                <a:solidFill>
                  <a:srgbClr val="000000"/>
                </a:solidFill>
                <a:latin typeface="+mn-lt"/>
                <a:ea typeface="+mn-lt"/>
                <a:cs typeface="+mn-lt"/>
              </a:rPr>
              <a:t> the </a:t>
            </a:r>
            <a:r>
              <a:rPr sz="1600" b="0" i="0">
                <a:solidFill>
                  <a:srgbClr val="000000"/>
                </a:solidFill>
                <a:latin typeface="+mn-lt"/>
                <a:ea typeface="+mn-lt"/>
                <a:cs typeface="+mn-lt"/>
              </a:rPr>
              <a:t>MetaX</a:t>
            </a:r>
            <a:r>
              <a:rPr sz="1600" b="0" i="0">
                <a:solidFill>
                  <a:srgbClr val="000000"/>
                </a:solidFill>
                <a:latin typeface="+mn-lt"/>
                <a:ea typeface="+mn-lt"/>
                <a:cs typeface="+mn-lt"/>
              </a:rPr>
              <a:t> logo and combinations thereof are trademarks of </a:t>
            </a:r>
            <a:r>
              <a:rPr sz="1600" b="0" i="0">
                <a:solidFill>
                  <a:srgbClr val="000000"/>
                </a:solidFill>
                <a:latin typeface="+mn-lt"/>
                <a:ea typeface="+mn-lt"/>
                <a:cs typeface="+mn-lt"/>
              </a:rPr>
              <a:t>MetaX</a:t>
            </a:r>
            <a:r>
              <a:rPr sz="1600" b="0" i="0">
                <a:solidFill>
                  <a:srgbClr val="000000"/>
                </a:solidFill>
                <a:latin typeface="+mn-lt"/>
                <a:ea typeface="+mn-lt"/>
                <a:cs typeface="+mn-lt"/>
              </a:rPr>
              <a:t>. Other product and company names used in this presentation are for identification purposes only and may be trademarks or trade names of their respective owners.</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 http://www.metax-tech.com/</a:t>
            </a:r>
            <a:endParaRPr sz="1600" b="0" i="0">
              <a:solidFill>
                <a:srgbClr val="000000"/>
              </a:solidFill>
              <a:latin typeface="+mn-lt"/>
              <a:ea typeface="+mn-lt"/>
              <a:cs typeface="+mn-lt"/>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a:xfrm>
            <a:off x="838200" y="6356350"/>
            <a:ext cx="2743200" cy="365125"/>
          </a:xfrm>
        </p:spPr>
        <p:txBody>
          <a:bodyPr/>
          <a:lstStyle/>
          <a:p/>
        </p:txBody>
      </p:sp>
      <p:sp>
        <p:nvSpPr>
          <p:cNvPr id="3" name="页脚占位符 2"/>
          <p:cNvSpPr>
            <a:spLocks noGrp="1"/>
          </p:cNvSpPr>
          <p:nvPr>
            <p:ph type="ftr" idx="11"/>
          </p:nvPr>
        </p:nvSpPr>
        <p:spPr>
          <a:xfrm>
            <a:off x="4038600" y="6356350"/>
            <a:ext cx="4114800" cy="365125"/>
          </a:xfrm>
        </p:spPr>
        <p:txBody>
          <a:bodyPr/>
          <a:lstStyle/>
          <a:p/>
        </p:txBody>
      </p:sp>
      <p:sp>
        <p:nvSpPr>
          <p:cNvPr id="4" name="灯片编号占位符 3"/>
          <p:cNvSpPr>
            <a:spLocks noGrp="1"/>
          </p:cNvSpPr>
          <p:nvPr>
            <p:ph type="sldNum" idx="12"/>
          </p:nvPr>
        </p:nvSpPr>
        <p:spPr>
          <a:xfrm>
            <a:off x="8610600" y="6356350"/>
            <a:ext cx="2743200" cy="365125"/>
          </a:xfrm>
        </p:spPr>
        <p:txBody>
          <a:body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p:pic>
        <p:nvPicPr>
          <p:cNvPr id="14" name="图片 4"/>
          <p:cNvPicPr>
            <a:picLocks noChangeAspect="1"/>
          </p:cNvPicPr>
          <p:nvPr/>
        </p:nvPicPr>
        <p:blipFill>
          <a:blip r:embed="rId2"/>
          <a:stretch>
            <a:fillRect/>
          </a:stretch>
        </p:blipFill>
        <p:spPr>
          <a:xfrm>
            <a:off x="0" y="0"/>
            <a:ext cx="12192000" cy="6858000"/>
          </a:xfrm>
          <a:prstGeom prst="rect">
            <a:avLst/>
          </a:prstGeom>
        </p:spPr>
      </p:pic>
      <p:sp>
        <p:nvSpPr>
          <p:cNvPr id="8" name="标题 1"/>
          <p:cNvSpPr>
            <a:spLocks noGrp="1"/>
          </p:cNvSpPr>
          <p:nvPr>
            <p:ph type="ctrTitle"/>
          </p:nvPr>
        </p:nvSpPr>
        <p:spPr>
          <a:xfrm>
            <a:off x="743985" y="2437178"/>
            <a:ext cx="9144000" cy="1369968"/>
          </a:xfrm>
        </p:spPr>
        <p:txBody>
          <a:bodyPr anchor="b">
            <a:normAutofit/>
          </a:bodyPr>
          <a:lstStyle>
            <a:lvl1pPr algn="l">
              <a:lnSpc>
                <a:spcPct val="100000"/>
              </a:lnSpc>
              <a:buNone/>
              <a:defRPr sz="4400" b="1" i="0" baseline="0">
                <a:solidFill>
                  <a:schemeClr val="bg1"/>
                </a:solidFill>
                <a:latin typeface="Arial" panose="020B0604020202020204"/>
                <a:ea typeface="Arial" panose="020B0604020202020204"/>
                <a:cs typeface="Arial" panose="020B0604020202020204"/>
              </a:defRPr>
            </a:lvl1pPr>
          </a:lstStyle>
          <a:p/>
        </p:txBody>
      </p:sp>
      <p:sp>
        <p:nvSpPr>
          <p:cNvPr id="10" name="副标题 2"/>
          <p:cNvSpPr>
            <a:spLocks noGrp="1"/>
          </p:cNvSpPr>
          <p:nvPr>
            <p:ph type="subTitle" idx="1"/>
          </p:nvPr>
        </p:nvSpPr>
        <p:spPr>
          <a:xfrm>
            <a:off x="743985" y="4174810"/>
            <a:ext cx="9144000" cy="424021"/>
          </a:xfrm>
        </p:spPr>
        <p:txBody>
          <a:bodyPr>
            <a:normAutofit/>
          </a:bodyPr>
          <a:lstStyle>
            <a:lvl1pPr marL="0" indent="0" algn="l">
              <a:buNone/>
              <a:defRPr sz="1600" b="0" i="0" baseline="0">
                <a:solidFill>
                  <a:schemeClr val="bg1"/>
                </a:solidFill>
                <a:latin typeface="Arial" panose="020B0604020202020204"/>
                <a:ea typeface="Arial" panose="020B0604020202020204"/>
                <a:cs typeface="Arial" panose="020B0604020202020204"/>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p:txBody>
      </p:sp>
      <p:sp>
        <p:nvSpPr>
          <p:cNvPr id="11" name="矩形 10"/>
          <p:cNvSpPr>
            <a:spLocks noGrp="1"/>
          </p:cNvSpPr>
          <p:nvPr/>
        </p:nvSpPr>
        <p:spPr>
          <a:xfrm>
            <a:off x="853207" y="3849897"/>
            <a:ext cx="2080493" cy="10455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pic>
        <p:nvPicPr>
          <p:cNvPr id="18" name="图片 11"/>
          <p:cNvPicPr>
            <a:picLocks noChangeAspect="1"/>
          </p:cNvPicPr>
          <p:nvPr/>
        </p:nvPicPr>
        <p:blipFill>
          <a:blip r:embed="rId3"/>
          <a:stretch>
            <a:fillRect/>
          </a:stretch>
        </p:blipFill>
        <p:spPr>
          <a:xfrm>
            <a:off x="865907" y="412582"/>
            <a:ext cx="1492015" cy="361910"/>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p:pic>
        <p:nvPicPr>
          <p:cNvPr id="11" name="图片 6"/>
          <p:cNvPicPr>
            <a:picLocks noChangeAspect="1"/>
          </p:cNvPicPr>
          <p:nvPr/>
        </p:nvPicPr>
        <p:blipFill>
          <a:blip r:embed="rId2"/>
          <a:stretch>
            <a:fillRect/>
          </a:stretch>
        </p:blipFill>
        <p:spPr>
          <a:xfrm>
            <a:off x="-1235002" y="-1412301"/>
            <a:ext cx="12969802" cy="9727351"/>
          </a:xfrm>
          <a:prstGeom prst="rect">
            <a:avLst/>
          </a:prstGeom>
        </p:spPr>
      </p:pic>
      <p:sp>
        <p:nvSpPr>
          <p:cNvPr id="2" name="标题 1"/>
          <p:cNvSpPr>
            <a:spLocks noGrp="1"/>
          </p:cNvSpPr>
          <p:nvPr>
            <p:ph type="title"/>
          </p:nvPr>
        </p:nvSpPr>
        <p:spPr>
          <a:xfrm>
            <a:off x="5649153" y="3033425"/>
            <a:ext cx="5711080" cy="677368"/>
          </a:xfrm>
        </p:spPr>
        <p:txBody>
          <a:bodyPr anchor="b">
            <a:noAutofit/>
          </a:bodyPr>
          <a:lstStyle>
            <a:lvl1pPr>
              <a:buNone/>
              <a:defRPr sz="3600" b="1" baseline="0">
                <a:latin typeface="Arial" panose="020B0604020202020204"/>
                <a:ea typeface="Arial" panose="020B0604020202020204"/>
                <a:cs typeface="Arial" panose="020B0604020202020204"/>
              </a:defRPr>
            </a:lvl1pPr>
          </a:lstStyle>
          <a:p/>
        </p:txBody>
      </p:sp>
      <p:sp>
        <p:nvSpPr>
          <p:cNvPr id="8" name="直接连接符 28"/>
          <p:cNvSpPr>
            <a:spLocks noGrp="1"/>
          </p:cNvSpPr>
          <p:nvPr/>
        </p:nvSpPr>
        <p:spPr>
          <a:xfrm flipH="1">
            <a:off x="5601528" y="3824575"/>
            <a:ext cx="5711080" cy="0"/>
          </a:xfrm>
          <a:prstGeom prst="line">
            <a:avLst/>
          </a:prstGeom>
          <a:gradFill rotWithShape="1">
            <a:gsLst>
              <a:gs pos="100000">
                <a:srgbClr val="06DEB7">
                  <a:alpha val="40000"/>
                </a:srgbClr>
              </a:gs>
              <a:gs pos="1000">
                <a:srgbClr val="06DEB7">
                  <a:alpha val="0"/>
                </a:srgbClr>
              </a:gs>
            </a:gsLst>
            <a:path path="circle">
              <a:fillToRect l="50000" t="50000" r="50000" b="50000"/>
            </a:path>
            <a:tileRect/>
          </a:gradFill>
          <a:ln w="63500">
            <a:solidFill>
              <a:srgbClr val="660773"/>
            </a:solidFill>
          </a:ln>
        </p:spPr>
        <p:style>
          <a:lnRef idx="2">
            <a:schemeClr val="accent1">
              <a:shade val="50000"/>
            </a:schemeClr>
          </a:lnRef>
          <a:fillRef idx="1">
            <a:schemeClr val="accent1"/>
          </a:fillRef>
          <a:effectRef idx="0">
            <a:schemeClr val="accent1"/>
          </a:effectRef>
          <a:fontRef idx="minor">
            <a:schemeClr val="lt1"/>
          </a:fontRef>
        </p:style>
      </p:sp>
      <p:pic>
        <p:nvPicPr>
          <p:cNvPr id="14" name="图片 9"/>
          <p:cNvPicPr>
            <a:picLocks noChangeAspect="1"/>
          </p:cNvPicPr>
          <p:nvPr/>
        </p:nvPicPr>
        <p:blipFill>
          <a:blip r:embed="rId3"/>
          <a:srcRect/>
          <a:stretch>
            <a:fillRect/>
          </a:stretch>
        </p:blipFill>
        <p:spPr>
          <a:xfrm>
            <a:off x="10235812" y="492349"/>
            <a:ext cx="1498988" cy="363600"/>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p:sp>
        <p:nvSpPr>
          <p:cNvPr id="2" name="标题 1"/>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7"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7" name="内容占位符 2"/>
          <p:cNvSpPr>
            <a:spLocks noGrp="1"/>
          </p:cNvSpPr>
          <p:nvPr>
            <p:ph idx="1"/>
          </p:nvPr>
        </p:nvSpPr>
        <p:spPr>
          <a:xfrm>
            <a:off x="838199" y="1074490"/>
            <a:ext cx="10417629" cy="5102473"/>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p:sp>
        <p:nvSpPr>
          <p:cNvPr id="2" name="标题 1"/>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3"/>
          <p:cNvPicPr>
            <a:picLocks noChangeAspect="1"/>
          </p:cNvPicPr>
          <p:nvPr/>
        </p:nvPicPr>
        <p:blipFill>
          <a:blip r:embed="rId2"/>
          <a:srcRect/>
          <a:stretch>
            <a:fillRect/>
          </a:stretch>
        </p:blipFill>
        <p:spPr>
          <a:xfrm>
            <a:off x="10502900" y="466185"/>
            <a:ext cx="1114425" cy="270319"/>
          </a:xfrm>
          <a:prstGeom prst="rect">
            <a:avLst/>
          </a:prstGeom>
        </p:spPr>
      </p:pic>
      <p:sp>
        <p:nvSpPr>
          <p:cNvPr id="8" name="内容占位符 2"/>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0" name="内容占位符 2"/>
          <p:cNvSpPr>
            <a:spLocks noGrp="1"/>
          </p:cNvSpPr>
          <p:nvPr>
            <p:ph idx="14"/>
          </p:nvPr>
        </p:nvSpPr>
        <p:spPr>
          <a:xfrm>
            <a:off x="6096000"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Dual Subject">
    <p:spTree>
      <p:nvGrpSpPr>
        <p:cNvPr id="1" name=""/>
        <p:cNvGrpSpPr/>
        <p:nvPr/>
      </p:nvGrpSpPr>
      <p:grpSpPr/>
      <p:sp>
        <p:nvSpPr>
          <p:cNvPr id="2" name="标题 1"/>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idx="1"/>
          </p:nvPr>
        </p:nvSpPr>
        <p:spPr>
          <a:xfrm>
            <a:off x="838199" y="1074491"/>
            <a:ext cx="10417629" cy="218982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p:cNvSpPr>
            <a:spLocks noGrp="1"/>
          </p:cNvSpPr>
          <p:nvPr>
            <p:ph idx="10"/>
          </p:nvPr>
        </p:nvSpPr>
        <p:spPr>
          <a:xfrm>
            <a:off x="838199" y="3593690"/>
            <a:ext cx="10417629" cy="2797278"/>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Trio Subject">
    <p:spTree>
      <p:nvGrpSpPr>
        <p:cNvPr id="1" name=""/>
        <p:cNvGrpSpPr/>
        <p:nvPr/>
      </p:nvGrpSpPr>
      <p:grpSpPr/>
      <p:sp>
        <p:nvSpPr>
          <p:cNvPr id="2" name="标题 1"/>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8"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p:cNvSpPr>
            <a:spLocks noGrp="1"/>
          </p:cNvSpPr>
          <p:nvPr>
            <p:ph idx="14"/>
          </p:nvPr>
        </p:nvSpPr>
        <p:spPr>
          <a:xfrm>
            <a:off x="6096000" y="1099825"/>
            <a:ext cx="5732462" cy="2587604"/>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3" name="内容占位符 2"/>
          <p:cNvSpPr>
            <a:spLocks noGrp="1"/>
          </p:cNvSpPr>
          <p:nvPr>
            <p:ph idx="15"/>
          </p:nvPr>
        </p:nvSpPr>
        <p:spPr>
          <a:xfrm>
            <a:off x="6096000" y="3951887"/>
            <a:ext cx="5732462" cy="2166338"/>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自定义">
    <p:spTree>
      <p:nvGrpSpPr>
        <p:cNvPr id="1" name=""/>
        <p:cNvGrpSpPr/>
        <p:nvPr/>
      </p:nvGrpSpPr>
      <p:grpSpPr/>
      <p:sp>
        <p:nvSpPr>
          <p:cNvPr id="2" name="标题 1"/>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panose="020B0604020202020204"/>
                <a:ea typeface="Arial" panose="020B0604020202020204"/>
                <a:cs typeface="Arial" panose="020B0604020202020204"/>
              </a:defRPr>
            </a:lvl1pPr>
          </a:lstStyle>
          <a:p>
            <a:pPr lvl="0">
              <a:buNone/>
            </a:pPr>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p:pic>
        <p:nvPicPr>
          <p:cNvPr id="13" name="图片 2"/>
          <p:cNvPicPr>
            <a:picLocks noChangeAspect="1"/>
          </p:cNvPicPr>
          <p:nvPr/>
        </p:nvPicPr>
        <p:blipFill>
          <a:blip r:embed="rId2"/>
          <a:srcRect/>
          <a:stretch>
            <a:fillRect/>
          </a:stretch>
        </p:blipFill>
        <p:spPr>
          <a:xfrm>
            <a:off x="10502900" y="466185"/>
            <a:ext cx="1114425" cy="270319"/>
          </a:xfrm>
          <a:prstGeom prst="rect">
            <a:avLst/>
          </a:prstGeom>
        </p:spPr>
      </p:pic>
      <p:pic>
        <p:nvPicPr>
          <p:cNvPr id="14" name="图片 5"/>
          <p:cNvPicPr>
            <a:picLocks noChangeAspect="1"/>
          </p:cNvPicPr>
          <p:nvPr/>
        </p:nvPicPr>
        <p:blipFill>
          <a:blip r:embed="rId3"/>
          <a:stretch>
            <a:fillRect/>
          </a:stretch>
        </p:blipFill>
        <p:spPr>
          <a:xfrm>
            <a:off x="4450501" y="-645610"/>
            <a:ext cx="11947547" cy="8960660"/>
          </a:xfrm>
          <a:prstGeom prst="rect">
            <a:avLst/>
          </a:prstGeom>
        </p:spPr>
      </p:pic>
      <p:sp>
        <p:nvSpPr>
          <p:cNvPr id="7" name="内容占位符 2"/>
          <p:cNvSpPr>
            <a:spLocks noGrp="1"/>
          </p:cNvSpPr>
          <p:nvPr>
            <p:ph idx="1" hasCustomPrompt="1"/>
          </p:nvPr>
        </p:nvSpPr>
        <p:spPr>
          <a:xfrm>
            <a:off x="838200" y="1478782"/>
            <a:ext cx="4931979" cy="4351338"/>
          </a:xfrm>
        </p:spPr>
        <p:txBody>
          <a:bodyPr/>
          <a:lstStyle>
            <a:lvl1pPr marL="228600" indent="-228600">
              <a:lnSpc>
                <a:spcPct val="150000"/>
              </a:lnSpc>
              <a:buSzPct val="150000"/>
              <a:buFontTx/>
              <a:buNone/>
              <a:defRPr sz="2400" b="0" i="0" baseline="0">
                <a:latin typeface="Arial" panose="020B0604020202020204"/>
                <a:ea typeface="Arial" panose="020B0604020202020204"/>
                <a:cs typeface="Arial" panose="020B0604020202020204"/>
              </a:defRPr>
            </a:lvl1pPr>
            <a:lvl2pPr marL="685800" indent="-228600">
              <a:lnSpc>
                <a:spcPct val="150000"/>
              </a:lnSpc>
              <a:buClr>
                <a:srgbClr val="660874"/>
              </a:buClr>
              <a:buSzPct val="80000"/>
              <a:buFont typeface="ZapfDingbatsITC"/>
              <a:buChar char="➤"/>
              <a:defRPr sz="1800" b="0" i="0">
                <a:latin typeface="思源黑体 CN Regular"/>
                <a:ea typeface="思源黑体 CN Regular"/>
                <a:cs typeface="思源黑体 CN Regular"/>
              </a:defRPr>
            </a:lvl2pPr>
            <a:lvl3pPr marL="1143000" indent="-228600">
              <a:lnSpc>
                <a:spcPct val="150000"/>
              </a:lnSpc>
              <a:buClr>
                <a:srgbClr val="660874"/>
              </a:buClr>
              <a:buFont typeface="AppleSymbols"/>
              <a:buChar char="▻"/>
              <a:defRPr sz="1600" b="0" i="0">
                <a:latin typeface="思源黑体 CN Regular"/>
                <a:ea typeface="思源黑体 CN Regular"/>
                <a:cs typeface="思源黑体 CN Regular"/>
              </a:defRPr>
            </a:lvl3pPr>
            <a:lvl4pPr marL="1600200" indent="-228600">
              <a:lnSpc>
                <a:spcPct val="150000"/>
              </a:lnSpc>
              <a:buClr>
                <a:srgbClr val="660874"/>
              </a:buClr>
              <a:buFont typeface="Helvetica"/>
              <a:buChar char="‣"/>
              <a:defRPr sz="1200" b="0" i="0">
                <a:latin typeface="思源黑体 CN Regular"/>
                <a:ea typeface="思源黑体 CN Regular"/>
                <a:cs typeface="思源黑体 CN Regular"/>
              </a:defRPr>
            </a:lvl4pPr>
            <a:lvl5pPr>
              <a:lnSpc>
                <a:spcPct val="150000"/>
              </a:lnSpc>
              <a:buClr>
                <a:srgbClr val="660874"/>
              </a:buClr>
              <a:buNone/>
              <a:defRPr sz="1000" b="0" i="0">
                <a:latin typeface="思源黑体 CN Regular"/>
                <a:ea typeface="思源黑体 CN Regular"/>
                <a:cs typeface="思源黑体 CN Regular"/>
              </a:defRPr>
            </a:lvl5pPr>
          </a:lstStyle>
          <a:p>
            <a:pPr lvl="0">
              <a:buNone/>
            </a:pPr>
            <a:r>
              <a:t>  单击此处编辑母版文本样式</a:t>
            </a:r>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0" name="标题 1"/>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panose="020B0604020202020204"/>
                <a:ea typeface="Arial" panose="020B0604020202020204"/>
                <a:cs typeface="Arial" panose="020B0604020202020204"/>
              </a:defRPr>
            </a:lvl1pPr>
          </a:lstStyle>
          <a:p>
            <a:pPr lvl="0">
              <a:buNone/>
            </a:p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版式说明">
    <p:spTree>
      <p:nvGrpSpPr>
        <p:cNvPr id="1" name=""/>
        <p:cNvGrpSpPr/>
        <p:nvPr/>
      </p:nvGrpSpPr>
      <p:grpSpPr/>
      <p:pic>
        <p:nvPicPr>
          <p:cNvPr id="15" name="图片 7"/>
          <p:cNvPicPr>
            <a:picLocks noChangeAspect="1"/>
          </p:cNvPicPr>
          <p:nvPr/>
        </p:nvPicPr>
        <p:blipFill>
          <a:blip r:embed="rId2"/>
          <a:srcRect/>
          <a:stretch>
            <a:fillRect/>
          </a:stretch>
        </p:blipFill>
        <p:spPr>
          <a:xfrm>
            <a:off x="10491224" y="488311"/>
            <a:ext cx="1126345" cy="273211"/>
          </a:xfrm>
          <a:prstGeom prst="rect">
            <a:avLst/>
          </a:prstGeom>
        </p:spPr>
      </p:pic>
      <p:sp>
        <p:nvSpPr>
          <p:cNvPr id="4" name="文本框 3"/>
          <p:cNvSpPr>
            <a:spLocks noGrp="1"/>
          </p:cNvSpPr>
          <p:nvPr/>
        </p:nvSpPr>
        <p:spPr>
          <a:xfrm>
            <a:off x="334257" y="1030778"/>
            <a:ext cx="11378376" cy="5301229"/>
          </a:xfrm>
          <a:prstGeom prst="rect">
            <a:avLst/>
          </a:prstGeom>
        </p:spPr>
        <p:txBody>
          <a:bodyPr vert="horz" wrap="square" lIns="91440" tIns="45720" rIns="91440" bIns="45720" anchor="ctr">
            <a:normAutofit/>
          </a:bodyPr>
          <a:lstStyle/>
          <a:p/>
        </p:txBody>
      </p:sp>
      <p:sp>
        <p:nvSpPr>
          <p:cNvPr id="6" name="文本框 5"/>
          <p:cNvSpPr>
            <a:spLocks noGrp="1"/>
          </p:cNvSpPr>
          <p:nvPr/>
        </p:nvSpPr>
        <p:spPr>
          <a:xfrm>
            <a:off x="479367" y="115209"/>
            <a:ext cx="9894917" cy="571061"/>
          </a:xfrm>
          <a:prstGeom prst="rect">
            <a:avLst/>
          </a:prstGeom>
        </p:spPr>
        <p:txBody>
          <a:bodyPr vert="horz" wrap="square" lIns="91440" tIns="45720" rIns="91440" bIns="45720" anchor="ctr">
            <a:normAutofit/>
          </a:bodyPr>
          <a:lstStyle/>
          <a:p/>
        </p:txBody>
      </p:sp>
      <p:sp>
        <p:nvSpPr>
          <p:cNvPr id="10" name="直接连接符 9"/>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3" name="矩形 12"/>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1" name="文本框 10"/>
          <p:cNvSpPr>
            <a:spLocks noGrp="1"/>
          </p:cNvSpPr>
          <p:nvPr/>
        </p:nvSpPr>
        <p:spPr>
          <a:xfrm>
            <a:off x="297277" y="45898"/>
            <a:ext cx="7732626" cy="746234"/>
          </a:xfrm>
          <a:prstGeom prst="rect">
            <a:avLst/>
          </a:prstGeom>
        </p:spPr>
        <p:txBody>
          <a:bodyPr vert="horz" wrap="square" lIns="91440" tIns="45720" rIns="91440" bIns="45720" anchor="ctr">
            <a:noAutofit/>
          </a:bodyPr>
          <a:lstStyle/>
          <a:p>
            <a:r>
              <a:rPr sz="3200" b="1" i="0">
                <a:solidFill>
                  <a:schemeClr val="tx1"/>
                </a:solidFill>
                <a:latin typeface="Arial" panose="020B0604020202020204"/>
                <a:ea typeface="Arial" panose="020B0604020202020204"/>
                <a:cs typeface="Arial" panose="020B0604020202020204"/>
              </a:rPr>
              <a:t>DISCLAIMER &amp; ATTRIBUTION</a:t>
            </a:r>
            <a:endParaRPr sz="3200" b="1" i="0" baseline="0">
              <a:solidFill>
                <a:schemeClr val="tx1"/>
              </a:solidFill>
              <a:latin typeface="Arial" panose="020B0604020202020204"/>
              <a:ea typeface="Arial" panose="020B0604020202020204"/>
              <a:cs typeface="Arial" panose="020B0604020202020204"/>
            </a:endParaRPr>
          </a:p>
        </p:txBody>
      </p:sp>
      <p:sp>
        <p:nvSpPr>
          <p:cNvPr id="2" name="文本框 1"/>
          <p:cNvSpPr>
            <a:spLocks noGrp="1"/>
          </p:cNvSpPr>
          <p:nvPr/>
        </p:nvSpPr>
        <p:spPr>
          <a:xfrm>
            <a:off x="386807" y="1183967"/>
            <a:ext cx="11507916" cy="4994850"/>
          </a:xfrm>
          <a:prstGeom prst="rect">
            <a:avLst/>
          </a:prstGeom>
        </p:spPr>
        <p:txBody>
          <a:bodyPr vert="horz" wrap="square" lIns="91440" tIns="45720" rIns="91440" bIns="45720" anchor="ctr">
            <a:normAutofit/>
          </a:bodyPr>
          <a:lstStyle/>
          <a:p>
            <a:r>
              <a:rPr sz="1600" b="0" i="0">
                <a:solidFill>
                  <a:srgbClr val="000000"/>
                </a:solidFill>
                <a:latin typeface="+mn-lt"/>
                <a:ea typeface="+mn-lt"/>
                <a:cs typeface="+mn-lt"/>
              </a:rPr>
              <a:t>This presentation may contain privileged and confidential information and is intended only for </a:t>
            </a:r>
            <a:r>
              <a:rPr sz="1600" b="0" i="0">
                <a:solidFill>
                  <a:srgbClr val="000000"/>
                </a:solidFill>
                <a:latin typeface="+mn-lt"/>
                <a:ea typeface="+mn-lt"/>
                <a:cs typeface="+mn-lt"/>
              </a:rPr>
              <a:t>MetaX</a:t>
            </a:r>
            <a:r>
              <a:rPr sz="1600" b="0" i="0">
                <a:solidFill>
                  <a:srgbClr val="000000"/>
                </a:solidFill>
                <a:latin typeface="+mn-lt"/>
                <a:ea typeface="+mn-lt"/>
                <a:cs typeface="+mn-lt"/>
              </a:rPr>
              <a:t> Integrated Circuits (Shanghai) Co., Ltd. and/or its affiliates (hereinafter collectively referred to as “</a:t>
            </a:r>
            <a:r>
              <a:rPr sz="1600" b="0" i="0">
                <a:solidFill>
                  <a:srgbClr val="000000"/>
                </a:solidFill>
                <a:latin typeface="+mn-lt"/>
                <a:ea typeface="+mn-lt"/>
                <a:cs typeface="+mn-lt"/>
              </a:rPr>
              <a:t>MetaX</a:t>
            </a:r>
            <a:r>
              <a:rPr sz="1600" b="0" i="0">
                <a:solidFill>
                  <a:srgbClr val="000000"/>
                </a:solidFill>
                <a:latin typeface="+mn-lt"/>
                <a:ea typeface="+mn-lt"/>
                <a:cs typeface="+mn-lt"/>
              </a:rPr>
              <a:t>”).  The information presented in this presentation should be kept strictly confidential and should not be allowed to make available to others without written consent from </a:t>
            </a:r>
            <a:r>
              <a:rPr sz="1600" b="0" i="0">
                <a:solidFill>
                  <a:srgbClr val="000000"/>
                </a:solidFill>
                <a:latin typeface="+mn-lt"/>
                <a:ea typeface="+mn-lt"/>
                <a:cs typeface="+mn-lt"/>
              </a:rPr>
              <a:t>MetaX</a:t>
            </a:r>
            <a:r>
              <a:rPr sz="1600" b="0" i="0">
                <a:solidFill>
                  <a:srgbClr val="000000"/>
                </a:solidFill>
                <a:latin typeface="+mn-lt"/>
                <a:ea typeface="+mn-lt"/>
                <a:cs typeface="+mn-lt"/>
              </a:rPr>
              <a:t>.</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The information presented in this presentation is for informational purposes only and may contain technical inaccuracies, omissions and typographical errors.  </a:t>
            </a:r>
            <a:r>
              <a:rPr sz="1600" b="0" i="0">
                <a:solidFill>
                  <a:srgbClr val="000000"/>
                </a:solidFill>
                <a:latin typeface="+mn-lt"/>
                <a:ea typeface="+mn-lt"/>
                <a:cs typeface="+mn-lt"/>
              </a:rPr>
              <a:t>MetaX</a:t>
            </a:r>
            <a:r>
              <a:rPr sz="1600" b="0" i="0">
                <a:solidFill>
                  <a:srgbClr val="000000"/>
                </a:solidFill>
                <a:latin typeface="+mn-lt"/>
                <a:ea typeface="+mn-lt"/>
                <a:cs typeface="+mn-lt"/>
              </a:rPr>
              <a:t> makes no representation or warranty of any kind, express or implied, regarding the reliability, availability or completeness of any information on the Slides. </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MetaX</a:t>
            </a:r>
            <a:r>
              <a:rPr sz="1600" b="0" i="0">
                <a:solidFill>
                  <a:srgbClr val="000000"/>
                </a:solidFill>
                <a:latin typeface="+mn-lt"/>
                <a:ea typeface="+mn-lt"/>
                <a:cs typeface="+mn-lt"/>
              </a:rPr>
              <a:t> is the owner of the presentation and all portions thereof.  Except as expressly provided, you are prohibited from copying, modifying, distributing, displaying or transmitting any of the contents of the Slides for any purposes. </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MetaX</a:t>
            </a:r>
            <a:r>
              <a:rPr sz="1600" b="0" i="0">
                <a:solidFill>
                  <a:srgbClr val="000000"/>
                </a:solidFill>
                <a:latin typeface="+mn-lt"/>
                <a:ea typeface="+mn-lt"/>
                <a:cs typeface="+mn-lt"/>
              </a:rPr>
              <a:t>, </a:t>
            </a:r>
            <a:r>
              <a:rPr sz="1600" b="0" i="0">
                <a:solidFill>
                  <a:srgbClr val="000000"/>
                </a:solidFill>
                <a:latin typeface="+mn-ea"/>
                <a:ea typeface="+mn-ea"/>
                <a:cs typeface="+mn-ea"/>
              </a:rPr>
              <a:t>沐曦</a:t>
            </a:r>
            <a:r>
              <a:rPr sz="1600" b="0" i="0">
                <a:solidFill>
                  <a:srgbClr val="000000"/>
                </a:solidFill>
                <a:latin typeface="+mn-ea"/>
                <a:ea typeface="+mn-ea"/>
                <a:cs typeface="+mn-ea"/>
              </a:rPr>
              <a:t>,</a:t>
            </a:r>
            <a:r>
              <a:rPr sz="1600" b="0" i="0">
                <a:solidFill>
                  <a:srgbClr val="000000"/>
                </a:solidFill>
                <a:latin typeface="+mn-lt"/>
                <a:ea typeface="+mn-lt"/>
                <a:cs typeface="+mn-lt"/>
              </a:rPr>
              <a:t> the </a:t>
            </a:r>
            <a:r>
              <a:rPr sz="1600" b="0" i="0">
                <a:solidFill>
                  <a:srgbClr val="000000"/>
                </a:solidFill>
                <a:latin typeface="+mn-lt"/>
                <a:ea typeface="+mn-lt"/>
                <a:cs typeface="+mn-lt"/>
              </a:rPr>
              <a:t>MetaX</a:t>
            </a:r>
            <a:r>
              <a:rPr sz="1600" b="0" i="0">
                <a:solidFill>
                  <a:srgbClr val="000000"/>
                </a:solidFill>
                <a:latin typeface="+mn-lt"/>
                <a:ea typeface="+mn-lt"/>
                <a:cs typeface="+mn-lt"/>
              </a:rPr>
              <a:t> logo and combinations thereof are trademarks of </a:t>
            </a:r>
            <a:r>
              <a:rPr sz="1600" b="0" i="0">
                <a:solidFill>
                  <a:srgbClr val="000000"/>
                </a:solidFill>
                <a:latin typeface="+mn-lt"/>
                <a:ea typeface="+mn-lt"/>
                <a:cs typeface="+mn-lt"/>
              </a:rPr>
              <a:t>MetaX</a:t>
            </a:r>
            <a:r>
              <a:rPr sz="1600" b="0" i="0">
                <a:solidFill>
                  <a:srgbClr val="000000"/>
                </a:solidFill>
                <a:latin typeface="+mn-lt"/>
                <a:ea typeface="+mn-lt"/>
                <a:cs typeface="+mn-lt"/>
              </a:rPr>
              <a:t>. Other product and company names used in this presentation are for identification purposes only and may be trademarks or trade names of their respective owners.</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 http://www.metax-tech.com/</a:t>
            </a:r>
            <a:endParaRPr sz="1600" b="0" i="0">
              <a:solidFill>
                <a:srgbClr val="000000"/>
              </a:solidFill>
              <a:latin typeface="+mn-lt"/>
              <a:ea typeface="+mn-lt"/>
              <a:cs typeface="+mn-lt"/>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a:xfrm>
            <a:off x="838200" y="6356350"/>
            <a:ext cx="2743200" cy="365125"/>
          </a:xfrm>
        </p:spPr>
        <p:txBody>
          <a:bodyPr/>
          <a:lstStyle/>
          <a:p/>
        </p:txBody>
      </p:sp>
      <p:sp>
        <p:nvSpPr>
          <p:cNvPr id="3" name="页脚占位符 2"/>
          <p:cNvSpPr>
            <a:spLocks noGrp="1"/>
          </p:cNvSpPr>
          <p:nvPr>
            <p:ph type="ftr" idx="11"/>
          </p:nvPr>
        </p:nvSpPr>
        <p:spPr>
          <a:xfrm>
            <a:off x="4038600" y="6356350"/>
            <a:ext cx="4114800" cy="365125"/>
          </a:xfrm>
        </p:spPr>
        <p:txBody>
          <a:bodyPr/>
          <a:lstStyle/>
          <a:p/>
        </p:txBody>
      </p:sp>
      <p:sp>
        <p:nvSpPr>
          <p:cNvPr id="4" name="灯片编号占位符 3"/>
          <p:cNvSpPr>
            <a:spLocks noGrp="1"/>
          </p:cNvSpPr>
          <p:nvPr>
            <p:ph type="sldNum" idx="12"/>
          </p:nvPr>
        </p:nvSpPr>
        <p:spPr>
          <a:xfrm>
            <a:off x="8610600" y="6356350"/>
            <a:ext cx="2743200" cy="365125"/>
          </a:xfrm>
        </p:spPr>
        <p:txBody>
          <a:body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p:pic>
        <p:nvPicPr>
          <p:cNvPr id="14" name="图片 4"/>
          <p:cNvPicPr>
            <a:picLocks noChangeAspect="1"/>
          </p:cNvPicPr>
          <p:nvPr/>
        </p:nvPicPr>
        <p:blipFill>
          <a:blip r:embed="rId2"/>
          <a:stretch>
            <a:fillRect/>
          </a:stretch>
        </p:blipFill>
        <p:spPr>
          <a:xfrm>
            <a:off x="0" y="0"/>
            <a:ext cx="12192000" cy="6858000"/>
          </a:xfrm>
          <a:prstGeom prst="rect">
            <a:avLst/>
          </a:prstGeom>
        </p:spPr>
      </p:pic>
      <p:sp>
        <p:nvSpPr>
          <p:cNvPr id="8" name="标题 1"/>
          <p:cNvSpPr>
            <a:spLocks noGrp="1"/>
          </p:cNvSpPr>
          <p:nvPr>
            <p:ph type="ctrTitle"/>
          </p:nvPr>
        </p:nvSpPr>
        <p:spPr>
          <a:xfrm>
            <a:off x="743985" y="2437178"/>
            <a:ext cx="9144000" cy="1369968"/>
          </a:xfrm>
        </p:spPr>
        <p:txBody>
          <a:bodyPr anchor="b">
            <a:normAutofit/>
          </a:bodyPr>
          <a:lstStyle>
            <a:lvl1pPr algn="l">
              <a:lnSpc>
                <a:spcPct val="100000"/>
              </a:lnSpc>
              <a:buNone/>
              <a:defRPr sz="4400" b="1" i="0" baseline="0">
                <a:solidFill>
                  <a:schemeClr val="bg1"/>
                </a:solidFill>
                <a:latin typeface="Arial" panose="020B0604020202020204"/>
                <a:ea typeface="Arial" panose="020B0604020202020204"/>
                <a:cs typeface="Arial" panose="020B0604020202020204"/>
              </a:defRPr>
            </a:lvl1pPr>
          </a:lstStyle>
          <a:p/>
        </p:txBody>
      </p:sp>
      <p:sp>
        <p:nvSpPr>
          <p:cNvPr id="10" name="副标题 2"/>
          <p:cNvSpPr>
            <a:spLocks noGrp="1"/>
          </p:cNvSpPr>
          <p:nvPr>
            <p:ph type="subTitle" idx="1"/>
          </p:nvPr>
        </p:nvSpPr>
        <p:spPr>
          <a:xfrm>
            <a:off x="743985" y="4174810"/>
            <a:ext cx="9144000" cy="424021"/>
          </a:xfrm>
        </p:spPr>
        <p:txBody>
          <a:bodyPr>
            <a:normAutofit/>
          </a:bodyPr>
          <a:lstStyle>
            <a:lvl1pPr marL="0" indent="0" algn="l">
              <a:buNone/>
              <a:defRPr sz="1600" b="0" i="0" baseline="0">
                <a:solidFill>
                  <a:schemeClr val="bg1"/>
                </a:solidFill>
                <a:latin typeface="Arial" panose="020B0604020202020204"/>
                <a:ea typeface="Arial" panose="020B0604020202020204"/>
                <a:cs typeface="Arial" panose="020B0604020202020204"/>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p:txBody>
      </p:sp>
      <p:sp>
        <p:nvSpPr>
          <p:cNvPr id="11" name="矩形 10"/>
          <p:cNvSpPr>
            <a:spLocks noGrp="1"/>
          </p:cNvSpPr>
          <p:nvPr/>
        </p:nvSpPr>
        <p:spPr>
          <a:xfrm>
            <a:off x="853207" y="3849897"/>
            <a:ext cx="2080493" cy="10455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pic>
        <p:nvPicPr>
          <p:cNvPr id="18" name="图片 11"/>
          <p:cNvPicPr>
            <a:picLocks noChangeAspect="1"/>
          </p:cNvPicPr>
          <p:nvPr/>
        </p:nvPicPr>
        <p:blipFill>
          <a:blip r:embed="rId3"/>
          <a:stretch>
            <a:fillRect/>
          </a:stretch>
        </p:blipFill>
        <p:spPr>
          <a:xfrm>
            <a:off x="865907" y="412582"/>
            <a:ext cx="1492015" cy="361910"/>
          </a:xfrm>
          <a:prstGeom prst="rect">
            <a:avLst/>
          </a:prstGeom>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p:pic>
        <p:nvPicPr>
          <p:cNvPr id="11" name="图片 6"/>
          <p:cNvPicPr>
            <a:picLocks noChangeAspect="1"/>
          </p:cNvPicPr>
          <p:nvPr/>
        </p:nvPicPr>
        <p:blipFill>
          <a:blip r:embed="rId2"/>
          <a:stretch>
            <a:fillRect/>
          </a:stretch>
        </p:blipFill>
        <p:spPr>
          <a:xfrm>
            <a:off x="-1235002" y="-1412301"/>
            <a:ext cx="12969802" cy="9727351"/>
          </a:xfrm>
          <a:prstGeom prst="rect">
            <a:avLst/>
          </a:prstGeom>
        </p:spPr>
      </p:pic>
      <p:sp>
        <p:nvSpPr>
          <p:cNvPr id="2" name="标题 1"/>
          <p:cNvSpPr>
            <a:spLocks noGrp="1"/>
          </p:cNvSpPr>
          <p:nvPr>
            <p:ph type="title"/>
          </p:nvPr>
        </p:nvSpPr>
        <p:spPr>
          <a:xfrm>
            <a:off x="5649153" y="3033425"/>
            <a:ext cx="5711080" cy="677368"/>
          </a:xfrm>
        </p:spPr>
        <p:txBody>
          <a:bodyPr anchor="b">
            <a:noAutofit/>
          </a:bodyPr>
          <a:lstStyle>
            <a:lvl1pPr>
              <a:buNone/>
              <a:defRPr sz="3600" b="1" baseline="0">
                <a:latin typeface="Arial" panose="020B0604020202020204"/>
                <a:ea typeface="Arial" panose="020B0604020202020204"/>
                <a:cs typeface="Arial" panose="020B0604020202020204"/>
              </a:defRPr>
            </a:lvl1pPr>
          </a:lstStyle>
          <a:p/>
        </p:txBody>
      </p:sp>
      <p:sp>
        <p:nvSpPr>
          <p:cNvPr id="8" name="直接连接符 28"/>
          <p:cNvSpPr>
            <a:spLocks noGrp="1"/>
          </p:cNvSpPr>
          <p:nvPr/>
        </p:nvSpPr>
        <p:spPr>
          <a:xfrm flipH="1">
            <a:off x="5601528" y="3824575"/>
            <a:ext cx="5711080" cy="0"/>
          </a:xfrm>
          <a:prstGeom prst="line">
            <a:avLst/>
          </a:prstGeom>
          <a:gradFill rotWithShape="1">
            <a:gsLst>
              <a:gs pos="100000">
                <a:srgbClr val="06DEB7">
                  <a:alpha val="40000"/>
                </a:srgbClr>
              </a:gs>
              <a:gs pos="1000">
                <a:srgbClr val="06DEB7">
                  <a:alpha val="0"/>
                </a:srgbClr>
              </a:gs>
            </a:gsLst>
            <a:path path="circle">
              <a:fillToRect l="50000" t="50000" r="50000" b="50000"/>
            </a:path>
            <a:tileRect/>
          </a:gradFill>
          <a:ln w="63500">
            <a:solidFill>
              <a:srgbClr val="660773"/>
            </a:solidFill>
          </a:ln>
        </p:spPr>
        <p:style>
          <a:lnRef idx="2">
            <a:schemeClr val="accent1">
              <a:shade val="50000"/>
            </a:schemeClr>
          </a:lnRef>
          <a:fillRef idx="1">
            <a:schemeClr val="accent1"/>
          </a:fillRef>
          <a:effectRef idx="0">
            <a:schemeClr val="accent1"/>
          </a:effectRef>
          <a:fontRef idx="minor">
            <a:schemeClr val="lt1"/>
          </a:fontRef>
        </p:style>
      </p:sp>
      <p:pic>
        <p:nvPicPr>
          <p:cNvPr id="14" name="图片 9"/>
          <p:cNvPicPr>
            <a:picLocks noChangeAspect="1"/>
          </p:cNvPicPr>
          <p:nvPr/>
        </p:nvPicPr>
        <p:blipFill>
          <a:blip r:embed="rId3"/>
          <a:srcRect/>
          <a:stretch>
            <a:fillRect/>
          </a:stretch>
        </p:blipFill>
        <p:spPr>
          <a:xfrm>
            <a:off x="10235812" y="492349"/>
            <a:ext cx="1498988" cy="363600"/>
          </a:xfrm>
          <a:prstGeom prst="rect">
            <a:avLst/>
          </a:prstGeom>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p:sp>
        <p:nvSpPr>
          <p:cNvPr id="2" name="标题 1"/>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7"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7" name="内容占位符 2"/>
          <p:cNvSpPr>
            <a:spLocks noGrp="1"/>
          </p:cNvSpPr>
          <p:nvPr>
            <p:ph idx="1"/>
          </p:nvPr>
        </p:nvSpPr>
        <p:spPr>
          <a:xfrm>
            <a:off x="838199" y="1074490"/>
            <a:ext cx="10417629" cy="5102473"/>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p:sp>
        <p:nvSpPr>
          <p:cNvPr id="2" name="标题 1"/>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3"/>
          <p:cNvPicPr>
            <a:picLocks noChangeAspect="1"/>
          </p:cNvPicPr>
          <p:nvPr/>
        </p:nvPicPr>
        <p:blipFill>
          <a:blip r:embed="rId2"/>
          <a:srcRect/>
          <a:stretch>
            <a:fillRect/>
          </a:stretch>
        </p:blipFill>
        <p:spPr>
          <a:xfrm>
            <a:off x="10502900" y="466185"/>
            <a:ext cx="1114425" cy="270319"/>
          </a:xfrm>
          <a:prstGeom prst="rect">
            <a:avLst/>
          </a:prstGeom>
        </p:spPr>
      </p:pic>
      <p:sp>
        <p:nvSpPr>
          <p:cNvPr id="8" name="内容占位符 2"/>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0" name="内容占位符 2"/>
          <p:cNvSpPr>
            <a:spLocks noGrp="1"/>
          </p:cNvSpPr>
          <p:nvPr>
            <p:ph idx="14"/>
          </p:nvPr>
        </p:nvSpPr>
        <p:spPr>
          <a:xfrm>
            <a:off x="6096000"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Dual Subject">
    <p:spTree>
      <p:nvGrpSpPr>
        <p:cNvPr id="1" name=""/>
        <p:cNvGrpSpPr/>
        <p:nvPr/>
      </p:nvGrpSpPr>
      <p:grpSpPr/>
      <p:sp>
        <p:nvSpPr>
          <p:cNvPr id="2" name="标题 1"/>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idx="1"/>
          </p:nvPr>
        </p:nvSpPr>
        <p:spPr>
          <a:xfrm>
            <a:off x="838199" y="1074491"/>
            <a:ext cx="10417629" cy="218982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p:cNvSpPr>
            <a:spLocks noGrp="1"/>
          </p:cNvSpPr>
          <p:nvPr>
            <p:ph idx="10"/>
          </p:nvPr>
        </p:nvSpPr>
        <p:spPr>
          <a:xfrm>
            <a:off x="838199" y="3593690"/>
            <a:ext cx="10417629" cy="2797278"/>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Trio Subject">
    <p:spTree>
      <p:nvGrpSpPr>
        <p:cNvPr id="1" name=""/>
        <p:cNvGrpSpPr/>
        <p:nvPr/>
      </p:nvGrpSpPr>
      <p:grpSpPr/>
      <p:sp>
        <p:nvSpPr>
          <p:cNvPr id="2" name="标题 1"/>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8"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p:cNvSpPr>
            <a:spLocks noGrp="1"/>
          </p:cNvSpPr>
          <p:nvPr>
            <p:ph idx="14"/>
          </p:nvPr>
        </p:nvSpPr>
        <p:spPr>
          <a:xfrm>
            <a:off x="6096000" y="1099825"/>
            <a:ext cx="5732462" cy="2587604"/>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3" name="内容占位符 2"/>
          <p:cNvSpPr>
            <a:spLocks noGrp="1"/>
          </p:cNvSpPr>
          <p:nvPr>
            <p:ph idx="15"/>
          </p:nvPr>
        </p:nvSpPr>
        <p:spPr>
          <a:xfrm>
            <a:off x="6096000" y="3951887"/>
            <a:ext cx="5732462" cy="2166338"/>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自定义">
    <p:spTree>
      <p:nvGrpSpPr>
        <p:cNvPr id="1" name=""/>
        <p:cNvGrpSpPr/>
        <p:nvPr/>
      </p:nvGrpSpPr>
      <p:grpSpPr/>
      <p:sp>
        <p:nvSpPr>
          <p:cNvPr id="2" name="标题 1"/>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panose="020B0604020202020204"/>
                <a:ea typeface="Arial" panose="020B0604020202020204"/>
                <a:cs typeface="Arial" panose="020B0604020202020204"/>
              </a:defRPr>
            </a:lvl1pPr>
          </a:lstStyle>
          <a:p>
            <a:pPr lvl="0">
              <a:buNone/>
            </a:pPr>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p:pic>
        <p:nvPicPr>
          <p:cNvPr id="13" name="图片 2"/>
          <p:cNvPicPr>
            <a:picLocks noChangeAspect="1"/>
          </p:cNvPicPr>
          <p:nvPr/>
        </p:nvPicPr>
        <p:blipFill>
          <a:blip r:embed="rId2"/>
          <a:srcRect/>
          <a:stretch>
            <a:fillRect/>
          </a:stretch>
        </p:blipFill>
        <p:spPr>
          <a:xfrm>
            <a:off x="10502900" y="466185"/>
            <a:ext cx="1114425" cy="270319"/>
          </a:xfrm>
          <a:prstGeom prst="rect">
            <a:avLst/>
          </a:prstGeom>
        </p:spPr>
      </p:pic>
      <p:pic>
        <p:nvPicPr>
          <p:cNvPr id="14" name="图片 5"/>
          <p:cNvPicPr>
            <a:picLocks noChangeAspect="1"/>
          </p:cNvPicPr>
          <p:nvPr/>
        </p:nvPicPr>
        <p:blipFill>
          <a:blip r:embed="rId3"/>
          <a:stretch>
            <a:fillRect/>
          </a:stretch>
        </p:blipFill>
        <p:spPr>
          <a:xfrm>
            <a:off x="4450501" y="-645610"/>
            <a:ext cx="11947547" cy="8960660"/>
          </a:xfrm>
          <a:prstGeom prst="rect">
            <a:avLst/>
          </a:prstGeom>
        </p:spPr>
      </p:pic>
      <p:sp>
        <p:nvSpPr>
          <p:cNvPr id="7" name="内容占位符 2"/>
          <p:cNvSpPr>
            <a:spLocks noGrp="1"/>
          </p:cNvSpPr>
          <p:nvPr>
            <p:ph idx="1" hasCustomPrompt="1"/>
          </p:nvPr>
        </p:nvSpPr>
        <p:spPr>
          <a:xfrm>
            <a:off x="838200" y="1478782"/>
            <a:ext cx="4931979" cy="4351338"/>
          </a:xfrm>
        </p:spPr>
        <p:txBody>
          <a:bodyPr/>
          <a:lstStyle>
            <a:lvl1pPr marL="228600" indent="-228600">
              <a:lnSpc>
                <a:spcPct val="150000"/>
              </a:lnSpc>
              <a:buSzPct val="150000"/>
              <a:buFontTx/>
              <a:buNone/>
              <a:defRPr sz="2400" b="0" i="0" baseline="0">
                <a:latin typeface="Arial" panose="020B0604020202020204"/>
                <a:ea typeface="Arial" panose="020B0604020202020204"/>
                <a:cs typeface="Arial" panose="020B0604020202020204"/>
              </a:defRPr>
            </a:lvl1pPr>
            <a:lvl2pPr marL="685800" indent="-228600">
              <a:lnSpc>
                <a:spcPct val="150000"/>
              </a:lnSpc>
              <a:buClr>
                <a:srgbClr val="660874"/>
              </a:buClr>
              <a:buSzPct val="80000"/>
              <a:buFont typeface="ZapfDingbatsITC"/>
              <a:buChar char="➤"/>
              <a:defRPr sz="1800" b="0" i="0">
                <a:latin typeface="思源黑体 CN Regular"/>
                <a:ea typeface="思源黑体 CN Regular"/>
                <a:cs typeface="思源黑体 CN Regular"/>
              </a:defRPr>
            </a:lvl2pPr>
            <a:lvl3pPr marL="1143000" indent="-228600">
              <a:lnSpc>
                <a:spcPct val="150000"/>
              </a:lnSpc>
              <a:buClr>
                <a:srgbClr val="660874"/>
              </a:buClr>
              <a:buFont typeface="AppleSymbols"/>
              <a:buChar char="▻"/>
              <a:defRPr sz="1600" b="0" i="0">
                <a:latin typeface="思源黑体 CN Regular"/>
                <a:ea typeface="思源黑体 CN Regular"/>
                <a:cs typeface="思源黑体 CN Regular"/>
              </a:defRPr>
            </a:lvl3pPr>
            <a:lvl4pPr marL="1600200" indent="-228600">
              <a:lnSpc>
                <a:spcPct val="150000"/>
              </a:lnSpc>
              <a:buClr>
                <a:srgbClr val="660874"/>
              </a:buClr>
              <a:buFont typeface="Helvetica"/>
              <a:buChar char="‣"/>
              <a:defRPr sz="1200" b="0" i="0">
                <a:latin typeface="思源黑体 CN Regular"/>
                <a:ea typeface="思源黑体 CN Regular"/>
                <a:cs typeface="思源黑体 CN Regular"/>
              </a:defRPr>
            </a:lvl4pPr>
            <a:lvl5pPr>
              <a:lnSpc>
                <a:spcPct val="150000"/>
              </a:lnSpc>
              <a:buClr>
                <a:srgbClr val="660874"/>
              </a:buClr>
              <a:buNone/>
              <a:defRPr sz="1000" b="0" i="0">
                <a:latin typeface="思源黑体 CN Regular"/>
                <a:ea typeface="思源黑体 CN Regular"/>
                <a:cs typeface="思源黑体 CN Regular"/>
              </a:defRPr>
            </a:lvl5pPr>
          </a:lstStyle>
          <a:p>
            <a:pPr lvl="0">
              <a:buNone/>
            </a:pPr>
            <a:r>
              <a:t>  单击此处编辑母版文本样式</a:t>
            </a:r>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0" name="标题 1"/>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panose="020B0604020202020204"/>
                <a:ea typeface="Arial" panose="020B0604020202020204"/>
                <a:cs typeface="Arial" panose="020B0604020202020204"/>
              </a:defRPr>
            </a:lvl1pPr>
          </a:lstStyle>
          <a:p>
            <a:pPr lvl="0">
              <a:buNone/>
            </a:p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版式说明">
    <p:spTree>
      <p:nvGrpSpPr>
        <p:cNvPr id="1" name=""/>
        <p:cNvGrpSpPr/>
        <p:nvPr/>
      </p:nvGrpSpPr>
      <p:grpSpPr/>
      <p:pic>
        <p:nvPicPr>
          <p:cNvPr id="15" name="图片 7"/>
          <p:cNvPicPr>
            <a:picLocks noChangeAspect="1"/>
          </p:cNvPicPr>
          <p:nvPr/>
        </p:nvPicPr>
        <p:blipFill>
          <a:blip r:embed="rId2"/>
          <a:srcRect/>
          <a:stretch>
            <a:fillRect/>
          </a:stretch>
        </p:blipFill>
        <p:spPr>
          <a:xfrm>
            <a:off x="10491224" y="488311"/>
            <a:ext cx="1126345" cy="273211"/>
          </a:xfrm>
          <a:prstGeom prst="rect">
            <a:avLst/>
          </a:prstGeom>
        </p:spPr>
      </p:pic>
      <p:sp>
        <p:nvSpPr>
          <p:cNvPr id="4" name="文本框 3"/>
          <p:cNvSpPr>
            <a:spLocks noGrp="1"/>
          </p:cNvSpPr>
          <p:nvPr/>
        </p:nvSpPr>
        <p:spPr>
          <a:xfrm>
            <a:off x="334257" y="1030778"/>
            <a:ext cx="11378376" cy="5301229"/>
          </a:xfrm>
          <a:prstGeom prst="rect">
            <a:avLst/>
          </a:prstGeom>
        </p:spPr>
        <p:txBody>
          <a:bodyPr vert="horz" wrap="square" lIns="91440" tIns="45720" rIns="91440" bIns="45720" anchor="ctr">
            <a:normAutofit/>
          </a:bodyPr>
          <a:lstStyle/>
          <a:p/>
        </p:txBody>
      </p:sp>
      <p:sp>
        <p:nvSpPr>
          <p:cNvPr id="6" name="文本框 5"/>
          <p:cNvSpPr>
            <a:spLocks noGrp="1"/>
          </p:cNvSpPr>
          <p:nvPr/>
        </p:nvSpPr>
        <p:spPr>
          <a:xfrm>
            <a:off x="479367" y="115209"/>
            <a:ext cx="9894917" cy="571061"/>
          </a:xfrm>
          <a:prstGeom prst="rect">
            <a:avLst/>
          </a:prstGeom>
        </p:spPr>
        <p:txBody>
          <a:bodyPr vert="horz" wrap="square" lIns="91440" tIns="45720" rIns="91440" bIns="45720" anchor="ctr">
            <a:normAutofit/>
          </a:bodyPr>
          <a:lstStyle/>
          <a:p/>
        </p:txBody>
      </p:sp>
      <p:sp>
        <p:nvSpPr>
          <p:cNvPr id="10" name="直接连接符 9"/>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3" name="矩形 12"/>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1" name="文本框 10"/>
          <p:cNvSpPr>
            <a:spLocks noGrp="1"/>
          </p:cNvSpPr>
          <p:nvPr/>
        </p:nvSpPr>
        <p:spPr>
          <a:xfrm>
            <a:off x="297277" y="45898"/>
            <a:ext cx="7732626" cy="746234"/>
          </a:xfrm>
          <a:prstGeom prst="rect">
            <a:avLst/>
          </a:prstGeom>
        </p:spPr>
        <p:txBody>
          <a:bodyPr vert="horz" wrap="square" lIns="91440" tIns="45720" rIns="91440" bIns="45720" anchor="ctr">
            <a:noAutofit/>
          </a:bodyPr>
          <a:lstStyle/>
          <a:p>
            <a:r>
              <a:rPr sz="3200" b="1" i="0">
                <a:solidFill>
                  <a:schemeClr val="tx1"/>
                </a:solidFill>
                <a:latin typeface="Arial" panose="020B0604020202020204"/>
                <a:ea typeface="Arial" panose="020B0604020202020204"/>
                <a:cs typeface="Arial" panose="020B0604020202020204"/>
              </a:rPr>
              <a:t>DISCLAIMER &amp; ATTRIBUTION</a:t>
            </a:r>
            <a:endParaRPr sz="3200" b="1" i="0" baseline="0">
              <a:solidFill>
                <a:schemeClr val="tx1"/>
              </a:solidFill>
              <a:latin typeface="Arial" panose="020B0604020202020204"/>
              <a:ea typeface="Arial" panose="020B0604020202020204"/>
              <a:cs typeface="Arial" panose="020B0604020202020204"/>
            </a:endParaRPr>
          </a:p>
        </p:txBody>
      </p:sp>
      <p:sp>
        <p:nvSpPr>
          <p:cNvPr id="2" name="文本框 1"/>
          <p:cNvSpPr>
            <a:spLocks noGrp="1"/>
          </p:cNvSpPr>
          <p:nvPr/>
        </p:nvSpPr>
        <p:spPr>
          <a:xfrm>
            <a:off x="386807" y="1183967"/>
            <a:ext cx="11507916" cy="4994850"/>
          </a:xfrm>
          <a:prstGeom prst="rect">
            <a:avLst/>
          </a:prstGeom>
        </p:spPr>
        <p:txBody>
          <a:bodyPr vert="horz" wrap="square" lIns="91440" tIns="45720" rIns="91440" bIns="45720" anchor="ctr">
            <a:normAutofit/>
          </a:bodyPr>
          <a:lstStyle/>
          <a:p>
            <a:r>
              <a:rPr sz="1600" b="0" i="0">
                <a:solidFill>
                  <a:srgbClr val="000000"/>
                </a:solidFill>
                <a:latin typeface="+mn-lt"/>
                <a:ea typeface="+mn-lt"/>
                <a:cs typeface="+mn-lt"/>
              </a:rPr>
              <a:t>This presentation may contain privileged and confidential information and is intended only for </a:t>
            </a:r>
            <a:r>
              <a:rPr sz="1600" b="0" i="0">
                <a:solidFill>
                  <a:srgbClr val="000000"/>
                </a:solidFill>
                <a:latin typeface="+mn-lt"/>
                <a:ea typeface="+mn-lt"/>
                <a:cs typeface="+mn-lt"/>
              </a:rPr>
              <a:t>MetaX</a:t>
            </a:r>
            <a:r>
              <a:rPr sz="1600" b="0" i="0">
                <a:solidFill>
                  <a:srgbClr val="000000"/>
                </a:solidFill>
                <a:latin typeface="+mn-lt"/>
                <a:ea typeface="+mn-lt"/>
                <a:cs typeface="+mn-lt"/>
              </a:rPr>
              <a:t> Integrated Circuits (Shanghai) Co., Ltd. and/or its affiliates (hereinafter collectively referred to as “</a:t>
            </a:r>
            <a:r>
              <a:rPr sz="1600" b="0" i="0">
                <a:solidFill>
                  <a:srgbClr val="000000"/>
                </a:solidFill>
                <a:latin typeface="+mn-lt"/>
                <a:ea typeface="+mn-lt"/>
                <a:cs typeface="+mn-lt"/>
              </a:rPr>
              <a:t>MetaX</a:t>
            </a:r>
            <a:r>
              <a:rPr sz="1600" b="0" i="0">
                <a:solidFill>
                  <a:srgbClr val="000000"/>
                </a:solidFill>
                <a:latin typeface="+mn-lt"/>
                <a:ea typeface="+mn-lt"/>
                <a:cs typeface="+mn-lt"/>
              </a:rPr>
              <a:t>”).  The information presented in this presentation should be kept strictly confidential and should not be allowed to make available to others without written consent from </a:t>
            </a:r>
            <a:r>
              <a:rPr sz="1600" b="0" i="0">
                <a:solidFill>
                  <a:srgbClr val="000000"/>
                </a:solidFill>
                <a:latin typeface="+mn-lt"/>
                <a:ea typeface="+mn-lt"/>
                <a:cs typeface="+mn-lt"/>
              </a:rPr>
              <a:t>MetaX</a:t>
            </a:r>
            <a:r>
              <a:rPr sz="1600" b="0" i="0">
                <a:solidFill>
                  <a:srgbClr val="000000"/>
                </a:solidFill>
                <a:latin typeface="+mn-lt"/>
                <a:ea typeface="+mn-lt"/>
                <a:cs typeface="+mn-lt"/>
              </a:rPr>
              <a:t>.</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The information presented in this presentation is for informational purposes only and may contain technical inaccuracies, omissions and typographical errors.  </a:t>
            </a:r>
            <a:r>
              <a:rPr sz="1600" b="0" i="0">
                <a:solidFill>
                  <a:srgbClr val="000000"/>
                </a:solidFill>
                <a:latin typeface="+mn-lt"/>
                <a:ea typeface="+mn-lt"/>
                <a:cs typeface="+mn-lt"/>
              </a:rPr>
              <a:t>MetaX</a:t>
            </a:r>
            <a:r>
              <a:rPr sz="1600" b="0" i="0">
                <a:solidFill>
                  <a:srgbClr val="000000"/>
                </a:solidFill>
                <a:latin typeface="+mn-lt"/>
                <a:ea typeface="+mn-lt"/>
                <a:cs typeface="+mn-lt"/>
              </a:rPr>
              <a:t> makes no representation or warranty of any kind, express or implied, regarding the reliability, availability or completeness of any information on the Slides. </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MetaX</a:t>
            </a:r>
            <a:r>
              <a:rPr sz="1600" b="0" i="0">
                <a:solidFill>
                  <a:srgbClr val="000000"/>
                </a:solidFill>
                <a:latin typeface="+mn-lt"/>
                <a:ea typeface="+mn-lt"/>
                <a:cs typeface="+mn-lt"/>
              </a:rPr>
              <a:t> is the owner of the presentation and all portions thereof.  Except as expressly provided, you are prohibited from copying, modifying, distributing, displaying or transmitting any of the contents of the Slides for any purposes. </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MetaX</a:t>
            </a:r>
            <a:r>
              <a:rPr sz="1600" b="0" i="0">
                <a:solidFill>
                  <a:srgbClr val="000000"/>
                </a:solidFill>
                <a:latin typeface="+mn-lt"/>
                <a:ea typeface="+mn-lt"/>
                <a:cs typeface="+mn-lt"/>
              </a:rPr>
              <a:t>, </a:t>
            </a:r>
            <a:r>
              <a:rPr sz="1600" b="0" i="0">
                <a:solidFill>
                  <a:srgbClr val="000000"/>
                </a:solidFill>
                <a:latin typeface="+mn-ea"/>
                <a:ea typeface="+mn-ea"/>
                <a:cs typeface="+mn-ea"/>
              </a:rPr>
              <a:t>沐曦</a:t>
            </a:r>
            <a:r>
              <a:rPr sz="1600" b="0" i="0">
                <a:solidFill>
                  <a:srgbClr val="000000"/>
                </a:solidFill>
                <a:latin typeface="+mn-ea"/>
                <a:ea typeface="+mn-ea"/>
                <a:cs typeface="+mn-ea"/>
              </a:rPr>
              <a:t>,</a:t>
            </a:r>
            <a:r>
              <a:rPr sz="1600" b="0" i="0">
                <a:solidFill>
                  <a:srgbClr val="000000"/>
                </a:solidFill>
                <a:latin typeface="+mn-lt"/>
                <a:ea typeface="+mn-lt"/>
                <a:cs typeface="+mn-lt"/>
              </a:rPr>
              <a:t> the </a:t>
            </a:r>
            <a:r>
              <a:rPr sz="1600" b="0" i="0">
                <a:solidFill>
                  <a:srgbClr val="000000"/>
                </a:solidFill>
                <a:latin typeface="+mn-lt"/>
                <a:ea typeface="+mn-lt"/>
                <a:cs typeface="+mn-lt"/>
              </a:rPr>
              <a:t>MetaX</a:t>
            </a:r>
            <a:r>
              <a:rPr sz="1600" b="0" i="0">
                <a:solidFill>
                  <a:srgbClr val="000000"/>
                </a:solidFill>
                <a:latin typeface="+mn-lt"/>
                <a:ea typeface="+mn-lt"/>
                <a:cs typeface="+mn-lt"/>
              </a:rPr>
              <a:t> logo and combinations thereof are trademarks of </a:t>
            </a:r>
            <a:r>
              <a:rPr sz="1600" b="0" i="0">
                <a:solidFill>
                  <a:srgbClr val="000000"/>
                </a:solidFill>
                <a:latin typeface="+mn-lt"/>
                <a:ea typeface="+mn-lt"/>
                <a:cs typeface="+mn-lt"/>
              </a:rPr>
              <a:t>MetaX</a:t>
            </a:r>
            <a:r>
              <a:rPr sz="1600" b="0" i="0">
                <a:solidFill>
                  <a:srgbClr val="000000"/>
                </a:solidFill>
                <a:latin typeface="+mn-lt"/>
                <a:ea typeface="+mn-lt"/>
                <a:cs typeface="+mn-lt"/>
              </a:rPr>
              <a:t>. Other product and company names used in this presentation are for identification purposes only and may be trademarks or trade names of their respective owners.</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 http://www.metax-tech.com/</a:t>
            </a:r>
            <a:endParaRPr sz="1600" b="0" i="0">
              <a:solidFill>
                <a:srgbClr val="000000"/>
              </a:solidFill>
              <a:latin typeface="+mn-lt"/>
              <a:ea typeface="+mn-lt"/>
              <a:cs typeface="+mn-lt"/>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a:xfrm>
            <a:off x="838200" y="6356350"/>
            <a:ext cx="2743200" cy="365125"/>
          </a:xfrm>
        </p:spPr>
        <p:txBody>
          <a:bodyPr/>
          <a:lstStyle/>
          <a:p/>
        </p:txBody>
      </p:sp>
      <p:sp>
        <p:nvSpPr>
          <p:cNvPr id="3" name="页脚占位符 2"/>
          <p:cNvSpPr>
            <a:spLocks noGrp="1"/>
          </p:cNvSpPr>
          <p:nvPr>
            <p:ph type="ftr" idx="11"/>
          </p:nvPr>
        </p:nvSpPr>
        <p:spPr>
          <a:xfrm>
            <a:off x="4038600" y="6356350"/>
            <a:ext cx="4114800" cy="365125"/>
          </a:xfrm>
        </p:spPr>
        <p:txBody>
          <a:bodyPr/>
          <a:lstStyle/>
          <a:p/>
        </p:txBody>
      </p:sp>
      <p:sp>
        <p:nvSpPr>
          <p:cNvPr id="4" name="灯片编号占位符 3"/>
          <p:cNvSpPr>
            <a:spLocks noGrp="1"/>
          </p:cNvSpPr>
          <p:nvPr>
            <p:ph type="sldNum" idx="12"/>
          </p:nvPr>
        </p:nvSpPr>
        <p:spPr>
          <a:xfrm>
            <a:off x="8610600" y="6356350"/>
            <a:ext cx="2743200" cy="365125"/>
          </a:xfrm>
        </p:spPr>
        <p:txBody>
          <a:body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p:pic>
        <p:nvPicPr>
          <p:cNvPr id="14" name="图片 4"/>
          <p:cNvPicPr>
            <a:picLocks noChangeAspect="1"/>
          </p:cNvPicPr>
          <p:nvPr/>
        </p:nvPicPr>
        <p:blipFill>
          <a:blip r:embed="rId2"/>
          <a:stretch>
            <a:fillRect/>
          </a:stretch>
        </p:blipFill>
        <p:spPr>
          <a:xfrm>
            <a:off x="0" y="0"/>
            <a:ext cx="12192000" cy="6858000"/>
          </a:xfrm>
          <a:prstGeom prst="rect">
            <a:avLst/>
          </a:prstGeom>
        </p:spPr>
      </p:pic>
      <p:sp>
        <p:nvSpPr>
          <p:cNvPr id="8" name="标题 1"/>
          <p:cNvSpPr>
            <a:spLocks noGrp="1"/>
          </p:cNvSpPr>
          <p:nvPr>
            <p:ph type="ctrTitle"/>
          </p:nvPr>
        </p:nvSpPr>
        <p:spPr>
          <a:xfrm>
            <a:off x="743985" y="2437178"/>
            <a:ext cx="9144000" cy="1369968"/>
          </a:xfrm>
        </p:spPr>
        <p:txBody>
          <a:bodyPr anchor="b">
            <a:normAutofit/>
          </a:bodyPr>
          <a:lstStyle>
            <a:lvl1pPr algn="l">
              <a:lnSpc>
                <a:spcPct val="100000"/>
              </a:lnSpc>
              <a:buNone/>
              <a:defRPr sz="4400" b="1" i="0" baseline="0">
                <a:solidFill>
                  <a:schemeClr val="bg1"/>
                </a:solidFill>
                <a:latin typeface="Arial" panose="020B0604020202020204"/>
                <a:ea typeface="Arial" panose="020B0604020202020204"/>
                <a:cs typeface="Arial" panose="020B0604020202020204"/>
              </a:defRPr>
            </a:lvl1pPr>
          </a:lstStyle>
          <a:p/>
        </p:txBody>
      </p:sp>
      <p:sp>
        <p:nvSpPr>
          <p:cNvPr id="10" name="副标题 2"/>
          <p:cNvSpPr>
            <a:spLocks noGrp="1"/>
          </p:cNvSpPr>
          <p:nvPr>
            <p:ph type="subTitle" idx="1"/>
          </p:nvPr>
        </p:nvSpPr>
        <p:spPr>
          <a:xfrm>
            <a:off x="743985" y="4174810"/>
            <a:ext cx="9144000" cy="424021"/>
          </a:xfrm>
        </p:spPr>
        <p:txBody>
          <a:bodyPr>
            <a:normAutofit/>
          </a:bodyPr>
          <a:lstStyle>
            <a:lvl1pPr marL="0" indent="0" algn="l">
              <a:buNone/>
              <a:defRPr sz="1600" b="0" i="0" baseline="0">
                <a:solidFill>
                  <a:schemeClr val="bg1"/>
                </a:solidFill>
                <a:latin typeface="Arial" panose="020B0604020202020204"/>
                <a:ea typeface="Arial" panose="020B0604020202020204"/>
                <a:cs typeface="Arial" panose="020B0604020202020204"/>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p:txBody>
      </p:sp>
      <p:sp>
        <p:nvSpPr>
          <p:cNvPr id="11" name="矩形 10"/>
          <p:cNvSpPr>
            <a:spLocks noGrp="1"/>
          </p:cNvSpPr>
          <p:nvPr/>
        </p:nvSpPr>
        <p:spPr>
          <a:xfrm>
            <a:off x="853207" y="3849897"/>
            <a:ext cx="2080493" cy="10455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pic>
        <p:nvPicPr>
          <p:cNvPr id="18" name="图片 11"/>
          <p:cNvPicPr>
            <a:picLocks noChangeAspect="1"/>
          </p:cNvPicPr>
          <p:nvPr/>
        </p:nvPicPr>
        <p:blipFill>
          <a:blip r:embed="rId3"/>
          <a:stretch>
            <a:fillRect/>
          </a:stretch>
        </p:blipFill>
        <p:spPr>
          <a:xfrm>
            <a:off x="865907" y="412582"/>
            <a:ext cx="1492015" cy="361910"/>
          </a:xfrm>
          <a:prstGeom prst="rect">
            <a:avLst/>
          </a:prstGeom>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p:pic>
        <p:nvPicPr>
          <p:cNvPr id="11" name="图片 6"/>
          <p:cNvPicPr>
            <a:picLocks noChangeAspect="1"/>
          </p:cNvPicPr>
          <p:nvPr/>
        </p:nvPicPr>
        <p:blipFill>
          <a:blip r:embed="rId2"/>
          <a:stretch>
            <a:fillRect/>
          </a:stretch>
        </p:blipFill>
        <p:spPr>
          <a:xfrm>
            <a:off x="-1235002" y="-1412301"/>
            <a:ext cx="12969802" cy="9727351"/>
          </a:xfrm>
          <a:prstGeom prst="rect">
            <a:avLst/>
          </a:prstGeom>
        </p:spPr>
      </p:pic>
      <p:sp>
        <p:nvSpPr>
          <p:cNvPr id="2" name="标题 1"/>
          <p:cNvSpPr>
            <a:spLocks noGrp="1"/>
          </p:cNvSpPr>
          <p:nvPr>
            <p:ph type="title"/>
          </p:nvPr>
        </p:nvSpPr>
        <p:spPr>
          <a:xfrm>
            <a:off x="5649153" y="3033425"/>
            <a:ext cx="5711080" cy="677368"/>
          </a:xfrm>
        </p:spPr>
        <p:txBody>
          <a:bodyPr anchor="b">
            <a:noAutofit/>
          </a:bodyPr>
          <a:lstStyle>
            <a:lvl1pPr>
              <a:buNone/>
              <a:defRPr sz="3600" b="1" baseline="0">
                <a:latin typeface="Arial" panose="020B0604020202020204"/>
                <a:ea typeface="Arial" panose="020B0604020202020204"/>
                <a:cs typeface="Arial" panose="020B0604020202020204"/>
              </a:defRPr>
            </a:lvl1pPr>
          </a:lstStyle>
          <a:p/>
        </p:txBody>
      </p:sp>
      <p:sp>
        <p:nvSpPr>
          <p:cNvPr id="8" name="直接连接符 28"/>
          <p:cNvSpPr>
            <a:spLocks noGrp="1"/>
          </p:cNvSpPr>
          <p:nvPr/>
        </p:nvSpPr>
        <p:spPr>
          <a:xfrm flipH="1">
            <a:off x="5601528" y="3824575"/>
            <a:ext cx="5711080" cy="0"/>
          </a:xfrm>
          <a:prstGeom prst="line">
            <a:avLst/>
          </a:prstGeom>
          <a:gradFill rotWithShape="1">
            <a:gsLst>
              <a:gs pos="100000">
                <a:srgbClr val="06DEB7">
                  <a:alpha val="40000"/>
                </a:srgbClr>
              </a:gs>
              <a:gs pos="1000">
                <a:srgbClr val="06DEB7">
                  <a:alpha val="0"/>
                </a:srgbClr>
              </a:gs>
            </a:gsLst>
            <a:path path="circle">
              <a:fillToRect l="50000" t="50000" r="50000" b="50000"/>
            </a:path>
            <a:tileRect/>
          </a:gradFill>
          <a:ln w="63500">
            <a:solidFill>
              <a:srgbClr val="660773"/>
            </a:solidFill>
          </a:ln>
        </p:spPr>
        <p:style>
          <a:lnRef idx="2">
            <a:schemeClr val="accent1">
              <a:shade val="50000"/>
            </a:schemeClr>
          </a:lnRef>
          <a:fillRef idx="1">
            <a:schemeClr val="accent1"/>
          </a:fillRef>
          <a:effectRef idx="0">
            <a:schemeClr val="accent1"/>
          </a:effectRef>
          <a:fontRef idx="minor">
            <a:schemeClr val="lt1"/>
          </a:fontRef>
        </p:style>
      </p:sp>
      <p:pic>
        <p:nvPicPr>
          <p:cNvPr id="14" name="图片 9"/>
          <p:cNvPicPr>
            <a:picLocks noChangeAspect="1"/>
          </p:cNvPicPr>
          <p:nvPr/>
        </p:nvPicPr>
        <p:blipFill>
          <a:blip r:embed="rId3"/>
          <a:srcRect/>
          <a:stretch>
            <a:fillRect/>
          </a:stretch>
        </p:blipFill>
        <p:spPr>
          <a:xfrm>
            <a:off x="10235812" y="492349"/>
            <a:ext cx="1498988" cy="363600"/>
          </a:xfrm>
          <a:prstGeom prst="rect">
            <a:avLst/>
          </a:prstGeom>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p:sp>
        <p:nvSpPr>
          <p:cNvPr id="2" name="标题 1"/>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7"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7" name="内容占位符 2"/>
          <p:cNvSpPr>
            <a:spLocks noGrp="1"/>
          </p:cNvSpPr>
          <p:nvPr>
            <p:ph idx="1"/>
          </p:nvPr>
        </p:nvSpPr>
        <p:spPr>
          <a:xfrm>
            <a:off x="838199" y="1074490"/>
            <a:ext cx="10417629" cy="5102473"/>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p:sp>
        <p:nvSpPr>
          <p:cNvPr id="2" name="标题 1"/>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3"/>
          <p:cNvPicPr>
            <a:picLocks noChangeAspect="1"/>
          </p:cNvPicPr>
          <p:nvPr/>
        </p:nvPicPr>
        <p:blipFill>
          <a:blip r:embed="rId2"/>
          <a:srcRect/>
          <a:stretch>
            <a:fillRect/>
          </a:stretch>
        </p:blipFill>
        <p:spPr>
          <a:xfrm>
            <a:off x="10502900" y="466185"/>
            <a:ext cx="1114425" cy="270319"/>
          </a:xfrm>
          <a:prstGeom prst="rect">
            <a:avLst/>
          </a:prstGeom>
        </p:spPr>
      </p:pic>
      <p:sp>
        <p:nvSpPr>
          <p:cNvPr id="8" name="内容占位符 2"/>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0" name="内容占位符 2"/>
          <p:cNvSpPr>
            <a:spLocks noGrp="1"/>
          </p:cNvSpPr>
          <p:nvPr>
            <p:ph idx="14"/>
          </p:nvPr>
        </p:nvSpPr>
        <p:spPr>
          <a:xfrm>
            <a:off x="6096000"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Dual Subject">
    <p:spTree>
      <p:nvGrpSpPr>
        <p:cNvPr id="1" name=""/>
        <p:cNvGrpSpPr/>
        <p:nvPr/>
      </p:nvGrpSpPr>
      <p:grpSpPr/>
      <p:sp>
        <p:nvSpPr>
          <p:cNvPr id="2" name="标题 1"/>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idx="1"/>
          </p:nvPr>
        </p:nvSpPr>
        <p:spPr>
          <a:xfrm>
            <a:off x="838199" y="1074491"/>
            <a:ext cx="10417629" cy="218982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p:cNvSpPr>
            <a:spLocks noGrp="1"/>
          </p:cNvSpPr>
          <p:nvPr>
            <p:ph idx="10"/>
          </p:nvPr>
        </p:nvSpPr>
        <p:spPr>
          <a:xfrm>
            <a:off x="838199" y="3593690"/>
            <a:ext cx="10417629" cy="2797278"/>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Trio Subject">
    <p:spTree>
      <p:nvGrpSpPr>
        <p:cNvPr id="1" name=""/>
        <p:cNvGrpSpPr/>
        <p:nvPr/>
      </p:nvGrpSpPr>
      <p:grpSpPr/>
      <p:sp>
        <p:nvSpPr>
          <p:cNvPr id="2" name="标题 1"/>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panose="020B0604020202020204"/>
                <a:ea typeface="Arial" panose="020B0604020202020204"/>
                <a:cs typeface="Arial" panose="020B0604020202020204"/>
              </a:defRPr>
            </a:lvl1pPr>
          </a:lstStyle>
          <a:p/>
        </p:txBody>
      </p:sp>
      <p:sp>
        <p:nvSpPr>
          <p:cNvPr id="9" name="直接连接符 8"/>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8"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p:cNvSpPr>
            <a:spLocks noGrp="1"/>
          </p:cNvSpPr>
          <p:nvPr>
            <p:ph idx="14"/>
          </p:nvPr>
        </p:nvSpPr>
        <p:spPr>
          <a:xfrm>
            <a:off x="6096000" y="1099825"/>
            <a:ext cx="5732462" cy="2587604"/>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3" name="内容占位符 2"/>
          <p:cNvSpPr>
            <a:spLocks noGrp="1"/>
          </p:cNvSpPr>
          <p:nvPr>
            <p:ph idx="15"/>
          </p:nvPr>
        </p:nvSpPr>
        <p:spPr>
          <a:xfrm>
            <a:off x="6096000" y="3951887"/>
            <a:ext cx="5732462" cy="2166338"/>
          </a:xfrm>
        </p:spPr>
        <p:txBody>
          <a:bodyPr/>
          <a:lstStyle>
            <a:lvl1pPr marL="228600" indent="-228600">
              <a:lnSpc>
                <a:spcPct val="150000"/>
              </a:lnSpc>
              <a:buSzPct val="120000"/>
              <a:buFontTx/>
              <a:buNone/>
              <a:defRPr sz="1800" b="1" i="0" baseline="0">
                <a:solidFill>
                  <a:srgbClr val="660874"/>
                </a:solidFill>
                <a:latin typeface="Arial" panose="020B0604020202020204"/>
                <a:ea typeface="Arial" panose="020B0604020202020204"/>
                <a:cs typeface="Arial" panose="020B0604020202020204"/>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panose="020B0604020202020204"/>
                <a:ea typeface="Arial" panose="020B0604020202020204"/>
                <a:cs typeface="Arial" panose="020B0604020202020204"/>
              </a:defRPr>
            </a:lvl2pPr>
            <a:lvl3pPr marL="1143000" indent="-228600">
              <a:lnSpc>
                <a:spcPct val="150000"/>
              </a:lnSpc>
              <a:buClr>
                <a:srgbClr val="660874"/>
              </a:buClr>
              <a:buSzPct val="100000"/>
              <a:buFont typeface="AppleSymbols"/>
              <a:buChar char="▻"/>
              <a:defRPr sz="1400" b="0" i="0" baseline="0">
                <a:latin typeface="Arial" panose="020B0604020202020204"/>
                <a:ea typeface="Arial" panose="020B0604020202020204"/>
                <a:cs typeface="Arial" panose="020B0604020202020204"/>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自定义">
    <p:spTree>
      <p:nvGrpSpPr>
        <p:cNvPr id="1" name=""/>
        <p:cNvGrpSpPr/>
        <p:nvPr/>
      </p:nvGrpSpPr>
      <p:grpSpPr/>
      <p:sp>
        <p:nvSpPr>
          <p:cNvPr id="2" name="标题 1"/>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panose="020B0604020202020204"/>
                <a:ea typeface="Arial" panose="020B0604020202020204"/>
                <a:cs typeface="Arial" panose="020B0604020202020204"/>
              </a:defRPr>
            </a:lvl1pPr>
          </a:lstStyle>
          <a:p>
            <a:pPr lvl="0">
              <a:buNone/>
            </a:pPr>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p:pic>
        <p:nvPicPr>
          <p:cNvPr id="13" name="图片 2"/>
          <p:cNvPicPr>
            <a:picLocks noChangeAspect="1"/>
          </p:cNvPicPr>
          <p:nvPr/>
        </p:nvPicPr>
        <p:blipFill>
          <a:blip r:embed="rId2"/>
          <a:srcRect/>
          <a:stretch>
            <a:fillRect/>
          </a:stretch>
        </p:blipFill>
        <p:spPr>
          <a:xfrm>
            <a:off x="10502900" y="466185"/>
            <a:ext cx="1114425" cy="270319"/>
          </a:xfrm>
          <a:prstGeom prst="rect">
            <a:avLst/>
          </a:prstGeom>
        </p:spPr>
      </p:pic>
      <p:pic>
        <p:nvPicPr>
          <p:cNvPr id="14" name="图片 5"/>
          <p:cNvPicPr>
            <a:picLocks noChangeAspect="1"/>
          </p:cNvPicPr>
          <p:nvPr/>
        </p:nvPicPr>
        <p:blipFill>
          <a:blip r:embed="rId3"/>
          <a:stretch>
            <a:fillRect/>
          </a:stretch>
        </p:blipFill>
        <p:spPr>
          <a:xfrm>
            <a:off x="4450501" y="-645610"/>
            <a:ext cx="11947547" cy="8960660"/>
          </a:xfrm>
          <a:prstGeom prst="rect">
            <a:avLst/>
          </a:prstGeom>
        </p:spPr>
      </p:pic>
      <p:sp>
        <p:nvSpPr>
          <p:cNvPr id="7" name="内容占位符 2"/>
          <p:cNvSpPr>
            <a:spLocks noGrp="1"/>
          </p:cNvSpPr>
          <p:nvPr>
            <p:ph idx="1" hasCustomPrompt="1"/>
          </p:nvPr>
        </p:nvSpPr>
        <p:spPr>
          <a:xfrm>
            <a:off x="838200" y="1478782"/>
            <a:ext cx="4931979" cy="4351338"/>
          </a:xfrm>
        </p:spPr>
        <p:txBody>
          <a:bodyPr/>
          <a:lstStyle>
            <a:lvl1pPr marL="228600" indent="-228600">
              <a:lnSpc>
                <a:spcPct val="150000"/>
              </a:lnSpc>
              <a:buSzPct val="150000"/>
              <a:buFontTx/>
              <a:buNone/>
              <a:defRPr sz="2400" b="0" i="0" baseline="0">
                <a:latin typeface="Arial" panose="020B0604020202020204"/>
                <a:ea typeface="Arial" panose="020B0604020202020204"/>
                <a:cs typeface="Arial" panose="020B0604020202020204"/>
              </a:defRPr>
            </a:lvl1pPr>
            <a:lvl2pPr marL="685800" indent="-228600">
              <a:lnSpc>
                <a:spcPct val="150000"/>
              </a:lnSpc>
              <a:buClr>
                <a:srgbClr val="660874"/>
              </a:buClr>
              <a:buSzPct val="80000"/>
              <a:buFont typeface="ZapfDingbatsITC"/>
              <a:buChar char="➤"/>
              <a:defRPr sz="1800" b="0" i="0">
                <a:latin typeface="思源黑体 CN Regular"/>
                <a:ea typeface="思源黑体 CN Regular"/>
                <a:cs typeface="思源黑体 CN Regular"/>
              </a:defRPr>
            </a:lvl2pPr>
            <a:lvl3pPr marL="1143000" indent="-228600">
              <a:lnSpc>
                <a:spcPct val="150000"/>
              </a:lnSpc>
              <a:buClr>
                <a:srgbClr val="660874"/>
              </a:buClr>
              <a:buFont typeface="AppleSymbols"/>
              <a:buChar char="▻"/>
              <a:defRPr sz="1600" b="0" i="0">
                <a:latin typeface="思源黑体 CN Regular"/>
                <a:ea typeface="思源黑体 CN Regular"/>
                <a:cs typeface="思源黑体 CN Regular"/>
              </a:defRPr>
            </a:lvl3pPr>
            <a:lvl4pPr marL="1600200" indent="-228600">
              <a:lnSpc>
                <a:spcPct val="150000"/>
              </a:lnSpc>
              <a:buClr>
                <a:srgbClr val="660874"/>
              </a:buClr>
              <a:buFont typeface="Helvetica"/>
              <a:buChar char="‣"/>
              <a:defRPr sz="1200" b="0" i="0">
                <a:latin typeface="思源黑体 CN Regular"/>
                <a:ea typeface="思源黑体 CN Regular"/>
                <a:cs typeface="思源黑体 CN Regular"/>
              </a:defRPr>
            </a:lvl4pPr>
            <a:lvl5pPr>
              <a:lnSpc>
                <a:spcPct val="150000"/>
              </a:lnSpc>
              <a:buClr>
                <a:srgbClr val="660874"/>
              </a:buClr>
              <a:buNone/>
              <a:defRPr sz="1000" b="0" i="0">
                <a:latin typeface="思源黑体 CN Regular"/>
                <a:ea typeface="思源黑体 CN Regular"/>
                <a:cs typeface="思源黑体 CN Regular"/>
              </a:defRPr>
            </a:lvl5pPr>
          </a:lstStyle>
          <a:p>
            <a:pPr lvl="0">
              <a:buNone/>
            </a:pPr>
            <a:r>
              <a:t>  单击此处编辑母版文本样式</a:t>
            </a:r>
          </a:p>
        </p:txBody>
      </p:sp>
      <p:sp>
        <p:nvSpPr>
          <p:cNvPr id="8" name="直接连接符 7"/>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0" name="标题 1"/>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panose="020B0604020202020204"/>
                <a:ea typeface="Arial" panose="020B0604020202020204"/>
                <a:cs typeface="Arial" panose="020B0604020202020204"/>
              </a:defRPr>
            </a:lvl1pPr>
          </a:lstStyle>
          <a:p>
            <a:pPr lvl="0">
              <a:buNone/>
            </a:p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版式说明">
    <p:spTree>
      <p:nvGrpSpPr>
        <p:cNvPr id="1" name=""/>
        <p:cNvGrpSpPr/>
        <p:nvPr/>
      </p:nvGrpSpPr>
      <p:grpSpPr/>
      <p:pic>
        <p:nvPicPr>
          <p:cNvPr id="15" name="图片 7"/>
          <p:cNvPicPr>
            <a:picLocks noChangeAspect="1"/>
          </p:cNvPicPr>
          <p:nvPr/>
        </p:nvPicPr>
        <p:blipFill>
          <a:blip r:embed="rId2"/>
          <a:srcRect/>
          <a:stretch>
            <a:fillRect/>
          </a:stretch>
        </p:blipFill>
        <p:spPr>
          <a:xfrm>
            <a:off x="10491224" y="488311"/>
            <a:ext cx="1126345" cy="273211"/>
          </a:xfrm>
          <a:prstGeom prst="rect">
            <a:avLst/>
          </a:prstGeom>
        </p:spPr>
      </p:pic>
      <p:sp>
        <p:nvSpPr>
          <p:cNvPr id="4" name="文本框 3"/>
          <p:cNvSpPr>
            <a:spLocks noGrp="1"/>
          </p:cNvSpPr>
          <p:nvPr/>
        </p:nvSpPr>
        <p:spPr>
          <a:xfrm>
            <a:off x="334257" y="1030778"/>
            <a:ext cx="11378376" cy="5301229"/>
          </a:xfrm>
          <a:prstGeom prst="rect">
            <a:avLst/>
          </a:prstGeom>
        </p:spPr>
        <p:txBody>
          <a:bodyPr vert="horz" wrap="square" lIns="91440" tIns="45720" rIns="91440" bIns="45720" anchor="ctr">
            <a:normAutofit/>
          </a:bodyPr>
          <a:lstStyle/>
          <a:p/>
        </p:txBody>
      </p:sp>
      <p:sp>
        <p:nvSpPr>
          <p:cNvPr id="6" name="文本框 5"/>
          <p:cNvSpPr>
            <a:spLocks noGrp="1"/>
          </p:cNvSpPr>
          <p:nvPr/>
        </p:nvSpPr>
        <p:spPr>
          <a:xfrm>
            <a:off x="479367" y="115209"/>
            <a:ext cx="9894917" cy="571061"/>
          </a:xfrm>
          <a:prstGeom prst="rect">
            <a:avLst/>
          </a:prstGeom>
        </p:spPr>
        <p:txBody>
          <a:bodyPr vert="horz" wrap="square" lIns="91440" tIns="45720" rIns="91440" bIns="45720" anchor="ctr">
            <a:normAutofit/>
          </a:bodyPr>
          <a:lstStyle/>
          <a:p/>
        </p:txBody>
      </p:sp>
      <p:sp>
        <p:nvSpPr>
          <p:cNvPr id="10" name="直接连接符 9"/>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3" name="矩形 12"/>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1" name="文本框 10"/>
          <p:cNvSpPr>
            <a:spLocks noGrp="1"/>
          </p:cNvSpPr>
          <p:nvPr/>
        </p:nvSpPr>
        <p:spPr>
          <a:xfrm>
            <a:off x="297277" y="45898"/>
            <a:ext cx="7732626" cy="746234"/>
          </a:xfrm>
          <a:prstGeom prst="rect">
            <a:avLst/>
          </a:prstGeom>
        </p:spPr>
        <p:txBody>
          <a:bodyPr vert="horz" wrap="square" lIns="91440" tIns="45720" rIns="91440" bIns="45720" anchor="ctr">
            <a:noAutofit/>
          </a:bodyPr>
          <a:lstStyle/>
          <a:p>
            <a:r>
              <a:rPr sz="3200" b="1" i="0">
                <a:solidFill>
                  <a:schemeClr val="tx1"/>
                </a:solidFill>
                <a:latin typeface="Arial" panose="020B0604020202020204"/>
                <a:ea typeface="Arial" panose="020B0604020202020204"/>
                <a:cs typeface="Arial" panose="020B0604020202020204"/>
              </a:rPr>
              <a:t>DISCLAIMER &amp; ATTRIBUTION</a:t>
            </a:r>
            <a:endParaRPr sz="3200" b="1" i="0" baseline="0">
              <a:solidFill>
                <a:schemeClr val="tx1"/>
              </a:solidFill>
              <a:latin typeface="Arial" panose="020B0604020202020204"/>
              <a:ea typeface="Arial" panose="020B0604020202020204"/>
              <a:cs typeface="Arial" panose="020B0604020202020204"/>
            </a:endParaRPr>
          </a:p>
        </p:txBody>
      </p:sp>
      <p:sp>
        <p:nvSpPr>
          <p:cNvPr id="2" name="文本框 1"/>
          <p:cNvSpPr>
            <a:spLocks noGrp="1"/>
          </p:cNvSpPr>
          <p:nvPr/>
        </p:nvSpPr>
        <p:spPr>
          <a:xfrm>
            <a:off x="386807" y="1183967"/>
            <a:ext cx="11507916" cy="4994850"/>
          </a:xfrm>
          <a:prstGeom prst="rect">
            <a:avLst/>
          </a:prstGeom>
        </p:spPr>
        <p:txBody>
          <a:bodyPr vert="horz" wrap="square" lIns="91440" tIns="45720" rIns="91440" bIns="45720" anchor="ctr">
            <a:normAutofit/>
          </a:bodyPr>
          <a:lstStyle/>
          <a:p>
            <a:r>
              <a:rPr sz="1600" b="0" i="0">
                <a:solidFill>
                  <a:srgbClr val="000000"/>
                </a:solidFill>
                <a:latin typeface="+mn-lt"/>
                <a:ea typeface="+mn-lt"/>
                <a:cs typeface="+mn-lt"/>
              </a:rPr>
              <a:t>This presentation may contain privileged and confidential information and is intended only for </a:t>
            </a:r>
            <a:r>
              <a:rPr sz="1600" b="0" i="0">
                <a:solidFill>
                  <a:srgbClr val="000000"/>
                </a:solidFill>
                <a:latin typeface="+mn-lt"/>
                <a:ea typeface="+mn-lt"/>
                <a:cs typeface="+mn-lt"/>
              </a:rPr>
              <a:t>MetaX</a:t>
            </a:r>
            <a:r>
              <a:rPr sz="1600" b="0" i="0">
                <a:solidFill>
                  <a:srgbClr val="000000"/>
                </a:solidFill>
                <a:latin typeface="+mn-lt"/>
                <a:ea typeface="+mn-lt"/>
                <a:cs typeface="+mn-lt"/>
              </a:rPr>
              <a:t> Integrated Circuits (Shanghai) Co., Ltd. and/or its affiliates (hereinafter collectively referred to as “</a:t>
            </a:r>
            <a:r>
              <a:rPr sz="1600" b="0" i="0">
                <a:solidFill>
                  <a:srgbClr val="000000"/>
                </a:solidFill>
                <a:latin typeface="+mn-lt"/>
                <a:ea typeface="+mn-lt"/>
                <a:cs typeface="+mn-lt"/>
              </a:rPr>
              <a:t>MetaX</a:t>
            </a:r>
            <a:r>
              <a:rPr sz="1600" b="0" i="0">
                <a:solidFill>
                  <a:srgbClr val="000000"/>
                </a:solidFill>
                <a:latin typeface="+mn-lt"/>
                <a:ea typeface="+mn-lt"/>
                <a:cs typeface="+mn-lt"/>
              </a:rPr>
              <a:t>”).  The information presented in this presentation should be kept strictly confidential and should not be allowed to make available to others without written consent from </a:t>
            </a:r>
            <a:r>
              <a:rPr sz="1600" b="0" i="0">
                <a:solidFill>
                  <a:srgbClr val="000000"/>
                </a:solidFill>
                <a:latin typeface="+mn-lt"/>
                <a:ea typeface="+mn-lt"/>
                <a:cs typeface="+mn-lt"/>
              </a:rPr>
              <a:t>MetaX</a:t>
            </a:r>
            <a:r>
              <a:rPr sz="1600" b="0" i="0">
                <a:solidFill>
                  <a:srgbClr val="000000"/>
                </a:solidFill>
                <a:latin typeface="+mn-lt"/>
                <a:ea typeface="+mn-lt"/>
                <a:cs typeface="+mn-lt"/>
              </a:rPr>
              <a:t>.</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The information presented in this presentation is for informational purposes only and may contain technical inaccuracies, omissions and typographical errors.  </a:t>
            </a:r>
            <a:r>
              <a:rPr sz="1600" b="0" i="0">
                <a:solidFill>
                  <a:srgbClr val="000000"/>
                </a:solidFill>
                <a:latin typeface="+mn-lt"/>
                <a:ea typeface="+mn-lt"/>
                <a:cs typeface="+mn-lt"/>
              </a:rPr>
              <a:t>MetaX</a:t>
            </a:r>
            <a:r>
              <a:rPr sz="1600" b="0" i="0">
                <a:solidFill>
                  <a:srgbClr val="000000"/>
                </a:solidFill>
                <a:latin typeface="+mn-lt"/>
                <a:ea typeface="+mn-lt"/>
                <a:cs typeface="+mn-lt"/>
              </a:rPr>
              <a:t> makes no representation or warranty of any kind, express or implied, regarding the reliability, availability or completeness of any information on the Slides. </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MetaX</a:t>
            </a:r>
            <a:r>
              <a:rPr sz="1600" b="0" i="0">
                <a:solidFill>
                  <a:srgbClr val="000000"/>
                </a:solidFill>
                <a:latin typeface="+mn-lt"/>
                <a:ea typeface="+mn-lt"/>
                <a:cs typeface="+mn-lt"/>
              </a:rPr>
              <a:t> is the owner of the presentation and all portions thereof.  Except as expressly provided, you are prohibited from copying, modifying, distributing, displaying or transmitting any of the contents of the Slides for any purposes. </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MetaX</a:t>
            </a:r>
            <a:r>
              <a:rPr sz="1600" b="0" i="0">
                <a:solidFill>
                  <a:srgbClr val="000000"/>
                </a:solidFill>
                <a:latin typeface="+mn-lt"/>
                <a:ea typeface="+mn-lt"/>
                <a:cs typeface="+mn-lt"/>
              </a:rPr>
              <a:t>, </a:t>
            </a:r>
            <a:r>
              <a:rPr sz="1600" b="0" i="0">
                <a:solidFill>
                  <a:srgbClr val="000000"/>
                </a:solidFill>
                <a:latin typeface="+mn-ea"/>
                <a:ea typeface="+mn-ea"/>
                <a:cs typeface="+mn-ea"/>
              </a:rPr>
              <a:t>沐曦</a:t>
            </a:r>
            <a:r>
              <a:rPr sz="1600" b="0" i="0">
                <a:solidFill>
                  <a:srgbClr val="000000"/>
                </a:solidFill>
                <a:latin typeface="+mn-ea"/>
                <a:ea typeface="+mn-ea"/>
                <a:cs typeface="+mn-ea"/>
              </a:rPr>
              <a:t>,</a:t>
            </a:r>
            <a:r>
              <a:rPr sz="1600" b="0" i="0">
                <a:solidFill>
                  <a:srgbClr val="000000"/>
                </a:solidFill>
                <a:latin typeface="+mn-lt"/>
                <a:ea typeface="+mn-lt"/>
                <a:cs typeface="+mn-lt"/>
              </a:rPr>
              <a:t> the </a:t>
            </a:r>
            <a:r>
              <a:rPr sz="1600" b="0" i="0">
                <a:solidFill>
                  <a:srgbClr val="000000"/>
                </a:solidFill>
                <a:latin typeface="+mn-lt"/>
                <a:ea typeface="+mn-lt"/>
                <a:cs typeface="+mn-lt"/>
              </a:rPr>
              <a:t>MetaX</a:t>
            </a:r>
            <a:r>
              <a:rPr sz="1600" b="0" i="0">
                <a:solidFill>
                  <a:srgbClr val="000000"/>
                </a:solidFill>
                <a:latin typeface="+mn-lt"/>
                <a:ea typeface="+mn-lt"/>
                <a:cs typeface="+mn-lt"/>
              </a:rPr>
              <a:t> logo and combinations thereof are trademarks of </a:t>
            </a:r>
            <a:r>
              <a:rPr sz="1600" b="0" i="0">
                <a:solidFill>
                  <a:srgbClr val="000000"/>
                </a:solidFill>
                <a:latin typeface="+mn-lt"/>
                <a:ea typeface="+mn-lt"/>
                <a:cs typeface="+mn-lt"/>
              </a:rPr>
              <a:t>MetaX</a:t>
            </a:r>
            <a:r>
              <a:rPr sz="1600" b="0" i="0">
                <a:solidFill>
                  <a:srgbClr val="000000"/>
                </a:solidFill>
                <a:latin typeface="+mn-lt"/>
                <a:ea typeface="+mn-lt"/>
                <a:cs typeface="+mn-lt"/>
              </a:rPr>
              <a:t>. Other product and company names used in this presentation are for identification purposes only and may be trademarks or trade names of their respective owners.</a:t>
            </a:r>
            <a:endParaRPr sz="1600" b="0" i="0">
              <a:solidFill>
                <a:srgbClr val="000000"/>
              </a:solidFill>
              <a:latin typeface="+mn-lt"/>
              <a:ea typeface="+mn-lt"/>
              <a:cs typeface="+mn-lt"/>
            </a:endParaRPr>
          </a:p>
          <a:p>
            <a:endParaRPr sz="1600" b="0" i="0">
              <a:solidFill>
                <a:srgbClr val="000000"/>
              </a:solidFill>
              <a:latin typeface="+mn-lt"/>
              <a:ea typeface="+mn-lt"/>
              <a:cs typeface="+mn-lt"/>
            </a:endParaRPr>
          </a:p>
          <a:p>
            <a:r>
              <a:rPr sz="1600" b="0" i="0">
                <a:solidFill>
                  <a:srgbClr val="000000"/>
                </a:solidFill>
                <a:latin typeface="+mn-lt"/>
                <a:ea typeface="+mn-lt"/>
                <a:cs typeface="+mn-lt"/>
              </a:rPr>
              <a:t> http://www.metax-tech.com/</a:t>
            </a:r>
            <a:endParaRPr sz="1600" b="0" i="0">
              <a:solidFill>
                <a:srgbClr val="000000"/>
              </a:solidFill>
              <a:latin typeface="+mn-lt"/>
              <a:ea typeface="+mn-lt"/>
              <a:cs typeface="+mn-lt"/>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a:xfrm>
            <a:off x="838200" y="6356350"/>
            <a:ext cx="2743200" cy="365125"/>
          </a:xfrm>
        </p:spPr>
        <p:txBody>
          <a:bodyPr/>
          <a:lstStyle/>
          <a:p/>
        </p:txBody>
      </p:sp>
      <p:sp>
        <p:nvSpPr>
          <p:cNvPr id="3" name="页脚占位符 2"/>
          <p:cNvSpPr>
            <a:spLocks noGrp="1"/>
          </p:cNvSpPr>
          <p:nvPr>
            <p:ph type="ftr" idx="11"/>
          </p:nvPr>
        </p:nvSpPr>
        <p:spPr>
          <a:xfrm>
            <a:off x="4038600" y="6356350"/>
            <a:ext cx="4114800" cy="365125"/>
          </a:xfrm>
        </p:spPr>
        <p:txBody>
          <a:bodyPr/>
          <a:lstStyle/>
          <a:p/>
        </p:txBody>
      </p:sp>
      <p:sp>
        <p:nvSpPr>
          <p:cNvPr id="4" name="灯片编号占位符 3"/>
          <p:cNvSpPr>
            <a:spLocks noGrp="1"/>
          </p:cNvSpPr>
          <p:nvPr>
            <p:ph type="sldNum" idx="12"/>
          </p:nvPr>
        </p:nvSpPr>
        <p:spPr>
          <a:xfrm>
            <a:off x="8610600" y="6356350"/>
            <a:ext cx="2743200" cy="365125"/>
          </a:xfrm>
        </p:spPr>
        <p:txBody>
          <a:body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image" Target="../media/image6.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image" Target="../media/image5.png"/><Relationship Id="rId1"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3.xml"/><Relationship Id="rId11" Type="http://schemas.openxmlformats.org/officeDocument/2006/relationships/image" Target="../media/image6.png"/><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0.xml"/><Relationship Id="rId8" Type="http://schemas.openxmlformats.org/officeDocument/2006/relationships/slideLayout" Target="../slideLayouts/slideLayout29.xml"/><Relationship Id="rId7" Type="http://schemas.openxmlformats.org/officeDocument/2006/relationships/slideLayout" Target="../slideLayouts/slideLayout28.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2" Type="http://schemas.openxmlformats.org/officeDocument/2006/relationships/theme" Target="../theme/theme4.xml"/><Relationship Id="rId11" Type="http://schemas.openxmlformats.org/officeDocument/2006/relationships/image" Target="../media/image6.png"/><Relationship Id="rId10" Type="http://schemas.openxmlformats.org/officeDocument/2006/relationships/slideLayout" Target="../slideLayouts/slideLayout31.xml"/><Relationship Id="rId1"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40.xml"/><Relationship Id="rId8" Type="http://schemas.openxmlformats.org/officeDocument/2006/relationships/slideLayout" Target="../slideLayouts/slideLayout39.xml"/><Relationship Id="rId7" Type="http://schemas.openxmlformats.org/officeDocument/2006/relationships/slideLayout" Target="../slideLayouts/slideLayout38.xml"/><Relationship Id="rId6" Type="http://schemas.openxmlformats.org/officeDocument/2006/relationships/slideLayout" Target="../slideLayouts/slideLayout37.xml"/><Relationship Id="rId5" Type="http://schemas.openxmlformats.org/officeDocument/2006/relationships/slideLayout" Target="../slideLayouts/slideLayout36.xml"/><Relationship Id="rId4" Type="http://schemas.openxmlformats.org/officeDocument/2006/relationships/slideLayout" Target="../slideLayouts/slideLayout35.xml"/><Relationship Id="rId3" Type="http://schemas.openxmlformats.org/officeDocument/2006/relationships/slideLayout" Target="../slideLayouts/slideLayout34.xml"/><Relationship Id="rId2" Type="http://schemas.openxmlformats.org/officeDocument/2006/relationships/slideLayout" Target="../slideLayouts/slideLayout33.xml"/><Relationship Id="rId12" Type="http://schemas.openxmlformats.org/officeDocument/2006/relationships/theme" Target="../theme/theme5.xml"/><Relationship Id="rId11" Type="http://schemas.openxmlformats.org/officeDocument/2006/relationships/image" Target="../media/image6.png"/><Relationship Id="rId10" Type="http://schemas.openxmlformats.org/officeDocument/2006/relationships/slideLayout" Target="../slideLayouts/slideLayout41.xml"/><Relationship Id="rId1" Type="http://schemas.openxmlformats.org/officeDocument/2006/relationships/slideLayout" Target="../slideLayouts/slideLayout32.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50.xml"/><Relationship Id="rId8" Type="http://schemas.openxmlformats.org/officeDocument/2006/relationships/slideLayout" Target="../slideLayouts/slideLayout49.xml"/><Relationship Id="rId7" Type="http://schemas.openxmlformats.org/officeDocument/2006/relationships/slideLayout" Target="../slideLayouts/slideLayout48.xml"/><Relationship Id="rId6" Type="http://schemas.openxmlformats.org/officeDocument/2006/relationships/slideLayout" Target="../slideLayouts/slideLayout47.xml"/><Relationship Id="rId5" Type="http://schemas.openxmlformats.org/officeDocument/2006/relationships/slideLayout" Target="../slideLayouts/slideLayout46.xml"/><Relationship Id="rId4" Type="http://schemas.openxmlformats.org/officeDocument/2006/relationships/slideLayout" Target="../slideLayouts/slideLayout45.xml"/><Relationship Id="rId3" Type="http://schemas.openxmlformats.org/officeDocument/2006/relationships/slideLayout" Target="../slideLayouts/slideLayout44.xml"/><Relationship Id="rId2" Type="http://schemas.openxmlformats.org/officeDocument/2006/relationships/slideLayout" Target="../slideLayouts/slideLayout43.xml"/><Relationship Id="rId12" Type="http://schemas.openxmlformats.org/officeDocument/2006/relationships/theme" Target="../theme/theme6.xml"/><Relationship Id="rId11" Type="http://schemas.openxmlformats.org/officeDocument/2006/relationships/image" Target="../media/image6.png"/><Relationship Id="rId10" Type="http://schemas.openxmlformats.org/officeDocument/2006/relationships/slideLayout" Target="../slideLayouts/slideLayout51.xml"/><Relationship Id="rId1" Type="http://schemas.openxmlformats.org/officeDocument/2006/relationships/slideLayout" Target="../slideLayouts/slideLayout42.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60.xml"/><Relationship Id="rId8" Type="http://schemas.openxmlformats.org/officeDocument/2006/relationships/slideLayout" Target="../slideLayouts/slideLayout59.xml"/><Relationship Id="rId7" Type="http://schemas.openxmlformats.org/officeDocument/2006/relationships/slideLayout" Target="../slideLayouts/slideLayout58.xml"/><Relationship Id="rId6" Type="http://schemas.openxmlformats.org/officeDocument/2006/relationships/slideLayout" Target="../slideLayouts/slideLayout57.xml"/><Relationship Id="rId5" Type="http://schemas.openxmlformats.org/officeDocument/2006/relationships/slideLayout" Target="../slideLayouts/slideLayout56.xml"/><Relationship Id="rId4" Type="http://schemas.openxmlformats.org/officeDocument/2006/relationships/slideLayout" Target="../slideLayouts/slideLayout55.xml"/><Relationship Id="rId3" Type="http://schemas.openxmlformats.org/officeDocument/2006/relationships/slideLayout" Target="../slideLayouts/slideLayout54.xml"/><Relationship Id="rId2" Type="http://schemas.openxmlformats.org/officeDocument/2006/relationships/slideLayout" Target="../slideLayouts/slideLayout53.xml"/><Relationship Id="rId12" Type="http://schemas.openxmlformats.org/officeDocument/2006/relationships/theme" Target="../theme/theme7.xml"/><Relationship Id="rId11" Type="http://schemas.openxmlformats.org/officeDocument/2006/relationships/image" Target="../media/image6.png"/><Relationship Id="rId10" Type="http://schemas.openxmlformats.org/officeDocument/2006/relationships/slideLayout" Target="../slideLayouts/slideLayout61.xml"/><Relationship Id="rId1"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a:noFill/>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14" name="文本框 13"/>
          <p:cNvSpPr>
            <a:spLocks noGrp="1"/>
          </p:cNvSpPr>
          <p:nvPr/>
        </p:nvSpPr>
        <p:spPr>
          <a:xfrm>
            <a:off x="10715725" y="6538912"/>
            <a:ext cx="1276149" cy="246221"/>
          </a:xfrm>
          <a:prstGeom prst="rect">
            <a:avLst/>
          </a:prstGeom>
          <a:noFill/>
        </p:spPr>
        <p:txBody>
          <a:bodyPr wrap="square">
            <a:spAutoFit/>
          </a:bodyPr>
          <a:lstStyle/>
          <a:p>
            <a:pPr algn="r">
              <a:buNone/>
            </a:pPr>
            <a:endParaRPr sz="1000" b="0" i="0" baseline="0">
              <a:solidFill>
                <a:srgbClr val="898989"/>
              </a:solidFill>
              <a:latin typeface="Arial" panose="020B0604020202020204"/>
              <a:ea typeface="Arial" panose="020B0604020202020204"/>
              <a:cs typeface="Arial" panose="020B0604020202020204"/>
            </a:endParaRPr>
          </a:p>
        </p:txBody>
      </p:sp>
      <p:sp>
        <p:nvSpPr>
          <p:cNvPr id="15" name="文本框 14"/>
          <p:cNvSpPr>
            <a:spLocks noGrp="1"/>
          </p:cNvSpPr>
          <p:nvPr/>
        </p:nvSpPr>
        <p:spPr>
          <a:xfrm>
            <a:off x="119427" y="6530079"/>
            <a:ext cx="4075584" cy="230832"/>
          </a:xfrm>
          <a:prstGeom prst="rect">
            <a:avLst/>
          </a:prstGeom>
          <a:noFill/>
        </p:spPr>
        <p:txBody>
          <a:bodyPr wrap="square">
            <a:spAutoFit/>
          </a:bodyPr>
          <a:lstStyle/>
          <a:p>
            <a:r>
              <a:rPr sz="900" b="0" i="0">
                <a:solidFill>
                  <a:srgbClr val="898989"/>
                </a:solidFill>
                <a:latin typeface="Arial" panose="020B0604020202020204"/>
                <a:ea typeface="Arial" panose="020B0604020202020204"/>
                <a:cs typeface="Arial" panose="020B0604020202020204"/>
              </a:rPr>
              <a:t>| </a:t>
            </a:r>
            <a:r>
              <a:rPr sz="900" b="0" i="0">
                <a:solidFill>
                  <a:srgbClr val="898989"/>
                </a:solidFill>
                <a:latin typeface="Arial" panose="020B0604020202020204"/>
                <a:ea typeface="Arial" panose="020B0604020202020204"/>
                <a:cs typeface="Arial" panose="020B0604020202020204"/>
              </a:rPr>
              <a:t>沐曦内部资料 </a:t>
            </a:r>
            <a:r>
              <a:rPr sz="900" b="0" i="0">
                <a:solidFill>
                  <a:srgbClr val="898989"/>
                </a:solidFill>
                <a:latin typeface="Arial" panose="020B0604020202020204"/>
                <a:ea typeface="Arial" panose="020B0604020202020204"/>
                <a:cs typeface="Arial" panose="020B0604020202020204"/>
              </a:rPr>
              <a:t>| MetaX Confidential | All Rights Reserved | </a:t>
            </a:r>
            <a:endParaRPr sz="900" b="0" i="0" baseline="0">
              <a:solidFill>
                <a:srgbClr val="898989"/>
              </a:solidFill>
              <a:latin typeface="Arial" panose="020B0604020202020204"/>
              <a:ea typeface="Arial" panose="020B0604020202020204"/>
              <a:cs typeface="Arial" panose="020B0604020202020204"/>
            </a:endParaRPr>
          </a:p>
        </p:txBody>
      </p:sp>
      <p:sp>
        <p:nvSpPr>
          <p:cNvPr id="18" name="矩形 17"/>
          <p:cNvSpPr>
            <a:spLocks noGrp="1"/>
          </p:cNvSpPr>
          <p:nvPr/>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00" b="0"/>
          </a:p>
        </p:txBody>
      </p:sp>
      <p:sp>
        <p:nvSpPr>
          <p:cNvPr id="19" name="矩形 18"/>
          <p:cNvSpPr>
            <a:spLocks noGrp="1"/>
          </p:cNvSpPr>
          <p:nvPr/>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168</a:t>
            </a:r>
            <a:endParaRPr sz="1000" b="0">
              <a:solidFill>
                <a:schemeClr val="bg1"/>
              </a:solidFill>
            </a:endParaRPr>
          </a:p>
          <a:p>
            <a:pPr algn="ctr">
              <a:buNone/>
            </a:pPr>
            <a:r>
              <a:rPr sz="1000" b="0">
                <a:solidFill>
                  <a:schemeClr val="bg1"/>
                </a:solidFill>
              </a:rPr>
              <a:t>148</a:t>
            </a:r>
            <a:endParaRPr sz="1000" b="0">
              <a:solidFill>
                <a:schemeClr val="bg1"/>
              </a:solidFill>
            </a:endParaRPr>
          </a:p>
          <a:p>
            <a:pPr algn="ctr">
              <a:buNone/>
            </a:pPr>
            <a:r>
              <a:rPr sz="1000" b="0">
                <a:solidFill>
                  <a:schemeClr val="bg1"/>
                </a:solidFill>
              </a:rPr>
              <a:t>177</a:t>
            </a:r>
            <a:endParaRPr sz="1000" b="0">
              <a:solidFill>
                <a:schemeClr val="bg1"/>
              </a:solidFill>
            </a:endParaRPr>
          </a:p>
          <a:p>
            <a:pPr marL="0" marR="0" indent="0" algn="ctr" defTabSz="914400">
              <a:lnSpc>
                <a:spcPct val="100000"/>
              </a:lnSpc>
              <a:spcBef>
                <a:spcPts val="0"/>
              </a:spcBef>
              <a:spcAft>
                <a:spcPts val="0"/>
              </a:spcAft>
              <a:buClrTx/>
              <a:buSzTx/>
              <a:buFontTx/>
              <a:buNone/>
            </a:pPr>
            <a:r>
              <a:rPr sz="1000" b="0"/>
              <a:t>#A894B1</a:t>
            </a:r>
            <a:endParaRPr sz="1000" b="0"/>
          </a:p>
        </p:txBody>
      </p:sp>
      <p:sp>
        <p:nvSpPr>
          <p:cNvPr id="20" name="矩形 19"/>
          <p:cNvSpPr>
            <a:spLocks noGrp="1"/>
          </p:cNvSpPr>
          <p:nvPr/>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t>102</a:t>
            </a:r>
            <a:endParaRPr sz="1000" b="0"/>
          </a:p>
          <a:p>
            <a:pPr algn="ctr">
              <a:buNone/>
            </a:pPr>
            <a:r>
              <a:rPr sz="1000" b="0"/>
              <a:t>8</a:t>
            </a:r>
            <a:endParaRPr sz="1000" b="0"/>
          </a:p>
          <a:p>
            <a:pPr algn="ctr">
              <a:buNone/>
            </a:pPr>
            <a:r>
              <a:rPr sz="1000" b="0"/>
              <a:t>116</a:t>
            </a:r>
            <a:endParaRPr sz="1000" b="0"/>
          </a:p>
          <a:p>
            <a:pPr algn="ctr">
              <a:buNone/>
            </a:pPr>
            <a:r>
              <a:rPr sz="1000" b="0"/>
              <a:t>#660874</a:t>
            </a:r>
            <a:endParaRPr sz="1000" b="0"/>
          </a:p>
        </p:txBody>
      </p:sp>
      <p:sp>
        <p:nvSpPr>
          <p:cNvPr id="21" name="矩形 20"/>
          <p:cNvSpPr>
            <a:spLocks noGrp="1"/>
          </p:cNvSpPr>
          <p:nvPr/>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30</a:t>
            </a:r>
            <a:endParaRPr sz="1000" b="0">
              <a:solidFill>
                <a:schemeClr val="bg1"/>
              </a:solidFill>
            </a:endParaRPr>
          </a:p>
          <a:p>
            <a:pPr algn="ctr">
              <a:buNone/>
            </a:pPr>
            <a:r>
              <a:rPr sz="1000" b="0">
                <a:solidFill>
                  <a:schemeClr val="bg1"/>
                </a:solidFill>
              </a:rPr>
              <a:t>142</a:t>
            </a:r>
            <a:endParaRPr sz="1000" b="0">
              <a:solidFill>
                <a:schemeClr val="bg1"/>
              </a:solidFill>
            </a:endParaRPr>
          </a:p>
          <a:p>
            <a:pPr algn="ctr">
              <a:buNone/>
            </a:pPr>
            <a:r>
              <a:rPr sz="1000" b="0">
                <a:solidFill>
                  <a:schemeClr val="bg1"/>
                </a:solidFill>
              </a:rPr>
              <a:t>148</a:t>
            </a:r>
            <a:endParaRPr sz="1000" b="0">
              <a:solidFill>
                <a:schemeClr val="bg1"/>
              </a:solidFill>
            </a:endParaRPr>
          </a:p>
          <a:p>
            <a:pPr algn="ctr">
              <a:buNone/>
            </a:pPr>
            <a:r>
              <a:rPr sz="1000" b="0">
                <a:solidFill>
                  <a:schemeClr val="bg1"/>
                </a:solidFill>
              </a:rPr>
              <a:t>#1E8E94</a:t>
            </a:r>
            <a:endParaRPr sz="1000" b="0">
              <a:solidFill>
                <a:schemeClr val="bg1"/>
              </a:solidFill>
            </a:endParaRPr>
          </a:p>
        </p:txBody>
      </p:sp>
      <p:sp>
        <p:nvSpPr>
          <p:cNvPr id="22" name="矩形 21"/>
          <p:cNvSpPr>
            <a:spLocks noGrp="1"/>
          </p:cNvSpPr>
          <p:nvPr/>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tx1"/>
                </a:solidFill>
              </a:rPr>
              <a:t>229</a:t>
            </a:r>
            <a:endParaRPr sz="1000" b="0">
              <a:solidFill>
                <a:schemeClr val="tx1"/>
              </a:solidFill>
            </a:endParaRPr>
          </a:p>
          <a:p>
            <a:pPr algn="ctr">
              <a:buNone/>
            </a:pPr>
            <a:r>
              <a:rPr sz="1000" b="0">
                <a:solidFill>
                  <a:schemeClr val="tx1"/>
                </a:solidFill>
              </a:rPr>
              <a:t>230</a:t>
            </a:r>
            <a:endParaRPr sz="1000" b="0">
              <a:solidFill>
                <a:schemeClr val="tx1"/>
              </a:solidFill>
            </a:endParaRPr>
          </a:p>
          <a:p>
            <a:pPr algn="ctr">
              <a:buNone/>
            </a:pPr>
            <a:r>
              <a:rPr sz="1000" b="0">
                <a:solidFill>
                  <a:schemeClr val="tx1"/>
                </a:solidFill>
              </a:rPr>
              <a:t>233</a:t>
            </a:r>
            <a:endParaRPr sz="1000" b="0">
              <a:solidFill>
                <a:schemeClr val="tx1"/>
              </a:solidFill>
            </a:endParaRPr>
          </a:p>
          <a:p>
            <a:pPr algn="ctr">
              <a:buNone/>
            </a:pPr>
            <a:r>
              <a:rPr sz="1000" b="0">
                <a:solidFill>
                  <a:schemeClr val="tx1"/>
                </a:solidFill>
              </a:rPr>
              <a:t>#E5E6E9</a:t>
            </a:r>
            <a:endParaRPr sz="1000" b="0">
              <a:solidFill>
                <a:schemeClr val="tx1"/>
              </a:solidFill>
            </a:endParaRPr>
          </a:p>
        </p:txBody>
      </p:sp>
      <p:sp>
        <p:nvSpPr>
          <p:cNvPr id="23" name="矩形 22"/>
          <p:cNvSpPr>
            <a:spLocks noGrp="1"/>
          </p:cNvSpPr>
          <p:nvPr/>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72</a:t>
            </a:r>
            <a:endParaRPr sz="1000" b="0">
              <a:solidFill>
                <a:schemeClr val="bg1"/>
              </a:solidFill>
            </a:endParaRPr>
          </a:p>
          <a:p>
            <a:pPr algn="ctr">
              <a:buNone/>
            </a:pPr>
            <a:r>
              <a:rPr sz="1000" b="0">
                <a:solidFill>
                  <a:schemeClr val="bg1"/>
                </a:solidFill>
              </a:rPr>
              <a:t>187</a:t>
            </a:r>
            <a:endParaRPr sz="1000" b="0">
              <a:solidFill>
                <a:schemeClr val="bg1"/>
              </a:solidFill>
            </a:endParaRPr>
          </a:p>
          <a:p>
            <a:pPr algn="ctr">
              <a:buNone/>
            </a:pPr>
            <a:r>
              <a:rPr sz="1000" b="0">
                <a:solidFill>
                  <a:schemeClr val="bg1"/>
                </a:solidFill>
              </a:rPr>
              <a:t>0</a:t>
            </a:r>
            <a:endParaRPr sz="1000" b="0">
              <a:solidFill>
                <a:schemeClr val="bg1"/>
              </a:solidFill>
            </a:endParaRPr>
          </a:p>
          <a:p>
            <a:pPr algn="ctr">
              <a:buNone/>
            </a:pPr>
            <a:r>
              <a:rPr sz="1000" b="0">
                <a:solidFill>
                  <a:schemeClr val="bg1"/>
                </a:solidFill>
              </a:rPr>
              <a:t>#48BB00</a:t>
            </a:r>
            <a:endParaRPr sz="1000" b="0">
              <a:solidFill>
                <a:schemeClr val="bg1"/>
              </a:solidFill>
            </a:endParaRPr>
          </a:p>
        </p:txBody>
      </p:sp>
      <p:sp>
        <p:nvSpPr>
          <p:cNvPr id="24" name="矩形 23"/>
          <p:cNvSpPr>
            <a:spLocks noGrp="1"/>
          </p:cNvSpPr>
          <p:nvPr/>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164</a:t>
            </a:r>
            <a:endParaRPr sz="1000" b="0">
              <a:solidFill>
                <a:schemeClr val="bg1"/>
              </a:solidFill>
            </a:endParaRPr>
          </a:p>
          <a:p>
            <a:pPr algn="ctr">
              <a:buNone/>
            </a:pPr>
            <a:r>
              <a:rPr sz="1000" b="0">
                <a:solidFill>
                  <a:schemeClr val="bg1"/>
                </a:solidFill>
              </a:rPr>
              <a:t>212</a:t>
            </a:r>
            <a:endParaRPr sz="1000" b="0">
              <a:solidFill>
                <a:schemeClr val="bg1"/>
              </a:solidFill>
            </a:endParaRPr>
          </a:p>
          <a:p>
            <a:pPr algn="ctr">
              <a:buNone/>
            </a:pPr>
            <a:r>
              <a:rPr sz="1000" b="0">
                <a:solidFill>
                  <a:schemeClr val="bg1"/>
                </a:solidFill>
              </a:rPr>
              <a:t>135</a:t>
            </a:r>
            <a:endParaRPr sz="1000" b="0">
              <a:solidFill>
                <a:schemeClr val="bg1"/>
              </a:solidFill>
            </a:endParaRPr>
          </a:p>
          <a:p>
            <a:pPr algn="ctr">
              <a:buNone/>
            </a:pPr>
            <a:r>
              <a:rPr sz="1000" b="0">
                <a:solidFill>
                  <a:schemeClr val="bg1"/>
                </a:solidFill>
              </a:rPr>
              <a:t>#</a:t>
            </a:r>
            <a:r>
              <a:rPr sz="1000" b="0">
                <a:solidFill>
                  <a:schemeClr val="bg1"/>
                </a:solidFill>
              </a:rPr>
              <a:t>A4D487</a:t>
            </a:r>
            <a:endParaRPr sz="1000" b="0">
              <a:solidFill>
                <a:schemeClr val="bg1"/>
              </a:solidFill>
            </a:endParaRPr>
          </a:p>
        </p:txBody>
      </p:sp>
      <p:pic>
        <p:nvPicPr>
          <p:cNvPr id="37" name="图片 24"/>
          <p:cNvPicPr>
            <a:picLocks noChangeAspect="1"/>
          </p:cNvPicPr>
          <p:nvPr/>
        </p:nvPicPr>
        <p:blipFill>
          <a:blip r:embed="rId11"/>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9" name="文本框 8"/>
          <p:cNvSpPr>
            <a:spLocks noGrp="1"/>
          </p:cNvSpPr>
          <p:nvPr/>
        </p:nvSpPr>
        <p:spPr>
          <a:xfrm>
            <a:off x="10715725" y="6538912"/>
            <a:ext cx="1276149" cy="246221"/>
          </a:xfrm>
          <a:prstGeom prst="rect">
            <a:avLst/>
          </a:prstGeom>
          <a:noFill/>
        </p:spPr>
        <p:txBody>
          <a:bodyPr wrap="square">
            <a:spAutoFit/>
          </a:bodyPr>
          <a:lstStyle/>
          <a:p>
            <a:pPr marL="0" marR="0" lvl="0" indent="0" algn="r" defTabSz="914400">
              <a:lnSpc>
                <a:spcPct val="100000"/>
              </a:lnSpc>
              <a:spcBef>
                <a:spcPts val="0"/>
              </a:spcBef>
              <a:spcAft>
                <a:spcPts val="0"/>
              </a:spcAft>
              <a:buClrTx/>
              <a:buSzTx/>
              <a:buFontTx/>
              <a:buNone/>
            </a:pPr>
            <a:endParaRPr sz="1000" b="0" i="0" u="none" kern="1200" cap="none" spc="0" baseline="0">
              <a:ln>
                <a:noFill/>
              </a:ln>
              <a:solidFill>
                <a:srgbClr val="898989"/>
              </a:solidFill>
              <a:latin typeface="Arial" panose="020B0604020202020204"/>
              <a:ea typeface="Arial" panose="020B0604020202020204"/>
              <a:cs typeface="Arial" panose="020B0604020202020204"/>
            </a:endParaRPr>
          </a:p>
        </p:txBody>
      </p:sp>
      <p:sp>
        <p:nvSpPr>
          <p:cNvPr id="10" name="文本框 9"/>
          <p:cNvSpPr>
            <a:spLocks noGrp="1"/>
          </p:cNvSpPr>
          <p:nvPr/>
        </p:nvSpPr>
        <p:spPr>
          <a:xfrm>
            <a:off x="119427" y="6530079"/>
            <a:ext cx="4075584" cy="246221"/>
          </a:xfrm>
          <a:prstGeom prst="rect">
            <a:avLst/>
          </a:prstGeom>
          <a:noFill/>
        </p:spPr>
        <p:txBody>
          <a:bodyPr wrap="square">
            <a:spAutoFit/>
          </a:bodyPr>
          <a:lstStyle/>
          <a:p>
            <a:pPr marL="0" marR="0" lvl="0" indent="0" algn="l" defTabSz="914400">
              <a:lnSpc>
                <a:spcPct val="100000"/>
              </a:lnSpc>
              <a:spcBef>
                <a:spcPts val="0"/>
              </a:spcBef>
              <a:spcAft>
                <a:spcPts val="0"/>
              </a:spcAft>
              <a:buClrTx/>
              <a:buSzTx/>
              <a:buFontTx/>
              <a:buNone/>
            </a:pPr>
            <a:r>
              <a:rPr sz="1000" b="0" i="0" u="none" cap="none">
                <a:ln>
                  <a:noFill/>
                </a:ln>
                <a:solidFill>
                  <a:srgbClr val="898989"/>
                </a:solidFill>
                <a:latin typeface="Arial" panose="020B0604020202020204"/>
                <a:ea typeface="Arial" panose="020B0604020202020204"/>
                <a:cs typeface="Arial" panose="020B0604020202020204"/>
              </a:rPr>
              <a:t>| </a:t>
            </a:r>
            <a:r>
              <a:rPr sz="1000" b="0" i="0" u="none" cap="none">
                <a:ln>
                  <a:noFill/>
                </a:ln>
                <a:solidFill>
                  <a:srgbClr val="898989"/>
                </a:solidFill>
                <a:latin typeface="Arial" panose="020B0604020202020204"/>
                <a:ea typeface="Arial" panose="020B0604020202020204"/>
                <a:cs typeface="Arial" panose="020B0604020202020204"/>
              </a:rPr>
              <a:t>沐曦内部资料 </a:t>
            </a:r>
            <a:r>
              <a:rPr sz="1000" b="0" i="0" u="none" cap="none">
                <a:ln>
                  <a:noFill/>
                </a:ln>
                <a:solidFill>
                  <a:srgbClr val="898989"/>
                </a:solidFill>
                <a:latin typeface="Arial" panose="020B0604020202020204"/>
                <a:ea typeface="Arial" panose="020B0604020202020204"/>
                <a:cs typeface="Arial" panose="020B0604020202020204"/>
              </a:rPr>
              <a:t>| MetaX Confidential | All Rights Reserved | </a:t>
            </a:r>
            <a:endParaRPr sz="1000" b="0" i="0" u="none" kern="1200" cap="none" spc="0" baseline="0">
              <a:ln>
                <a:noFill/>
              </a:ln>
              <a:solidFill>
                <a:srgbClr val="898989"/>
              </a:solidFill>
              <a:latin typeface="Arial" panose="020B0604020202020204"/>
              <a:ea typeface="Arial" panose="020B0604020202020204"/>
              <a:cs typeface="Arial" panose="020B0604020202020204"/>
            </a:endParaRPr>
          </a:p>
        </p:txBody>
      </p:sp>
      <p:sp>
        <p:nvSpPr>
          <p:cNvPr id="11" name="矩形 10"/>
          <p:cNvSpPr>
            <a:spLocks noGrp="1"/>
          </p:cNvSpPr>
          <p:nvPr/>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200" b="0" i="0" u="none" kern="1200" cap="none" spc="0" baseline="0">
              <a:ln>
                <a:noFill/>
              </a:ln>
              <a:solidFill>
                <a:prstClr val="white"/>
              </a:solidFill>
              <a:latin typeface="思源黑体 CN Regular"/>
              <a:ea typeface="思源黑体 CN Regular"/>
              <a:cs typeface="思源黑体 CN Regular"/>
            </a:endParaRPr>
          </a:p>
        </p:txBody>
      </p:sp>
      <p:sp>
        <p:nvSpPr>
          <p:cNvPr id="12" name="矩形 11"/>
          <p:cNvSpPr>
            <a:spLocks noGrp="1"/>
          </p:cNvSpPr>
          <p:nvPr/>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137</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137</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137</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#A894B1</a:t>
            </a:r>
            <a:endParaRPr sz="1000" b="0" i="0" u="none" kern="1200" cap="none" spc="0" baseline="0">
              <a:ln>
                <a:noFill/>
              </a:ln>
              <a:solidFill>
                <a:prstClr val="white"/>
              </a:solidFill>
              <a:latin typeface="思源黑体 CN Regular"/>
              <a:ea typeface="思源黑体 CN Regular"/>
              <a:cs typeface="思源黑体 CN Regular"/>
            </a:endParaRPr>
          </a:p>
        </p:txBody>
      </p:sp>
      <p:sp>
        <p:nvSpPr>
          <p:cNvPr id="13" name="矩形 12"/>
          <p:cNvSpPr>
            <a:spLocks noGrp="1"/>
          </p:cNvSpPr>
          <p:nvPr/>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102</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8</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116</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#660874</a:t>
            </a:r>
            <a:endParaRPr sz="1000" b="0" i="0" u="none" kern="1200" cap="none" spc="0" baseline="0">
              <a:ln>
                <a:noFill/>
              </a:ln>
              <a:solidFill>
                <a:prstClr val="white"/>
              </a:solidFill>
              <a:latin typeface="思源黑体 CN Regular"/>
              <a:ea typeface="思源黑体 CN Regular"/>
              <a:cs typeface="思源黑体 CN Regular"/>
            </a:endParaRPr>
          </a:p>
        </p:txBody>
      </p:sp>
      <p:sp>
        <p:nvSpPr>
          <p:cNvPr id="14" name="矩形 13"/>
          <p:cNvSpPr>
            <a:spLocks noGrp="1"/>
          </p:cNvSpPr>
          <p:nvPr/>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30</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142</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148</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#1E8E94</a:t>
            </a:r>
            <a:endParaRPr sz="1000" b="0" i="0" u="none" kern="1200" cap="none" spc="0" baseline="0">
              <a:ln>
                <a:noFill/>
              </a:ln>
              <a:solidFill>
                <a:prstClr val="white"/>
              </a:solidFill>
              <a:latin typeface="思源黑体 CN Regular"/>
              <a:ea typeface="思源黑体 CN Regular"/>
              <a:cs typeface="思源黑体 CN Regular"/>
            </a:endParaRPr>
          </a:p>
        </p:txBody>
      </p:sp>
      <p:sp>
        <p:nvSpPr>
          <p:cNvPr id="15" name="矩形 14"/>
          <p:cNvSpPr>
            <a:spLocks noGrp="1"/>
          </p:cNvSpPr>
          <p:nvPr/>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black"/>
                </a:solidFill>
                <a:latin typeface="思源黑体 CN Regular"/>
                <a:ea typeface="思源黑体 CN Regular"/>
                <a:cs typeface="思源黑体 CN Regular"/>
              </a:rPr>
              <a:t>229</a:t>
            </a:r>
            <a:endParaRPr sz="1000" b="0" i="0" u="none" kern="1200" cap="none" spc="0" baseline="0">
              <a:ln>
                <a:noFill/>
              </a:ln>
              <a:solidFill>
                <a:prstClr val="black"/>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black"/>
                </a:solidFill>
                <a:latin typeface="思源黑体 CN Regular"/>
                <a:ea typeface="思源黑体 CN Regular"/>
                <a:cs typeface="思源黑体 CN Regular"/>
              </a:rPr>
              <a:t>230</a:t>
            </a:r>
            <a:endParaRPr sz="1000" b="0" i="0" u="none" kern="1200" cap="none" spc="0" baseline="0">
              <a:ln>
                <a:noFill/>
              </a:ln>
              <a:solidFill>
                <a:prstClr val="black"/>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black"/>
                </a:solidFill>
                <a:latin typeface="思源黑体 CN Regular"/>
                <a:ea typeface="思源黑体 CN Regular"/>
                <a:cs typeface="思源黑体 CN Regular"/>
              </a:rPr>
              <a:t>233</a:t>
            </a:r>
            <a:endParaRPr sz="1000" b="0" i="0" u="none" kern="1200" cap="none" spc="0" baseline="0">
              <a:ln>
                <a:noFill/>
              </a:ln>
              <a:solidFill>
                <a:prstClr val="black"/>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black"/>
                </a:solidFill>
                <a:latin typeface="思源黑体 CN Regular"/>
                <a:ea typeface="思源黑体 CN Regular"/>
                <a:cs typeface="思源黑体 CN Regular"/>
              </a:rPr>
              <a:t>#E5E6E9</a:t>
            </a:r>
            <a:endParaRPr sz="1000" b="0" i="0" u="none" kern="1200" cap="none" spc="0" baseline="0">
              <a:ln>
                <a:noFill/>
              </a:ln>
              <a:solidFill>
                <a:prstClr val="black"/>
              </a:solidFill>
              <a:latin typeface="思源黑体 CN Regular"/>
              <a:ea typeface="思源黑体 CN Regular"/>
              <a:cs typeface="思源黑体 CN Regular"/>
            </a:endParaRPr>
          </a:p>
        </p:txBody>
      </p:sp>
      <p:sp>
        <p:nvSpPr>
          <p:cNvPr id="16" name="矩形 15"/>
          <p:cNvSpPr>
            <a:spLocks noGrp="1"/>
          </p:cNvSpPr>
          <p:nvPr/>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72</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187</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0</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#48BB00</a:t>
            </a:r>
            <a:endParaRPr sz="1000" b="0" i="0" u="none" kern="1200" cap="none" spc="0" baseline="0">
              <a:ln>
                <a:noFill/>
              </a:ln>
              <a:solidFill>
                <a:prstClr val="white"/>
              </a:solidFill>
              <a:latin typeface="思源黑体 CN Regular"/>
              <a:ea typeface="思源黑体 CN Regular"/>
              <a:cs typeface="思源黑体 CN Regular"/>
            </a:endParaRPr>
          </a:p>
        </p:txBody>
      </p:sp>
      <p:sp>
        <p:nvSpPr>
          <p:cNvPr id="17" name="矩形 16"/>
          <p:cNvSpPr>
            <a:spLocks noGrp="1"/>
          </p:cNvSpPr>
          <p:nvPr/>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104</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212</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135</a:t>
            </a:r>
            <a:endParaRPr sz="1000" b="0" i="0" u="none" kern="1200" cap="none" spc="0" baseline="0">
              <a:ln>
                <a:noFill/>
              </a:ln>
              <a:solidFill>
                <a:prstClr val="white"/>
              </a:solidFill>
              <a:latin typeface="思源黑体 CN Regular"/>
              <a:ea typeface="思源黑体 CN Regular"/>
              <a:cs typeface="思源黑体 CN Regular"/>
            </a:endParaRP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a:t>
            </a:r>
            <a:r>
              <a:rPr sz="1000" b="0" i="0" u="none" cap="none">
                <a:ln>
                  <a:noFill/>
                </a:ln>
                <a:solidFill>
                  <a:prstClr val="white"/>
                </a:solidFill>
                <a:latin typeface="思源黑体 CN Regular"/>
                <a:ea typeface="思源黑体 CN Regular"/>
                <a:cs typeface="思源黑体 CN Regular"/>
              </a:rPr>
              <a:t>A4D487</a:t>
            </a:r>
            <a:endParaRPr sz="1000" b="0" i="0" u="none" kern="1200" cap="none" spc="0" baseline="0">
              <a:ln>
                <a:noFill/>
              </a:ln>
              <a:solidFill>
                <a:prstClr val="white"/>
              </a:solidFill>
              <a:latin typeface="思源黑体 CN Regular"/>
              <a:ea typeface="思源黑体 CN Regular"/>
              <a:cs typeface="思源黑体 CN Regular"/>
            </a:endParaRPr>
          </a:p>
        </p:txBody>
      </p:sp>
      <p:pic>
        <p:nvPicPr>
          <p:cNvPr id="30" name="图片 17"/>
          <p:cNvPicPr>
            <a:picLocks noChangeAspect="1"/>
          </p:cNvPicPr>
          <p:nvPr/>
        </p:nvPicPr>
        <p:blipFill>
          <a:blip r:embed="rId2"/>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a:noFill/>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14" name="文本框 13"/>
          <p:cNvSpPr>
            <a:spLocks noGrp="1"/>
          </p:cNvSpPr>
          <p:nvPr/>
        </p:nvSpPr>
        <p:spPr>
          <a:xfrm>
            <a:off x="10715725" y="6538912"/>
            <a:ext cx="1276149" cy="246221"/>
          </a:xfrm>
          <a:prstGeom prst="rect">
            <a:avLst/>
          </a:prstGeom>
          <a:noFill/>
        </p:spPr>
        <p:txBody>
          <a:bodyPr wrap="square">
            <a:spAutoFit/>
          </a:bodyPr>
          <a:lstStyle/>
          <a:p>
            <a:pPr algn="r">
              <a:buNone/>
            </a:pPr>
            <a:endParaRPr sz="1000" b="0" i="0" baseline="0">
              <a:solidFill>
                <a:srgbClr val="898989"/>
              </a:solidFill>
              <a:latin typeface="Arial" panose="020B0604020202020204"/>
              <a:ea typeface="Arial" panose="020B0604020202020204"/>
              <a:cs typeface="Arial" panose="020B0604020202020204"/>
            </a:endParaRPr>
          </a:p>
        </p:txBody>
      </p:sp>
      <p:sp>
        <p:nvSpPr>
          <p:cNvPr id="15" name="文本框 14"/>
          <p:cNvSpPr>
            <a:spLocks noGrp="1"/>
          </p:cNvSpPr>
          <p:nvPr/>
        </p:nvSpPr>
        <p:spPr>
          <a:xfrm>
            <a:off x="119427" y="6530079"/>
            <a:ext cx="4075584" cy="230832"/>
          </a:xfrm>
          <a:prstGeom prst="rect">
            <a:avLst/>
          </a:prstGeom>
          <a:noFill/>
        </p:spPr>
        <p:txBody>
          <a:bodyPr wrap="square">
            <a:spAutoFit/>
          </a:bodyPr>
          <a:lstStyle/>
          <a:p>
            <a:r>
              <a:rPr sz="900" b="0" i="0">
                <a:solidFill>
                  <a:srgbClr val="898989"/>
                </a:solidFill>
                <a:latin typeface="Arial" panose="020B0604020202020204"/>
                <a:ea typeface="Arial" panose="020B0604020202020204"/>
                <a:cs typeface="Arial" panose="020B0604020202020204"/>
              </a:rPr>
              <a:t>| </a:t>
            </a:r>
            <a:r>
              <a:rPr sz="900" b="0" i="0">
                <a:solidFill>
                  <a:srgbClr val="898989"/>
                </a:solidFill>
                <a:latin typeface="Arial" panose="020B0604020202020204"/>
                <a:ea typeface="Arial" panose="020B0604020202020204"/>
                <a:cs typeface="Arial" panose="020B0604020202020204"/>
              </a:rPr>
              <a:t>沐曦内部资料 </a:t>
            </a:r>
            <a:r>
              <a:rPr sz="900" b="0" i="0">
                <a:solidFill>
                  <a:srgbClr val="898989"/>
                </a:solidFill>
                <a:latin typeface="Arial" panose="020B0604020202020204"/>
                <a:ea typeface="Arial" panose="020B0604020202020204"/>
                <a:cs typeface="Arial" panose="020B0604020202020204"/>
              </a:rPr>
              <a:t>| MetaX Confidential | All Rights Reserved | </a:t>
            </a:r>
            <a:endParaRPr sz="900" b="0" i="0" baseline="0">
              <a:solidFill>
                <a:srgbClr val="898989"/>
              </a:solidFill>
              <a:latin typeface="Arial" panose="020B0604020202020204"/>
              <a:ea typeface="Arial" panose="020B0604020202020204"/>
              <a:cs typeface="Arial" panose="020B0604020202020204"/>
            </a:endParaRPr>
          </a:p>
        </p:txBody>
      </p:sp>
      <p:sp>
        <p:nvSpPr>
          <p:cNvPr id="18" name="矩形 17"/>
          <p:cNvSpPr>
            <a:spLocks noGrp="1"/>
          </p:cNvSpPr>
          <p:nvPr/>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00" b="0"/>
          </a:p>
        </p:txBody>
      </p:sp>
      <p:sp>
        <p:nvSpPr>
          <p:cNvPr id="19" name="矩形 18"/>
          <p:cNvSpPr>
            <a:spLocks noGrp="1"/>
          </p:cNvSpPr>
          <p:nvPr/>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168</a:t>
            </a:r>
            <a:endParaRPr sz="1000" b="0">
              <a:solidFill>
                <a:schemeClr val="bg1"/>
              </a:solidFill>
            </a:endParaRPr>
          </a:p>
          <a:p>
            <a:pPr algn="ctr">
              <a:buNone/>
            </a:pPr>
            <a:r>
              <a:rPr sz="1000" b="0">
                <a:solidFill>
                  <a:schemeClr val="bg1"/>
                </a:solidFill>
              </a:rPr>
              <a:t>148</a:t>
            </a:r>
            <a:endParaRPr sz="1000" b="0">
              <a:solidFill>
                <a:schemeClr val="bg1"/>
              </a:solidFill>
            </a:endParaRPr>
          </a:p>
          <a:p>
            <a:pPr algn="ctr">
              <a:buNone/>
            </a:pPr>
            <a:r>
              <a:rPr sz="1000" b="0">
                <a:solidFill>
                  <a:schemeClr val="bg1"/>
                </a:solidFill>
              </a:rPr>
              <a:t>177</a:t>
            </a:r>
            <a:endParaRPr sz="1000" b="0">
              <a:solidFill>
                <a:schemeClr val="bg1"/>
              </a:solidFill>
            </a:endParaRPr>
          </a:p>
          <a:p>
            <a:pPr marL="0" marR="0" indent="0" algn="ctr" defTabSz="914400">
              <a:lnSpc>
                <a:spcPct val="100000"/>
              </a:lnSpc>
              <a:spcBef>
                <a:spcPts val="0"/>
              </a:spcBef>
              <a:spcAft>
                <a:spcPts val="0"/>
              </a:spcAft>
              <a:buClrTx/>
              <a:buSzTx/>
              <a:buFontTx/>
              <a:buNone/>
            </a:pPr>
            <a:r>
              <a:rPr sz="1000" b="0"/>
              <a:t>#A894B1</a:t>
            </a:r>
            <a:endParaRPr sz="1000" b="0"/>
          </a:p>
        </p:txBody>
      </p:sp>
      <p:sp>
        <p:nvSpPr>
          <p:cNvPr id="20" name="矩形 19"/>
          <p:cNvSpPr>
            <a:spLocks noGrp="1"/>
          </p:cNvSpPr>
          <p:nvPr/>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t>102</a:t>
            </a:r>
            <a:endParaRPr sz="1000" b="0"/>
          </a:p>
          <a:p>
            <a:pPr algn="ctr">
              <a:buNone/>
            </a:pPr>
            <a:r>
              <a:rPr sz="1000" b="0"/>
              <a:t>8</a:t>
            </a:r>
            <a:endParaRPr sz="1000" b="0"/>
          </a:p>
          <a:p>
            <a:pPr algn="ctr">
              <a:buNone/>
            </a:pPr>
            <a:r>
              <a:rPr sz="1000" b="0"/>
              <a:t>116</a:t>
            </a:r>
            <a:endParaRPr sz="1000" b="0"/>
          </a:p>
          <a:p>
            <a:pPr algn="ctr">
              <a:buNone/>
            </a:pPr>
            <a:r>
              <a:rPr sz="1000" b="0"/>
              <a:t>#660874</a:t>
            </a:r>
            <a:endParaRPr sz="1000" b="0"/>
          </a:p>
        </p:txBody>
      </p:sp>
      <p:sp>
        <p:nvSpPr>
          <p:cNvPr id="21" name="矩形 20"/>
          <p:cNvSpPr>
            <a:spLocks noGrp="1"/>
          </p:cNvSpPr>
          <p:nvPr/>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30</a:t>
            </a:r>
            <a:endParaRPr sz="1000" b="0">
              <a:solidFill>
                <a:schemeClr val="bg1"/>
              </a:solidFill>
            </a:endParaRPr>
          </a:p>
          <a:p>
            <a:pPr algn="ctr">
              <a:buNone/>
            </a:pPr>
            <a:r>
              <a:rPr sz="1000" b="0">
                <a:solidFill>
                  <a:schemeClr val="bg1"/>
                </a:solidFill>
              </a:rPr>
              <a:t>142</a:t>
            </a:r>
            <a:endParaRPr sz="1000" b="0">
              <a:solidFill>
                <a:schemeClr val="bg1"/>
              </a:solidFill>
            </a:endParaRPr>
          </a:p>
          <a:p>
            <a:pPr algn="ctr">
              <a:buNone/>
            </a:pPr>
            <a:r>
              <a:rPr sz="1000" b="0">
                <a:solidFill>
                  <a:schemeClr val="bg1"/>
                </a:solidFill>
              </a:rPr>
              <a:t>148</a:t>
            </a:r>
            <a:endParaRPr sz="1000" b="0">
              <a:solidFill>
                <a:schemeClr val="bg1"/>
              </a:solidFill>
            </a:endParaRPr>
          </a:p>
          <a:p>
            <a:pPr algn="ctr">
              <a:buNone/>
            </a:pPr>
            <a:r>
              <a:rPr sz="1000" b="0">
                <a:solidFill>
                  <a:schemeClr val="bg1"/>
                </a:solidFill>
              </a:rPr>
              <a:t>#1E8E94</a:t>
            </a:r>
            <a:endParaRPr sz="1000" b="0">
              <a:solidFill>
                <a:schemeClr val="bg1"/>
              </a:solidFill>
            </a:endParaRPr>
          </a:p>
        </p:txBody>
      </p:sp>
      <p:sp>
        <p:nvSpPr>
          <p:cNvPr id="22" name="矩形 21"/>
          <p:cNvSpPr>
            <a:spLocks noGrp="1"/>
          </p:cNvSpPr>
          <p:nvPr/>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tx1"/>
                </a:solidFill>
              </a:rPr>
              <a:t>229</a:t>
            </a:r>
            <a:endParaRPr sz="1000" b="0">
              <a:solidFill>
                <a:schemeClr val="tx1"/>
              </a:solidFill>
            </a:endParaRPr>
          </a:p>
          <a:p>
            <a:pPr algn="ctr">
              <a:buNone/>
            </a:pPr>
            <a:r>
              <a:rPr sz="1000" b="0">
                <a:solidFill>
                  <a:schemeClr val="tx1"/>
                </a:solidFill>
              </a:rPr>
              <a:t>230</a:t>
            </a:r>
            <a:endParaRPr sz="1000" b="0">
              <a:solidFill>
                <a:schemeClr val="tx1"/>
              </a:solidFill>
            </a:endParaRPr>
          </a:p>
          <a:p>
            <a:pPr algn="ctr">
              <a:buNone/>
            </a:pPr>
            <a:r>
              <a:rPr sz="1000" b="0">
                <a:solidFill>
                  <a:schemeClr val="tx1"/>
                </a:solidFill>
              </a:rPr>
              <a:t>233</a:t>
            </a:r>
            <a:endParaRPr sz="1000" b="0">
              <a:solidFill>
                <a:schemeClr val="tx1"/>
              </a:solidFill>
            </a:endParaRPr>
          </a:p>
          <a:p>
            <a:pPr algn="ctr">
              <a:buNone/>
            </a:pPr>
            <a:r>
              <a:rPr sz="1000" b="0">
                <a:solidFill>
                  <a:schemeClr val="tx1"/>
                </a:solidFill>
              </a:rPr>
              <a:t>#E5E6E9</a:t>
            </a:r>
            <a:endParaRPr sz="1000" b="0">
              <a:solidFill>
                <a:schemeClr val="tx1"/>
              </a:solidFill>
            </a:endParaRPr>
          </a:p>
        </p:txBody>
      </p:sp>
      <p:sp>
        <p:nvSpPr>
          <p:cNvPr id="23" name="矩形 22"/>
          <p:cNvSpPr>
            <a:spLocks noGrp="1"/>
          </p:cNvSpPr>
          <p:nvPr/>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72</a:t>
            </a:r>
            <a:endParaRPr sz="1000" b="0">
              <a:solidFill>
                <a:schemeClr val="bg1"/>
              </a:solidFill>
            </a:endParaRPr>
          </a:p>
          <a:p>
            <a:pPr algn="ctr">
              <a:buNone/>
            </a:pPr>
            <a:r>
              <a:rPr sz="1000" b="0">
                <a:solidFill>
                  <a:schemeClr val="bg1"/>
                </a:solidFill>
              </a:rPr>
              <a:t>187</a:t>
            </a:r>
            <a:endParaRPr sz="1000" b="0">
              <a:solidFill>
                <a:schemeClr val="bg1"/>
              </a:solidFill>
            </a:endParaRPr>
          </a:p>
          <a:p>
            <a:pPr algn="ctr">
              <a:buNone/>
            </a:pPr>
            <a:r>
              <a:rPr sz="1000" b="0">
                <a:solidFill>
                  <a:schemeClr val="bg1"/>
                </a:solidFill>
              </a:rPr>
              <a:t>0</a:t>
            </a:r>
            <a:endParaRPr sz="1000" b="0">
              <a:solidFill>
                <a:schemeClr val="bg1"/>
              </a:solidFill>
            </a:endParaRPr>
          </a:p>
          <a:p>
            <a:pPr algn="ctr">
              <a:buNone/>
            </a:pPr>
            <a:r>
              <a:rPr sz="1000" b="0">
                <a:solidFill>
                  <a:schemeClr val="bg1"/>
                </a:solidFill>
              </a:rPr>
              <a:t>#48BB00</a:t>
            </a:r>
            <a:endParaRPr sz="1000" b="0">
              <a:solidFill>
                <a:schemeClr val="bg1"/>
              </a:solidFill>
            </a:endParaRPr>
          </a:p>
        </p:txBody>
      </p:sp>
      <p:sp>
        <p:nvSpPr>
          <p:cNvPr id="24" name="矩形 23"/>
          <p:cNvSpPr>
            <a:spLocks noGrp="1"/>
          </p:cNvSpPr>
          <p:nvPr/>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164</a:t>
            </a:r>
            <a:endParaRPr sz="1000" b="0">
              <a:solidFill>
                <a:schemeClr val="bg1"/>
              </a:solidFill>
            </a:endParaRPr>
          </a:p>
          <a:p>
            <a:pPr algn="ctr">
              <a:buNone/>
            </a:pPr>
            <a:r>
              <a:rPr sz="1000" b="0">
                <a:solidFill>
                  <a:schemeClr val="bg1"/>
                </a:solidFill>
              </a:rPr>
              <a:t>212</a:t>
            </a:r>
            <a:endParaRPr sz="1000" b="0">
              <a:solidFill>
                <a:schemeClr val="bg1"/>
              </a:solidFill>
            </a:endParaRPr>
          </a:p>
          <a:p>
            <a:pPr algn="ctr">
              <a:buNone/>
            </a:pPr>
            <a:r>
              <a:rPr sz="1000" b="0">
                <a:solidFill>
                  <a:schemeClr val="bg1"/>
                </a:solidFill>
              </a:rPr>
              <a:t>135</a:t>
            </a:r>
            <a:endParaRPr sz="1000" b="0">
              <a:solidFill>
                <a:schemeClr val="bg1"/>
              </a:solidFill>
            </a:endParaRPr>
          </a:p>
          <a:p>
            <a:pPr algn="ctr">
              <a:buNone/>
            </a:pPr>
            <a:r>
              <a:rPr sz="1000" b="0">
                <a:solidFill>
                  <a:schemeClr val="bg1"/>
                </a:solidFill>
              </a:rPr>
              <a:t>#</a:t>
            </a:r>
            <a:r>
              <a:rPr sz="1000" b="0">
                <a:solidFill>
                  <a:schemeClr val="bg1"/>
                </a:solidFill>
              </a:rPr>
              <a:t>A4D487</a:t>
            </a:r>
            <a:endParaRPr sz="1000" b="0">
              <a:solidFill>
                <a:schemeClr val="bg1"/>
              </a:solidFill>
            </a:endParaRPr>
          </a:p>
        </p:txBody>
      </p:sp>
      <p:pic>
        <p:nvPicPr>
          <p:cNvPr id="37" name="图片 24"/>
          <p:cNvPicPr>
            <a:picLocks noChangeAspect="1"/>
          </p:cNvPicPr>
          <p:nvPr/>
        </p:nvPicPr>
        <p:blipFill>
          <a:blip r:embed="rId11"/>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a:noFill/>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14" name="文本框 13"/>
          <p:cNvSpPr>
            <a:spLocks noGrp="1"/>
          </p:cNvSpPr>
          <p:nvPr/>
        </p:nvSpPr>
        <p:spPr>
          <a:xfrm>
            <a:off x="10715725" y="6538912"/>
            <a:ext cx="1276149" cy="246221"/>
          </a:xfrm>
          <a:prstGeom prst="rect">
            <a:avLst/>
          </a:prstGeom>
          <a:noFill/>
        </p:spPr>
        <p:txBody>
          <a:bodyPr wrap="square">
            <a:spAutoFit/>
          </a:bodyPr>
          <a:lstStyle/>
          <a:p>
            <a:pPr algn="r">
              <a:buNone/>
            </a:pPr>
            <a:endParaRPr sz="1000" b="0" i="0" baseline="0">
              <a:solidFill>
                <a:srgbClr val="898989"/>
              </a:solidFill>
              <a:latin typeface="Arial" panose="020B0604020202020204"/>
              <a:ea typeface="Arial" panose="020B0604020202020204"/>
              <a:cs typeface="Arial" panose="020B0604020202020204"/>
            </a:endParaRPr>
          </a:p>
        </p:txBody>
      </p:sp>
      <p:sp>
        <p:nvSpPr>
          <p:cNvPr id="15" name="文本框 14"/>
          <p:cNvSpPr>
            <a:spLocks noGrp="1"/>
          </p:cNvSpPr>
          <p:nvPr/>
        </p:nvSpPr>
        <p:spPr>
          <a:xfrm>
            <a:off x="119427" y="6530079"/>
            <a:ext cx="4075584" cy="230832"/>
          </a:xfrm>
          <a:prstGeom prst="rect">
            <a:avLst/>
          </a:prstGeom>
          <a:noFill/>
        </p:spPr>
        <p:txBody>
          <a:bodyPr wrap="square">
            <a:spAutoFit/>
          </a:bodyPr>
          <a:lstStyle/>
          <a:p>
            <a:r>
              <a:rPr sz="900" b="0" i="0">
                <a:solidFill>
                  <a:srgbClr val="898989"/>
                </a:solidFill>
                <a:latin typeface="Arial" panose="020B0604020202020204"/>
                <a:ea typeface="Arial" panose="020B0604020202020204"/>
                <a:cs typeface="Arial" panose="020B0604020202020204"/>
              </a:rPr>
              <a:t>| </a:t>
            </a:r>
            <a:r>
              <a:rPr sz="900" b="0" i="0">
                <a:solidFill>
                  <a:srgbClr val="898989"/>
                </a:solidFill>
                <a:latin typeface="Arial" panose="020B0604020202020204"/>
                <a:ea typeface="Arial" panose="020B0604020202020204"/>
                <a:cs typeface="Arial" panose="020B0604020202020204"/>
              </a:rPr>
              <a:t>沐曦内部资料 </a:t>
            </a:r>
            <a:r>
              <a:rPr sz="900" b="0" i="0">
                <a:solidFill>
                  <a:srgbClr val="898989"/>
                </a:solidFill>
                <a:latin typeface="Arial" panose="020B0604020202020204"/>
                <a:ea typeface="Arial" panose="020B0604020202020204"/>
                <a:cs typeface="Arial" panose="020B0604020202020204"/>
              </a:rPr>
              <a:t>| MetaX Confidential | All Rights Reserved | </a:t>
            </a:r>
            <a:endParaRPr sz="900" b="0" i="0" baseline="0">
              <a:solidFill>
                <a:srgbClr val="898989"/>
              </a:solidFill>
              <a:latin typeface="Arial" panose="020B0604020202020204"/>
              <a:ea typeface="Arial" panose="020B0604020202020204"/>
              <a:cs typeface="Arial" panose="020B0604020202020204"/>
            </a:endParaRPr>
          </a:p>
        </p:txBody>
      </p:sp>
      <p:sp>
        <p:nvSpPr>
          <p:cNvPr id="18" name="矩形 17"/>
          <p:cNvSpPr>
            <a:spLocks noGrp="1"/>
          </p:cNvSpPr>
          <p:nvPr/>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00" b="0"/>
          </a:p>
        </p:txBody>
      </p:sp>
      <p:sp>
        <p:nvSpPr>
          <p:cNvPr id="19" name="矩形 18"/>
          <p:cNvSpPr>
            <a:spLocks noGrp="1"/>
          </p:cNvSpPr>
          <p:nvPr/>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168</a:t>
            </a:r>
            <a:endParaRPr sz="1000" b="0">
              <a:solidFill>
                <a:schemeClr val="bg1"/>
              </a:solidFill>
            </a:endParaRPr>
          </a:p>
          <a:p>
            <a:pPr algn="ctr">
              <a:buNone/>
            </a:pPr>
            <a:r>
              <a:rPr sz="1000" b="0">
                <a:solidFill>
                  <a:schemeClr val="bg1"/>
                </a:solidFill>
              </a:rPr>
              <a:t>148</a:t>
            </a:r>
            <a:endParaRPr sz="1000" b="0">
              <a:solidFill>
                <a:schemeClr val="bg1"/>
              </a:solidFill>
            </a:endParaRPr>
          </a:p>
          <a:p>
            <a:pPr algn="ctr">
              <a:buNone/>
            </a:pPr>
            <a:r>
              <a:rPr sz="1000" b="0">
                <a:solidFill>
                  <a:schemeClr val="bg1"/>
                </a:solidFill>
              </a:rPr>
              <a:t>177</a:t>
            </a:r>
            <a:endParaRPr sz="1000" b="0">
              <a:solidFill>
                <a:schemeClr val="bg1"/>
              </a:solidFill>
            </a:endParaRPr>
          </a:p>
          <a:p>
            <a:pPr marL="0" marR="0" indent="0" algn="ctr" defTabSz="914400">
              <a:lnSpc>
                <a:spcPct val="100000"/>
              </a:lnSpc>
              <a:spcBef>
                <a:spcPts val="0"/>
              </a:spcBef>
              <a:spcAft>
                <a:spcPts val="0"/>
              </a:spcAft>
              <a:buClrTx/>
              <a:buSzTx/>
              <a:buFontTx/>
              <a:buNone/>
            </a:pPr>
            <a:r>
              <a:rPr sz="1000" b="0"/>
              <a:t>#A894B1</a:t>
            </a:r>
            <a:endParaRPr sz="1000" b="0"/>
          </a:p>
        </p:txBody>
      </p:sp>
      <p:sp>
        <p:nvSpPr>
          <p:cNvPr id="20" name="矩形 19"/>
          <p:cNvSpPr>
            <a:spLocks noGrp="1"/>
          </p:cNvSpPr>
          <p:nvPr/>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t>102</a:t>
            </a:r>
            <a:endParaRPr sz="1000" b="0"/>
          </a:p>
          <a:p>
            <a:pPr algn="ctr">
              <a:buNone/>
            </a:pPr>
            <a:r>
              <a:rPr sz="1000" b="0"/>
              <a:t>8</a:t>
            </a:r>
            <a:endParaRPr sz="1000" b="0"/>
          </a:p>
          <a:p>
            <a:pPr algn="ctr">
              <a:buNone/>
            </a:pPr>
            <a:r>
              <a:rPr sz="1000" b="0"/>
              <a:t>116</a:t>
            </a:r>
            <a:endParaRPr sz="1000" b="0"/>
          </a:p>
          <a:p>
            <a:pPr algn="ctr">
              <a:buNone/>
            </a:pPr>
            <a:r>
              <a:rPr sz="1000" b="0"/>
              <a:t>#660874</a:t>
            </a:r>
            <a:endParaRPr sz="1000" b="0"/>
          </a:p>
        </p:txBody>
      </p:sp>
      <p:sp>
        <p:nvSpPr>
          <p:cNvPr id="21" name="矩形 20"/>
          <p:cNvSpPr>
            <a:spLocks noGrp="1"/>
          </p:cNvSpPr>
          <p:nvPr/>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30</a:t>
            </a:r>
            <a:endParaRPr sz="1000" b="0">
              <a:solidFill>
                <a:schemeClr val="bg1"/>
              </a:solidFill>
            </a:endParaRPr>
          </a:p>
          <a:p>
            <a:pPr algn="ctr">
              <a:buNone/>
            </a:pPr>
            <a:r>
              <a:rPr sz="1000" b="0">
                <a:solidFill>
                  <a:schemeClr val="bg1"/>
                </a:solidFill>
              </a:rPr>
              <a:t>142</a:t>
            </a:r>
            <a:endParaRPr sz="1000" b="0">
              <a:solidFill>
                <a:schemeClr val="bg1"/>
              </a:solidFill>
            </a:endParaRPr>
          </a:p>
          <a:p>
            <a:pPr algn="ctr">
              <a:buNone/>
            </a:pPr>
            <a:r>
              <a:rPr sz="1000" b="0">
                <a:solidFill>
                  <a:schemeClr val="bg1"/>
                </a:solidFill>
              </a:rPr>
              <a:t>148</a:t>
            </a:r>
            <a:endParaRPr sz="1000" b="0">
              <a:solidFill>
                <a:schemeClr val="bg1"/>
              </a:solidFill>
            </a:endParaRPr>
          </a:p>
          <a:p>
            <a:pPr algn="ctr">
              <a:buNone/>
            </a:pPr>
            <a:r>
              <a:rPr sz="1000" b="0">
                <a:solidFill>
                  <a:schemeClr val="bg1"/>
                </a:solidFill>
              </a:rPr>
              <a:t>#1E8E94</a:t>
            </a:r>
            <a:endParaRPr sz="1000" b="0">
              <a:solidFill>
                <a:schemeClr val="bg1"/>
              </a:solidFill>
            </a:endParaRPr>
          </a:p>
        </p:txBody>
      </p:sp>
      <p:sp>
        <p:nvSpPr>
          <p:cNvPr id="22" name="矩形 21"/>
          <p:cNvSpPr>
            <a:spLocks noGrp="1"/>
          </p:cNvSpPr>
          <p:nvPr/>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tx1"/>
                </a:solidFill>
              </a:rPr>
              <a:t>229</a:t>
            </a:r>
            <a:endParaRPr sz="1000" b="0">
              <a:solidFill>
                <a:schemeClr val="tx1"/>
              </a:solidFill>
            </a:endParaRPr>
          </a:p>
          <a:p>
            <a:pPr algn="ctr">
              <a:buNone/>
            </a:pPr>
            <a:r>
              <a:rPr sz="1000" b="0">
                <a:solidFill>
                  <a:schemeClr val="tx1"/>
                </a:solidFill>
              </a:rPr>
              <a:t>230</a:t>
            </a:r>
            <a:endParaRPr sz="1000" b="0">
              <a:solidFill>
                <a:schemeClr val="tx1"/>
              </a:solidFill>
            </a:endParaRPr>
          </a:p>
          <a:p>
            <a:pPr algn="ctr">
              <a:buNone/>
            </a:pPr>
            <a:r>
              <a:rPr sz="1000" b="0">
                <a:solidFill>
                  <a:schemeClr val="tx1"/>
                </a:solidFill>
              </a:rPr>
              <a:t>233</a:t>
            </a:r>
            <a:endParaRPr sz="1000" b="0">
              <a:solidFill>
                <a:schemeClr val="tx1"/>
              </a:solidFill>
            </a:endParaRPr>
          </a:p>
          <a:p>
            <a:pPr algn="ctr">
              <a:buNone/>
            </a:pPr>
            <a:r>
              <a:rPr sz="1000" b="0">
                <a:solidFill>
                  <a:schemeClr val="tx1"/>
                </a:solidFill>
              </a:rPr>
              <a:t>#E5E6E9</a:t>
            </a:r>
            <a:endParaRPr sz="1000" b="0">
              <a:solidFill>
                <a:schemeClr val="tx1"/>
              </a:solidFill>
            </a:endParaRPr>
          </a:p>
        </p:txBody>
      </p:sp>
      <p:sp>
        <p:nvSpPr>
          <p:cNvPr id="23" name="矩形 22"/>
          <p:cNvSpPr>
            <a:spLocks noGrp="1"/>
          </p:cNvSpPr>
          <p:nvPr/>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72</a:t>
            </a:r>
            <a:endParaRPr sz="1000" b="0">
              <a:solidFill>
                <a:schemeClr val="bg1"/>
              </a:solidFill>
            </a:endParaRPr>
          </a:p>
          <a:p>
            <a:pPr algn="ctr">
              <a:buNone/>
            </a:pPr>
            <a:r>
              <a:rPr sz="1000" b="0">
                <a:solidFill>
                  <a:schemeClr val="bg1"/>
                </a:solidFill>
              </a:rPr>
              <a:t>187</a:t>
            </a:r>
            <a:endParaRPr sz="1000" b="0">
              <a:solidFill>
                <a:schemeClr val="bg1"/>
              </a:solidFill>
            </a:endParaRPr>
          </a:p>
          <a:p>
            <a:pPr algn="ctr">
              <a:buNone/>
            </a:pPr>
            <a:r>
              <a:rPr sz="1000" b="0">
                <a:solidFill>
                  <a:schemeClr val="bg1"/>
                </a:solidFill>
              </a:rPr>
              <a:t>0</a:t>
            </a:r>
            <a:endParaRPr sz="1000" b="0">
              <a:solidFill>
                <a:schemeClr val="bg1"/>
              </a:solidFill>
            </a:endParaRPr>
          </a:p>
          <a:p>
            <a:pPr algn="ctr">
              <a:buNone/>
            </a:pPr>
            <a:r>
              <a:rPr sz="1000" b="0">
                <a:solidFill>
                  <a:schemeClr val="bg1"/>
                </a:solidFill>
              </a:rPr>
              <a:t>#48BB00</a:t>
            </a:r>
            <a:endParaRPr sz="1000" b="0">
              <a:solidFill>
                <a:schemeClr val="bg1"/>
              </a:solidFill>
            </a:endParaRPr>
          </a:p>
        </p:txBody>
      </p:sp>
      <p:sp>
        <p:nvSpPr>
          <p:cNvPr id="24" name="矩形 23"/>
          <p:cNvSpPr>
            <a:spLocks noGrp="1"/>
          </p:cNvSpPr>
          <p:nvPr/>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164</a:t>
            </a:r>
            <a:endParaRPr sz="1000" b="0">
              <a:solidFill>
                <a:schemeClr val="bg1"/>
              </a:solidFill>
            </a:endParaRPr>
          </a:p>
          <a:p>
            <a:pPr algn="ctr">
              <a:buNone/>
            </a:pPr>
            <a:r>
              <a:rPr sz="1000" b="0">
                <a:solidFill>
                  <a:schemeClr val="bg1"/>
                </a:solidFill>
              </a:rPr>
              <a:t>212</a:t>
            </a:r>
            <a:endParaRPr sz="1000" b="0">
              <a:solidFill>
                <a:schemeClr val="bg1"/>
              </a:solidFill>
            </a:endParaRPr>
          </a:p>
          <a:p>
            <a:pPr algn="ctr">
              <a:buNone/>
            </a:pPr>
            <a:r>
              <a:rPr sz="1000" b="0">
                <a:solidFill>
                  <a:schemeClr val="bg1"/>
                </a:solidFill>
              </a:rPr>
              <a:t>135</a:t>
            </a:r>
            <a:endParaRPr sz="1000" b="0">
              <a:solidFill>
                <a:schemeClr val="bg1"/>
              </a:solidFill>
            </a:endParaRPr>
          </a:p>
          <a:p>
            <a:pPr algn="ctr">
              <a:buNone/>
            </a:pPr>
            <a:r>
              <a:rPr sz="1000" b="0">
                <a:solidFill>
                  <a:schemeClr val="bg1"/>
                </a:solidFill>
              </a:rPr>
              <a:t>#</a:t>
            </a:r>
            <a:r>
              <a:rPr sz="1000" b="0">
                <a:solidFill>
                  <a:schemeClr val="bg1"/>
                </a:solidFill>
              </a:rPr>
              <a:t>A4D487</a:t>
            </a:r>
            <a:endParaRPr sz="1000" b="0">
              <a:solidFill>
                <a:schemeClr val="bg1"/>
              </a:solidFill>
            </a:endParaRPr>
          </a:p>
        </p:txBody>
      </p:sp>
      <p:pic>
        <p:nvPicPr>
          <p:cNvPr id="37" name="图片 24"/>
          <p:cNvPicPr>
            <a:picLocks noChangeAspect="1"/>
          </p:cNvPicPr>
          <p:nvPr/>
        </p:nvPicPr>
        <p:blipFill>
          <a:blip r:embed="rId11"/>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a:noFill/>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14" name="文本框 13"/>
          <p:cNvSpPr>
            <a:spLocks noGrp="1"/>
          </p:cNvSpPr>
          <p:nvPr/>
        </p:nvSpPr>
        <p:spPr>
          <a:xfrm>
            <a:off x="10715725" y="6538912"/>
            <a:ext cx="1276149" cy="246221"/>
          </a:xfrm>
          <a:prstGeom prst="rect">
            <a:avLst/>
          </a:prstGeom>
          <a:noFill/>
        </p:spPr>
        <p:txBody>
          <a:bodyPr wrap="square">
            <a:spAutoFit/>
          </a:bodyPr>
          <a:lstStyle/>
          <a:p>
            <a:pPr algn="r">
              <a:buNone/>
            </a:pPr>
            <a:endParaRPr sz="1000" b="0" i="0" baseline="0">
              <a:solidFill>
                <a:srgbClr val="898989"/>
              </a:solidFill>
              <a:latin typeface="Arial" panose="020B0604020202020204"/>
              <a:ea typeface="Arial" panose="020B0604020202020204"/>
              <a:cs typeface="Arial" panose="020B0604020202020204"/>
            </a:endParaRPr>
          </a:p>
        </p:txBody>
      </p:sp>
      <p:sp>
        <p:nvSpPr>
          <p:cNvPr id="15" name="文本框 14"/>
          <p:cNvSpPr>
            <a:spLocks noGrp="1"/>
          </p:cNvSpPr>
          <p:nvPr/>
        </p:nvSpPr>
        <p:spPr>
          <a:xfrm>
            <a:off x="119427" y="6530079"/>
            <a:ext cx="4075584" cy="230832"/>
          </a:xfrm>
          <a:prstGeom prst="rect">
            <a:avLst/>
          </a:prstGeom>
          <a:noFill/>
        </p:spPr>
        <p:txBody>
          <a:bodyPr wrap="square">
            <a:spAutoFit/>
          </a:bodyPr>
          <a:lstStyle/>
          <a:p>
            <a:r>
              <a:rPr sz="900" b="0" i="0">
                <a:solidFill>
                  <a:srgbClr val="898989"/>
                </a:solidFill>
                <a:latin typeface="Arial" panose="020B0604020202020204"/>
                <a:ea typeface="Arial" panose="020B0604020202020204"/>
                <a:cs typeface="Arial" panose="020B0604020202020204"/>
              </a:rPr>
              <a:t>| </a:t>
            </a:r>
            <a:r>
              <a:rPr sz="900" b="0" i="0">
                <a:solidFill>
                  <a:srgbClr val="898989"/>
                </a:solidFill>
                <a:latin typeface="Arial" panose="020B0604020202020204"/>
                <a:ea typeface="Arial" panose="020B0604020202020204"/>
                <a:cs typeface="Arial" panose="020B0604020202020204"/>
              </a:rPr>
              <a:t>沐曦内部资料 </a:t>
            </a:r>
            <a:r>
              <a:rPr sz="900" b="0" i="0">
                <a:solidFill>
                  <a:srgbClr val="898989"/>
                </a:solidFill>
                <a:latin typeface="Arial" panose="020B0604020202020204"/>
                <a:ea typeface="Arial" panose="020B0604020202020204"/>
                <a:cs typeface="Arial" panose="020B0604020202020204"/>
              </a:rPr>
              <a:t>| MetaX Confidential | All Rights Reserved | </a:t>
            </a:r>
            <a:endParaRPr sz="900" b="0" i="0" baseline="0">
              <a:solidFill>
                <a:srgbClr val="898989"/>
              </a:solidFill>
              <a:latin typeface="Arial" panose="020B0604020202020204"/>
              <a:ea typeface="Arial" panose="020B0604020202020204"/>
              <a:cs typeface="Arial" panose="020B0604020202020204"/>
            </a:endParaRPr>
          </a:p>
        </p:txBody>
      </p:sp>
      <p:sp>
        <p:nvSpPr>
          <p:cNvPr id="18" name="矩形 17"/>
          <p:cNvSpPr>
            <a:spLocks noGrp="1"/>
          </p:cNvSpPr>
          <p:nvPr/>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00" b="0"/>
          </a:p>
        </p:txBody>
      </p:sp>
      <p:sp>
        <p:nvSpPr>
          <p:cNvPr id="19" name="矩形 18"/>
          <p:cNvSpPr>
            <a:spLocks noGrp="1"/>
          </p:cNvSpPr>
          <p:nvPr/>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168</a:t>
            </a:r>
            <a:endParaRPr sz="1000" b="0">
              <a:solidFill>
                <a:schemeClr val="bg1"/>
              </a:solidFill>
            </a:endParaRPr>
          </a:p>
          <a:p>
            <a:pPr algn="ctr">
              <a:buNone/>
            </a:pPr>
            <a:r>
              <a:rPr sz="1000" b="0">
                <a:solidFill>
                  <a:schemeClr val="bg1"/>
                </a:solidFill>
              </a:rPr>
              <a:t>148</a:t>
            </a:r>
            <a:endParaRPr sz="1000" b="0">
              <a:solidFill>
                <a:schemeClr val="bg1"/>
              </a:solidFill>
            </a:endParaRPr>
          </a:p>
          <a:p>
            <a:pPr algn="ctr">
              <a:buNone/>
            </a:pPr>
            <a:r>
              <a:rPr sz="1000" b="0">
                <a:solidFill>
                  <a:schemeClr val="bg1"/>
                </a:solidFill>
              </a:rPr>
              <a:t>177</a:t>
            </a:r>
            <a:endParaRPr sz="1000" b="0">
              <a:solidFill>
                <a:schemeClr val="bg1"/>
              </a:solidFill>
            </a:endParaRPr>
          </a:p>
          <a:p>
            <a:pPr marL="0" marR="0" indent="0" algn="ctr" defTabSz="914400">
              <a:lnSpc>
                <a:spcPct val="100000"/>
              </a:lnSpc>
              <a:spcBef>
                <a:spcPts val="0"/>
              </a:spcBef>
              <a:spcAft>
                <a:spcPts val="0"/>
              </a:spcAft>
              <a:buClrTx/>
              <a:buSzTx/>
              <a:buFontTx/>
              <a:buNone/>
            </a:pPr>
            <a:r>
              <a:rPr sz="1000" b="0"/>
              <a:t>#A894B1</a:t>
            </a:r>
            <a:endParaRPr sz="1000" b="0"/>
          </a:p>
        </p:txBody>
      </p:sp>
      <p:sp>
        <p:nvSpPr>
          <p:cNvPr id="20" name="矩形 19"/>
          <p:cNvSpPr>
            <a:spLocks noGrp="1"/>
          </p:cNvSpPr>
          <p:nvPr/>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t>102</a:t>
            </a:r>
            <a:endParaRPr sz="1000" b="0"/>
          </a:p>
          <a:p>
            <a:pPr algn="ctr">
              <a:buNone/>
            </a:pPr>
            <a:r>
              <a:rPr sz="1000" b="0"/>
              <a:t>8</a:t>
            </a:r>
            <a:endParaRPr sz="1000" b="0"/>
          </a:p>
          <a:p>
            <a:pPr algn="ctr">
              <a:buNone/>
            </a:pPr>
            <a:r>
              <a:rPr sz="1000" b="0"/>
              <a:t>116</a:t>
            </a:r>
            <a:endParaRPr sz="1000" b="0"/>
          </a:p>
          <a:p>
            <a:pPr algn="ctr">
              <a:buNone/>
            </a:pPr>
            <a:r>
              <a:rPr sz="1000" b="0"/>
              <a:t>#660874</a:t>
            </a:r>
            <a:endParaRPr sz="1000" b="0"/>
          </a:p>
        </p:txBody>
      </p:sp>
      <p:sp>
        <p:nvSpPr>
          <p:cNvPr id="21" name="矩形 20"/>
          <p:cNvSpPr>
            <a:spLocks noGrp="1"/>
          </p:cNvSpPr>
          <p:nvPr/>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30</a:t>
            </a:r>
            <a:endParaRPr sz="1000" b="0">
              <a:solidFill>
                <a:schemeClr val="bg1"/>
              </a:solidFill>
            </a:endParaRPr>
          </a:p>
          <a:p>
            <a:pPr algn="ctr">
              <a:buNone/>
            </a:pPr>
            <a:r>
              <a:rPr sz="1000" b="0">
                <a:solidFill>
                  <a:schemeClr val="bg1"/>
                </a:solidFill>
              </a:rPr>
              <a:t>142</a:t>
            </a:r>
            <a:endParaRPr sz="1000" b="0">
              <a:solidFill>
                <a:schemeClr val="bg1"/>
              </a:solidFill>
            </a:endParaRPr>
          </a:p>
          <a:p>
            <a:pPr algn="ctr">
              <a:buNone/>
            </a:pPr>
            <a:r>
              <a:rPr sz="1000" b="0">
                <a:solidFill>
                  <a:schemeClr val="bg1"/>
                </a:solidFill>
              </a:rPr>
              <a:t>148</a:t>
            </a:r>
            <a:endParaRPr sz="1000" b="0">
              <a:solidFill>
                <a:schemeClr val="bg1"/>
              </a:solidFill>
            </a:endParaRPr>
          </a:p>
          <a:p>
            <a:pPr algn="ctr">
              <a:buNone/>
            </a:pPr>
            <a:r>
              <a:rPr sz="1000" b="0">
                <a:solidFill>
                  <a:schemeClr val="bg1"/>
                </a:solidFill>
              </a:rPr>
              <a:t>#1E8E94</a:t>
            </a:r>
            <a:endParaRPr sz="1000" b="0">
              <a:solidFill>
                <a:schemeClr val="bg1"/>
              </a:solidFill>
            </a:endParaRPr>
          </a:p>
        </p:txBody>
      </p:sp>
      <p:sp>
        <p:nvSpPr>
          <p:cNvPr id="22" name="矩形 21"/>
          <p:cNvSpPr>
            <a:spLocks noGrp="1"/>
          </p:cNvSpPr>
          <p:nvPr/>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tx1"/>
                </a:solidFill>
              </a:rPr>
              <a:t>229</a:t>
            </a:r>
            <a:endParaRPr sz="1000" b="0">
              <a:solidFill>
                <a:schemeClr val="tx1"/>
              </a:solidFill>
            </a:endParaRPr>
          </a:p>
          <a:p>
            <a:pPr algn="ctr">
              <a:buNone/>
            </a:pPr>
            <a:r>
              <a:rPr sz="1000" b="0">
                <a:solidFill>
                  <a:schemeClr val="tx1"/>
                </a:solidFill>
              </a:rPr>
              <a:t>230</a:t>
            </a:r>
            <a:endParaRPr sz="1000" b="0">
              <a:solidFill>
                <a:schemeClr val="tx1"/>
              </a:solidFill>
            </a:endParaRPr>
          </a:p>
          <a:p>
            <a:pPr algn="ctr">
              <a:buNone/>
            </a:pPr>
            <a:r>
              <a:rPr sz="1000" b="0">
                <a:solidFill>
                  <a:schemeClr val="tx1"/>
                </a:solidFill>
              </a:rPr>
              <a:t>233</a:t>
            </a:r>
            <a:endParaRPr sz="1000" b="0">
              <a:solidFill>
                <a:schemeClr val="tx1"/>
              </a:solidFill>
            </a:endParaRPr>
          </a:p>
          <a:p>
            <a:pPr algn="ctr">
              <a:buNone/>
            </a:pPr>
            <a:r>
              <a:rPr sz="1000" b="0">
                <a:solidFill>
                  <a:schemeClr val="tx1"/>
                </a:solidFill>
              </a:rPr>
              <a:t>#E5E6E9</a:t>
            </a:r>
            <a:endParaRPr sz="1000" b="0">
              <a:solidFill>
                <a:schemeClr val="tx1"/>
              </a:solidFill>
            </a:endParaRPr>
          </a:p>
        </p:txBody>
      </p:sp>
      <p:sp>
        <p:nvSpPr>
          <p:cNvPr id="23" name="矩形 22"/>
          <p:cNvSpPr>
            <a:spLocks noGrp="1"/>
          </p:cNvSpPr>
          <p:nvPr/>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72</a:t>
            </a:r>
            <a:endParaRPr sz="1000" b="0">
              <a:solidFill>
                <a:schemeClr val="bg1"/>
              </a:solidFill>
            </a:endParaRPr>
          </a:p>
          <a:p>
            <a:pPr algn="ctr">
              <a:buNone/>
            </a:pPr>
            <a:r>
              <a:rPr sz="1000" b="0">
                <a:solidFill>
                  <a:schemeClr val="bg1"/>
                </a:solidFill>
              </a:rPr>
              <a:t>187</a:t>
            </a:r>
            <a:endParaRPr sz="1000" b="0">
              <a:solidFill>
                <a:schemeClr val="bg1"/>
              </a:solidFill>
            </a:endParaRPr>
          </a:p>
          <a:p>
            <a:pPr algn="ctr">
              <a:buNone/>
            </a:pPr>
            <a:r>
              <a:rPr sz="1000" b="0">
                <a:solidFill>
                  <a:schemeClr val="bg1"/>
                </a:solidFill>
              </a:rPr>
              <a:t>0</a:t>
            </a:r>
            <a:endParaRPr sz="1000" b="0">
              <a:solidFill>
                <a:schemeClr val="bg1"/>
              </a:solidFill>
            </a:endParaRPr>
          </a:p>
          <a:p>
            <a:pPr algn="ctr">
              <a:buNone/>
            </a:pPr>
            <a:r>
              <a:rPr sz="1000" b="0">
                <a:solidFill>
                  <a:schemeClr val="bg1"/>
                </a:solidFill>
              </a:rPr>
              <a:t>#48BB00</a:t>
            </a:r>
            <a:endParaRPr sz="1000" b="0">
              <a:solidFill>
                <a:schemeClr val="bg1"/>
              </a:solidFill>
            </a:endParaRPr>
          </a:p>
        </p:txBody>
      </p:sp>
      <p:sp>
        <p:nvSpPr>
          <p:cNvPr id="24" name="矩形 23"/>
          <p:cNvSpPr>
            <a:spLocks noGrp="1"/>
          </p:cNvSpPr>
          <p:nvPr/>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164</a:t>
            </a:r>
            <a:endParaRPr sz="1000" b="0">
              <a:solidFill>
                <a:schemeClr val="bg1"/>
              </a:solidFill>
            </a:endParaRPr>
          </a:p>
          <a:p>
            <a:pPr algn="ctr">
              <a:buNone/>
            </a:pPr>
            <a:r>
              <a:rPr sz="1000" b="0">
                <a:solidFill>
                  <a:schemeClr val="bg1"/>
                </a:solidFill>
              </a:rPr>
              <a:t>212</a:t>
            </a:r>
            <a:endParaRPr sz="1000" b="0">
              <a:solidFill>
                <a:schemeClr val="bg1"/>
              </a:solidFill>
            </a:endParaRPr>
          </a:p>
          <a:p>
            <a:pPr algn="ctr">
              <a:buNone/>
            </a:pPr>
            <a:r>
              <a:rPr sz="1000" b="0">
                <a:solidFill>
                  <a:schemeClr val="bg1"/>
                </a:solidFill>
              </a:rPr>
              <a:t>135</a:t>
            </a:r>
            <a:endParaRPr sz="1000" b="0">
              <a:solidFill>
                <a:schemeClr val="bg1"/>
              </a:solidFill>
            </a:endParaRPr>
          </a:p>
          <a:p>
            <a:pPr algn="ctr">
              <a:buNone/>
            </a:pPr>
            <a:r>
              <a:rPr sz="1000" b="0">
                <a:solidFill>
                  <a:schemeClr val="bg1"/>
                </a:solidFill>
              </a:rPr>
              <a:t>#</a:t>
            </a:r>
            <a:r>
              <a:rPr sz="1000" b="0">
                <a:solidFill>
                  <a:schemeClr val="bg1"/>
                </a:solidFill>
              </a:rPr>
              <a:t>A4D487</a:t>
            </a:r>
            <a:endParaRPr sz="1000" b="0">
              <a:solidFill>
                <a:schemeClr val="bg1"/>
              </a:solidFill>
            </a:endParaRPr>
          </a:p>
        </p:txBody>
      </p:sp>
      <p:pic>
        <p:nvPicPr>
          <p:cNvPr id="37" name="图片 24"/>
          <p:cNvPicPr>
            <a:picLocks noChangeAspect="1"/>
          </p:cNvPicPr>
          <p:nvPr/>
        </p:nvPicPr>
        <p:blipFill>
          <a:blip r:embed="rId11"/>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a:noFill/>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14" name="文本框 13"/>
          <p:cNvSpPr>
            <a:spLocks noGrp="1"/>
          </p:cNvSpPr>
          <p:nvPr/>
        </p:nvSpPr>
        <p:spPr>
          <a:xfrm>
            <a:off x="10715725" y="6538912"/>
            <a:ext cx="1276149" cy="246221"/>
          </a:xfrm>
          <a:prstGeom prst="rect">
            <a:avLst/>
          </a:prstGeom>
          <a:noFill/>
        </p:spPr>
        <p:txBody>
          <a:bodyPr wrap="square">
            <a:spAutoFit/>
          </a:bodyPr>
          <a:lstStyle/>
          <a:p>
            <a:pPr algn="r">
              <a:buNone/>
            </a:pPr>
            <a:endParaRPr sz="1000" b="0" i="0" baseline="0">
              <a:solidFill>
                <a:srgbClr val="898989"/>
              </a:solidFill>
              <a:latin typeface="Arial" panose="020B0604020202020204"/>
              <a:ea typeface="Arial" panose="020B0604020202020204"/>
              <a:cs typeface="Arial" panose="020B0604020202020204"/>
            </a:endParaRPr>
          </a:p>
        </p:txBody>
      </p:sp>
      <p:sp>
        <p:nvSpPr>
          <p:cNvPr id="15" name="文本框 14"/>
          <p:cNvSpPr>
            <a:spLocks noGrp="1"/>
          </p:cNvSpPr>
          <p:nvPr/>
        </p:nvSpPr>
        <p:spPr>
          <a:xfrm>
            <a:off x="119427" y="6530079"/>
            <a:ext cx="4075584" cy="230832"/>
          </a:xfrm>
          <a:prstGeom prst="rect">
            <a:avLst/>
          </a:prstGeom>
          <a:noFill/>
        </p:spPr>
        <p:txBody>
          <a:bodyPr wrap="square">
            <a:spAutoFit/>
          </a:bodyPr>
          <a:lstStyle/>
          <a:p>
            <a:r>
              <a:rPr sz="900" b="0" i="0">
                <a:solidFill>
                  <a:srgbClr val="898989"/>
                </a:solidFill>
                <a:latin typeface="Arial" panose="020B0604020202020204"/>
                <a:ea typeface="Arial" panose="020B0604020202020204"/>
                <a:cs typeface="Arial" panose="020B0604020202020204"/>
              </a:rPr>
              <a:t>| </a:t>
            </a:r>
            <a:r>
              <a:rPr sz="900" b="0" i="0">
                <a:solidFill>
                  <a:srgbClr val="898989"/>
                </a:solidFill>
                <a:latin typeface="Arial" panose="020B0604020202020204"/>
                <a:ea typeface="Arial" panose="020B0604020202020204"/>
                <a:cs typeface="Arial" panose="020B0604020202020204"/>
              </a:rPr>
              <a:t>沐曦内部资料 </a:t>
            </a:r>
            <a:r>
              <a:rPr sz="900" b="0" i="0">
                <a:solidFill>
                  <a:srgbClr val="898989"/>
                </a:solidFill>
                <a:latin typeface="Arial" panose="020B0604020202020204"/>
                <a:ea typeface="Arial" panose="020B0604020202020204"/>
                <a:cs typeface="Arial" panose="020B0604020202020204"/>
              </a:rPr>
              <a:t>| MetaX Confidential | All Rights Reserved | </a:t>
            </a:r>
            <a:endParaRPr sz="900" b="0" i="0" baseline="0">
              <a:solidFill>
                <a:srgbClr val="898989"/>
              </a:solidFill>
              <a:latin typeface="Arial" panose="020B0604020202020204"/>
              <a:ea typeface="Arial" panose="020B0604020202020204"/>
              <a:cs typeface="Arial" panose="020B0604020202020204"/>
            </a:endParaRPr>
          </a:p>
        </p:txBody>
      </p:sp>
      <p:sp>
        <p:nvSpPr>
          <p:cNvPr id="18" name="矩形 17"/>
          <p:cNvSpPr>
            <a:spLocks noGrp="1"/>
          </p:cNvSpPr>
          <p:nvPr/>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00" b="0"/>
          </a:p>
        </p:txBody>
      </p:sp>
      <p:sp>
        <p:nvSpPr>
          <p:cNvPr id="19" name="矩形 18"/>
          <p:cNvSpPr>
            <a:spLocks noGrp="1"/>
          </p:cNvSpPr>
          <p:nvPr/>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168</a:t>
            </a:r>
            <a:endParaRPr sz="1000" b="0">
              <a:solidFill>
                <a:schemeClr val="bg1"/>
              </a:solidFill>
            </a:endParaRPr>
          </a:p>
          <a:p>
            <a:pPr algn="ctr">
              <a:buNone/>
            </a:pPr>
            <a:r>
              <a:rPr sz="1000" b="0">
                <a:solidFill>
                  <a:schemeClr val="bg1"/>
                </a:solidFill>
              </a:rPr>
              <a:t>148</a:t>
            </a:r>
            <a:endParaRPr sz="1000" b="0">
              <a:solidFill>
                <a:schemeClr val="bg1"/>
              </a:solidFill>
            </a:endParaRPr>
          </a:p>
          <a:p>
            <a:pPr algn="ctr">
              <a:buNone/>
            </a:pPr>
            <a:r>
              <a:rPr sz="1000" b="0">
                <a:solidFill>
                  <a:schemeClr val="bg1"/>
                </a:solidFill>
              </a:rPr>
              <a:t>177</a:t>
            </a:r>
            <a:endParaRPr sz="1000" b="0">
              <a:solidFill>
                <a:schemeClr val="bg1"/>
              </a:solidFill>
            </a:endParaRPr>
          </a:p>
          <a:p>
            <a:pPr marL="0" marR="0" indent="0" algn="ctr" defTabSz="914400">
              <a:lnSpc>
                <a:spcPct val="100000"/>
              </a:lnSpc>
              <a:spcBef>
                <a:spcPts val="0"/>
              </a:spcBef>
              <a:spcAft>
                <a:spcPts val="0"/>
              </a:spcAft>
              <a:buClrTx/>
              <a:buSzTx/>
              <a:buFontTx/>
              <a:buNone/>
            </a:pPr>
            <a:r>
              <a:rPr sz="1000" b="0"/>
              <a:t>#A894B1</a:t>
            </a:r>
            <a:endParaRPr sz="1000" b="0"/>
          </a:p>
        </p:txBody>
      </p:sp>
      <p:sp>
        <p:nvSpPr>
          <p:cNvPr id="20" name="矩形 19"/>
          <p:cNvSpPr>
            <a:spLocks noGrp="1"/>
          </p:cNvSpPr>
          <p:nvPr/>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t>102</a:t>
            </a:r>
            <a:endParaRPr sz="1000" b="0"/>
          </a:p>
          <a:p>
            <a:pPr algn="ctr">
              <a:buNone/>
            </a:pPr>
            <a:r>
              <a:rPr sz="1000" b="0"/>
              <a:t>8</a:t>
            </a:r>
            <a:endParaRPr sz="1000" b="0"/>
          </a:p>
          <a:p>
            <a:pPr algn="ctr">
              <a:buNone/>
            </a:pPr>
            <a:r>
              <a:rPr sz="1000" b="0"/>
              <a:t>116</a:t>
            </a:r>
            <a:endParaRPr sz="1000" b="0"/>
          </a:p>
          <a:p>
            <a:pPr algn="ctr">
              <a:buNone/>
            </a:pPr>
            <a:r>
              <a:rPr sz="1000" b="0"/>
              <a:t>#660874</a:t>
            </a:r>
            <a:endParaRPr sz="1000" b="0"/>
          </a:p>
        </p:txBody>
      </p:sp>
      <p:sp>
        <p:nvSpPr>
          <p:cNvPr id="21" name="矩形 20"/>
          <p:cNvSpPr>
            <a:spLocks noGrp="1"/>
          </p:cNvSpPr>
          <p:nvPr/>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30</a:t>
            </a:r>
            <a:endParaRPr sz="1000" b="0">
              <a:solidFill>
                <a:schemeClr val="bg1"/>
              </a:solidFill>
            </a:endParaRPr>
          </a:p>
          <a:p>
            <a:pPr algn="ctr">
              <a:buNone/>
            </a:pPr>
            <a:r>
              <a:rPr sz="1000" b="0">
                <a:solidFill>
                  <a:schemeClr val="bg1"/>
                </a:solidFill>
              </a:rPr>
              <a:t>142</a:t>
            </a:r>
            <a:endParaRPr sz="1000" b="0">
              <a:solidFill>
                <a:schemeClr val="bg1"/>
              </a:solidFill>
            </a:endParaRPr>
          </a:p>
          <a:p>
            <a:pPr algn="ctr">
              <a:buNone/>
            </a:pPr>
            <a:r>
              <a:rPr sz="1000" b="0">
                <a:solidFill>
                  <a:schemeClr val="bg1"/>
                </a:solidFill>
              </a:rPr>
              <a:t>148</a:t>
            </a:r>
            <a:endParaRPr sz="1000" b="0">
              <a:solidFill>
                <a:schemeClr val="bg1"/>
              </a:solidFill>
            </a:endParaRPr>
          </a:p>
          <a:p>
            <a:pPr algn="ctr">
              <a:buNone/>
            </a:pPr>
            <a:r>
              <a:rPr sz="1000" b="0">
                <a:solidFill>
                  <a:schemeClr val="bg1"/>
                </a:solidFill>
              </a:rPr>
              <a:t>#1E8E94</a:t>
            </a:r>
            <a:endParaRPr sz="1000" b="0">
              <a:solidFill>
                <a:schemeClr val="bg1"/>
              </a:solidFill>
            </a:endParaRPr>
          </a:p>
        </p:txBody>
      </p:sp>
      <p:sp>
        <p:nvSpPr>
          <p:cNvPr id="22" name="矩形 21"/>
          <p:cNvSpPr>
            <a:spLocks noGrp="1"/>
          </p:cNvSpPr>
          <p:nvPr/>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tx1"/>
                </a:solidFill>
              </a:rPr>
              <a:t>229</a:t>
            </a:r>
            <a:endParaRPr sz="1000" b="0">
              <a:solidFill>
                <a:schemeClr val="tx1"/>
              </a:solidFill>
            </a:endParaRPr>
          </a:p>
          <a:p>
            <a:pPr algn="ctr">
              <a:buNone/>
            </a:pPr>
            <a:r>
              <a:rPr sz="1000" b="0">
                <a:solidFill>
                  <a:schemeClr val="tx1"/>
                </a:solidFill>
              </a:rPr>
              <a:t>230</a:t>
            </a:r>
            <a:endParaRPr sz="1000" b="0">
              <a:solidFill>
                <a:schemeClr val="tx1"/>
              </a:solidFill>
            </a:endParaRPr>
          </a:p>
          <a:p>
            <a:pPr algn="ctr">
              <a:buNone/>
            </a:pPr>
            <a:r>
              <a:rPr sz="1000" b="0">
                <a:solidFill>
                  <a:schemeClr val="tx1"/>
                </a:solidFill>
              </a:rPr>
              <a:t>233</a:t>
            </a:r>
            <a:endParaRPr sz="1000" b="0">
              <a:solidFill>
                <a:schemeClr val="tx1"/>
              </a:solidFill>
            </a:endParaRPr>
          </a:p>
          <a:p>
            <a:pPr algn="ctr">
              <a:buNone/>
            </a:pPr>
            <a:r>
              <a:rPr sz="1000" b="0">
                <a:solidFill>
                  <a:schemeClr val="tx1"/>
                </a:solidFill>
              </a:rPr>
              <a:t>#E5E6E9</a:t>
            </a:r>
            <a:endParaRPr sz="1000" b="0">
              <a:solidFill>
                <a:schemeClr val="tx1"/>
              </a:solidFill>
            </a:endParaRPr>
          </a:p>
        </p:txBody>
      </p:sp>
      <p:sp>
        <p:nvSpPr>
          <p:cNvPr id="23" name="矩形 22"/>
          <p:cNvSpPr>
            <a:spLocks noGrp="1"/>
          </p:cNvSpPr>
          <p:nvPr/>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72</a:t>
            </a:r>
            <a:endParaRPr sz="1000" b="0">
              <a:solidFill>
                <a:schemeClr val="bg1"/>
              </a:solidFill>
            </a:endParaRPr>
          </a:p>
          <a:p>
            <a:pPr algn="ctr">
              <a:buNone/>
            </a:pPr>
            <a:r>
              <a:rPr sz="1000" b="0">
                <a:solidFill>
                  <a:schemeClr val="bg1"/>
                </a:solidFill>
              </a:rPr>
              <a:t>187</a:t>
            </a:r>
            <a:endParaRPr sz="1000" b="0">
              <a:solidFill>
                <a:schemeClr val="bg1"/>
              </a:solidFill>
            </a:endParaRPr>
          </a:p>
          <a:p>
            <a:pPr algn="ctr">
              <a:buNone/>
            </a:pPr>
            <a:r>
              <a:rPr sz="1000" b="0">
                <a:solidFill>
                  <a:schemeClr val="bg1"/>
                </a:solidFill>
              </a:rPr>
              <a:t>0</a:t>
            </a:r>
            <a:endParaRPr sz="1000" b="0">
              <a:solidFill>
                <a:schemeClr val="bg1"/>
              </a:solidFill>
            </a:endParaRPr>
          </a:p>
          <a:p>
            <a:pPr algn="ctr">
              <a:buNone/>
            </a:pPr>
            <a:r>
              <a:rPr sz="1000" b="0">
                <a:solidFill>
                  <a:schemeClr val="bg1"/>
                </a:solidFill>
              </a:rPr>
              <a:t>#48BB00</a:t>
            </a:r>
            <a:endParaRPr sz="1000" b="0">
              <a:solidFill>
                <a:schemeClr val="bg1"/>
              </a:solidFill>
            </a:endParaRPr>
          </a:p>
        </p:txBody>
      </p:sp>
      <p:sp>
        <p:nvSpPr>
          <p:cNvPr id="24" name="矩形 23"/>
          <p:cNvSpPr>
            <a:spLocks noGrp="1"/>
          </p:cNvSpPr>
          <p:nvPr/>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164</a:t>
            </a:r>
            <a:endParaRPr sz="1000" b="0">
              <a:solidFill>
                <a:schemeClr val="bg1"/>
              </a:solidFill>
            </a:endParaRPr>
          </a:p>
          <a:p>
            <a:pPr algn="ctr">
              <a:buNone/>
            </a:pPr>
            <a:r>
              <a:rPr sz="1000" b="0">
                <a:solidFill>
                  <a:schemeClr val="bg1"/>
                </a:solidFill>
              </a:rPr>
              <a:t>212</a:t>
            </a:r>
            <a:endParaRPr sz="1000" b="0">
              <a:solidFill>
                <a:schemeClr val="bg1"/>
              </a:solidFill>
            </a:endParaRPr>
          </a:p>
          <a:p>
            <a:pPr algn="ctr">
              <a:buNone/>
            </a:pPr>
            <a:r>
              <a:rPr sz="1000" b="0">
                <a:solidFill>
                  <a:schemeClr val="bg1"/>
                </a:solidFill>
              </a:rPr>
              <a:t>135</a:t>
            </a:r>
            <a:endParaRPr sz="1000" b="0">
              <a:solidFill>
                <a:schemeClr val="bg1"/>
              </a:solidFill>
            </a:endParaRPr>
          </a:p>
          <a:p>
            <a:pPr algn="ctr">
              <a:buNone/>
            </a:pPr>
            <a:r>
              <a:rPr sz="1000" b="0">
                <a:solidFill>
                  <a:schemeClr val="bg1"/>
                </a:solidFill>
              </a:rPr>
              <a:t>#</a:t>
            </a:r>
            <a:r>
              <a:rPr sz="1000" b="0">
                <a:solidFill>
                  <a:schemeClr val="bg1"/>
                </a:solidFill>
              </a:rPr>
              <a:t>A4D487</a:t>
            </a:r>
            <a:endParaRPr sz="1000" b="0">
              <a:solidFill>
                <a:schemeClr val="bg1"/>
              </a:solidFill>
            </a:endParaRPr>
          </a:p>
        </p:txBody>
      </p:sp>
      <p:pic>
        <p:nvPicPr>
          <p:cNvPr id="37" name="图片 24"/>
          <p:cNvPicPr>
            <a:picLocks noChangeAspect="1"/>
          </p:cNvPicPr>
          <p:nvPr/>
        </p:nvPicPr>
        <p:blipFill>
          <a:blip r:embed="rId11"/>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a:noFill/>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14" name="文本框 13"/>
          <p:cNvSpPr>
            <a:spLocks noGrp="1"/>
          </p:cNvSpPr>
          <p:nvPr/>
        </p:nvSpPr>
        <p:spPr>
          <a:xfrm>
            <a:off x="10715725" y="6538912"/>
            <a:ext cx="1276149" cy="246221"/>
          </a:xfrm>
          <a:prstGeom prst="rect">
            <a:avLst/>
          </a:prstGeom>
          <a:noFill/>
        </p:spPr>
        <p:txBody>
          <a:bodyPr wrap="square">
            <a:spAutoFit/>
          </a:bodyPr>
          <a:lstStyle/>
          <a:p>
            <a:pPr algn="r">
              <a:buNone/>
            </a:pPr>
            <a:endParaRPr sz="1000" b="0" i="0" baseline="0">
              <a:solidFill>
                <a:srgbClr val="898989"/>
              </a:solidFill>
              <a:latin typeface="Arial" panose="020B0604020202020204"/>
              <a:ea typeface="Arial" panose="020B0604020202020204"/>
              <a:cs typeface="Arial" panose="020B0604020202020204"/>
            </a:endParaRPr>
          </a:p>
        </p:txBody>
      </p:sp>
      <p:sp>
        <p:nvSpPr>
          <p:cNvPr id="15" name="文本框 14"/>
          <p:cNvSpPr>
            <a:spLocks noGrp="1"/>
          </p:cNvSpPr>
          <p:nvPr/>
        </p:nvSpPr>
        <p:spPr>
          <a:xfrm>
            <a:off x="119427" y="6530079"/>
            <a:ext cx="4075584" cy="230832"/>
          </a:xfrm>
          <a:prstGeom prst="rect">
            <a:avLst/>
          </a:prstGeom>
          <a:noFill/>
        </p:spPr>
        <p:txBody>
          <a:bodyPr wrap="square">
            <a:spAutoFit/>
          </a:bodyPr>
          <a:lstStyle/>
          <a:p>
            <a:r>
              <a:rPr sz="900" b="0" i="0">
                <a:solidFill>
                  <a:srgbClr val="898989"/>
                </a:solidFill>
                <a:latin typeface="Arial" panose="020B0604020202020204"/>
                <a:ea typeface="Arial" panose="020B0604020202020204"/>
                <a:cs typeface="Arial" panose="020B0604020202020204"/>
              </a:rPr>
              <a:t>| </a:t>
            </a:r>
            <a:r>
              <a:rPr sz="900" b="0" i="0">
                <a:solidFill>
                  <a:srgbClr val="898989"/>
                </a:solidFill>
                <a:latin typeface="Arial" panose="020B0604020202020204"/>
                <a:ea typeface="Arial" panose="020B0604020202020204"/>
                <a:cs typeface="Arial" panose="020B0604020202020204"/>
              </a:rPr>
              <a:t>沐曦内部资料 </a:t>
            </a:r>
            <a:r>
              <a:rPr sz="900" b="0" i="0">
                <a:solidFill>
                  <a:srgbClr val="898989"/>
                </a:solidFill>
                <a:latin typeface="Arial" panose="020B0604020202020204"/>
                <a:ea typeface="Arial" panose="020B0604020202020204"/>
                <a:cs typeface="Arial" panose="020B0604020202020204"/>
              </a:rPr>
              <a:t>| MetaX Confidential | All Rights Reserved | </a:t>
            </a:r>
            <a:endParaRPr sz="900" b="0" i="0" baseline="0">
              <a:solidFill>
                <a:srgbClr val="898989"/>
              </a:solidFill>
              <a:latin typeface="Arial" panose="020B0604020202020204"/>
              <a:ea typeface="Arial" panose="020B0604020202020204"/>
              <a:cs typeface="Arial" panose="020B0604020202020204"/>
            </a:endParaRPr>
          </a:p>
        </p:txBody>
      </p:sp>
      <p:sp>
        <p:nvSpPr>
          <p:cNvPr id="18" name="矩形 17"/>
          <p:cNvSpPr>
            <a:spLocks noGrp="1"/>
          </p:cNvSpPr>
          <p:nvPr/>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00" b="0"/>
          </a:p>
        </p:txBody>
      </p:sp>
      <p:sp>
        <p:nvSpPr>
          <p:cNvPr id="19" name="矩形 18"/>
          <p:cNvSpPr>
            <a:spLocks noGrp="1"/>
          </p:cNvSpPr>
          <p:nvPr/>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168</a:t>
            </a:r>
            <a:endParaRPr sz="1000" b="0">
              <a:solidFill>
                <a:schemeClr val="bg1"/>
              </a:solidFill>
            </a:endParaRPr>
          </a:p>
          <a:p>
            <a:pPr algn="ctr">
              <a:buNone/>
            </a:pPr>
            <a:r>
              <a:rPr sz="1000" b="0">
                <a:solidFill>
                  <a:schemeClr val="bg1"/>
                </a:solidFill>
              </a:rPr>
              <a:t>148</a:t>
            </a:r>
            <a:endParaRPr sz="1000" b="0">
              <a:solidFill>
                <a:schemeClr val="bg1"/>
              </a:solidFill>
            </a:endParaRPr>
          </a:p>
          <a:p>
            <a:pPr algn="ctr">
              <a:buNone/>
            </a:pPr>
            <a:r>
              <a:rPr sz="1000" b="0">
                <a:solidFill>
                  <a:schemeClr val="bg1"/>
                </a:solidFill>
              </a:rPr>
              <a:t>177</a:t>
            </a:r>
            <a:endParaRPr sz="1000" b="0">
              <a:solidFill>
                <a:schemeClr val="bg1"/>
              </a:solidFill>
            </a:endParaRPr>
          </a:p>
          <a:p>
            <a:pPr marL="0" marR="0" indent="0" algn="ctr" defTabSz="914400">
              <a:lnSpc>
                <a:spcPct val="100000"/>
              </a:lnSpc>
              <a:spcBef>
                <a:spcPts val="0"/>
              </a:spcBef>
              <a:spcAft>
                <a:spcPts val="0"/>
              </a:spcAft>
              <a:buClrTx/>
              <a:buSzTx/>
              <a:buFontTx/>
              <a:buNone/>
            </a:pPr>
            <a:r>
              <a:rPr sz="1000" b="0"/>
              <a:t>#A894B1</a:t>
            </a:r>
            <a:endParaRPr sz="1000" b="0"/>
          </a:p>
        </p:txBody>
      </p:sp>
      <p:sp>
        <p:nvSpPr>
          <p:cNvPr id="20" name="矩形 19"/>
          <p:cNvSpPr>
            <a:spLocks noGrp="1"/>
          </p:cNvSpPr>
          <p:nvPr/>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t>102</a:t>
            </a:r>
            <a:endParaRPr sz="1000" b="0"/>
          </a:p>
          <a:p>
            <a:pPr algn="ctr">
              <a:buNone/>
            </a:pPr>
            <a:r>
              <a:rPr sz="1000" b="0"/>
              <a:t>8</a:t>
            </a:r>
            <a:endParaRPr sz="1000" b="0"/>
          </a:p>
          <a:p>
            <a:pPr algn="ctr">
              <a:buNone/>
            </a:pPr>
            <a:r>
              <a:rPr sz="1000" b="0"/>
              <a:t>116</a:t>
            </a:r>
            <a:endParaRPr sz="1000" b="0"/>
          </a:p>
          <a:p>
            <a:pPr algn="ctr">
              <a:buNone/>
            </a:pPr>
            <a:r>
              <a:rPr sz="1000" b="0"/>
              <a:t>#660874</a:t>
            </a:r>
            <a:endParaRPr sz="1000" b="0"/>
          </a:p>
        </p:txBody>
      </p:sp>
      <p:sp>
        <p:nvSpPr>
          <p:cNvPr id="21" name="矩形 20"/>
          <p:cNvSpPr>
            <a:spLocks noGrp="1"/>
          </p:cNvSpPr>
          <p:nvPr/>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30</a:t>
            </a:r>
            <a:endParaRPr sz="1000" b="0">
              <a:solidFill>
                <a:schemeClr val="bg1"/>
              </a:solidFill>
            </a:endParaRPr>
          </a:p>
          <a:p>
            <a:pPr algn="ctr">
              <a:buNone/>
            </a:pPr>
            <a:r>
              <a:rPr sz="1000" b="0">
                <a:solidFill>
                  <a:schemeClr val="bg1"/>
                </a:solidFill>
              </a:rPr>
              <a:t>142</a:t>
            </a:r>
            <a:endParaRPr sz="1000" b="0">
              <a:solidFill>
                <a:schemeClr val="bg1"/>
              </a:solidFill>
            </a:endParaRPr>
          </a:p>
          <a:p>
            <a:pPr algn="ctr">
              <a:buNone/>
            </a:pPr>
            <a:r>
              <a:rPr sz="1000" b="0">
                <a:solidFill>
                  <a:schemeClr val="bg1"/>
                </a:solidFill>
              </a:rPr>
              <a:t>148</a:t>
            </a:r>
            <a:endParaRPr sz="1000" b="0">
              <a:solidFill>
                <a:schemeClr val="bg1"/>
              </a:solidFill>
            </a:endParaRPr>
          </a:p>
          <a:p>
            <a:pPr algn="ctr">
              <a:buNone/>
            </a:pPr>
            <a:r>
              <a:rPr sz="1000" b="0">
                <a:solidFill>
                  <a:schemeClr val="bg1"/>
                </a:solidFill>
              </a:rPr>
              <a:t>#1E8E94</a:t>
            </a:r>
            <a:endParaRPr sz="1000" b="0">
              <a:solidFill>
                <a:schemeClr val="bg1"/>
              </a:solidFill>
            </a:endParaRPr>
          </a:p>
        </p:txBody>
      </p:sp>
      <p:sp>
        <p:nvSpPr>
          <p:cNvPr id="22" name="矩形 21"/>
          <p:cNvSpPr>
            <a:spLocks noGrp="1"/>
          </p:cNvSpPr>
          <p:nvPr/>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tx1"/>
                </a:solidFill>
              </a:rPr>
              <a:t>229</a:t>
            </a:r>
            <a:endParaRPr sz="1000" b="0">
              <a:solidFill>
                <a:schemeClr val="tx1"/>
              </a:solidFill>
            </a:endParaRPr>
          </a:p>
          <a:p>
            <a:pPr algn="ctr">
              <a:buNone/>
            </a:pPr>
            <a:r>
              <a:rPr sz="1000" b="0">
                <a:solidFill>
                  <a:schemeClr val="tx1"/>
                </a:solidFill>
              </a:rPr>
              <a:t>230</a:t>
            </a:r>
            <a:endParaRPr sz="1000" b="0">
              <a:solidFill>
                <a:schemeClr val="tx1"/>
              </a:solidFill>
            </a:endParaRPr>
          </a:p>
          <a:p>
            <a:pPr algn="ctr">
              <a:buNone/>
            </a:pPr>
            <a:r>
              <a:rPr sz="1000" b="0">
                <a:solidFill>
                  <a:schemeClr val="tx1"/>
                </a:solidFill>
              </a:rPr>
              <a:t>233</a:t>
            </a:r>
            <a:endParaRPr sz="1000" b="0">
              <a:solidFill>
                <a:schemeClr val="tx1"/>
              </a:solidFill>
            </a:endParaRPr>
          </a:p>
          <a:p>
            <a:pPr algn="ctr">
              <a:buNone/>
            </a:pPr>
            <a:r>
              <a:rPr sz="1000" b="0">
                <a:solidFill>
                  <a:schemeClr val="tx1"/>
                </a:solidFill>
              </a:rPr>
              <a:t>#E5E6E9</a:t>
            </a:r>
            <a:endParaRPr sz="1000" b="0">
              <a:solidFill>
                <a:schemeClr val="tx1"/>
              </a:solidFill>
            </a:endParaRPr>
          </a:p>
        </p:txBody>
      </p:sp>
      <p:sp>
        <p:nvSpPr>
          <p:cNvPr id="23" name="矩形 22"/>
          <p:cNvSpPr>
            <a:spLocks noGrp="1"/>
          </p:cNvSpPr>
          <p:nvPr/>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72</a:t>
            </a:r>
            <a:endParaRPr sz="1000" b="0">
              <a:solidFill>
                <a:schemeClr val="bg1"/>
              </a:solidFill>
            </a:endParaRPr>
          </a:p>
          <a:p>
            <a:pPr algn="ctr">
              <a:buNone/>
            </a:pPr>
            <a:r>
              <a:rPr sz="1000" b="0">
                <a:solidFill>
                  <a:schemeClr val="bg1"/>
                </a:solidFill>
              </a:rPr>
              <a:t>187</a:t>
            </a:r>
            <a:endParaRPr sz="1000" b="0">
              <a:solidFill>
                <a:schemeClr val="bg1"/>
              </a:solidFill>
            </a:endParaRPr>
          </a:p>
          <a:p>
            <a:pPr algn="ctr">
              <a:buNone/>
            </a:pPr>
            <a:r>
              <a:rPr sz="1000" b="0">
                <a:solidFill>
                  <a:schemeClr val="bg1"/>
                </a:solidFill>
              </a:rPr>
              <a:t>0</a:t>
            </a:r>
            <a:endParaRPr sz="1000" b="0">
              <a:solidFill>
                <a:schemeClr val="bg1"/>
              </a:solidFill>
            </a:endParaRPr>
          </a:p>
          <a:p>
            <a:pPr algn="ctr">
              <a:buNone/>
            </a:pPr>
            <a:r>
              <a:rPr sz="1000" b="0">
                <a:solidFill>
                  <a:schemeClr val="bg1"/>
                </a:solidFill>
              </a:rPr>
              <a:t>#48BB00</a:t>
            </a:r>
            <a:endParaRPr sz="1000" b="0">
              <a:solidFill>
                <a:schemeClr val="bg1"/>
              </a:solidFill>
            </a:endParaRPr>
          </a:p>
        </p:txBody>
      </p:sp>
      <p:sp>
        <p:nvSpPr>
          <p:cNvPr id="24" name="矩形 23"/>
          <p:cNvSpPr>
            <a:spLocks noGrp="1"/>
          </p:cNvSpPr>
          <p:nvPr/>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164</a:t>
            </a:r>
            <a:endParaRPr sz="1000" b="0">
              <a:solidFill>
                <a:schemeClr val="bg1"/>
              </a:solidFill>
            </a:endParaRPr>
          </a:p>
          <a:p>
            <a:pPr algn="ctr">
              <a:buNone/>
            </a:pPr>
            <a:r>
              <a:rPr sz="1000" b="0">
                <a:solidFill>
                  <a:schemeClr val="bg1"/>
                </a:solidFill>
              </a:rPr>
              <a:t>212</a:t>
            </a:r>
            <a:endParaRPr sz="1000" b="0">
              <a:solidFill>
                <a:schemeClr val="bg1"/>
              </a:solidFill>
            </a:endParaRPr>
          </a:p>
          <a:p>
            <a:pPr algn="ctr">
              <a:buNone/>
            </a:pPr>
            <a:r>
              <a:rPr sz="1000" b="0">
                <a:solidFill>
                  <a:schemeClr val="bg1"/>
                </a:solidFill>
              </a:rPr>
              <a:t>135</a:t>
            </a:r>
            <a:endParaRPr sz="1000" b="0">
              <a:solidFill>
                <a:schemeClr val="bg1"/>
              </a:solidFill>
            </a:endParaRPr>
          </a:p>
          <a:p>
            <a:pPr algn="ctr">
              <a:buNone/>
            </a:pPr>
            <a:r>
              <a:rPr sz="1000" b="0">
                <a:solidFill>
                  <a:schemeClr val="bg1"/>
                </a:solidFill>
              </a:rPr>
              <a:t>#</a:t>
            </a:r>
            <a:r>
              <a:rPr sz="1000" b="0">
                <a:solidFill>
                  <a:schemeClr val="bg1"/>
                </a:solidFill>
              </a:rPr>
              <a:t>A4D487</a:t>
            </a:r>
            <a:endParaRPr sz="1000" b="0">
              <a:solidFill>
                <a:schemeClr val="bg1"/>
              </a:solidFill>
            </a:endParaRPr>
          </a:p>
        </p:txBody>
      </p:sp>
      <p:pic>
        <p:nvPicPr>
          <p:cNvPr id="37" name="图片 24"/>
          <p:cNvPicPr>
            <a:picLocks noChangeAspect="1"/>
          </p:cNvPicPr>
          <p:nvPr/>
        </p:nvPicPr>
        <p:blipFill>
          <a:blip r:embed="rId11"/>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0" Type="http://schemas.openxmlformats.org/officeDocument/2006/relationships/notesSlide" Target="../notesSlides/notesSlide3.xml"/><Relationship Id="rId2" Type="http://schemas.openxmlformats.org/officeDocument/2006/relationships/tags" Target="../tags/tag2.xml"/><Relationship Id="rId19" Type="http://schemas.openxmlformats.org/officeDocument/2006/relationships/slideLayout" Target="../slideLayouts/slideLayout3.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2" Type="http://schemas.openxmlformats.org/officeDocument/2006/relationships/notesSlide" Target="../notesSlides/notesSlide12.xml"/><Relationship Id="rId21" Type="http://schemas.openxmlformats.org/officeDocument/2006/relationships/slideLayout" Target="../slideLayouts/slideLayout34.xml"/><Relationship Id="rId20" Type="http://schemas.openxmlformats.org/officeDocument/2006/relationships/tags" Target="../tags/tag38.xml"/><Relationship Id="rId2" Type="http://schemas.openxmlformats.org/officeDocument/2006/relationships/tags" Target="../tags/tag20.xml"/><Relationship Id="rId19" Type="http://schemas.openxmlformats.org/officeDocument/2006/relationships/tags" Target="../tags/tag37.xml"/><Relationship Id="rId18" Type="http://schemas.openxmlformats.org/officeDocument/2006/relationships/tags" Target="../tags/tag36.xml"/><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19.xml"/></Relationships>
</file>

<file path=ppt/slides/_rels/slide13.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2" Type="http://schemas.openxmlformats.org/officeDocument/2006/relationships/notesSlide" Target="../notesSlides/notesSlide13.xml"/><Relationship Id="rId31" Type="http://schemas.openxmlformats.org/officeDocument/2006/relationships/slideLayout" Target="../slideLayouts/slideLayout24.xml"/><Relationship Id="rId30" Type="http://schemas.openxmlformats.org/officeDocument/2006/relationships/tags" Target="../tags/tag68.xml"/><Relationship Id="rId3" Type="http://schemas.openxmlformats.org/officeDocument/2006/relationships/tags" Target="../tags/tag41.xml"/><Relationship Id="rId29" Type="http://schemas.openxmlformats.org/officeDocument/2006/relationships/tags" Target="../tags/tag67.xml"/><Relationship Id="rId28" Type="http://schemas.openxmlformats.org/officeDocument/2006/relationships/tags" Target="../tags/tag66.xml"/><Relationship Id="rId27" Type="http://schemas.openxmlformats.org/officeDocument/2006/relationships/tags" Target="../tags/tag65.xml"/><Relationship Id="rId26" Type="http://schemas.openxmlformats.org/officeDocument/2006/relationships/tags" Target="../tags/tag64.xml"/><Relationship Id="rId25" Type="http://schemas.openxmlformats.org/officeDocument/2006/relationships/tags" Target="../tags/tag63.xml"/><Relationship Id="rId24" Type="http://schemas.openxmlformats.org/officeDocument/2006/relationships/tags" Target="../tags/tag62.xml"/><Relationship Id="rId23" Type="http://schemas.openxmlformats.org/officeDocument/2006/relationships/tags" Target="../tags/tag61.xml"/><Relationship Id="rId22" Type="http://schemas.openxmlformats.org/officeDocument/2006/relationships/tags" Target="../tags/tag60.xml"/><Relationship Id="rId21" Type="http://schemas.openxmlformats.org/officeDocument/2006/relationships/tags" Target="../tags/tag59.xml"/><Relationship Id="rId20" Type="http://schemas.openxmlformats.org/officeDocument/2006/relationships/tags" Target="../tags/tag58.xml"/><Relationship Id="rId2" Type="http://schemas.openxmlformats.org/officeDocument/2006/relationships/tags" Target="../tags/tag40.xml"/><Relationship Id="rId19" Type="http://schemas.openxmlformats.org/officeDocument/2006/relationships/tags" Target="../tags/tag57.xml"/><Relationship Id="rId18" Type="http://schemas.openxmlformats.org/officeDocument/2006/relationships/tags" Target="../tags/tag56.xml"/><Relationship Id="rId17" Type="http://schemas.openxmlformats.org/officeDocument/2006/relationships/tags" Target="../tags/tag55.xml"/><Relationship Id="rId16" Type="http://schemas.openxmlformats.org/officeDocument/2006/relationships/tags" Target="../tags/tag54.xml"/><Relationship Id="rId15" Type="http://schemas.openxmlformats.org/officeDocument/2006/relationships/tags" Target="../tags/tag53.xml"/><Relationship Id="rId14" Type="http://schemas.openxmlformats.org/officeDocument/2006/relationships/tags" Target="../tags/tag52.xml"/><Relationship Id="rId13" Type="http://schemas.openxmlformats.org/officeDocument/2006/relationships/tags" Target="../tags/tag51.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tags" Target="../tags/tag3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4.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4.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4.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21.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8" Type="http://schemas.openxmlformats.org/officeDocument/2006/relationships/notesSlide" Target="../notesSlides/notesSlide21.xml"/><Relationship Id="rId37" Type="http://schemas.openxmlformats.org/officeDocument/2006/relationships/slideLayout" Target="../slideLayouts/slideLayout7.xml"/><Relationship Id="rId36" Type="http://schemas.openxmlformats.org/officeDocument/2006/relationships/tags" Target="../tags/tag105.xml"/><Relationship Id="rId35" Type="http://schemas.openxmlformats.org/officeDocument/2006/relationships/tags" Target="../tags/tag104.xml"/><Relationship Id="rId34" Type="http://schemas.openxmlformats.org/officeDocument/2006/relationships/tags" Target="../tags/tag103.xml"/><Relationship Id="rId33" Type="http://schemas.openxmlformats.org/officeDocument/2006/relationships/tags" Target="../tags/tag102.xml"/><Relationship Id="rId32" Type="http://schemas.openxmlformats.org/officeDocument/2006/relationships/tags" Target="../tags/tag101.xml"/><Relationship Id="rId31" Type="http://schemas.openxmlformats.org/officeDocument/2006/relationships/tags" Target="../tags/tag100.xml"/><Relationship Id="rId30" Type="http://schemas.openxmlformats.org/officeDocument/2006/relationships/tags" Target="../tags/tag99.xml"/><Relationship Id="rId3" Type="http://schemas.openxmlformats.org/officeDocument/2006/relationships/tags" Target="../tags/tag72.xml"/><Relationship Id="rId29" Type="http://schemas.openxmlformats.org/officeDocument/2006/relationships/tags" Target="../tags/tag98.xml"/><Relationship Id="rId28" Type="http://schemas.openxmlformats.org/officeDocument/2006/relationships/tags" Target="../tags/tag97.xml"/><Relationship Id="rId27" Type="http://schemas.openxmlformats.org/officeDocument/2006/relationships/tags" Target="../tags/tag96.xml"/><Relationship Id="rId26" Type="http://schemas.openxmlformats.org/officeDocument/2006/relationships/tags" Target="../tags/tag95.xml"/><Relationship Id="rId25" Type="http://schemas.openxmlformats.org/officeDocument/2006/relationships/tags" Target="../tags/tag94.xml"/><Relationship Id="rId24" Type="http://schemas.openxmlformats.org/officeDocument/2006/relationships/tags" Target="../tags/tag93.xml"/><Relationship Id="rId23" Type="http://schemas.openxmlformats.org/officeDocument/2006/relationships/tags" Target="../tags/tag92.xml"/><Relationship Id="rId22" Type="http://schemas.openxmlformats.org/officeDocument/2006/relationships/tags" Target="../tags/tag91.xml"/><Relationship Id="rId21" Type="http://schemas.openxmlformats.org/officeDocument/2006/relationships/tags" Target="../tags/tag90.xml"/><Relationship Id="rId20" Type="http://schemas.openxmlformats.org/officeDocument/2006/relationships/tags" Target="../tags/tag89.xml"/><Relationship Id="rId2" Type="http://schemas.openxmlformats.org/officeDocument/2006/relationships/tags" Target="../tags/tag71.xml"/><Relationship Id="rId19" Type="http://schemas.openxmlformats.org/officeDocument/2006/relationships/tags" Target="../tags/tag88.xml"/><Relationship Id="rId18" Type="http://schemas.openxmlformats.org/officeDocument/2006/relationships/tags" Target="../tags/tag8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744220" y="2720340"/>
            <a:ext cx="10500995" cy="967740"/>
          </a:xfrm>
        </p:spPr>
        <p:txBody>
          <a:bodyPr>
            <a:normAutofit fontScale="90000"/>
          </a:bodyPr>
          <a:lstStyle/>
          <a:p>
            <a:r>
              <a:rPr lang="zh-CN" sz="3600">
                <a:latin typeface="Source Han Sans SC"/>
                <a:ea typeface="Source Han Sans SC"/>
              </a:rPr>
              <a:t>第四课：从</a:t>
            </a:r>
            <a:r>
              <a:rPr sz="3600">
                <a:latin typeface="Source Han Sans SC"/>
              </a:rPr>
              <a:t> Encoder-Decoder </a:t>
            </a:r>
            <a:r>
              <a:rPr lang="zh-CN" sz="3600">
                <a:latin typeface="Source Han Sans SC"/>
                <a:ea typeface="Source Han Sans SC"/>
              </a:rPr>
              <a:t>到</a:t>
            </a:r>
            <a:r>
              <a:rPr sz="3600">
                <a:latin typeface="Source Han Sans SC"/>
              </a:rPr>
              <a:t> Decoder-Only</a:t>
            </a:r>
            <a:endParaRPr sz="3600"/>
          </a:p>
        </p:txBody>
      </p:sp>
      <p:sp>
        <p:nvSpPr>
          <p:cNvPr id="3" name="副标题 2"/>
          <p:cNvSpPr>
            <a:spLocks noGrp="1"/>
          </p:cNvSpPr>
          <p:nvPr>
            <p:ph type="subTitle" idx="1"/>
          </p:nvPr>
        </p:nvSpPr>
        <p:spPr/>
        <p:txBody>
          <a:bodyPr/>
          <a:lstStyle/>
          <a:p>
            <a:r>
              <a:rPr lang="zh-CN">
                <a:latin typeface="Source Han Sans SC"/>
                <a:ea typeface="Source Han Sans SC"/>
              </a:rPr>
              <a:t>训练篇｜</a:t>
            </a:r>
            <a:r>
              <a:rPr>
                <a:latin typeface="Source Han Sans SC"/>
              </a:rPr>
              <a:t>nanochat on MetaX C500</a:t>
            </a:r>
            <a:r>
              <a:rPr lang="zh-CN">
                <a:latin typeface="Source Han Sans SC"/>
                <a:ea typeface="Source Han Sans SC"/>
              </a:rPr>
              <a:t>｜只讲训练，不讲推理</a:t>
            </a:r>
            <a:endParaRPr lang="zh-CN">
              <a:latin typeface="Source Han Sans SC"/>
              <a:ea typeface="Source Han Sans S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 name="title"/>
          <p:cNvSpPr>
            <a:spLocks noGrp="1"/>
          </p:cNvSpPr>
          <p:nvPr/>
        </p:nvSpPr>
        <p:spPr>
          <a:xfrm>
            <a:off x="333375" y="95250"/>
            <a:ext cx="10058400" cy="647700"/>
          </a:xfrm>
          <a:prstGeom prst="rect">
            <a:avLst/>
          </a:prstGeom>
          <a:noFill/>
          <a:ln w="0">
            <a:noFill/>
            <a:prstDash val="solid"/>
          </a:ln>
        </p:spPr>
        <p:txBody>
          <a:bodyPr wrap="square" lIns="38100" tIns="19050" rIns="38100" bIns="19050" anchor="ctr">
            <a:normAutofit/>
          </a:bodyPr>
          <a:lstStyle/>
          <a:p>
            <a:pPr algn="l">
              <a:defRPr sz="3200" b="1">
                <a:solidFill>
                  <a:srgbClr val="1F2937"/>
                </a:solidFill>
              </a:defRPr>
            </a:pPr>
            <a:r>
              <a:rPr lang="zh-CN" sz="3200" b="1">
                <a:solidFill>
                  <a:srgbClr val="1F2937"/>
                </a:solidFill>
                <a:latin typeface="Source Han Sans SC"/>
                <a:ea typeface="Source Han Sans SC"/>
              </a:rPr>
              <a:t>建立一条完整的</a:t>
            </a:r>
            <a:r>
              <a:rPr sz="3200" b="1">
                <a:solidFill>
                  <a:srgbClr val="1F2937"/>
                </a:solidFill>
                <a:latin typeface="Source Han Sans SC"/>
              </a:rPr>
              <a:t> Decoder-Only </a:t>
            </a:r>
            <a:r>
              <a:rPr lang="zh-CN" sz="3200" b="1">
                <a:solidFill>
                  <a:srgbClr val="1F2937"/>
                </a:solidFill>
                <a:latin typeface="Source Han Sans SC"/>
                <a:ea typeface="Source Han Sans SC"/>
              </a:rPr>
              <a:t>训练链路</a:t>
            </a:r>
            <a:endParaRPr sz="3200" b="1">
              <a:solidFill>
                <a:srgbClr val="1F2937"/>
              </a:solidFill>
            </a:endParaRPr>
          </a:p>
        </p:txBody>
      </p:sp>
      <p:sp>
        <p:nvSpPr>
          <p:cNvPr id="2" name="矩形 1"/>
          <p:cNvSpPr>
            <a:spLocks noGrp="1"/>
          </p:cNvSpPr>
          <p:nvPr/>
        </p:nvSpPr>
        <p:spPr>
          <a:xfrm>
            <a:off x="333375" y="971550"/>
            <a:ext cx="8572500" cy="228600"/>
          </a:xfrm>
          <a:prstGeom prst="rect">
            <a:avLst/>
          </a:prstGeom>
          <a:noFill/>
          <a:ln w="0">
            <a:noFill/>
            <a:prstDash val="solid"/>
          </a:ln>
        </p:spPr>
        <p:txBody>
          <a:bodyPr wrap="square" lIns="38100" tIns="19050" rIns="38100" bIns="19050" anchor="ctr">
            <a:normAutofit fontScale="92593"/>
          </a:bodyPr>
          <a:lstStyle/>
          <a:p>
            <a:pPr algn="l">
              <a:defRPr sz="1350" b="0">
                <a:solidFill>
                  <a:srgbClr val="5F6B7A"/>
                </a:solidFill>
              </a:defRPr>
            </a:pPr>
            <a:r>
              <a:rPr lang="zh-CN" sz="1350" b="0">
                <a:solidFill>
                  <a:srgbClr val="5F6B7A"/>
                </a:solidFill>
                <a:latin typeface="Source Han Sans SC"/>
                <a:ea typeface="Source Han Sans SC"/>
              </a:rPr>
              <a:t>先建立宏观范围，再进入机制、代码与</a:t>
            </a:r>
            <a:r>
              <a:rPr sz="1350" b="0">
                <a:solidFill>
                  <a:srgbClr val="5F6B7A"/>
                </a:solidFill>
                <a:latin typeface="Source Han Sans SC"/>
              </a:rPr>
              <a:t> C500 </a:t>
            </a:r>
            <a:r>
              <a:rPr lang="zh-CN" sz="1350" b="0">
                <a:solidFill>
                  <a:srgbClr val="5F6B7A"/>
                </a:solidFill>
                <a:latin typeface="Source Han Sans SC"/>
                <a:ea typeface="Source Han Sans SC"/>
              </a:rPr>
              <a:t>证据</a:t>
            </a:r>
            <a:endParaRPr sz="1350" b="0">
              <a:solidFill>
                <a:srgbClr val="5F6B7A"/>
              </a:solidFill>
            </a:endParaRPr>
          </a:p>
        </p:txBody>
      </p:sp>
      <p:sp>
        <p:nvSpPr>
          <p:cNvPr id="3" name="直接连接符 2"/>
          <p:cNvSpPr>
            <a:spLocks noGrp="1"/>
          </p:cNvSpPr>
          <p:nvPr/>
        </p:nvSpPr>
        <p:spPr>
          <a:xfrm>
            <a:off x="2809875" y="3000375"/>
            <a:ext cx="304800" cy="0"/>
          </a:xfrm>
          <a:prstGeom prst="line">
            <a:avLst/>
          </a:prstGeom>
          <a:noFill/>
          <a:ln w="20955">
            <a:solidFill>
              <a:srgbClr val="5F6B7A"/>
            </a:solidFill>
            <a:prstDash val="solid"/>
          </a:ln>
        </p:spPr>
      </p:sp>
      <p:sp>
        <p:nvSpPr>
          <p:cNvPr id="4" name="任意多边形 3"/>
          <p:cNvSpPr>
            <a:spLocks noGrp="1"/>
          </p:cNvSpPr>
          <p:nvPr/>
        </p:nvSpPr>
        <p:spPr>
          <a:xfrm>
            <a:off x="3009900" y="2952750"/>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sp>
      <p:sp>
        <p:nvSpPr>
          <p:cNvPr id="5" name="圆角矩形 4"/>
          <p:cNvSpPr>
            <a:spLocks noGrp="1"/>
          </p:cNvSpPr>
          <p:nvPr/>
        </p:nvSpPr>
        <p:spPr>
          <a:xfrm>
            <a:off x="428625" y="1571625"/>
            <a:ext cx="2381250" cy="2857500"/>
          </a:xfrm>
          <a:prstGeom prst="roundRect">
            <a:avLst>
              <a:gd name="adj" fmla="val 3200"/>
            </a:avLst>
          </a:prstGeom>
          <a:solidFill>
            <a:srgbClr val="EAF1FF"/>
          </a:solidFill>
          <a:ln w="12383">
            <a:solidFill>
              <a:srgbClr val="2F6BDA"/>
            </a:solidFill>
            <a:prstDash val="solid"/>
          </a:ln>
        </p:spPr>
      </p:sp>
      <p:sp>
        <p:nvSpPr>
          <p:cNvPr id="6" name="矩形 5"/>
          <p:cNvSpPr>
            <a:spLocks noGrp="1"/>
          </p:cNvSpPr>
          <p:nvPr/>
        </p:nvSpPr>
        <p:spPr>
          <a:xfrm>
            <a:off x="542925" y="1647825"/>
            <a:ext cx="2152650" cy="285750"/>
          </a:xfrm>
          <a:prstGeom prst="rect">
            <a:avLst/>
          </a:prstGeom>
          <a:noFill/>
          <a:ln w="0">
            <a:noFill/>
            <a:prstDash val="solid"/>
          </a:ln>
        </p:spPr>
        <p:txBody>
          <a:bodyPr wrap="square" lIns="38100" tIns="19050" rIns="38100" bIns="19050" anchor="ctr">
            <a:normAutofit fontScale="98485"/>
          </a:bodyPr>
          <a:lstStyle/>
          <a:p>
            <a:pPr algn="ctr">
              <a:defRPr sz="1650" b="1">
                <a:solidFill>
                  <a:srgbClr val="2F6BDA"/>
                </a:solidFill>
              </a:defRPr>
            </a:pPr>
            <a:r>
              <a:rPr sz="1650" b="1">
                <a:solidFill>
                  <a:srgbClr val="2F6BDA"/>
                </a:solidFill>
                <a:latin typeface="Source Han Sans SC"/>
              </a:rPr>
              <a:t>1  </a:t>
            </a:r>
            <a:r>
              <a:rPr lang="zh-CN" sz="1650" b="1">
                <a:solidFill>
                  <a:srgbClr val="2F6BDA"/>
                </a:solidFill>
                <a:latin typeface="Source Han Sans SC"/>
                <a:ea typeface="Source Han Sans SC"/>
              </a:rPr>
              <a:t>结构</a:t>
            </a:r>
            <a:endParaRPr sz="1650" b="1">
              <a:solidFill>
                <a:srgbClr val="2F6BDA"/>
              </a:solidFill>
            </a:endParaRPr>
          </a:p>
        </p:txBody>
      </p:sp>
      <p:sp>
        <p:nvSpPr>
          <p:cNvPr id="7" name="矩形 6"/>
          <p:cNvSpPr>
            <a:spLocks noGrp="1"/>
          </p:cNvSpPr>
          <p:nvPr/>
        </p:nvSpPr>
        <p:spPr>
          <a:xfrm>
            <a:off x="542925" y="1952625"/>
            <a:ext cx="2152650" cy="240030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sz="1500" b="0">
                <a:solidFill>
                  <a:srgbClr val="1F2937"/>
                </a:solidFill>
                <a:latin typeface="Source Han Sans SC"/>
              </a:rPr>
              <a:t>Encoder-Decoder</a:t>
            </a:r>
            <a:endParaRPr sz="1500" b="0">
              <a:solidFill>
                <a:srgbClr val="1F2937"/>
              </a:solidFill>
            </a:endParaRPr>
          </a:p>
          <a:p>
            <a:pPr algn="ctr">
              <a:defRPr sz="1500" b="0">
                <a:solidFill>
                  <a:srgbClr val="1F2937"/>
                </a:solidFill>
              </a:defRPr>
            </a:pPr>
            <a:r>
              <a:rPr sz="1500" b="0">
                <a:solidFill>
                  <a:srgbClr val="1F2937"/>
                </a:solidFill>
                <a:latin typeface="Source Han Sans SC"/>
              </a:rPr>
              <a:t>→ Decoder-Only</a:t>
            </a:r>
            <a:endParaRPr sz="1500" b="0">
              <a:solidFill>
                <a:srgbClr val="1F2937"/>
              </a:solidFill>
            </a:endParaRPr>
          </a:p>
        </p:txBody>
      </p:sp>
      <p:sp>
        <p:nvSpPr>
          <p:cNvPr id="8" name="直接连接符 7"/>
          <p:cNvSpPr>
            <a:spLocks noGrp="1"/>
          </p:cNvSpPr>
          <p:nvPr/>
        </p:nvSpPr>
        <p:spPr>
          <a:xfrm>
            <a:off x="5638800" y="3000375"/>
            <a:ext cx="304800" cy="0"/>
          </a:xfrm>
          <a:prstGeom prst="line">
            <a:avLst/>
          </a:prstGeom>
          <a:noFill/>
          <a:ln w="20955">
            <a:solidFill>
              <a:srgbClr val="5F6B7A"/>
            </a:solidFill>
            <a:prstDash val="solid"/>
          </a:ln>
        </p:spPr>
      </p:sp>
      <p:sp>
        <p:nvSpPr>
          <p:cNvPr id="9" name="任意多边形 8"/>
          <p:cNvSpPr>
            <a:spLocks noGrp="1"/>
          </p:cNvSpPr>
          <p:nvPr/>
        </p:nvSpPr>
        <p:spPr>
          <a:xfrm>
            <a:off x="5838825" y="2952750"/>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sp>
      <p:sp>
        <p:nvSpPr>
          <p:cNvPr id="10" name="圆角矩形 9"/>
          <p:cNvSpPr>
            <a:spLocks noGrp="1"/>
          </p:cNvSpPr>
          <p:nvPr/>
        </p:nvSpPr>
        <p:spPr>
          <a:xfrm>
            <a:off x="3257550" y="1571625"/>
            <a:ext cx="2381250" cy="2857500"/>
          </a:xfrm>
          <a:prstGeom prst="roundRect">
            <a:avLst>
              <a:gd name="adj" fmla="val 3200"/>
            </a:avLst>
          </a:prstGeom>
          <a:solidFill>
            <a:srgbClr val="EEF8E9"/>
          </a:solidFill>
          <a:ln w="12383">
            <a:solidFill>
              <a:srgbClr val="48BB00"/>
            </a:solidFill>
            <a:prstDash val="solid"/>
          </a:ln>
        </p:spPr>
      </p:sp>
      <p:sp>
        <p:nvSpPr>
          <p:cNvPr id="11" name="矩形 10"/>
          <p:cNvSpPr>
            <a:spLocks noGrp="1"/>
          </p:cNvSpPr>
          <p:nvPr/>
        </p:nvSpPr>
        <p:spPr>
          <a:xfrm>
            <a:off x="3371850" y="1647825"/>
            <a:ext cx="2152650" cy="285750"/>
          </a:xfrm>
          <a:prstGeom prst="rect">
            <a:avLst/>
          </a:prstGeom>
          <a:noFill/>
          <a:ln w="0">
            <a:noFill/>
            <a:prstDash val="solid"/>
          </a:ln>
        </p:spPr>
        <p:txBody>
          <a:bodyPr wrap="square" lIns="38100" tIns="19050" rIns="38100" bIns="19050" anchor="ctr">
            <a:normAutofit fontScale="98485"/>
          </a:bodyPr>
          <a:lstStyle/>
          <a:p>
            <a:pPr algn="ctr">
              <a:defRPr sz="1650" b="1">
                <a:solidFill>
                  <a:srgbClr val="48BB00"/>
                </a:solidFill>
              </a:defRPr>
            </a:pPr>
            <a:r>
              <a:rPr sz="1650" b="1">
                <a:solidFill>
                  <a:srgbClr val="48BB00"/>
                </a:solidFill>
                <a:latin typeface="Source Han Sans SC"/>
              </a:rPr>
              <a:t>2  </a:t>
            </a:r>
            <a:r>
              <a:rPr lang="zh-CN" sz="1650" b="1">
                <a:solidFill>
                  <a:srgbClr val="48BB00"/>
                </a:solidFill>
                <a:latin typeface="Source Han Sans SC"/>
                <a:ea typeface="Source Han Sans SC"/>
              </a:rPr>
              <a:t>目标与约束</a:t>
            </a:r>
            <a:endParaRPr sz="1650" b="1">
              <a:solidFill>
                <a:srgbClr val="48BB00"/>
              </a:solidFill>
            </a:endParaRPr>
          </a:p>
        </p:txBody>
      </p:sp>
      <p:sp>
        <p:nvSpPr>
          <p:cNvPr id="12" name="矩形 11"/>
          <p:cNvSpPr>
            <a:spLocks noGrp="1"/>
          </p:cNvSpPr>
          <p:nvPr/>
        </p:nvSpPr>
        <p:spPr>
          <a:xfrm>
            <a:off x="3371850" y="1952625"/>
            <a:ext cx="2152650" cy="240030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标签右移</a:t>
            </a:r>
            <a:endParaRPr sz="1500" b="0">
              <a:solidFill>
                <a:srgbClr val="1F2937"/>
              </a:solidFill>
            </a:endParaRPr>
          </a:p>
          <a:p>
            <a:pPr algn="ctr">
              <a:defRPr sz="1500" b="0">
                <a:solidFill>
                  <a:srgbClr val="1F2937"/>
                </a:solidFill>
              </a:defRPr>
            </a:pPr>
            <a:r>
              <a:rPr sz="1500" b="0">
                <a:solidFill>
                  <a:srgbClr val="1F2937"/>
                </a:solidFill>
                <a:latin typeface="Source Han Sans SC"/>
              </a:rPr>
              <a:t>Causal Attention</a:t>
            </a:r>
            <a:endParaRPr sz="1500" b="0">
              <a:solidFill>
                <a:srgbClr val="1F2937"/>
              </a:solidFill>
            </a:endParaRPr>
          </a:p>
        </p:txBody>
      </p:sp>
      <p:sp>
        <p:nvSpPr>
          <p:cNvPr id="13" name="直接连接符 12"/>
          <p:cNvSpPr>
            <a:spLocks noGrp="1"/>
          </p:cNvSpPr>
          <p:nvPr/>
        </p:nvSpPr>
        <p:spPr>
          <a:xfrm>
            <a:off x="8467725" y="3000375"/>
            <a:ext cx="304800" cy="0"/>
          </a:xfrm>
          <a:prstGeom prst="line">
            <a:avLst/>
          </a:prstGeom>
          <a:noFill/>
          <a:ln w="20955">
            <a:solidFill>
              <a:srgbClr val="5F6B7A"/>
            </a:solidFill>
            <a:prstDash val="solid"/>
          </a:ln>
        </p:spPr>
      </p:sp>
      <p:sp>
        <p:nvSpPr>
          <p:cNvPr id="14" name="任意多边形 13"/>
          <p:cNvSpPr>
            <a:spLocks noGrp="1"/>
          </p:cNvSpPr>
          <p:nvPr/>
        </p:nvSpPr>
        <p:spPr>
          <a:xfrm>
            <a:off x="8667750" y="2952750"/>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sp>
      <p:sp>
        <p:nvSpPr>
          <p:cNvPr id="15" name="圆角矩形 14"/>
          <p:cNvSpPr>
            <a:spLocks noGrp="1"/>
          </p:cNvSpPr>
          <p:nvPr/>
        </p:nvSpPr>
        <p:spPr>
          <a:xfrm>
            <a:off x="6086475" y="1571625"/>
            <a:ext cx="2381250" cy="2857500"/>
          </a:xfrm>
          <a:prstGeom prst="roundRect">
            <a:avLst>
              <a:gd name="adj" fmla="val 3200"/>
            </a:avLst>
          </a:prstGeom>
          <a:solidFill>
            <a:srgbClr val="FFF7E8"/>
          </a:solidFill>
          <a:ln w="12383">
            <a:solidFill>
              <a:srgbClr val="C26700"/>
            </a:solidFill>
            <a:prstDash val="solid"/>
          </a:ln>
        </p:spPr>
      </p:sp>
      <p:sp>
        <p:nvSpPr>
          <p:cNvPr id="16" name="矩形 15"/>
          <p:cNvSpPr>
            <a:spLocks noGrp="1"/>
          </p:cNvSpPr>
          <p:nvPr/>
        </p:nvSpPr>
        <p:spPr>
          <a:xfrm>
            <a:off x="6200775" y="1647825"/>
            <a:ext cx="2152650" cy="285750"/>
          </a:xfrm>
          <a:prstGeom prst="rect">
            <a:avLst/>
          </a:prstGeom>
          <a:noFill/>
          <a:ln w="0">
            <a:noFill/>
            <a:prstDash val="solid"/>
          </a:ln>
        </p:spPr>
        <p:txBody>
          <a:bodyPr wrap="square" lIns="38100" tIns="19050" rIns="38100" bIns="19050" anchor="ctr">
            <a:normAutofit fontScale="98485"/>
          </a:bodyPr>
          <a:lstStyle/>
          <a:p>
            <a:pPr algn="ctr">
              <a:defRPr sz="1650" b="1">
                <a:solidFill>
                  <a:srgbClr val="C26700"/>
                </a:solidFill>
              </a:defRPr>
            </a:pPr>
            <a:r>
              <a:rPr sz="1650" b="1">
                <a:solidFill>
                  <a:srgbClr val="C26700"/>
                </a:solidFill>
                <a:latin typeface="Source Han Sans SC"/>
              </a:rPr>
              <a:t>3  </a:t>
            </a:r>
            <a:r>
              <a:rPr lang="zh-CN" sz="1650" b="1">
                <a:solidFill>
                  <a:srgbClr val="C26700"/>
                </a:solidFill>
                <a:latin typeface="Source Han Sans SC"/>
                <a:ea typeface="Source Han Sans SC"/>
              </a:rPr>
              <a:t>优化机制</a:t>
            </a:r>
            <a:endParaRPr sz="1650" b="1">
              <a:solidFill>
                <a:srgbClr val="C26700"/>
              </a:solidFill>
            </a:endParaRPr>
          </a:p>
        </p:txBody>
      </p:sp>
      <p:sp>
        <p:nvSpPr>
          <p:cNvPr id="17" name="矩形 16"/>
          <p:cNvSpPr>
            <a:spLocks noGrp="1"/>
          </p:cNvSpPr>
          <p:nvPr/>
        </p:nvSpPr>
        <p:spPr>
          <a:xfrm>
            <a:off x="6200775" y="1952625"/>
            <a:ext cx="2152650" cy="240030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sz="1500" b="0">
                <a:solidFill>
                  <a:srgbClr val="1F2937"/>
                </a:solidFill>
                <a:latin typeface="Source Han Sans SC"/>
              </a:rPr>
              <a:t>Logits → Loss</a:t>
            </a:r>
            <a:endParaRPr sz="1500" b="0">
              <a:solidFill>
                <a:srgbClr val="1F2937"/>
              </a:solidFill>
            </a:endParaRPr>
          </a:p>
          <a:p>
            <a:pPr algn="ctr">
              <a:defRPr sz="1500" b="0">
                <a:solidFill>
                  <a:srgbClr val="1F2937"/>
                </a:solidFill>
              </a:defRPr>
            </a:pPr>
            <a:r>
              <a:rPr sz="1500" b="0">
                <a:solidFill>
                  <a:srgbClr val="1F2937"/>
                </a:solidFill>
                <a:latin typeface="Source Han Sans SC"/>
              </a:rPr>
              <a:t>Backward → Step</a:t>
            </a:r>
            <a:endParaRPr sz="1500" b="0">
              <a:solidFill>
                <a:srgbClr val="1F2937"/>
              </a:solidFill>
            </a:endParaRPr>
          </a:p>
        </p:txBody>
      </p:sp>
      <p:sp>
        <p:nvSpPr>
          <p:cNvPr id="18" name="圆角矩形 17"/>
          <p:cNvSpPr>
            <a:spLocks noGrp="1"/>
          </p:cNvSpPr>
          <p:nvPr/>
        </p:nvSpPr>
        <p:spPr>
          <a:xfrm>
            <a:off x="8915400" y="1571625"/>
            <a:ext cx="2381250" cy="2857500"/>
          </a:xfrm>
          <a:prstGeom prst="roundRect">
            <a:avLst>
              <a:gd name="adj" fmla="val 3200"/>
            </a:avLst>
          </a:prstGeom>
          <a:solidFill>
            <a:srgbClr val="F3EEF5"/>
          </a:solidFill>
          <a:ln w="12383">
            <a:solidFill>
              <a:srgbClr val="660874"/>
            </a:solidFill>
            <a:prstDash val="solid"/>
          </a:ln>
        </p:spPr>
      </p:sp>
      <p:sp>
        <p:nvSpPr>
          <p:cNvPr id="19" name="矩形 18"/>
          <p:cNvSpPr>
            <a:spLocks noGrp="1"/>
          </p:cNvSpPr>
          <p:nvPr/>
        </p:nvSpPr>
        <p:spPr>
          <a:xfrm>
            <a:off x="9029700" y="1647825"/>
            <a:ext cx="2152650" cy="285750"/>
          </a:xfrm>
          <a:prstGeom prst="rect">
            <a:avLst/>
          </a:prstGeom>
          <a:noFill/>
          <a:ln w="0">
            <a:noFill/>
            <a:prstDash val="solid"/>
          </a:ln>
        </p:spPr>
        <p:txBody>
          <a:bodyPr wrap="square" lIns="38100" tIns="19050" rIns="38100" bIns="19050" anchor="ctr">
            <a:normAutofit fontScale="98485"/>
          </a:bodyPr>
          <a:lstStyle/>
          <a:p>
            <a:pPr algn="ctr">
              <a:defRPr sz="1650" b="1">
                <a:solidFill>
                  <a:srgbClr val="660874"/>
                </a:solidFill>
              </a:defRPr>
            </a:pPr>
            <a:r>
              <a:rPr sz="1650" b="1">
                <a:solidFill>
                  <a:srgbClr val="660874"/>
                </a:solidFill>
                <a:latin typeface="Source Han Sans SC"/>
              </a:rPr>
              <a:t>4  </a:t>
            </a:r>
            <a:r>
              <a:rPr lang="zh-CN" sz="1650" b="1">
                <a:solidFill>
                  <a:srgbClr val="660874"/>
                </a:solidFill>
                <a:latin typeface="Source Han Sans SC"/>
                <a:ea typeface="Source Han Sans SC"/>
              </a:rPr>
              <a:t>工程验收</a:t>
            </a:r>
            <a:endParaRPr sz="1650" b="1">
              <a:solidFill>
                <a:srgbClr val="660874"/>
              </a:solidFill>
            </a:endParaRPr>
          </a:p>
        </p:txBody>
      </p:sp>
      <p:sp>
        <p:nvSpPr>
          <p:cNvPr id="20" name="矩形 19"/>
          <p:cNvSpPr>
            <a:spLocks noGrp="1"/>
          </p:cNvSpPr>
          <p:nvPr/>
        </p:nvSpPr>
        <p:spPr>
          <a:xfrm>
            <a:off x="9029700" y="1952625"/>
            <a:ext cx="2152650" cy="240030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sz="1500" b="0">
                <a:solidFill>
                  <a:srgbClr val="1F2937"/>
                </a:solidFill>
                <a:latin typeface="Source Han Sans SC"/>
              </a:rPr>
              <a:t>C500 </a:t>
            </a:r>
            <a:r>
              <a:rPr lang="zh-CN" sz="1500" b="0">
                <a:solidFill>
                  <a:srgbClr val="1F2937"/>
                </a:solidFill>
                <a:latin typeface="Source Han Sans SC"/>
                <a:ea typeface="Source Han Sans SC"/>
              </a:rPr>
              <a:t>完整训练</a:t>
            </a:r>
            <a:endParaRPr sz="1500" b="0">
              <a:solidFill>
                <a:srgbClr val="1F2937"/>
              </a:solidFill>
            </a:endParaRPr>
          </a:p>
          <a:p>
            <a:pPr algn="ctr">
              <a:defRPr sz="1500" b="0">
                <a:solidFill>
                  <a:srgbClr val="1F2937"/>
                </a:solidFill>
              </a:defRPr>
            </a:pPr>
            <a:r>
              <a:rPr sz="1500" b="0">
                <a:solidFill>
                  <a:srgbClr val="1F2937"/>
                </a:solidFill>
                <a:latin typeface="Source Han Sans SC"/>
              </a:rPr>
              <a:t>Validation + checkpoint</a:t>
            </a:r>
            <a:endParaRPr sz="1500" b="0">
              <a:solidFill>
                <a:srgbClr val="1F2937"/>
              </a:solidFill>
            </a:endParaRPr>
          </a:p>
        </p:txBody>
      </p:sp>
      <p:sp>
        <p:nvSpPr>
          <p:cNvPr id="21" name="矩形 20"/>
          <p:cNvSpPr>
            <a:spLocks noGrp="1"/>
          </p:cNvSpPr>
          <p:nvPr/>
        </p:nvSpPr>
        <p:spPr>
          <a:xfrm>
            <a:off x="333375" y="5743575"/>
            <a:ext cx="11525250" cy="514350"/>
          </a:xfrm>
          <a:prstGeom prst="rect">
            <a:avLst/>
          </a:prstGeom>
          <a:solidFill>
            <a:srgbClr val="660874"/>
          </a:solidFill>
          <a:ln w="0">
            <a:noFill/>
            <a:prstDash val="solid"/>
          </a:ln>
        </p:spPr>
      </p:sp>
      <p:sp>
        <p:nvSpPr>
          <p:cNvPr id="22" name="矩形 21"/>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defRPr sz="1425" b="1">
                <a:solidFill>
                  <a:srgbClr val="FFFFFF"/>
                </a:solidFill>
              </a:defRPr>
            </a:pPr>
            <a:r>
              <a:rPr lang="zh-CN" sz="1425" b="1">
                <a:solidFill>
                  <a:srgbClr val="FFFFFF"/>
                </a:solidFill>
                <a:latin typeface="Source Han Sans SC"/>
                <a:ea typeface="Source Han Sans SC"/>
              </a:rPr>
              <a:t>课程输出：原始文本</a:t>
            </a:r>
            <a:r>
              <a:rPr sz="1425" b="1">
                <a:solidFill>
                  <a:srgbClr val="FFFFFF"/>
                </a:solidFill>
                <a:latin typeface="Source Han Sans SC"/>
              </a:rPr>
              <a:t> → Token </a:t>
            </a:r>
            <a:r>
              <a:rPr lang="zh-CN" sz="1425" b="1">
                <a:solidFill>
                  <a:srgbClr val="FFFFFF"/>
                </a:solidFill>
                <a:latin typeface="Source Han Sans SC"/>
                <a:ea typeface="Source Han Sans SC"/>
              </a:rPr>
              <a:t>序列</a:t>
            </a:r>
            <a:r>
              <a:rPr sz="1425" b="1">
                <a:solidFill>
                  <a:srgbClr val="FFFFFF"/>
                </a:solidFill>
                <a:latin typeface="Source Han Sans SC"/>
              </a:rPr>
              <a:t> → </a:t>
            </a:r>
            <a:r>
              <a:rPr lang="zh-CN" sz="1425" b="1">
                <a:solidFill>
                  <a:srgbClr val="FFFFFF"/>
                </a:solidFill>
                <a:latin typeface="Source Han Sans SC"/>
                <a:ea typeface="Source Han Sans SC"/>
              </a:rPr>
              <a:t>训练样本</a:t>
            </a:r>
            <a:r>
              <a:rPr sz="1425" b="1">
                <a:solidFill>
                  <a:srgbClr val="FFFFFF"/>
                </a:solidFill>
                <a:latin typeface="Source Han Sans SC"/>
              </a:rPr>
              <a:t> → Loss → </a:t>
            </a:r>
            <a:r>
              <a:rPr lang="zh-CN" sz="1425" b="1">
                <a:solidFill>
                  <a:srgbClr val="FFFFFF"/>
                </a:solidFill>
                <a:latin typeface="Source Han Sans SC"/>
                <a:ea typeface="Source Han Sans SC"/>
              </a:rPr>
              <a:t>参数更新</a:t>
            </a:r>
            <a:r>
              <a:rPr sz="1425" b="1">
                <a:solidFill>
                  <a:srgbClr val="FFFFFF"/>
                </a:solidFill>
                <a:latin typeface="Source Han Sans SC"/>
              </a:rPr>
              <a:t> → </a:t>
            </a:r>
            <a:r>
              <a:rPr lang="zh-CN" sz="1425" b="1">
                <a:solidFill>
                  <a:srgbClr val="FFFFFF"/>
                </a:solidFill>
                <a:latin typeface="Source Han Sans SC"/>
                <a:ea typeface="Source Han Sans SC"/>
              </a:rPr>
              <a:t>独立验证</a:t>
            </a:r>
            <a:r>
              <a:rPr sz="1425" b="1">
                <a:solidFill>
                  <a:srgbClr val="FFFFFF"/>
                </a:solidFill>
                <a:latin typeface="Source Han Sans SC"/>
              </a:rPr>
              <a:t> → checkpoint</a:t>
            </a:r>
            <a:endParaRPr sz="1425" b="1">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 name="title"/>
          <p:cNvSpPr>
            <a:spLocks noGrp="1"/>
          </p:cNvSpPr>
          <p:nvPr/>
        </p:nvSpPr>
        <p:spPr>
          <a:xfrm>
            <a:off x="333375" y="95250"/>
            <a:ext cx="10058400" cy="647700"/>
          </a:xfrm>
          <a:prstGeom prst="rect">
            <a:avLst/>
          </a:prstGeom>
          <a:noFill/>
          <a:ln w="0">
            <a:noFill/>
            <a:prstDash val="solid"/>
          </a:ln>
        </p:spPr>
        <p:txBody>
          <a:bodyPr wrap="square" lIns="38100" tIns="19050" rIns="38100" bIns="19050" anchor="ctr">
            <a:normAutofit/>
          </a:bodyPr>
          <a:lstStyle/>
          <a:p>
            <a:pPr algn="l">
              <a:defRPr sz="3200" b="1">
                <a:solidFill>
                  <a:srgbClr val="1F2937"/>
                </a:solidFill>
              </a:defRPr>
            </a:pPr>
            <a:r>
              <a:rPr lang="zh-CN" sz="3200" b="1">
                <a:solidFill>
                  <a:srgbClr val="1F2937"/>
                </a:solidFill>
                <a:latin typeface="Source Han Sans SC"/>
                <a:ea typeface="Source Han Sans SC"/>
              </a:rPr>
              <a:t>先认识训练链路中的四个基本对象</a:t>
            </a:r>
            <a:endParaRPr sz="3200" b="1">
              <a:solidFill>
                <a:srgbClr val="1F2937"/>
              </a:solidFill>
            </a:endParaRPr>
          </a:p>
        </p:txBody>
      </p:sp>
      <p:sp>
        <p:nvSpPr>
          <p:cNvPr id="2" name="矩形 1"/>
          <p:cNvSpPr>
            <a:spLocks noGrp="1"/>
          </p:cNvSpPr>
          <p:nvPr/>
        </p:nvSpPr>
        <p:spPr>
          <a:xfrm>
            <a:off x="333375" y="971550"/>
            <a:ext cx="8572500" cy="228600"/>
          </a:xfrm>
          <a:prstGeom prst="rect">
            <a:avLst/>
          </a:prstGeom>
          <a:noFill/>
          <a:ln w="0">
            <a:noFill/>
            <a:prstDash val="solid"/>
          </a:ln>
        </p:spPr>
        <p:txBody>
          <a:bodyPr wrap="square" lIns="38100" tIns="19050" rIns="38100" bIns="19050" anchor="ctr">
            <a:normAutofit fontScale="92593"/>
          </a:bodyPr>
          <a:lstStyle/>
          <a:p>
            <a:pPr algn="l">
              <a:spcBef>
                <a:spcPts val="0"/>
              </a:spcBef>
              <a:spcAft>
                <a:spcPts val="0"/>
              </a:spcAft>
              <a:defRPr sz="1350" b="0">
                <a:solidFill>
                  <a:srgbClr val="5F6B7A"/>
                </a:solidFill>
              </a:defRPr>
            </a:pPr>
            <a:r>
              <a:rPr lang="zh-CN" sz="1350" b="0">
                <a:solidFill>
                  <a:srgbClr val="5F6B7A"/>
                </a:solidFill>
                <a:latin typeface="Source Han Sans SC"/>
                <a:ea typeface="Source Han Sans SC"/>
              </a:rPr>
              <a:t>先建立输入、目标、输出和误差四个对象，再进入模型结构</a:t>
            </a:r>
            <a:endParaRPr sz="1350" b="0">
              <a:solidFill>
                <a:srgbClr val="5F6B7A"/>
              </a:solidFill>
            </a:endParaRPr>
          </a:p>
        </p:txBody>
      </p:sp>
      <p:sp>
        <p:nvSpPr>
          <p:cNvPr id="3" name="直接连接符 2"/>
          <p:cNvSpPr>
            <a:spLocks noGrp="1"/>
          </p:cNvSpPr>
          <p:nvPr>
            <p:custDataLst>
              <p:tags r:id="rId1"/>
            </p:custDataLst>
          </p:nvPr>
        </p:nvSpPr>
        <p:spPr>
          <a:xfrm>
            <a:off x="2714625" y="2857500"/>
            <a:ext cx="381000" cy="0"/>
          </a:xfrm>
          <a:prstGeom prst="line">
            <a:avLst/>
          </a:prstGeom>
          <a:noFill/>
          <a:ln w="23813">
            <a:solidFill>
              <a:srgbClr val="660874"/>
            </a:solidFill>
            <a:prstDash val="solid"/>
          </a:ln>
        </p:spPr>
        <p:txBody>
          <a:bodyPr/>
          <a:p/>
        </p:txBody>
      </p:sp>
      <p:sp>
        <p:nvSpPr>
          <p:cNvPr id="4" name="任意多边形 3"/>
          <p:cNvSpPr>
            <a:spLocks noGrp="1"/>
          </p:cNvSpPr>
          <p:nvPr>
            <p:custDataLst>
              <p:tags r:id="rId2"/>
            </p:custDataLst>
          </p:nvPr>
        </p:nvSpPr>
        <p:spPr>
          <a:xfrm>
            <a:off x="2990850" y="2809875"/>
            <a:ext cx="104775" cy="95250"/>
          </a:xfrm>
          <a:custGeom>
            <a:avLst/>
            <a:gdLst/>
            <a:ahLst/>
            <a:cxnLst/>
            <a:pathLst>
              <a:path w="104775" h="95250">
                <a:moveTo>
                  <a:pt x="0" y="0"/>
                </a:moveTo>
                <a:lnTo>
                  <a:pt x="104775" y="47625"/>
                </a:lnTo>
                <a:lnTo>
                  <a:pt x="0" y="95250"/>
                </a:lnTo>
                <a:close/>
              </a:path>
            </a:pathLst>
          </a:custGeom>
          <a:solidFill>
            <a:srgbClr val="660874"/>
          </a:solidFill>
          <a:ln w="0">
            <a:solidFill>
              <a:srgbClr val="660874"/>
            </a:solidFill>
            <a:prstDash val="solid"/>
          </a:ln>
        </p:spPr>
        <p:txBody>
          <a:bodyPr/>
          <a:p/>
        </p:txBody>
      </p:sp>
      <p:sp>
        <p:nvSpPr>
          <p:cNvPr id="5" name="直接连接符 4"/>
          <p:cNvSpPr>
            <a:spLocks noGrp="1"/>
          </p:cNvSpPr>
          <p:nvPr>
            <p:custDataLst>
              <p:tags r:id="rId3"/>
            </p:custDataLst>
          </p:nvPr>
        </p:nvSpPr>
        <p:spPr>
          <a:xfrm>
            <a:off x="5476875" y="2857500"/>
            <a:ext cx="381000" cy="0"/>
          </a:xfrm>
          <a:prstGeom prst="line">
            <a:avLst/>
          </a:prstGeom>
          <a:noFill/>
          <a:ln w="23813">
            <a:solidFill>
              <a:srgbClr val="660874"/>
            </a:solidFill>
            <a:prstDash val="solid"/>
          </a:ln>
        </p:spPr>
        <p:txBody>
          <a:bodyPr/>
          <a:p/>
        </p:txBody>
      </p:sp>
      <p:sp>
        <p:nvSpPr>
          <p:cNvPr id="6" name="任意多边形 5"/>
          <p:cNvSpPr>
            <a:spLocks noGrp="1"/>
          </p:cNvSpPr>
          <p:nvPr>
            <p:custDataLst>
              <p:tags r:id="rId4"/>
            </p:custDataLst>
          </p:nvPr>
        </p:nvSpPr>
        <p:spPr>
          <a:xfrm>
            <a:off x="5753100" y="2809875"/>
            <a:ext cx="104775" cy="95250"/>
          </a:xfrm>
          <a:custGeom>
            <a:avLst/>
            <a:gdLst/>
            <a:ahLst/>
            <a:cxnLst/>
            <a:pathLst>
              <a:path w="104775" h="95250">
                <a:moveTo>
                  <a:pt x="0" y="0"/>
                </a:moveTo>
                <a:lnTo>
                  <a:pt x="104775" y="47625"/>
                </a:lnTo>
                <a:lnTo>
                  <a:pt x="0" y="95250"/>
                </a:lnTo>
                <a:close/>
              </a:path>
            </a:pathLst>
          </a:custGeom>
          <a:solidFill>
            <a:srgbClr val="660874"/>
          </a:solidFill>
          <a:ln w="0">
            <a:solidFill>
              <a:srgbClr val="660874"/>
            </a:solidFill>
            <a:prstDash val="solid"/>
          </a:ln>
        </p:spPr>
        <p:txBody>
          <a:bodyPr/>
          <a:p/>
        </p:txBody>
      </p:sp>
      <p:sp>
        <p:nvSpPr>
          <p:cNvPr id="7" name="直接连接符 6"/>
          <p:cNvSpPr>
            <a:spLocks noGrp="1"/>
          </p:cNvSpPr>
          <p:nvPr>
            <p:custDataLst>
              <p:tags r:id="rId5"/>
            </p:custDataLst>
          </p:nvPr>
        </p:nvSpPr>
        <p:spPr>
          <a:xfrm>
            <a:off x="8239125" y="2857500"/>
            <a:ext cx="381000" cy="0"/>
          </a:xfrm>
          <a:prstGeom prst="line">
            <a:avLst/>
          </a:prstGeom>
          <a:noFill/>
          <a:ln w="23813">
            <a:solidFill>
              <a:srgbClr val="660874"/>
            </a:solidFill>
            <a:prstDash val="solid"/>
          </a:ln>
        </p:spPr>
        <p:txBody>
          <a:bodyPr/>
          <a:p/>
        </p:txBody>
      </p:sp>
      <p:sp>
        <p:nvSpPr>
          <p:cNvPr id="8" name="任意多边形 7"/>
          <p:cNvSpPr>
            <a:spLocks noGrp="1"/>
          </p:cNvSpPr>
          <p:nvPr>
            <p:custDataLst>
              <p:tags r:id="rId6"/>
            </p:custDataLst>
          </p:nvPr>
        </p:nvSpPr>
        <p:spPr>
          <a:xfrm>
            <a:off x="8515350" y="2809875"/>
            <a:ext cx="104775" cy="95250"/>
          </a:xfrm>
          <a:custGeom>
            <a:avLst/>
            <a:gdLst/>
            <a:ahLst/>
            <a:cxnLst/>
            <a:pathLst>
              <a:path w="104775" h="95250">
                <a:moveTo>
                  <a:pt x="0" y="0"/>
                </a:moveTo>
                <a:lnTo>
                  <a:pt x="104775" y="47625"/>
                </a:lnTo>
                <a:lnTo>
                  <a:pt x="0" y="95250"/>
                </a:lnTo>
                <a:close/>
              </a:path>
            </a:pathLst>
          </a:custGeom>
          <a:solidFill>
            <a:srgbClr val="660874"/>
          </a:solidFill>
          <a:ln w="0">
            <a:solidFill>
              <a:srgbClr val="660874"/>
            </a:solidFill>
            <a:prstDash val="solid"/>
          </a:ln>
        </p:spPr>
        <p:txBody>
          <a:bodyPr/>
          <a:p/>
        </p:txBody>
      </p:sp>
      <p:sp>
        <p:nvSpPr>
          <p:cNvPr id="9" name="圆角矩形 8"/>
          <p:cNvSpPr>
            <a:spLocks noGrp="1"/>
          </p:cNvSpPr>
          <p:nvPr>
            <p:custDataLst>
              <p:tags r:id="rId7"/>
            </p:custDataLst>
          </p:nvPr>
        </p:nvSpPr>
        <p:spPr>
          <a:xfrm>
            <a:off x="428625" y="1666875"/>
            <a:ext cx="2286000" cy="2619375"/>
          </a:xfrm>
          <a:prstGeom prst="roundRect">
            <a:avLst>
              <a:gd name="adj" fmla="val 3333"/>
            </a:avLst>
          </a:prstGeom>
          <a:solidFill>
            <a:srgbClr val="EAF1FF"/>
          </a:solidFill>
          <a:ln w="12383">
            <a:solidFill>
              <a:srgbClr val="2F6BDA"/>
            </a:solidFill>
            <a:prstDash val="solid"/>
          </a:ln>
        </p:spPr>
        <p:txBody>
          <a:bodyPr/>
          <a:p/>
        </p:txBody>
      </p:sp>
      <p:sp>
        <p:nvSpPr>
          <p:cNvPr id="10" name="矩形 9"/>
          <p:cNvSpPr>
            <a:spLocks noGrp="1"/>
          </p:cNvSpPr>
          <p:nvPr>
            <p:custDataLst>
              <p:tags r:id="rId8"/>
            </p:custDataLst>
          </p:nvPr>
        </p:nvSpPr>
        <p:spPr>
          <a:xfrm>
            <a:off x="542925" y="1743075"/>
            <a:ext cx="2057400" cy="285750"/>
          </a:xfrm>
          <a:prstGeom prst="rect">
            <a:avLst/>
          </a:prstGeom>
          <a:noFill/>
          <a:ln w="0">
            <a:noFill/>
            <a:prstDash val="solid"/>
          </a:ln>
        </p:spPr>
        <p:txBody>
          <a:bodyPr wrap="square" lIns="38100" tIns="19050" rIns="38100" bIns="19050" anchor="ctr">
            <a:normAutofit/>
          </a:bodyPr>
          <a:lstStyle/>
          <a:p>
            <a:pPr algn="l">
              <a:defRPr sz="1500" b="1">
                <a:solidFill>
                  <a:srgbClr val="2F6BDA"/>
                </a:solidFill>
              </a:defRPr>
            </a:pPr>
            <a:r>
              <a:rPr sz="1500" b="1">
                <a:solidFill>
                  <a:srgbClr val="2F6BDA"/>
                </a:solidFill>
                <a:latin typeface="Source Han Sans SC"/>
              </a:rPr>
              <a:t>Token / Tokenizer</a:t>
            </a:r>
            <a:endParaRPr sz="1500" b="1">
              <a:solidFill>
                <a:srgbClr val="2F6BDA"/>
              </a:solidFill>
            </a:endParaRPr>
          </a:p>
        </p:txBody>
      </p:sp>
      <p:sp>
        <p:nvSpPr>
          <p:cNvPr id="11" name="矩形 10"/>
          <p:cNvSpPr>
            <a:spLocks noGrp="1"/>
          </p:cNvSpPr>
          <p:nvPr>
            <p:custDataLst>
              <p:tags r:id="rId9"/>
            </p:custDataLst>
          </p:nvPr>
        </p:nvSpPr>
        <p:spPr>
          <a:xfrm>
            <a:off x="542925" y="2047875"/>
            <a:ext cx="2057400" cy="2162175"/>
          </a:xfrm>
          <a:prstGeom prst="rect">
            <a:avLst/>
          </a:prstGeom>
          <a:noFill/>
          <a:ln w="0">
            <a:noFill/>
            <a:prstDash val="solid"/>
          </a:ln>
        </p:spPr>
        <p:txBody>
          <a:bodyPr wrap="square" lIns="38100" tIns="19050" rIns="38100" bIns="19050" anchor="t">
            <a:normAutofit/>
          </a:bodyPr>
          <a:lstStyle/>
          <a:p>
            <a:pPr algn="l">
              <a:defRPr sz="1350" b="0">
                <a:solidFill>
                  <a:srgbClr val="1F2937"/>
                </a:solidFill>
              </a:defRPr>
            </a:pPr>
            <a:r>
              <a:rPr sz="1350" b="0">
                <a:solidFill>
                  <a:srgbClr val="1F2937"/>
                </a:solidFill>
                <a:latin typeface="Source Han Sans SC"/>
              </a:rPr>
              <a:t>Token </a:t>
            </a:r>
            <a:r>
              <a:rPr lang="zh-CN" sz="1350" b="0">
                <a:solidFill>
                  <a:srgbClr val="1F2937"/>
                </a:solidFill>
                <a:latin typeface="Source Han Sans SC"/>
                <a:ea typeface="Source Han Sans SC"/>
              </a:rPr>
              <a:t>是模型处理的离散符号。</a:t>
            </a:r>
            <a:endParaRPr sz="1350" b="0">
              <a:solidFill>
                <a:srgbClr val="1F2937"/>
              </a:solidFill>
            </a:endParaRPr>
          </a:p>
          <a:p>
            <a:pPr algn="l">
              <a:defRPr sz="1350" b="0">
                <a:solidFill>
                  <a:srgbClr val="1F2937"/>
                </a:solidFill>
              </a:defRPr>
            </a:pPr>
            <a:r>
              <a:rPr sz="1350" b="0">
                <a:solidFill>
                  <a:srgbClr val="1F2937"/>
                </a:solidFill>
                <a:latin typeface="Source Han Sans SC"/>
              </a:rPr>
              <a:t>Tokenizer </a:t>
            </a:r>
            <a:r>
              <a:rPr lang="zh-CN" sz="1350" b="0">
                <a:solidFill>
                  <a:srgbClr val="1F2937"/>
                </a:solidFill>
                <a:latin typeface="Source Han Sans SC"/>
                <a:ea typeface="Source Han Sans SC"/>
              </a:rPr>
              <a:t>负责文本与</a:t>
            </a:r>
            <a:r>
              <a:rPr sz="1350" b="0">
                <a:solidFill>
                  <a:srgbClr val="1F2937"/>
                </a:solidFill>
                <a:latin typeface="Source Han Sans SC"/>
              </a:rPr>
              <a:t> Token ID </a:t>
            </a:r>
            <a:r>
              <a:rPr lang="zh-CN" sz="1350" b="0">
                <a:solidFill>
                  <a:srgbClr val="1F2937"/>
                </a:solidFill>
                <a:latin typeface="Source Han Sans SC"/>
                <a:ea typeface="Source Han Sans SC"/>
              </a:rPr>
              <a:t>之间的编码和解码。</a:t>
            </a:r>
            <a:endParaRPr sz="1350" b="0">
              <a:solidFill>
                <a:srgbClr val="1F2937"/>
              </a:solidFill>
            </a:endParaRPr>
          </a:p>
        </p:txBody>
      </p:sp>
      <p:sp>
        <p:nvSpPr>
          <p:cNvPr id="12" name="圆角矩形 11"/>
          <p:cNvSpPr>
            <a:spLocks noGrp="1"/>
          </p:cNvSpPr>
          <p:nvPr>
            <p:custDataLst>
              <p:tags r:id="rId10"/>
            </p:custDataLst>
          </p:nvPr>
        </p:nvSpPr>
        <p:spPr>
          <a:xfrm>
            <a:off x="3190875" y="1666875"/>
            <a:ext cx="2286000" cy="2619375"/>
          </a:xfrm>
          <a:prstGeom prst="roundRect">
            <a:avLst>
              <a:gd name="adj" fmla="val 3333"/>
            </a:avLst>
          </a:prstGeom>
          <a:solidFill>
            <a:srgbClr val="EEF8E9"/>
          </a:solidFill>
          <a:ln w="12383">
            <a:solidFill>
              <a:srgbClr val="48BB00"/>
            </a:solidFill>
            <a:prstDash val="solid"/>
          </a:ln>
        </p:spPr>
        <p:txBody>
          <a:bodyPr/>
          <a:p/>
        </p:txBody>
      </p:sp>
      <p:sp>
        <p:nvSpPr>
          <p:cNvPr id="13" name="矩形 12"/>
          <p:cNvSpPr>
            <a:spLocks noGrp="1"/>
          </p:cNvSpPr>
          <p:nvPr>
            <p:custDataLst>
              <p:tags r:id="rId11"/>
            </p:custDataLst>
          </p:nvPr>
        </p:nvSpPr>
        <p:spPr>
          <a:xfrm>
            <a:off x="3305175" y="1743075"/>
            <a:ext cx="2057400" cy="285750"/>
          </a:xfrm>
          <a:prstGeom prst="rect">
            <a:avLst/>
          </a:prstGeom>
          <a:noFill/>
          <a:ln w="0">
            <a:noFill/>
            <a:prstDash val="solid"/>
          </a:ln>
        </p:spPr>
        <p:txBody>
          <a:bodyPr wrap="square" lIns="38100" tIns="19050" rIns="38100" bIns="19050" anchor="ctr">
            <a:normAutofit/>
          </a:bodyPr>
          <a:lstStyle/>
          <a:p>
            <a:pPr algn="l">
              <a:spcBef>
                <a:spcPts val="0"/>
              </a:spcBef>
              <a:spcAft>
                <a:spcPts val="0"/>
              </a:spcAft>
              <a:defRPr sz="1500" b="1">
                <a:solidFill>
                  <a:srgbClr val="48BB00"/>
                </a:solidFill>
              </a:defRPr>
            </a:pPr>
            <a:r>
              <a:rPr lang="zh-CN" sz="1500" b="1">
                <a:solidFill>
                  <a:srgbClr val="48BB00"/>
                </a:solidFill>
                <a:latin typeface="Source Han Sans SC"/>
                <a:ea typeface="Source Han Sans SC"/>
              </a:rPr>
              <a:t>输入序列</a:t>
            </a:r>
            <a:endParaRPr sz="1500" b="1">
              <a:solidFill>
                <a:srgbClr val="48BB00"/>
              </a:solidFill>
            </a:endParaRPr>
          </a:p>
        </p:txBody>
      </p:sp>
      <p:sp>
        <p:nvSpPr>
          <p:cNvPr id="14" name="矩形 13"/>
          <p:cNvSpPr>
            <a:spLocks noGrp="1"/>
          </p:cNvSpPr>
          <p:nvPr>
            <p:custDataLst>
              <p:tags r:id="rId12"/>
            </p:custDataLst>
          </p:nvPr>
        </p:nvSpPr>
        <p:spPr>
          <a:xfrm>
            <a:off x="3305175" y="2047875"/>
            <a:ext cx="2057400" cy="2162175"/>
          </a:xfrm>
          <a:prstGeom prst="rect">
            <a:avLst/>
          </a:prstGeom>
          <a:noFill/>
          <a:ln w="0">
            <a:noFill/>
            <a:prstDash val="solid"/>
          </a:ln>
        </p:spPr>
        <p:txBody>
          <a:bodyPr wrap="square" lIns="38100" tIns="19050" rIns="38100" bIns="19050" anchor="t">
            <a:normAutofit/>
          </a:bodyPr>
          <a:lstStyle/>
          <a:p>
            <a:pPr algn="l">
              <a:spcBef>
                <a:spcPts val="0"/>
              </a:spcBef>
              <a:spcAft>
                <a:spcPts val="0"/>
              </a:spcAft>
              <a:defRPr sz="1350" b="0">
                <a:solidFill>
                  <a:srgbClr val="1F2937"/>
                </a:solidFill>
              </a:defRPr>
            </a:pPr>
            <a:r>
              <a:rPr lang="zh-CN" sz="1350" b="0">
                <a:solidFill>
                  <a:srgbClr val="1F2937"/>
                </a:solidFill>
                <a:latin typeface="Source Han Sans SC"/>
                <a:ea typeface="Source Han Sans SC"/>
              </a:rPr>
              <a:t>模型接收的</a:t>
            </a:r>
            <a:r>
              <a:rPr sz="1350" b="0">
                <a:solidFill>
                  <a:srgbClr val="1F2937"/>
                </a:solidFill>
                <a:latin typeface="Source Han Sans SC"/>
              </a:rPr>
              <a:t> Token ID </a:t>
            </a:r>
            <a:r>
              <a:rPr lang="zh-CN" sz="1350" b="0">
                <a:solidFill>
                  <a:srgbClr val="1F2937"/>
                </a:solidFill>
                <a:latin typeface="Source Han Sans SC"/>
                <a:ea typeface="Source Han Sans SC"/>
              </a:rPr>
              <a:t>序列。</a:t>
            </a:r>
            <a:endParaRPr sz="1350" b="0">
              <a:solidFill>
                <a:srgbClr val="1F2937"/>
              </a:solidFill>
            </a:endParaRPr>
          </a:p>
          <a:p>
            <a:pPr algn="l">
              <a:spcBef>
                <a:spcPts val="0"/>
              </a:spcBef>
              <a:spcAft>
                <a:spcPts val="0"/>
              </a:spcAft>
            </a:pPr>
            <a:r>
              <a:rPr lang="zh-CN" sz="1350" b="0">
                <a:solidFill>
                  <a:srgbClr val="1F2937"/>
                </a:solidFill>
                <a:latin typeface="Source Han Sans SC"/>
                <a:ea typeface="Source Han Sans SC"/>
              </a:rPr>
              <a:t>训练时通常是一段连续文本。</a:t>
            </a:r>
            <a:endParaRPr sz="1350" b="0">
              <a:solidFill>
                <a:srgbClr val="1F2937"/>
              </a:solidFill>
            </a:endParaRPr>
          </a:p>
        </p:txBody>
      </p:sp>
      <p:sp>
        <p:nvSpPr>
          <p:cNvPr id="15" name="圆角矩形 14"/>
          <p:cNvSpPr>
            <a:spLocks noGrp="1"/>
          </p:cNvSpPr>
          <p:nvPr>
            <p:custDataLst>
              <p:tags r:id="rId13"/>
            </p:custDataLst>
          </p:nvPr>
        </p:nvSpPr>
        <p:spPr>
          <a:xfrm>
            <a:off x="5953125" y="1666875"/>
            <a:ext cx="2286000" cy="2619375"/>
          </a:xfrm>
          <a:prstGeom prst="roundRect">
            <a:avLst>
              <a:gd name="adj" fmla="val 3333"/>
            </a:avLst>
          </a:prstGeom>
          <a:solidFill>
            <a:srgbClr val="F3EEF5"/>
          </a:solidFill>
          <a:ln w="12383">
            <a:solidFill>
              <a:srgbClr val="660874"/>
            </a:solidFill>
            <a:prstDash val="solid"/>
          </a:ln>
        </p:spPr>
        <p:txBody>
          <a:bodyPr/>
          <a:p/>
        </p:txBody>
      </p:sp>
      <p:sp>
        <p:nvSpPr>
          <p:cNvPr id="16" name="矩形 15"/>
          <p:cNvSpPr>
            <a:spLocks noGrp="1"/>
          </p:cNvSpPr>
          <p:nvPr>
            <p:custDataLst>
              <p:tags r:id="rId14"/>
            </p:custDataLst>
          </p:nvPr>
        </p:nvSpPr>
        <p:spPr>
          <a:xfrm>
            <a:off x="6067425" y="1743075"/>
            <a:ext cx="2057400" cy="285750"/>
          </a:xfrm>
          <a:prstGeom prst="rect">
            <a:avLst/>
          </a:prstGeom>
          <a:noFill/>
          <a:ln w="0">
            <a:noFill/>
            <a:prstDash val="solid"/>
          </a:ln>
        </p:spPr>
        <p:txBody>
          <a:bodyPr wrap="square" lIns="38100" tIns="19050" rIns="38100" bIns="19050" anchor="ctr">
            <a:normAutofit/>
          </a:bodyPr>
          <a:lstStyle/>
          <a:p>
            <a:pPr algn="l">
              <a:spcBef>
                <a:spcPts val="0"/>
              </a:spcBef>
              <a:spcAft>
                <a:spcPts val="0"/>
              </a:spcAft>
              <a:defRPr sz="1500" b="1">
                <a:solidFill>
                  <a:srgbClr val="660874"/>
                </a:solidFill>
              </a:defRPr>
            </a:pPr>
            <a:r>
              <a:rPr lang="zh-CN" sz="1500" b="1">
                <a:solidFill>
                  <a:srgbClr val="660874"/>
                </a:solidFill>
                <a:latin typeface="Source Han Sans SC"/>
                <a:ea typeface="Source Han Sans SC"/>
              </a:rPr>
              <a:t>目标序列</a:t>
            </a:r>
            <a:endParaRPr sz="1500" b="1">
              <a:solidFill>
                <a:srgbClr val="660874"/>
              </a:solidFill>
            </a:endParaRPr>
          </a:p>
        </p:txBody>
      </p:sp>
      <p:sp>
        <p:nvSpPr>
          <p:cNvPr id="17" name="矩形 16"/>
          <p:cNvSpPr>
            <a:spLocks noGrp="1"/>
          </p:cNvSpPr>
          <p:nvPr>
            <p:custDataLst>
              <p:tags r:id="rId15"/>
            </p:custDataLst>
          </p:nvPr>
        </p:nvSpPr>
        <p:spPr>
          <a:xfrm>
            <a:off x="6067425" y="2047875"/>
            <a:ext cx="2057400" cy="2162175"/>
          </a:xfrm>
          <a:prstGeom prst="rect">
            <a:avLst/>
          </a:prstGeom>
          <a:noFill/>
          <a:ln w="0">
            <a:noFill/>
            <a:prstDash val="solid"/>
          </a:ln>
        </p:spPr>
        <p:txBody>
          <a:bodyPr wrap="square" lIns="38100" tIns="19050" rIns="38100" bIns="19050" anchor="t">
            <a:normAutofit/>
          </a:bodyPr>
          <a:lstStyle/>
          <a:p>
            <a:pPr algn="l">
              <a:spcBef>
                <a:spcPts val="0"/>
              </a:spcBef>
              <a:spcAft>
                <a:spcPts val="0"/>
              </a:spcAft>
              <a:defRPr sz="1350" b="0">
                <a:solidFill>
                  <a:srgbClr val="1F2937"/>
                </a:solidFill>
              </a:defRPr>
            </a:pPr>
            <a:r>
              <a:rPr lang="zh-CN" sz="1350" b="0">
                <a:solidFill>
                  <a:srgbClr val="1F2937"/>
                </a:solidFill>
                <a:latin typeface="Source Han Sans SC"/>
                <a:ea typeface="Source Han Sans SC"/>
              </a:rPr>
              <a:t>与输入错开一位的正确答案。</a:t>
            </a:r>
            <a:endParaRPr sz="1350" b="0">
              <a:solidFill>
                <a:srgbClr val="1F2937"/>
              </a:solidFill>
            </a:endParaRPr>
          </a:p>
          <a:p>
            <a:pPr algn="l">
              <a:spcBef>
                <a:spcPts val="0"/>
              </a:spcBef>
              <a:spcAft>
                <a:spcPts val="0"/>
              </a:spcAft>
            </a:pPr>
            <a:r>
              <a:rPr lang="zh-CN" sz="1350" b="0">
                <a:solidFill>
                  <a:srgbClr val="1F2937"/>
                </a:solidFill>
                <a:latin typeface="Source Han Sans SC"/>
                <a:ea typeface="Source Han Sans SC"/>
              </a:rPr>
              <a:t>每个位置预测下一个</a:t>
            </a:r>
            <a:r>
              <a:rPr sz="1350" b="0">
                <a:solidFill>
                  <a:srgbClr val="1F2937"/>
                </a:solidFill>
                <a:latin typeface="Source Han Sans SC"/>
              </a:rPr>
              <a:t> Token</a:t>
            </a:r>
            <a:r>
              <a:rPr sz="1350" b="0">
                <a:solidFill>
                  <a:srgbClr val="1F2937"/>
                </a:solidFill>
                <a:latin typeface="Source Han Sans SC"/>
              </a:rPr>
              <a:t>。</a:t>
            </a:r>
            <a:endParaRPr sz="1350" b="0">
              <a:solidFill>
                <a:srgbClr val="1F2937"/>
              </a:solidFill>
            </a:endParaRPr>
          </a:p>
        </p:txBody>
      </p:sp>
      <p:sp>
        <p:nvSpPr>
          <p:cNvPr id="18" name="圆角矩形 17"/>
          <p:cNvSpPr>
            <a:spLocks noGrp="1"/>
          </p:cNvSpPr>
          <p:nvPr>
            <p:custDataLst>
              <p:tags r:id="rId16"/>
            </p:custDataLst>
          </p:nvPr>
        </p:nvSpPr>
        <p:spPr>
          <a:xfrm>
            <a:off x="8715375" y="1666875"/>
            <a:ext cx="2286000" cy="2619375"/>
          </a:xfrm>
          <a:prstGeom prst="roundRect">
            <a:avLst>
              <a:gd name="adj" fmla="val 3333"/>
            </a:avLst>
          </a:prstGeom>
          <a:solidFill>
            <a:srgbClr val="FFF7E8"/>
          </a:solidFill>
          <a:ln w="12383">
            <a:solidFill>
              <a:srgbClr val="C26700"/>
            </a:solidFill>
            <a:prstDash val="solid"/>
          </a:ln>
        </p:spPr>
        <p:txBody>
          <a:bodyPr/>
          <a:p/>
        </p:txBody>
      </p:sp>
      <p:sp>
        <p:nvSpPr>
          <p:cNvPr id="19" name="矩形 18"/>
          <p:cNvSpPr>
            <a:spLocks noGrp="1"/>
          </p:cNvSpPr>
          <p:nvPr>
            <p:custDataLst>
              <p:tags r:id="rId17"/>
            </p:custDataLst>
          </p:nvPr>
        </p:nvSpPr>
        <p:spPr>
          <a:xfrm>
            <a:off x="8829675" y="1743075"/>
            <a:ext cx="2057400" cy="285750"/>
          </a:xfrm>
          <a:prstGeom prst="rect">
            <a:avLst/>
          </a:prstGeom>
          <a:noFill/>
          <a:ln w="0">
            <a:noFill/>
            <a:prstDash val="solid"/>
          </a:ln>
        </p:spPr>
        <p:txBody>
          <a:bodyPr wrap="square" lIns="38100" tIns="19050" rIns="38100" bIns="19050" anchor="ctr">
            <a:normAutofit/>
          </a:bodyPr>
          <a:lstStyle/>
          <a:p>
            <a:pPr algn="l">
              <a:spcBef>
                <a:spcPts val="0"/>
              </a:spcBef>
              <a:spcAft>
                <a:spcPts val="0"/>
              </a:spcAft>
              <a:defRPr sz="1500" b="1">
                <a:solidFill>
                  <a:srgbClr val="C26700"/>
                </a:solidFill>
              </a:defRPr>
            </a:pPr>
            <a:r>
              <a:rPr sz="1500" b="1">
                <a:solidFill>
                  <a:srgbClr val="C26700"/>
                </a:solidFill>
                <a:latin typeface="Source Han Sans SC"/>
              </a:rPr>
              <a:t>Logits / Loss</a:t>
            </a:r>
            <a:endParaRPr sz="1500" b="1">
              <a:solidFill>
                <a:srgbClr val="C26700"/>
              </a:solidFill>
            </a:endParaRPr>
          </a:p>
        </p:txBody>
      </p:sp>
      <p:sp>
        <p:nvSpPr>
          <p:cNvPr id="20" name="矩形 19"/>
          <p:cNvSpPr>
            <a:spLocks noGrp="1"/>
          </p:cNvSpPr>
          <p:nvPr>
            <p:custDataLst>
              <p:tags r:id="rId18"/>
            </p:custDataLst>
          </p:nvPr>
        </p:nvSpPr>
        <p:spPr>
          <a:xfrm>
            <a:off x="8829675" y="2047875"/>
            <a:ext cx="2057400" cy="2162175"/>
          </a:xfrm>
          <a:prstGeom prst="rect">
            <a:avLst/>
          </a:prstGeom>
          <a:noFill/>
          <a:ln w="0">
            <a:noFill/>
            <a:prstDash val="solid"/>
          </a:ln>
        </p:spPr>
        <p:txBody>
          <a:bodyPr wrap="square" lIns="38100" tIns="19050" rIns="38100" bIns="19050" anchor="t">
            <a:normAutofit/>
          </a:bodyPr>
          <a:lstStyle/>
          <a:p>
            <a:pPr algn="l">
              <a:spcBef>
                <a:spcPts val="0"/>
              </a:spcBef>
              <a:spcAft>
                <a:spcPts val="0"/>
              </a:spcAft>
              <a:defRPr sz="1350" b="0">
                <a:solidFill>
                  <a:srgbClr val="1F2937"/>
                </a:solidFill>
              </a:defRPr>
            </a:pPr>
            <a:r>
              <a:rPr sz="1350" b="0">
                <a:solidFill>
                  <a:srgbClr val="1F2937"/>
                </a:solidFill>
                <a:latin typeface="Source Han Sans SC"/>
              </a:rPr>
              <a:t>Logits </a:t>
            </a:r>
            <a:r>
              <a:rPr lang="zh-CN" sz="1350" b="0">
                <a:solidFill>
                  <a:srgbClr val="1F2937"/>
                </a:solidFill>
                <a:latin typeface="Source Han Sans SC"/>
                <a:ea typeface="Source Han Sans SC"/>
              </a:rPr>
              <a:t>是词表候选分数。</a:t>
            </a:r>
            <a:endParaRPr sz="1350" b="0">
              <a:solidFill>
                <a:srgbClr val="1F2937"/>
              </a:solidFill>
            </a:endParaRPr>
          </a:p>
          <a:p>
            <a:pPr algn="l">
              <a:spcBef>
                <a:spcPts val="0"/>
              </a:spcBef>
              <a:spcAft>
                <a:spcPts val="0"/>
              </a:spcAft>
            </a:pPr>
            <a:r>
              <a:rPr sz="1350" b="0">
                <a:solidFill>
                  <a:srgbClr val="1F2937"/>
                </a:solidFill>
                <a:latin typeface="Source Han Sans SC"/>
              </a:rPr>
              <a:t>Loss </a:t>
            </a:r>
            <a:r>
              <a:rPr lang="zh-CN" sz="1350" b="0">
                <a:solidFill>
                  <a:srgbClr val="1F2937"/>
                </a:solidFill>
                <a:latin typeface="Source Han Sans SC"/>
                <a:ea typeface="Source Han Sans SC"/>
              </a:rPr>
              <a:t>衡量预测与正确答案的差距。</a:t>
            </a:r>
            <a:endParaRPr sz="1350" b="0">
              <a:solidFill>
                <a:srgbClr val="1F2937"/>
              </a:solidFill>
            </a:endParaRPr>
          </a:p>
        </p:txBody>
      </p:sp>
      <p:sp>
        <p:nvSpPr>
          <p:cNvPr id="21" name="矩形 20"/>
          <p:cNvSpPr>
            <a:spLocks noGrp="1"/>
          </p:cNvSpPr>
          <p:nvPr/>
        </p:nvSpPr>
        <p:spPr>
          <a:xfrm>
            <a:off x="333375" y="5743575"/>
            <a:ext cx="11525250" cy="514350"/>
          </a:xfrm>
          <a:prstGeom prst="rect">
            <a:avLst/>
          </a:prstGeom>
          <a:solidFill>
            <a:srgbClr val="660874"/>
          </a:solidFill>
          <a:ln w="0">
            <a:noFill/>
            <a:prstDash val="solid"/>
          </a:ln>
        </p:spPr>
        <p:txBody>
          <a:bodyPr/>
          <a:p/>
        </p:txBody>
      </p:sp>
      <p:sp>
        <p:nvSpPr>
          <p:cNvPr id="22" name="矩形 21"/>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spcBef>
                <a:spcPts val="0"/>
              </a:spcBef>
              <a:spcAft>
                <a:spcPts val="0"/>
              </a:spcAft>
              <a:defRPr sz="1425" b="1">
                <a:solidFill>
                  <a:srgbClr val="FFFFFF"/>
                </a:solidFill>
              </a:defRPr>
            </a:pPr>
            <a:r>
              <a:rPr lang="zh-CN" sz="1425" b="1">
                <a:solidFill>
                  <a:srgbClr val="FFFFFF"/>
                </a:solidFill>
                <a:latin typeface="Source Han Sans SC"/>
                <a:ea typeface="Source Han Sans SC"/>
              </a:rPr>
              <a:t>文本</a:t>
            </a:r>
            <a:r>
              <a:rPr sz="1425" b="1">
                <a:solidFill>
                  <a:srgbClr val="FFFFFF"/>
                </a:solidFill>
                <a:latin typeface="Source Han Sans SC"/>
              </a:rPr>
              <a:t> → Token ID → </a:t>
            </a:r>
            <a:r>
              <a:rPr lang="zh-CN" sz="1425" b="1">
                <a:solidFill>
                  <a:srgbClr val="FFFFFF"/>
                </a:solidFill>
                <a:latin typeface="Source Han Sans SC"/>
                <a:ea typeface="Source Han Sans SC"/>
              </a:rPr>
              <a:t>输入与目标</a:t>
            </a:r>
            <a:r>
              <a:rPr sz="1425" b="1">
                <a:solidFill>
                  <a:srgbClr val="FFFFFF"/>
                </a:solidFill>
                <a:latin typeface="Source Han Sans SC"/>
              </a:rPr>
              <a:t> → </a:t>
            </a:r>
            <a:r>
              <a:rPr lang="zh-CN" sz="1425" b="1">
                <a:solidFill>
                  <a:srgbClr val="FFFFFF"/>
                </a:solidFill>
                <a:latin typeface="Source Han Sans SC"/>
                <a:ea typeface="Source Han Sans SC"/>
              </a:rPr>
              <a:t>模型</a:t>
            </a:r>
            <a:r>
              <a:rPr sz="1425" b="1">
                <a:solidFill>
                  <a:srgbClr val="FFFFFF"/>
                </a:solidFill>
                <a:latin typeface="Source Han Sans SC"/>
              </a:rPr>
              <a:t> Logits → Loss</a:t>
            </a:r>
            <a:r>
              <a:rPr lang="zh-CN" sz="1425" b="1">
                <a:solidFill>
                  <a:srgbClr val="FFFFFF"/>
                </a:solidFill>
                <a:latin typeface="Source Han Sans SC"/>
                <a:ea typeface="Source Han Sans SC"/>
              </a:rPr>
              <a:t>，是后续训练机制的最小主线。</a:t>
            </a:r>
            <a:endParaRPr sz="1425" b="1">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 name="title"/>
          <p:cNvSpPr>
            <a:spLocks noGrp="1"/>
          </p:cNvSpPr>
          <p:nvPr/>
        </p:nvSpPr>
        <p:spPr>
          <a:xfrm>
            <a:off x="333375" y="95250"/>
            <a:ext cx="10058400" cy="647700"/>
          </a:xfrm>
          <a:prstGeom prst="rect">
            <a:avLst/>
          </a:prstGeom>
          <a:noFill/>
          <a:ln w="0">
            <a:noFill/>
            <a:prstDash val="solid"/>
          </a:ln>
        </p:spPr>
        <p:txBody>
          <a:bodyPr wrap="square" lIns="38100" tIns="19050" rIns="38100" bIns="19050" anchor="ctr">
            <a:normAutofit/>
          </a:bodyPr>
          <a:lstStyle/>
          <a:p>
            <a:pPr algn="l">
              <a:defRPr sz="3200" b="1">
                <a:solidFill>
                  <a:srgbClr val="1F2937"/>
                </a:solidFill>
              </a:defRPr>
            </a:pPr>
            <a:r>
              <a:rPr lang="zh-CN" sz="3200" b="1">
                <a:solidFill>
                  <a:srgbClr val="1F2937"/>
                </a:solidFill>
                <a:latin typeface="Source Han Sans SC"/>
                <a:ea typeface="Source Han Sans SC"/>
              </a:rPr>
              <a:t>两类架构的根本差异是信息流，而不只是模块数量</a:t>
            </a:r>
            <a:endParaRPr sz="3200" b="1">
              <a:solidFill>
                <a:srgbClr val="1F2937"/>
              </a:solidFill>
            </a:endParaRPr>
          </a:p>
        </p:txBody>
      </p:sp>
      <p:sp>
        <p:nvSpPr>
          <p:cNvPr id="2" name="矩形 1"/>
          <p:cNvSpPr>
            <a:spLocks noGrp="1"/>
          </p:cNvSpPr>
          <p:nvPr/>
        </p:nvSpPr>
        <p:spPr>
          <a:xfrm>
            <a:off x="333375" y="971550"/>
            <a:ext cx="8572500" cy="228600"/>
          </a:xfrm>
          <a:prstGeom prst="rect">
            <a:avLst/>
          </a:prstGeom>
          <a:noFill/>
          <a:ln w="0">
            <a:noFill/>
            <a:prstDash val="solid"/>
          </a:ln>
        </p:spPr>
        <p:txBody>
          <a:bodyPr wrap="square" lIns="38100" tIns="19050" rIns="38100" bIns="19050" anchor="ctr">
            <a:normAutofit fontScale="92593" lnSpcReduction="10000"/>
          </a:bodyPr>
          <a:lstStyle/>
          <a:p>
            <a:pPr algn="l">
              <a:defRPr sz="1350" b="0">
                <a:solidFill>
                  <a:srgbClr val="5F6B7A"/>
                </a:solidFill>
              </a:defRPr>
            </a:pPr>
            <a:r>
              <a:rPr lang="zh-CN" sz="1350" b="0">
                <a:solidFill>
                  <a:srgbClr val="5F6B7A"/>
                </a:solidFill>
                <a:latin typeface="Source Han Sans SC"/>
                <a:ea typeface="Source Han Sans SC"/>
              </a:rPr>
              <a:t>比较重点：谁读取谁、信息怎样流动</a:t>
            </a:r>
            <a:endParaRPr sz="1350" b="0">
              <a:solidFill>
                <a:srgbClr val="5F6B7A"/>
              </a:solidFill>
            </a:endParaRPr>
          </a:p>
        </p:txBody>
      </p:sp>
      <p:sp>
        <p:nvSpPr>
          <p:cNvPr id="3" name="矩形 2"/>
          <p:cNvSpPr>
            <a:spLocks noGrp="1"/>
          </p:cNvSpPr>
          <p:nvPr/>
        </p:nvSpPr>
        <p:spPr>
          <a:xfrm>
            <a:off x="523875" y="1333500"/>
            <a:ext cx="4953000" cy="361950"/>
          </a:xfrm>
          <a:prstGeom prst="rect">
            <a:avLst/>
          </a:prstGeom>
          <a:noFill/>
          <a:ln w="0">
            <a:noFill/>
            <a:prstDash val="solid"/>
          </a:ln>
        </p:spPr>
        <p:txBody>
          <a:bodyPr wrap="square" lIns="38100" tIns="19050" rIns="38100" bIns="19050" anchor="ctr">
            <a:normAutofit fontScale="90000"/>
          </a:bodyPr>
          <a:lstStyle/>
          <a:p>
            <a:pPr algn="ctr">
              <a:defRPr sz="1800" b="1">
                <a:solidFill>
                  <a:srgbClr val="2F6BDA"/>
                </a:solidFill>
              </a:defRPr>
            </a:pPr>
            <a:r>
              <a:rPr sz="1800" b="1">
                <a:solidFill>
                  <a:srgbClr val="2F6BDA"/>
                </a:solidFill>
                <a:latin typeface="Source Han Sans SC"/>
              </a:rPr>
              <a:t>Encoder-Decoder</a:t>
            </a:r>
            <a:endParaRPr sz="1800" b="1">
              <a:solidFill>
                <a:srgbClr val="2F6BDA"/>
              </a:solidFill>
            </a:endParaRPr>
          </a:p>
        </p:txBody>
      </p:sp>
      <p:sp>
        <p:nvSpPr>
          <p:cNvPr id="4" name="矩形 3"/>
          <p:cNvSpPr>
            <a:spLocks noGrp="1"/>
          </p:cNvSpPr>
          <p:nvPr/>
        </p:nvSpPr>
        <p:spPr>
          <a:xfrm>
            <a:off x="6715125" y="1333500"/>
            <a:ext cx="4762500" cy="361950"/>
          </a:xfrm>
          <a:prstGeom prst="rect">
            <a:avLst/>
          </a:prstGeom>
          <a:noFill/>
          <a:ln w="0">
            <a:noFill/>
            <a:prstDash val="solid"/>
          </a:ln>
        </p:spPr>
        <p:txBody>
          <a:bodyPr wrap="square" lIns="38100" tIns="19050" rIns="38100" bIns="19050" anchor="ctr">
            <a:normAutofit fontScale="90000"/>
          </a:bodyPr>
          <a:lstStyle/>
          <a:p>
            <a:pPr algn="ctr">
              <a:defRPr sz="1800" b="1">
                <a:solidFill>
                  <a:srgbClr val="1E8E94"/>
                </a:solidFill>
              </a:defRPr>
            </a:pPr>
            <a:r>
              <a:rPr sz="1800" b="1">
                <a:solidFill>
                  <a:srgbClr val="1E8E94"/>
                </a:solidFill>
                <a:latin typeface="Source Han Sans SC"/>
              </a:rPr>
              <a:t>Decoder-Only</a:t>
            </a:r>
            <a:endParaRPr sz="1800" b="1">
              <a:solidFill>
                <a:srgbClr val="1E8E94"/>
              </a:solidFill>
            </a:endParaRPr>
          </a:p>
        </p:txBody>
      </p:sp>
      <p:sp>
        <p:nvSpPr>
          <p:cNvPr id="5" name="直接连接符 4"/>
          <p:cNvSpPr>
            <a:spLocks noGrp="1"/>
          </p:cNvSpPr>
          <p:nvPr/>
        </p:nvSpPr>
        <p:spPr>
          <a:xfrm>
            <a:off x="1190625" y="2628900"/>
            <a:ext cx="1190625" cy="0"/>
          </a:xfrm>
          <a:prstGeom prst="line">
            <a:avLst/>
          </a:prstGeom>
          <a:noFill/>
          <a:ln w="23813">
            <a:solidFill>
              <a:srgbClr val="2F6BDA"/>
            </a:solidFill>
            <a:prstDash val="solid"/>
          </a:ln>
        </p:spPr>
        <p:txBody>
          <a:bodyPr/>
          <a:p/>
        </p:txBody>
      </p:sp>
      <p:sp>
        <p:nvSpPr>
          <p:cNvPr id="6" name="任意多边形 5"/>
          <p:cNvSpPr>
            <a:spLocks noGrp="1"/>
          </p:cNvSpPr>
          <p:nvPr/>
        </p:nvSpPr>
        <p:spPr>
          <a:xfrm>
            <a:off x="2276475" y="2581275"/>
            <a:ext cx="104775" cy="95250"/>
          </a:xfrm>
          <a:custGeom>
            <a:avLst/>
            <a:gdLst/>
            <a:ahLst/>
            <a:cxnLst/>
            <a:pathLst>
              <a:path w="104775" h="95250">
                <a:moveTo>
                  <a:pt x="0" y="0"/>
                </a:moveTo>
                <a:lnTo>
                  <a:pt x="104775" y="47625"/>
                </a:lnTo>
                <a:lnTo>
                  <a:pt x="0" y="95250"/>
                </a:lnTo>
                <a:close/>
              </a:path>
            </a:pathLst>
          </a:custGeom>
          <a:solidFill>
            <a:srgbClr val="2F6BDA"/>
          </a:solidFill>
          <a:ln w="0">
            <a:solidFill>
              <a:srgbClr val="2F6BDA"/>
            </a:solidFill>
            <a:prstDash val="solid"/>
          </a:ln>
        </p:spPr>
        <p:txBody>
          <a:bodyPr/>
          <a:p/>
        </p:txBody>
      </p:sp>
      <p:sp>
        <p:nvSpPr>
          <p:cNvPr id="7" name="直接连接符 6"/>
          <p:cNvSpPr>
            <a:spLocks noGrp="1"/>
          </p:cNvSpPr>
          <p:nvPr/>
        </p:nvSpPr>
        <p:spPr>
          <a:xfrm>
            <a:off x="3810000" y="2628900"/>
            <a:ext cx="1190625" cy="0"/>
          </a:xfrm>
          <a:prstGeom prst="line">
            <a:avLst/>
          </a:prstGeom>
          <a:noFill/>
          <a:ln w="23813">
            <a:solidFill>
              <a:srgbClr val="660874"/>
            </a:solidFill>
            <a:prstDash val="solid"/>
          </a:ln>
        </p:spPr>
        <p:txBody>
          <a:bodyPr/>
          <a:p/>
        </p:txBody>
      </p:sp>
      <p:sp>
        <p:nvSpPr>
          <p:cNvPr id="8" name="任意多边形 7"/>
          <p:cNvSpPr>
            <a:spLocks noGrp="1"/>
          </p:cNvSpPr>
          <p:nvPr/>
        </p:nvSpPr>
        <p:spPr>
          <a:xfrm>
            <a:off x="4895850" y="2581275"/>
            <a:ext cx="104775" cy="95250"/>
          </a:xfrm>
          <a:custGeom>
            <a:avLst/>
            <a:gdLst/>
            <a:ahLst/>
            <a:cxnLst/>
            <a:pathLst>
              <a:path w="104775" h="95250">
                <a:moveTo>
                  <a:pt x="0" y="0"/>
                </a:moveTo>
                <a:lnTo>
                  <a:pt x="104775" y="47625"/>
                </a:lnTo>
                <a:lnTo>
                  <a:pt x="0" y="95250"/>
                </a:lnTo>
                <a:close/>
              </a:path>
            </a:pathLst>
          </a:custGeom>
          <a:solidFill>
            <a:srgbClr val="660874"/>
          </a:solidFill>
          <a:ln w="0">
            <a:solidFill>
              <a:srgbClr val="660874"/>
            </a:solidFill>
            <a:prstDash val="solid"/>
          </a:ln>
        </p:spPr>
        <p:txBody>
          <a:bodyPr/>
          <a:p/>
        </p:txBody>
      </p:sp>
      <p:sp>
        <p:nvSpPr>
          <p:cNvPr id="9" name="直接连接符 8"/>
          <p:cNvSpPr>
            <a:spLocks noGrp="1"/>
          </p:cNvSpPr>
          <p:nvPr/>
        </p:nvSpPr>
        <p:spPr>
          <a:xfrm>
            <a:off x="5000625" y="3000375"/>
            <a:ext cx="0" cy="666750"/>
          </a:xfrm>
          <a:prstGeom prst="line">
            <a:avLst/>
          </a:prstGeom>
          <a:noFill/>
          <a:ln w="23813">
            <a:solidFill>
              <a:srgbClr val="C26700"/>
            </a:solidFill>
            <a:prstDash val="solid"/>
          </a:ln>
        </p:spPr>
        <p:txBody>
          <a:bodyPr/>
          <a:p/>
        </p:txBody>
      </p:sp>
      <p:sp>
        <p:nvSpPr>
          <p:cNvPr id="10" name="任意多边形 9"/>
          <p:cNvSpPr>
            <a:spLocks noGrp="1"/>
          </p:cNvSpPr>
          <p:nvPr/>
        </p:nvSpPr>
        <p:spPr>
          <a:xfrm>
            <a:off x="4953000" y="3562350"/>
            <a:ext cx="95250" cy="104775"/>
          </a:xfrm>
          <a:custGeom>
            <a:avLst/>
            <a:gdLst/>
            <a:ahLst/>
            <a:cxnLst/>
            <a:pathLst>
              <a:path w="95250" h="104775">
                <a:moveTo>
                  <a:pt x="0" y="0"/>
                </a:moveTo>
                <a:lnTo>
                  <a:pt x="47625" y="104775"/>
                </a:lnTo>
                <a:lnTo>
                  <a:pt x="95250" y="0"/>
                </a:lnTo>
                <a:close/>
              </a:path>
            </a:pathLst>
          </a:custGeom>
          <a:solidFill>
            <a:srgbClr val="C26700"/>
          </a:solidFill>
          <a:ln w="0">
            <a:solidFill>
              <a:srgbClr val="C26700"/>
            </a:solidFill>
            <a:prstDash val="solid"/>
          </a:ln>
        </p:spPr>
        <p:txBody>
          <a:bodyPr/>
          <a:p/>
        </p:txBody>
      </p:sp>
      <p:sp>
        <p:nvSpPr>
          <p:cNvPr id="11" name="直接连接符 10"/>
          <p:cNvSpPr>
            <a:spLocks noGrp="1"/>
          </p:cNvSpPr>
          <p:nvPr/>
        </p:nvSpPr>
        <p:spPr>
          <a:xfrm>
            <a:off x="7191375" y="2628900"/>
            <a:ext cx="1285875" cy="0"/>
          </a:xfrm>
          <a:prstGeom prst="line">
            <a:avLst/>
          </a:prstGeom>
          <a:noFill/>
          <a:ln w="23813">
            <a:solidFill>
              <a:srgbClr val="1E8E94"/>
            </a:solidFill>
            <a:prstDash val="solid"/>
          </a:ln>
        </p:spPr>
        <p:txBody>
          <a:bodyPr/>
          <a:p/>
        </p:txBody>
      </p:sp>
      <p:sp>
        <p:nvSpPr>
          <p:cNvPr id="12" name="任意多边形 11"/>
          <p:cNvSpPr>
            <a:spLocks noGrp="1"/>
          </p:cNvSpPr>
          <p:nvPr/>
        </p:nvSpPr>
        <p:spPr>
          <a:xfrm>
            <a:off x="8372475" y="2581275"/>
            <a:ext cx="104775" cy="95250"/>
          </a:xfrm>
          <a:custGeom>
            <a:avLst/>
            <a:gdLst/>
            <a:ahLst/>
            <a:cxnLst/>
            <a:pathLst>
              <a:path w="104775" h="95250">
                <a:moveTo>
                  <a:pt x="0" y="0"/>
                </a:moveTo>
                <a:lnTo>
                  <a:pt x="104775" y="47625"/>
                </a:lnTo>
                <a:lnTo>
                  <a:pt x="0" y="95250"/>
                </a:lnTo>
                <a:close/>
              </a:path>
            </a:pathLst>
          </a:custGeom>
          <a:solidFill>
            <a:srgbClr val="1E8E94"/>
          </a:solidFill>
          <a:ln w="0">
            <a:solidFill>
              <a:srgbClr val="1E8E94"/>
            </a:solidFill>
            <a:prstDash val="solid"/>
          </a:ln>
        </p:spPr>
        <p:txBody>
          <a:bodyPr/>
          <a:p/>
        </p:txBody>
      </p:sp>
      <p:sp>
        <p:nvSpPr>
          <p:cNvPr id="13" name="直接连接符 12"/>
          <p:cNvSpPr>
            <a:spLocks noGrp="1"/>
          </p:cNvSpPr>
          <p:nvPr/>
        </p:nvSpPr>
        <p:spPr>
          <a:xfrm>
            <a:off x="9906000" y="2628900"/>
            <a:ext cx="1238250" cy="0"/>
          </a:xfrm>
          <a:prstGeom prst="line">
            <a:avLst/>
          </a:prstGeom>
          <a:noFill/>
          <a:ln w="23813">
            <a:solidFill>
              <a:srgbClr val="1E8E94"/>
            </a:solidFill>
            <a:prstDash val="solid"/>
          </a:ln>
        </p:spPr>
        <p:txBody>
          <a:bodyPr/>
          <a:p/>
        </p:txBody>
      </p:sp>
      <p:sp>
        <p:nvSpPr>
          <p:cNvPr id="14" name="任意多边形 13"/>
          <p:cNvSpPr>
            <a:spLocks noGrp="1"/>
          </p:cNvSpPr>
          <p:nvPr/>
        </p:nvSpPr>
        <p:spPr>
          <a:xfrm>
            <a:off x="11039475" y="2581275"/>
            <a:ext cx="104775" cy="95250"/>
          </a:xfrm>
          <a:custGeom>
            <a:avLst/>
            <a:gdLst/>
            <a:ahLst/>
            <a:cxnLst/>
            <a:pathLst>
              <a:path w="104775" h="95250">
                <a:moveTo>
                  <a:pt x="0" y="0"/>
                </a:moveTo>
                <a:lnTo>
                  <a:pt x="104775" y="47625"/>
                </a:lnTo>
                <a:lnTo>
                  <a:pt x="0" y="95250"/>
                </a:lnTo>
                <a:close/>
              </a:path>
            </a:pathLst>
          </a:custGeom>
          <a:solidFill>
            <a:srgbClr val="1E8E94"/>
          </a:solidFill>
          <a:ln w="0">
            <a:solidFill>
              <a:srgbClr val="1E8E94"/>
            </a:solidFill>
            <a:prstDash val="solid"/>
          </a:ln>
        </p:spPr>
        <p:txBody>
          <a:bodyPr/>
          <a:p/>
        </p:txBody>
      </p:sp>
      <p:sp>
        <p:nvSpPr>
          <p:cNvPr id="15" name="圆角矩形 14"/>
          <p:cNvSpPr>
            <a:spLocks noGrp="1"/>
          </p:cNvSpPr>
          <p:nvPr/>
        </p:nvSpPr>
        <p:spPr>
          <a:xfrm>
            <a:off x="523875" y="2095500"/>
            <a:ext cx="1285875" cy="1066800"/>
          </a:xfrm>
          <a:prstGeom prst="roundRect">
            <a:avLst>
              <a:gd name="adj" fmla="val 7143"/>
            </a:avLst>
          </a:prstGeom>
          <a:solidFill>
            <a:srgbClr val="EAF1FF"/>
          </a:solidFill>
          <a:ln w="12383">
            <a:solidFill>
              <a:srgbClr val="2F6BDA"/>
            </a:solidFill>
            <a:prstDash val="solid"/>
          </a:ln>
        </p:spPr>
        <p:txBody>
          <a:bodyPr/>
          <a:p/>
        </p:txBody>
      </p:sp>
      <p:sp>
        <p:nvSpPr>
          <p:cNvPr id="16" name="矩形 15"/>
          <p:cNvSpPr>
            <a:spLocks noGrp="1"/>
          </p:cNvSpPr>
          <p:nvPr/>
        </p:nvSpPr>
        <p:spPr>
          <a:xfrm>
            <a:off x="638175" y="2171700"/>
            <a:ext cx="1057275" cy="285750"/>
          </a:xfrm>
          <a:prstGeom prst="rect">
            <a:avLst/>
          </a:prstGeom>
          <a:noFill/>
          <a:ln w="0">
            <a:noFill/>
            <a:prstDash val="solid"/>
          </a:ln>
        </p:spPr>
        <p:txBody>
          <a:bodyPr wrap="square" lIns="38100" tIns="19050" rIns="38100" bIns="19050" anchor="ctr">
            <a:normAutofit fontScale="80000"/>
          </a:bodyPr>
          <a:lstStyle/>
          <a:p>
            <a:pPr algn="ctr">
              <a:defRPr sz="1500" b="1">
                <a:solidFill>
                  <a:srgbClr val="1F2937"/>
                </a:solidFill>
              </a:defRPr>
            </a:pPr>
            <a:r>
              <a:rPr lang="zh-CN" sz="1500" b="1">
                <a:solidFill>
                  <a:srgbClr val="1F2937"/>
                </a:solidFill>
                <a:latin typeface="Source Han Sans SC"/>
                <a:ea typeface="Source Han Sans SC"/>
              </a:rPr>
              <a:t>源序列</a:t>
            </a:r>
            <a:r>
              <a:rPr sz="1500" b="1">
                <a:solidFill>
                  <a:srgbClr val="1F2937"/>
                </a:solidFill>
                <a:latin typeface="Source Han Sans SC"/>
              </a:rPr>
              <a:t> x</a:t>
            </a:r>
            <a:endParaRPr sz="1500" b="1">
              <a:solidFill>
                <a:srgbClr val="1F2937"/>
              </a:solidFill>
            </a:endParaRPr>
          </a:p>
        </p:txBody>
      </p:sp>
      <p:sp>
        <p:nvSpPr>
          <p:cNvPr id="17" name="矩形 16"/>
          <p:cNvSpPr>
            <a:spLocks noGrp="1"/>
          </p:cNvSpPr>
          <p:nvPr/>
        </p:nvSpPr>
        <p:spPr>
          <a:xfrm>
            <a:off x="638175" y="2476500"/>
            <a:ext cx="1057275" cy="609600"/>
          </a:xfrm>
          <a:prstGeom prst="rect">
            <a:avLst/>
          </a:prstGeom>
          <a:noFill/>
          <a:ln w="0">
            <a:noFill/>
            <a:prstDash val="solid"/>
          </a:ln>
        </p:spPr>
        <p:txBody>
          <a:bodyPr wrap="square" lIns="38100" tIns="19050" rIns="38100" bIns="19050" anchor="t">
            <a:normAutofit/>
          </a:bodyPr>
          <a:lstStyle/>
          <a:p>
            <a:pPr algn="ctr">
              <a:defRPr sz="1275" b="0">
                <a:solidFill>
                  <a:srgbClr val="1F2937"/>
                </a:solidFill>
              </a:defRPr>
            </a:pPr>
            <a:r>
              <a:rPr lang="zh-CN" sz="1275" b="0">
                <a:solidFill>
                  <a:srgbClr val="1F2937"/>
                </a:solidFill>
                <a:latin typeface="Source Han Sans SC"/>
                <a:ea typeface="Source Han Sans SC"/>
              </a:rPr>
              <a:t>翻译输入</a:t>
            </a:r>
            <a:endParaRPr sz="1275" b="0">
              <a:solidFill>
                <a:srgbClr val="1F2937"/>
              </a:solidFill>
            </a:endParaRPr>
          </a:p>
        </p:txBody>
      </p:sp>
      <p:sp>
        <p:nvSpPr>
          <p:cNvPr id="18" name="圆角矩形 17"/>
          <p:cNvSpPr>
            <a:spLocks noGrp="1"/>
          </p:cNvSpPr>
          <p:nvPr/>
        </p:nvSpPr>
        <p:spPr>
          <a:xfrm>
            <a:off x="2381250" y="1952625"/>
            <a:ext cx="1428750" cy="1352550"/>
          </a:xfrm>
          <a:prstGeom prst="roundRect">
            <a:avLst>
              <a:gd name="adj" fmla="val 5634"/>
            </a:avLst>
          </a:prstGeom>
          <a:solidFill>
            <a:srgbClr val="EAF1FF"/>
          </a:solidFill>
          <a:ln w="12383">
            <a:solidFill>
              <a:srgbClr val="2F6BDA"/>
            </a:solidFill>
            <a:prstDash val="solid"/>
          </a:ln>
        </p:spPr>
        <p:txBody>
          <a:bodyPr/>
          <a:p/>
        </p:txBody>
      </p:sp>
      <p:sp>
        <p:nvSpPr>
          <p:cNvPr id="19" name="矩形 18"/>
          <p:cNvSpPr>
            <a:spLocks noGrp="1"/>
          </p:cNvSpPr>
          <p:nvPr/>
        </p:nvSpPr>
        <p:spPr>
          <a:xfrm>
            <a:off x="2495550" y="2028825"/>
            <a:ext cx="1200150" cy="285750"/>
          </a:xfrm>
          <a:prstGeom prst="rect">
            <a:avLst/>
          </a:prstGeom>
          <a:noFill/>
          <a:ln w="0">
            <a:noFill/>
            <a:prstDash val="solid"/>
          </a:ln>
        </p:spPr>
        <p:txBody>
          <a:bodyPr wrap="square" lIns="38100" tIns="19050" rIns="38100" bIns="19050" anchor="ctr">
            <a:normAutofit fontScale="80000"/>
          </a:bodyPr>
          <a:lstStyle/>
          <a:p>
            <a:pPr algn="ctr">
              <a:defRPr sz="1500" b="1">
                <a:solidFill>
                  <a:srgbClr val="1F2937"/>
                </a:solidFill>
              </a:defRPr>
            </a:pPr>
            <a:r>
              <a:rPr sz="1500" b="1">
                <a:solidFill>
                  <a:srgbClr val="1F2937"/>
                </a:solidFill>
                <a:latin typeface="Source Han Sans SC"/>
              </a:rPr>
              <a:t>Encoder</a:t>
            </a:r>
            <a:endParaRPr sz="1500" b="1">
              <a:solidFill>
                <a:srgbClr val="1F2937"/>
              </a:solidFill>
            </a:endParaRPr>
          </a:p>
        </p:txBody>
      </p:sp>
      <p:sp>
        <p:nvSpPr>
          <p:cNvPr id="20" name="矩形 19"/>
          <p:cNvSpPr>
            <a:spLocks noGrp="1"/>
          </p:cNvSpPr>
          <p:nvPr/>
        </p:nvSpPr>
        <p:spPr>
          <a:xfrm>
            <a:off x="2495550" y="2333625"/>
            <a:ext cx="1200150" cy="895350"/>
          </a:xfrm>
          <a:prstGeom prst="rect">
            <a:avLst/>
          </a:prstGeom>
          <a:noFill/>
          <a:ln w="0">
            <a:noFill/>
            <a:prstDash val="solid"/>
          </a:ln>
        </p:spPr>
        <p:txBody>
          <a:bodyPr wrap="square" lIns="38100" tIns="19050" rIns="38100" bIns="19050" anchor="t">
            <a:normAutofit/>
          </a:bodyPr>
          <a:lstStyle/>
          <a:p>
            <a:pPr algn="ctr">
              <a:spcBef>
                <a:spcPts val="0"/>
              </a:spcBef>
              <a:spcAft>
                <a:spcPts val="0"/>
              </a:spcAft>
              <a:defRPr sz="1350" b="0">
                <a:solidFill>
                  <a:srgbClr val="1F2937"/>
                </a:solidFill>
              </a:defRPr>
            </a:pPr>
            <a:r>
              <a:rPr lang="zh-CN" sz="1150" b="0">
                <a:solidFill>
                  <a:srgbClr val="1F2937"/>
                </a:solidFill>
                <a:latin typeface="Source Han Sans SC"/>
                <a:ea typeface="Source Han Sans SC"/>
              </a:rPr>
              <a:t>双向读取</a:t>
            </a:r>
            <a:endParaRPr sz="1150" b="0">
              <a:solidFill>
                <a:srgbClr val="1F2937"/>
              </a:solidFill>
            </a:endParaRPr>
          </a:p>
          <a:p>
            <a:pPr algn="ctr">
              <a:spcBef>
                <a:spcPts val="0"/>
              </a:spcBef>
              <a:spcAft>
                <a:spcPts val="0"/>
              </a:spcAft>
            </a:pPr>
            <a:r>
              <a:rPr lang="zh-CN" sz="1150" b="0">
                <a:solidFill>
                  <a:srgbClr val="1F2937"/>
                </a:solidFill>
                <a:latin typeface="Source Han Sans SC"/>
                <a:ea typeface="Source Han Sans SC"/>
              </a:rPr>
              <a:t>源序列</a:t>
            </a:r>
            <a:endParaRPr sz="1150" b="0">
              <a:solidFill>
                <a:srgbClr val="1F2937"/>
              </a:solidFill>
            </a:endParaRPr>
          </a:p>
        </p:txBody>
      </p:sp>
      <p:sp>
        <p:nvSpPr>
          <p:cNvPr id="21" name="圆角矩形 20"/>
          <p:cNvSpPr>
            <a:spLocks noGrp="1"/>
          </p:cNvSpPr>
          <p:nvPr/>
        </p:nvSpPr>
        <p:spPr>
          <a:xfrm>
            <a:off x="4333875" y="1952625"/>
            <a:ext cx="1428750" cy="1352550"/>
          </a:xfrm>
          <a:prstGeom prst="roundRect">
            <a:avLst>
              <a:gd name="adj" fmla="val 5634"/>
            </a:avLst>
          </a:prstGeom>
          <a:solidFill>
            <a:srgbClr val="F3EEF5"/>
          </a:solidFill>
          <a:ln w="12383">
            <a:solidFill>
              <a:srgbClr val="660874"/>
            </a:solidFill>
            <a:prstDash val="solid"/>
          </a:ln>
        </p:spPr>
        <p:txBody>
          <a:bodyPr/>
          <a:p/>
        </p:txBody>
      </p:sp>
      <p:sp>
        <p:nvSpPr>
          <p:cNvPr id="22" name="矩形 21"/>
          <p:cNvSpPr>
            <a:spLocks noGrp="1"/>
          </p:cNvSpPr>
          <p:nvPr/>
        </p:nvSpPr>
        <p:spPr>
          <a:xfrm>
            <a:off x="4448175" y="2028825"/>
            <a:ext cx="1200150" cy="285750"/>
          </a:xfrm>
          <a:prstGeom prst="rect">
            <a:avLst/>
          </a:prstGeom>
          <a:noFill/>
          <a:ln w="0">
            <a:noFill/>
            <a:prstDash val="solid"/>
          </a:ln>
        </p:spPr>
        <p:txBody>
          <a:bodyPr wrap="square" lIns="38100" tIns="19050" rIns="38100" bIns="19050" anchor="ctr">
            <a:normAutofit fontScale="80000"/>
          </a:bodyPr>
          <a:lstStyle/>
          <a:p>
            <a:pPr algn="ctr">
              <a:defRPr sz="1500" b="1">
                <a:solidFill>
                  <a:srgbClr val="1F2937"/>
                </a:solidFill>
              </a:defRPr>
            </a:pPr>
            <a:r>
              <a:rPr sz="1500" b="1">
                <a:solidFill>
                  <a:srgbClr val="1F2937"/>
                </a:solidFill>
                <a:latin typeface="Source Han Sans SC"/>
              </a:rPr>
              <a:t>Decoder</a:t>
            </a:r>
            <a:endParaRPr sz="1500" b="1">
              <a:solidFill>
                <a:srgbClr val="1F2937"/>
              </a:solidFill>
            </a:endParaRPr>
          </a:p>
        </p:txBody>
      </p:sp>
      <p:sp>
        <p:nvSpPr>
          <p:cNvPr id="23" name="矩形 22"/>
          <p:cNvSpPr>
            <a:spLocks noGrp="1"/>
          </p:cNvSpPr>
          <p:nvPr/>
        </p:nvSpPr>
        <p:spPr>
          <a:xfrm>
            <a:off x="4448175" y="2333625"/>
            <a:ext cx="1200150" cy="895350"/>
          </a:xfrm>
          <a:prstGeom prst="rect">
            <a:avLst/>
          </a:prstGeom>
          <a:noFill/>
          <a:ln w="0">
            <a:noFill/>
            <a:prstDash val="solid"/>
          </a:ln>
        </p:spPr>
        <p:txBody>
          <a:bodyPr wrap="square" lIns="38100" tIns="19050" rIns="38100" bIns="19050" anchor="t">
            <a:normAutofit/>
          </a:bodyPr>
          <a:lstStyle/>
          <a:p>
            <a:pPr algn="ctr">
              <a:spcBef>
                <a:spcPts val="0"/>
              </a:spcBef>
              <a:spcAft>
                <a:spcPts val="0"/>
              </a:spcAft>
              <a:defRPr sz="1275" b="0">
                <a:solidFill>
                  <a:srgbClr val="1F2937"/>
                </a:solidFill>
              </a:defRPr>
            </a:pPr>
            <a:r>
              <a:rPr lang="zh-CN" sz="1000" b="0">
                <a:solidFill>
                  <a:srgbClr val="1F2937"/>
                </a:solidFill>
                <a:latin typeface="Source Han Sans SC"/>
                <a:ea typeface="Source Han Sans SC"/>
              </a:rPr>
              <a:t>只读目标左侧</a:t>
            </a:r>
            <a:endParaRPr sz="1000" b="0">
              <a:solidFill>
                <a:srgbClr val="1F2937"/>
              </a:solidFill>
            </a:endParaRPr>
          </a:p>
          <a:p>
            <a:pPr algn="ctr">
              <a:spcBef>
                <a:spcPts val="0"/>
              </a:spcBef>
              <a:spcAft>
                <a:spcPts val="0"/>
              </a:spcAft>
            </a:pPr>
            <a:r>
              <a:rPr sz="1000" b="0">
                <a:solidFill>
                  <a:srgbClr val="1F2937"/>
                </a:solidFill>
                <a:latin typeface="Source Han Sans SC"/>
              </a:rPr>
              <a:t>+ </a:t>
            </a:r>
            <a:r>
              <a:rPr lang="zh-CN" sz="1000" b="0">
                <a:solidFill>
                  <a:srgbClr val="1F2937"/>
                </a:solidFill>
                <a:latin typeface="Source Han Sans SC"/>
                <a:ea typeface="Source Han Sans SC"/>
              </a:rPr>
              <a:t>读取</a:t>
            </a:r>
            <a:r>
              <a:rPr sz="1000" b="0">
                <a:solidFill>
                  <a:srgbClr val="1F2937"/>
                </a:solidFill>
                <a:latin typeface="Source Han Sans SC"/>
              </a:rPr>
              <a:t> Encoder </a:t>
            </a:r>
            <a:r>
              <a:rPr lang="zh-CN" sz="1000" b="0">
                <a:solidFill>
                  <a:srgbClr val="1F2937"/>
                </a:solidFill>
                <a:latin typeface="Source Han Sans SC"/>
                <a:ea typeface="Source Han Sans SC"/>
              </a:rPr>
              <a:t>输出</a:t>
            </a:r>
            <a:endParaRPr sz="1000" b="0">
              <a:solidFill>
                <a:srgbClr val="1F2937"/>
              </a:solidFill>
            </a:endParaRPr>
          </a:p>
        </p:txBody>
      </p:sp>
      <p:sp>
        <p:nvSpPr>
          <p:cNvPr id="24" name="圆角矩形 23"/>
          <p:cNvSpPr>
            <a:spLocks noGrp="1"/>
          </p:cNvSpPr>
          <p:nvPr/>
        </p:nvSpPr>
        <p:spPr>
          <a:xfrm>
            <a:off x="4333875" y="3667125"/>
            <a:ext cx="1428750" cy="876300"/>
          </a:xfrm>
          <a:prstGeom prst="roundRect">
            <a:avLst>
              <a:gd name="adj" fmla="val 8696"/>
            </a:avLst>
          </a:prstGeom>
          <a:solidFill>
            <a:srgbClr val="FFF7E8"/>
          </a:solidFill>
          <a:ln w="12383">
            <a:solidFill>
              <a:srgbClr val="C26700"/>
            </a:solidFill>
            <a:prstDash val="solid"/>
          </a:ln>
        </p:spPr>
        <p:txBody>
          <a:bodyPr/>
          <a:p/>
        </p:txBody>
      </p:sp>
      <p:sp>
        <p:nvSpPr>
          <p:cNvPr id="25" name="矩形 24"/>
          <p:cNvSpPr>
            <a:spLocks noGrp="1"/>
          </p:cNvSpPr>
          <p:nvPr/>
        </p:nvSpPr>
        <p:spPr>
          <a:xfrm>
            <a:off x="4448175" y="3743325"/>
            <a:ext cx="1200150" cy="285750"/>
          </a:xfrm>
          <a:prstGeom prst="rect">
            <a:avLst/>
          </a:prstGeom>
          <a:noFill/>
          <a:ln w="0">
            <a:noFill/>
            <a:prstDash val="solid"/>
          </a:ln>
        </p:spPr>
        <p:txBody>
          <a:bodyPr wrap="square" lIns="38100" tIns="19050" rIns="38100" bIns="19050" anchor="ctr">
            <a:normAutofit fontScale="80000"/>
          </a:bodyPr>
          <a:lstStyle/>
          <a:p>
            <a:pPr algn="ctr">
              <a:defRPr sz="1500" b="1">
                <a:solidFill>
                  <a:srgbClr val="1F2937"/>
                </a:solidFill>
              </a:defRPr>
            </a:pPr>
            <a:r>
              <a:rPr lang="zh-CN" sz="1500" b="1">
                <a:solidFill>
                  <a:srgbClr val="1F2937"/>
                </a:solidFill>
                <a:latin typeface="Source Han Sans SC"/>
                <a:ea typeface="Source Han Sans SC"/>
              </a:rPr>
              <a:t>目标序列</a:t>
            </a:r>
            <a:r>
              <a:rPr sz="1500" b="1">
                <a:solidFill>
                  <a:srgbClr val="1F2937"/>
                </a:solidFill>
                <a:latin typeface="Source Han Sans SC"/>
              </a:rPr>
              <a:t> y</a:t>
            </a:r>
            <a:endParaRPr sz="1500" b="1">
              <a:solidFill>
                <a:srgbClr val="1F2937"/>
              </a:solidFill>
            </a:endParaRPr>
          </a:p>
        </p:txBody>
      </p:sp>
      <p:sp>
        <p:nvSpPr>
          <p:cNvPr id="26" name="矩形 25"/>
          <p:cNvSpPr>
            <a:spLocks noGrp="1"/>
          </p:cNvSpPr>
          <p:nvPr/>
        </p:nvSpPr>
        <p:spPr>
          <a:xfrm>
            <a:off x="4448175" y="4048125"/>
            <a:ext cx="1200150" cy="419100"/>
          </a:xfrm>
          <a:prstGeom prst="rect">
            <a:avLst/>
          </a:prstGeom>
          <a:noFill/>
          <a:ln w="0">
            <a:noFill/>
            <a:prstDash val="solid"/>
          </a:ln>
        </p:spPr>
        <p:txBody>
          <a:bodyPr wrap="square" lIns="38100" tIns="19050" rIns="38100" bIns="19050" anchor="t">
            <a:normAutofit/>
          </a:bodyPr>
          <a:lstStyle/>
          <a:p>
            <a:pPr algn="ctr">
              <a:spcBef>
                <a:spcPts val="0"/>
              </a:spcBef>
              <a:spcAft>
                <a:spcPts val="0"/>
              </a:spcAft>
              <a:defRPr sz="1200" b="0">
                <a:solidFill>
                  <a:srgbClr val="1F2937"/>
                </a:solidFill>
              </a:defRPr>
            </a:pPr>
            <a:r>
              <a:rPr sz="1000" b="0">
                <a:solidFill>
                  <a:srgbClr val="1F2937"/>
                </a:solidFill>
                <a:latin typeface="Source Han Sans SC"/>
              </a:rPr>
              <a:t>Teacher Forcing</a:t>
            </a:r>
            <a:endParaRPr sz="1000" b="0">
              <a:solidFill>
                <a:srgbClr val="1F2937"/>
              </a:solidFill>
            </a:endParaRPr>
          </a:p>
          <a:p>
            <a:pPr algn="ctr">
              <a:spcBef>
                <a:spcPts val="0"/>
              </a:spcBef>
              <a:spcAft>
                <a:spcPts val="0"/>
              </a:spcAft>
            </a:pPr>
            <a:r>
              <a:rPr lang="zh-CN" sz="1000" b="0">
                <a:solidFill>
                  <a:srgbClr val="1F2937"/>
                </a:solidFill>
                <a:latin typeface="Source Han Sans SC"/>
                <a:ea typeface="Source Han Sans SC"/>
              </a:rPr>
              <a:t>真实目标前缀</a:t>
            </a:r>
            <a:endParaRPr sz="1000" b="0">
              <a:solidFill>
                <a:srgbClr val="1F2937"/>
              </a:solidFill>
            </a:endParaRPr>
          </a:p>
        </p:txBody>
      </p:sp>
      <p:sp>
        <p:nvSpPr>
          <p:cNvPr id="27" name="圆角矩形 26"/>
          <p:cNvSpPr>
            <a:spLocks noGrp="1"/>
          </p:cNvSpPr>
          <p:nvPr/>
        </p:nvSpPr>
        <p:spPr>
          <a:xfrm>
            <a:off x="6715125" y="2047875"/>
            <a:ext cx="1476375" cy="1162050"/>
          </a:xfrm>
          <a:prstGeom prst="roundRect">
            <a:avLst>
              <a:gd name="adj" fmla="val 6557"/>
            </a:avLst>
          </a:prstGeom>
          <a:solidFill>
            <a:srgbClr val="EEF8E9"/>
          </a:solidFill>
          <a:ln w="12383">
            <a:solidFill>
              <a:srgbClr val="48BB00"/>
            </a:solidFill>
            <a:prstDash val="solid"/>
          </a:ln>
        </p:spPr>
        <p:txBody>
          <a:bodyPr/>
          <a:p/>
        </p:txBody>
      </p:sp>
      <p:sp>
        <p:nvSpPr>
          <p:cNvPr id="28" name="矩形 27"/>
          <p:cNvSpPr>
            <a:spLocks noGrp="1"/>
          </p:cNvSpPr>
          <p:nvPr/>
        </p:nvSpPr>
        <p:spPr>
          <a:xfrm>
            <a:off x="6829425" y="2124075"/>
            <a:ext cx="1247775" cy="285750"/>
          </a:xfrm>
          <a:prstGeom prst="rect">
            <a:avLst/>
          </a:prstGeom>
          <a:noFill/>
          <a:ln w="0">
            <a:noFill/>
            <a:prstDash val="solid"/>
          </a:ln>
        </p:spPr>
        <p:txBody>
          <a:bodyPr wrap="square" lIns="38100" tIns="19050" rIns="38100" bIns="19050" anchor="ctr">
            <a:normAutofit/>
          </a:bodyPr>
          <a:lstStyle/>
          <a:p>
            <a:pPr algn="ctr">
              <a:defRPr sz="1500" b="1">
                <a:solidFill>
                  <a:srgbClr val="1F2937"/>
                </a:solidFill>
              </a:defRPr>
            </a:pPr>
            <a:r>
              <a:rPr lang="zh-CN" sz="1500" b="1">
                <a:solidFill>
                  <a:srgbClr val="1F2937"/>
                </a:solidFill>
                <a:latin typeface="Source Han Sans SC"/>
                <a:ea typeface="Source Han Sans SC"/>
              </a:rPr>
              <a:t>一条序列</a:t>
            </a:r>
            <a:endParaRPr sz="1500" b="1">
              <a:solidFill>
                <a:srgbClr val="1F2937"/>
              </a:solidFill>
            </a:endParaRPr>
          </a:p>
        </p:txBody>
      </p:sp>
      <p:sp>
        <p:nvSpPr>
          <p:cNvPr id="29" name="矩形 28"/>
          <p:cNvSpPr>
            <a:spLocks noGrp="1"/>
          </p:cNvSpPr>
          <p:nvPr/>
        </p:nvSpPr>
        <p:spPr>
          <a:xfrm>
            <a:off x="6829425" y="2428875"/>
            <a:ext cx="1247775" cy="704850"/>
          </a:xfrm>
          <a:prstGeom prst="rect">
            <a:avLst/>
          </a:prstGeom>
          <a:noFill/>
          <a:ln w="0">
            <a:noFill/>
            <a:prstDash val="solid"/>
          </a:ln>
        </p:spPr>
        <p:txBody>
          <a:bodyPr wrap="square" lIns="38100" tIns="19050" rIns="38100" bIns="19050" anchor="t">
            <a:normAutofit/>
          </a:bodyPr>
          <a:lstStyle/>
          <a:p>
            <a:pPr algn="ctr">
              <a:spcBef>
                <a:spcPts val="0"/>
              </a:spcBef>
              <a:spcAft>
                <a:spcPts val="0"/>
              </a:spcAft>
              <a:defRPr sz="1350" b="0">
                <a:solidFill>
                  <a:srgbClr val="1F2937"/>
                </a:solidFill>
              </a:defRPr>
            </a:pPr>
            <a:r>
              <a:rPr lang="zh-CN" sz="1050" b="0">
                <a:solidFill>
                  <a:srgbClr val="1F2937"/>
                </a:solidFill>
                <a:latin typeface="Source Han Sans SC"/>
                <a:ea typeface="Source Han Sans SC"/>
              </a:rPr>
              <a:t>条件</a:t>
            </a:r>
            <a:r>
              <a:rPr sz="1050" b="0">
                <a:solidFill>
                  <a:srgbClr val="1F2937"/>
                </a:solidFill>
                <a:latin typeface="Source Han Sans SC"/>
              </a:rPr>
              <a:t> + </a:t>
            </a:r>
            <a:r>
              <a:rPr lang="zh-CN" sz="1050" b="0">
                <a:solidFill>
                  <a:srgbClr val="1F2937"/>
                </a:solidFill>
                <a:latin typeface="Source Han Sans SC"/>
                <a:ea typeface="Source Han Sans SC"/>
              </a:rPr>
              <a:t>目标</a:t>
            </a:r>
            <a:endParaRPr sz="1050" b="0">
              <a:solidFill>
                <a:srgbClr val="1F2937"/>
              </a:solidFill>
            </a:endParaRPr>
          </a:p>
          <a:p>
            <a:pPr algn="ctr">
              <a:spcBef>
                <a:spcPts val="0"/>
              </a:spcBef>
              <a:spcAft>
                <a:spcPts val="0"/>
              </a:spcAft>
            </a:pPr>
            <a:r>
              <a:rPr lang="zh-CN" sz="1050" b="0">
                <a:solidFill>
                  <a:srgbClr val="1F2937"/>
                </a:solidFill>
                <a:latin typeface="Source Han Sans SC"/>
                <a:ea typeface="Source Han Sans SC"/>
              </a:rPr>
              <a:t>组织为一条序列</a:t>
            </a:r>
            <a:endParaRPr sz="1050" b="0">
              <a:solidFill>
                <a:srgbClr val="1F2937"/>
              </a:solidFill>
            </a:endParaRPr>
          </a:p>
        </p:txBody>
      </p:sp>
      <p:sp>
        <p:nvSpPr>
          <p:cNvPr id="30" name="圆角矩形 29"/>
          <p:cNvSpPr>
            <a:spLocks noGrp="1"/>
          </p:cNvSpPr>
          <p:nvPr/>
        </p:nvSpPr>
        <p:spPr>
          <a:xfrm>
            <a:off x="8477250" y="1857375"/>
            <a:ext cx="1428750" cy="1543050"/>
          </a:xfrm>
          <a:prstGeom prst="roundRect">
            <a:avLst>
              <a:gd name="adj" fmla="val 5333"/>
            </a:avLst>
          </a:prstGeom>
          <a:solidFill>
            <a:srgbClr val="E9F4F4"/>
          </a:solidFill>
          <a:ln w="12383">
            <a:solidFill>
              <a:srgbClr val="1E8E94"/>
            </a:solidFill>
            <a:prstDash val="solid"/>
          </a:ln>
        </p:spPr>
        <p:txBody>
          <a:bodyPr/>
          <a:p/>
        </p:txBody>
      </p:sp>
      <p:sp>
        <p:nvSpPr>
          <p:cNvPr id="31" name="矩形 30"/>
          <p:cNvSpPr>
            <a:spLocks noGrp="1"/>
          </p:cNvSpPr>
          <p:nvPr/>
        </p:nvSpPr>
        <p:spPr>
          <a:xfrm>
            <a:off x="8591550" y="1933575"/>
            <a:ext cx="1200150" cy="285750"/>
          </a:xfrm>
          <a:prstGeom prst="rect">
            <a:avLst/>
          </a:prstGeom>
          <a:noFill/>
          <a:ln w="0">
            <a:noFill/>
            <a:prstDash val="solid"/>
          </a:ln>
        </p:spPr>
        <p:txBody>
          <a:bodyPr wrap="square" lIns="38100" tIns="19050" rIns="38100" bIns="19050" anchor="ctr">
            <a:normAutofit fontScale="88182"/>
          </a:bodyPr>
          <a:lstStyle/>
          <a:p>
            <a:pPr algn="ctr">
              <a:spcBef>
                <a:spcPts val="0"/>
              </a:spcBef>
              <a:spcAft>
                <a:spcPts val="0"/>
              </a:spcAft>
              <a:defRPr sz="1500" b="1">
                <a:solidFill>
                  <a:srgbClr val="1F2937"/>
                </a:solidFill>
              </a:defRPr>
            </a:pPr>
            <a:r>
              <a:rPr sz="1400" b="1">
                <a:solidFill>
                  <a:srgbClr val="1F2937"/>
                </a:solidFill>
                <a:latin typeface="Source Han Sans SC"/>
              </a:rPr>
              <a:t>Decoder Block</a:t>
            </a:r>
            <a:endParaRPr sz="1400" b="1">
              <a:solidFill>
                <a:srgbClr val="1F2937"/>
              </a:solidFill>
            </a:endParaRPr>
          </a:p>
        </p:txBody>
      </p:sp>
      <p:sp>
        <p:nvSpPr>
          <p:cNvPr id="32" name="矩形 31"/>
          <p:cNvSpPr>
            <a:spLocks noGrp="1"/>
          </p:cNvSpPr>
          <p:nvPr/>
        </p:nvSpPr>
        <p:spPr>
          <a:xfrm>
            <a:off x="8591550" y="2238375"/>
            <a:ext cx="1200150" cy="1085850"/>
          </a:xfrm>
          <a:prstGeom prst="rect">
            <a:avLst/>
          </a:prstGeom>
          <a:noFill/>
          <a:ln w="0">
            <a:noFill/>
            <a:prstDash val="solid"/>
          </a:ln>
        </p:spPr>
        <p:txBody>
          <a:bodyPr wrap="square" lIns="38100" tIns="19050" rIns="38100" bIns="19050" anchor="t">
            <a:normAutofit/>
          </a:bodyPr>
          <a:lstStyle/>
          <a:p>
            <a:pPr algn="ctr">
              <a:spcBef>
                <a:spcPts val="0"/>
              </a:spcBef>
              <a:spcAft>
                <a:spcPts val="0"/>
              </a:spcAft>
              <a:defRPr sz="1350" b="0">
                <a:solidFill>
                  <a:srgbClr val="1F2937"/>
                </a:solidFill>
              </a:defRPr>
            </a:pPr>
            <a:r>
              <a:rPr lang="zh-CN" sz="1100" b="0">
                <a:solidFill>
                  <a:srgbClr val="1F2937"/>
                </a:solidFill>
                <a:latin typeface="Source Han Sans SC"/>
                <a:ea typeface="Source Han Sans SC"/>
              </a:rPr>
              <a:t>只读取</a:t>
            </a:r>
            <a:endParaRPr sz="1100" b="0">
              <a:solidFill>
                <a:srgbClr val="1F2937"/>
              </a:solidFill>
            </a:endParaRPr>
          </a:p>
          <a:p>
            <a:pPr algn="ctr">
              <a:spcBef>
                <a:spcPts val="0"/>
              </a:spcBef>
              <a:spcAft>
                <a:spcPts val="0"/>
              </a:spcAft>
            </a:pPr>
            <a:r>
              <a:rPr lang="zh-CN" sz="1100" b="0">
                <a:solidFill>
                  <a:srgbClr val="1F2937"/>
                </a:solidFill>
                <a:latin typeface="Source Han Sans SC"/>
                <a:ea typeface="Source Han Sans SC"/>
              </a:rPr>
              <a:t>左侧上下文</a:t>
            </a:r>
            <a:endParaRPr sz="1100" b="0">
              <a:solidFill>
                <a:srgbClr val="1F2937"/>
              </a:solidFill>
            </a:endParaRPr>
          </a:p>
        </p:txBody>
      </p:sp>
      <p:sp>
        <p:nvSpPr>
          <p:cNvPr id="33" name="圆角矩形 32"/>
          <p:cNvSpPr>
            <a:spLocks noGrp="1"/>
          </p:cNvSpPr>
          <p:nvPr/>
        </p:nvSpPr>
        <p:spPr>
          <a:xfrm>
            <a:off x="10191750" y="2047875"/>
            <a:ext cx="1285875" cy="1162050"/>
          </a:xfrm>
          <a:prstGeom prst="roundRect">
            <a:avLst>
              <a:gd name="adj" fmla="val 6557"/>
            </a:avLst>
          </a:prstGeom>
          <a:solidFill>
            <a:srgbClr val="FFF7E8"/>
          </a:solidFill>
          <a:ln w="12383">
            <a:solidFill>
              <a:srgbClr val="C26700"/>
            </a:solidFill>
            <a:prstDash val="solid"/>
          </a:ln>
        </p:spPr>
        <p:txBody>
          <a:bodyPr/>
          <a:p/>
        </p:txBody>
      </p:sp>
      <p:sp>
        <p:nvSpPr>
          <p:cNvPr id="34" name="矩形 33"/>
          <p:cNvSpPr>
            <a:spLocks noGrp="1"/>
          </p:cNvSpPr>
          <p:nvPr/>
        </p:nvSpPr>
        <p:spPr>
          <a:xfrm>
            <a:off x="10243820" y="2124075"/>
            <a:ext cx="1119505" cy="299720"/>
          </a:xfrm>
          <a:prstGeom prst="rect">
            <a:avLst/>
          </a:prstGeom>
          <a:noFill/>
          <a:ln w="0">
            <a:noFill/>
            <a:prstDash val="solid"/>
          </a:ln>
        </p:spPr>
        <p:txBody>
          <a:bodyPr wrap="square" lIns="38100" tIns="19050" rIns="38100" bIns="19050" anchor="ctr">
            <a:normAutofit fontScale="90000"/>
          </a:bodyPr>
          <a:lstStyle/>
          <a:p>
            <a:pPr algn="ctr">
              <a:defRPr sz="1500" b="1">
                <a:solidFill>
                  <a:srgbClr val="1F2937"/>
                </a:solidFill>
              </a:defRPr>
            </a:pPr>
            <a:r>
              <a:rPr lang="zh-CN" sz="1500" b="1">
                <a:solidFill>
                  <a:srgbClr val="1F2937"/>
                </a:solidFill>
                <a:latin typeface="Source Han Sans SC"/>
                <a:ea typeface="Source Han Sans SC"/>
              </a:rPr>
              <a:t>下一</a:t>
            </a:r>
            <a:r>
              <a:rPr sz="1500" b="1">
                <a:solidFill>
                  <a:srgbClr val="1F2937"/>
                </a:solidFill>
                <a:latin typeface="Source Han Sans SC"/>
              </a:rPr>
              <a:t> Token</a:t>
            </a:r>
            <a:endParaRPr sz="1500" b="1">
              <a:solidFill>
                <a:srgbClr val="1F2937"/>
              </a:solidFill>
            </a:endParaRPr>
          </a:p>
        </p:txBody>
      </p:sp>
      <p:sp>
        <p:nvSpPr>
          <p:cNvPr id="35" name="矩形 34"/>
          <p:cNvSpPr>
            <a:spLocks noGrp="1"/>
          </p:cNvSpPr>
          <p:nvPr/>
        </p:nvSpPr>
        <p:spPr>
          <a:xfrm>
            <a:off x="10306050" y="2428875"/>
            <a:ext cx="1057275" cy="704850"/>
          </a:xfrm>
          <a:prstGeom prst="rect">
            <a:avLst/>
          </a:prstGeom>
          <a:noFill/>
          <a:ln w="0">
            <a:noFill/>
            <a:prstDash val="solid"/>
          </a:ln>
        </p:spPr>
        <p:txBody>
          <a:bodyPr wrap="square" lIns="38100" tIns="19050" rIns="38100" bIns="19050" anchor="t">
            <a:normAutofit/>
          </a:bodyPr>
          <a:lstStyle/>
          <a:p>
            <a:pPr algn="ctr">
              <a:defRPr sz="1350" b="0">
                <a:solidFill>
                  <a:srgbClr val="1F2937"/>
                </a:solidFill>
              </a:defRPr>
            </a:pPr>
            <a:r>
              <a:rPr lang="zh-CN" sz="1350" b="0">
                <a:solidFill>
                  <a:srgbClr val="1F2937"/>
                </a:solidFill>
                <a:latin typeface="Source Han Sans SC"/>
                <a:ea typeface="Source Han Sans SC"/>
              </a:rPr>
              <a:t>逐位置目标</a:t>
            </a:r>
            <a:endParaRPr sz="1350" b="0">
              <a:solidFill>
                <a:srgbClr val="1F2937"/>
              </a:solidFill>
            </a:endParaRPr>
          </a:p>
        </p:txBody>
      </p:sp>
      <p:sp>
        <p:nvSpPr>
          <p:cNvPr id="36" name="矩形 35"/>
          <p:cNvSpPr>
            <a:spLocks noGrp="1"/>
          </p:cNvSpPr>
          <p:nvPr/>
        </p:nvSpPr>
        <p:spPr>
          <a:xfrm>
            <a:off x="666750" y="4762500"/>
            <a:ext cx="4762500" cy="228600"/>
          </a:xfrm>
          <a:prstGeom prst="rect">
            <a:avLst/>
          </a:prstGeom>
          <a:noFill/>
          <a:ln w="0">
            <a:noFill/>
            <a:prstDash val="solid"/>
          </a:ln>
        </p:spPr>
        <p:txBody>
          <a:bodyPr wrap="square" lIns="38100" tIns="19050" rIns="38100" bIns="19050" anchor="ctr">
            <a:normAutofit fontScale="88039"/>
          </a:bodyPr>
          <a:lstStyle/>
          <a:p>
            <a:pPr algn="l">
              <a:spcBef>
                <a:spcPts val="0"/>
              </a:spcBef>
              <a:spcAft>
                <a:spcPts val="0"/>
              </a:spcAft>
              <a:defRPr sz="1275" b="0">
                <a:solidFill>
                  <a:srgbClr val="5F6B7A"/>
                </a:solidFill>
              </a:defRPr>
            </a:pPr>
            <a:r>
              <a:rPr sz="1050" b="0">
                <a:solidFill>
                  <a:srgbClr val="5F6B7A"/>
                </a:solidFill>
                <a:latin typeface="Source Han Sans SC"/>
              </a:rPr>
              <a:t>Self-Attention</a:t>
            </a:r>
            <a:r>
              <a:rPr lang="zh-CN" sz="1050" b="0">
                <a:solidFill>
                  <a:srgbClr val="5F6B7A"/>
                </a:solidFill>
                <a:latin typeface="Source Han Sans SC"/>
                <a:ea typeface="Source Han Sans SC"/>
              </a:rPr>
              <a:t>：源序列内部双向读取｜</a:t>
            </a:r>
            <a:r>
              <a:rPr sz="1050" b="0">
                <a:solidFill>
                  <a:srgbClr val="5F6B7A"/>
                </a:solidFill>
                <a:latin typeface="Source Han Sans SC"/>
              </a:rPr>
              <a:t>Cross-Attention</a:t>
            </a:r>
            <a:r>
              <a:rPr sz="1050" b="0">
                <a:solidFill>
                  <a:srgbClr val="5F6B7A"/>
                </a:solidFill>
                <a:latin typeface="Source Han Sans SC"/>
              </a:rPr>
              <a:t>：</a:t>
            </a:r>
            <a:r>
              <a:rPr sz="1050" b="0">
                <a:solidFill>
                  <a:srgbClr val="5F6B7A"/>
                </a:solidFill>
                <a:latin typeface="Source Han Sans SC"/>
              </a:rPr>
              <a:t>Decoder </a:t>
            </a:r>
            <a:r>
              <a:rPr lang="zh-CN" sz="1050" b="0">
                <a:solidFill>
                  <a:srgbClr val="5F6B7A"/>
                </a:solidFill>
                <a:latin typeface="Source Han Sans SC"/>
                <a:ea typeface="Source Han Sans SC"/>
              </a:rPr>
              <a:t>读取</a:t>
            </a:r>
            <a:r>
              <a:rPr sz="1050" b="0">
                <a:solidFill>
                  <a:srgbClr val="5F6B7A"/>
                </a:solidFill>
                <a:latin typeface="Source Han Sans SC"/>
              </a:rPr>
              <a:t> Encoder </a:t>
            </a:r>
            <a:r>
              <a:rPr lang="zh-CN" sz="1050" b="0">
                <a:solidFill>
                  <a:srgbClr val="5F6B7A"/>
                </a:solidFill>
                <a:latin typeface="Source Han Sans SC"/>
                <a:ea typeface="Source Han Sans SC"/>
              </a:rPr>
              <a:t>输出</a:t>
            </a:r>
            <a:endParaRPr sz="1050" b="0">
              <a:solidFill>
                <a:srgbClr val="5F6B7A"/>
              </a:solidFill>
            </a:endParaRPr>
          </a:p>
        </p:txBody>
      </p:sp>
      <p:sp>
        <p:nvSpPr>
          <p:cNvPr id="37" name="矩形 36"/>
          <p:cNvSpPr>
            <a:spLocks noGrp="1"/>
          </p:cNvSpPr>
          <p:nvPr/>
        </p:nvSpPr>
        <p:spPr>
          <a:xfrm>
            <a:off x="6858000" y="4762500"/>
            <a:ext cx="4762500" cy="228600"/>
          </a:xfrm>
          <a:prstGeom prst="rect">
            <a:avLst/>
          </a:prstGeom>
          <a:noFill/>
          <a:ln w="0">
            <a:noFill/>
            <a:prstDash val="solid"/>
          </a:ln>
        </p:spPr>
        <p:txBody>
          <a:bodyPr wrap="square" lIns="38100" tIns="19050" rIns="38100" bIns="19050" anchor="ctr">
            <a:normAutofit fontScale="98039"/>
          </a:bodyPr>
          <a:lstStyle/>
          <a:p>
            <a:pPr algn="l">
              <a:spcBef>
                <a:spcPts val="0"/>
              </a:spcBef>
              <a:spcAft>
                <a:spcPts val="0"/>
              </a:spcAft>
              <a:defRPr sz="1275" b="0">
                <a:solidFill>
                  <a:srgbClr val="5F6B7A"/>
                </a:solidFill>
              </a:defRPr>
            </a:pPr>
            <a:r>
              <a:rPr sz="1050" b="0">
                <a:solidFill>
                  <a:srgbClr val="5F6B7A"/>
                </a:solidFill>
                <a:latin typeface="Source Han Sans SC"/>
              </a:rPr>
              <a:t>Causal Self-Attention</a:t>
            </a:r>
            <a:r>
              <a:rPr lang="zh-CN" sz="1050" b="0">
                <a:solidFill>
                  <a:srgbClr val="5F6B7A"/>
                </a:solidFill>
                <a:latin typeface="Source Han Sans SC"/>
                <a:ea typeface="Source Han Sans SC"/>
              </a:rPr>
              <a:t>：每个位置只读取当前位置及左侧上下文</a:t>
            </a:r>
            <a:endParaRPr sz="1050" b="0">
              <a:solidFill>
                <a:srgbClr val="5F6B7A"/>
              </a:solidFill>
            </a:endParaRPr>
          </a:p>
        </p:txBody>
      </p:sp>
      <p:sp>
        <p:nvSpPr>
          <p:cNvPr id="38" name="矩形 37"/>
          <p:cNvSpPr>
            <a:spLocks noGrp="1"/>
          </p:cNvSpPr>
          <p:nvPr/>
        </p:nvSpPr>
        <p:spPr>
          <a:xfrm>
            <a:off x="333375" y="5743575"/>
            <a:ext cx="11525250" cy="514350"/>
          </a:xfrm>
          <a:prstGeom prst="rect">
            <a:avLst/>
          </a:prstGeom>
          <a:solidFill>
            <a:srgbClr val="660874"/>
          </a:solidFill>
          <a:ln w="0">
            <a:noFill/>
            <a:prstDash val="solid"/>
          </a:ln>
        </p:spPr>
      </p:sp>
      <p:sp>
        <p:nvSpPr>
          <p:cNvPr id="39" name="矩形 38"/>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defRPr sz="1425" b="1">
                <a:solidFill>
                  <a:srgbClr val="FFFFFF"/>
                </a:solidFill>
              </a:defRPr>
            </a:pPr>
            <a:r>
              <a:rPr sz="1425" b="1">
                <a:solidFill>
                  <a:srgbClr val="FFFFFF"/>
                </a:solidFill>
                <a:latin typeface="Source Han Sans SC"/>
              </a:rPr>
              <a:t>Decoder-Only </a:t>
            </a:r>
            <a:r>
              <a:rPr lang="zh-CN" sz="1425" b="1">
                <a:solidFill>
                  <a:srgbClr val="FFFFFF"/>
                </a:solidFill>
                <a:latin typeface="Source Han Sans SC"/>
                <a:ea typeface="Source Han Sans SC"/>
              </a:rPr>
              <a:t>不是简单</a:t>
            </a:r>
            <a:r>
              <a:rPr sz="1425" b="1">
                <a:solidFill>
                  <a:srgbClr val="FFFFFF"/>
                </a:solidFill>
                <a:latin typeface="Source Han Sans SC"/>
              </a:rPr>
              <a:t>“</a:t>
            </a:r>
            <a:r>
              <a:rPr lang="zh-CN" sz="1425" b="1">
                <a:solidFill>
                  <a:srgbClr val="FFFFFF"/>
                </a:solidFill>
                <a:latin typeface="Source Han Sans SC"/>
                <a:ea typeface="Source Han Sans SC"/>
              </a:rPr>
              <a:t>删除</a:t>
            </a:r>
            <a:r>
              <a:rPr sz="1425" b="1">
                <a:solidFill>
                  <a:srgbClr val="FFFFFF"/>
                </a:solidFill>
                <a:latin typeface="Source Han Sans SC"/>
              </a:rPr>
              <a:t> Encoder”</a:t>
            </a:r>
            <a:r>
              <a:rPr lang="zh-CN" sz="1425" b="1">
                <a:solidFill>
                  <a:srgbClr val="FFFFFF"/>
                </a:solidFill>
                <a:latin typeface="Source Han Sans SC"/>
                <a:ea typeface="Source Han Sans SC"/>
              </a:rPr>
              <a:t>，而是同时改变信息组织方式和训练目标。</a:t>
            </a:r>
            <a:endParaRPr sz="1425" b="1">
              <a:solidFill>
                <a:srgbClr val="FFFFFF"/>
              </a:solidFill>
            </a:endParaRPr>
          </a:p>
        </p:txBody>
      </p:sp>
      <p:sp>
        <p:nvSpPr>
          <p:cNvPr id="41" name="任意多边形 40"/>
          <p:cNvSpPr>
            <a:spLocks noGrp="1"/>
          </p:cNvSpPr>
          <p:nvPr/>
        </p:nvSpPr>
        <p:spPr>
          <a:xfrm>
            <a:off x="4240530" y="2581275"/>
            <a:ext cx="104775" cy="95250"/>
          </a:xfrm>
          <a:custGeom>
            <a:avLst/>
            <a:gdLst/>
            <a:ahLst/>
            <a:cxnLst/>
            <a:pathLst>
              <a:path w="104775" h="95250">
                <a:moveTo>
                  <a:pt x="0" y="0"/>
                </a:moveTo>
                <a:lnTo>
                  <a:pt x="104775" y="47625"/>
                </a:lnTo>
                <a:lnTo>
                  <a:pt x="0" y="95250"/>
                </a:lnTo>
                <a:close/>
              </a:path>
            </a:pathLst>
          </a:custGeom>
        </p:spPr>
        <p:style>
          <a:lnRef idx="0">
            <a:srgbClr val="FFFFFF"/>
          </a:lnRef>
          <a:fillRef idx="1">
            <a:schemeClr val="accent1"/>
          </a:fillRef>
          <a:effectRef idx="0">
            <a:srgbClr val="FFFFFF"/>
          </a:effectRef>
          <a:fontRef idx="minor">
            <a:schemeClr val="lt1"/>
          </a:fontRef>
        </p:style>
        <p:txBody>
          <a:bodyPr/>
          <a:p/>
        </p:txBody>
      </p:sp>
      <p:sp>
        <p:nvSpPr>
          <p:cNvPr id="42" name="任意多边形 41"/>
          <p:cNvSpPr>
            <a:spLocks noGrp="1"/>
          </p:cNvSpPr>
          <p:nvPr/>
        </p:nvSpPr>
        <p:spPr>
          <a:xfrm>
            <a:off x="10093325" y="2581275"/>
            <a:ext cx="104775" cy="95250"/>
          </a:xfrm>
          <a:custGeom>
            <a:avLst/>
            <a:gdLst/>
            <a:ahLst/>
            <a:cxnLst/>
            <a:pathLst>
              <a:path w="104775" h="95250">
                <a:moveTo>
                  <a:pt x="0" y="0"/>
                </a:moveTo>
                <a:lnTo>
                  <a:pt x="104775" y="47625"/>
                </a:lnTo>
                <a:lnTo>
                  <a:pt x="0" y="95250"/>
                </a:lnTo>
                <a:close/>
              </a:path>
            </a:pathLst>
          </a:custGeom>
          <a:solidFill>
            <a:srgbClr val="1E8E94"/>
          </a:solidFill>
          <a:ln w="0">
            <a:solidFill>
              <a:srgbClr val="2F6BDA"/>
            </a:solidFill>
            <a:prstDash val="solid"/>
          </a:ln>
        </p:spPr>
        <p:txBody>
          <a:body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title"/>
          <p:cNvSpPr>
            <a:spLocks noGrp="1"/>
          </p:cNvSpPr>
          <p:nvPr/>
        </p:nvSpPr>
        <p:spPr>
          <a:xfrm>
            <a:off x="333375" y="95250"/>
            <a:ext cx="10528935" cy="647700"/>
          </a:xfrm>
          <a:prstGeom prst="rect">
            <a:avLst/>
          </a:prstGeom>
          <a:noFill/>
          <a:ln w="0">
            <a:noFill/>
            <a:prstDash val="solid"/>
          </a:ln>
        </p:spPr>
        <p:txBody>
          <a:bodyPr wrap="square" lIns="38100" tIns="19050" rIns="38100" bIns="19050" anchor="ctr">
            <a:normAutofit fontScale="97465"/>
          </a:bodyPr>
          <a:lstStyle/>
          <a:p>
            <a:pPr algn="l">
              <a:defRPr sz="2700" b="1">
                <a:solidFill>
                  <a:srgbClr val="1F2937"/>
                </a:solidFill>
              </a:defRPr>
            </a:pPr>
            <a:r>
              <a:rPr sz="2700" b="1">
                <a:solidFill>
                  <a:srgbClr val="1F2937"/>
                </a:solidFill>
                <a:latin typeface="Source Han Sans SC"/>
              </a:rPr>
              <a:t>Decoder-Only </a:t>
            </a:r>
            <a:r>
              <a:rPr lang="zh-CN" sz="2700" b="1">
                <a:solidFill>
                  <a:srgbClr val="1F2937"/>
                </a:solidFill>
                <a:latin typeface="Source Han Sans SC"/>
                <a:ea typeface="Source Han Sans SC"/>
              </a:rPr>
              <a:t>适合通用生成，因为目标、主干和使用规则可以统一</a:t>
            </a:r>
            <a:endParaRPr sz="2700" b="1">
              <a:solidFill>
                <a:srgbClr val="1F2937"/>
              </a:solidFill>
            </a:endParaRPr>
          </a:p>
        </p:txBody>
      </p:sp>
      <p:sp>
        <p:nvSpPr>
          <p:cNvPr id="2" name="矩形 1"/>
          <p:cNvSpPr>
            <a:spLocks noGrp="1"/>
          </p:cNvSpPr>
          <p:nvPr/>
        </p:nvSpPr>
        <p:spPr>
          <a:xfrm>
            <a:off x="333375" y="971550"/>
            <a:ext cx="8572500" cy="228600"/>
          </a:xfrm>
          <a:prstGeom prst="rect">
            <a:avLst/>
          </a:prstGeom>
          <a:noFill/>
          <a:ln w="0">
            <a:noFill/>
            <a:prstDash val="solid"/>
          </a:ln>
        </p:spPr>
        <p:txBody>
          <a:bodyPr wrap="square" lIns="38100" tIns="19050" rIns="38100" bIns="19050" anchor="ctr">
            <a:normAutofit fontScale="92593"/>
          </a:bodyPr>
          <a:lstStyle/>
          <a:p>
            <a:pPr algn="l">
              <a:defRPr sz="1350" b="0">
                <a:solidFill>
                  <a:srgbClr val="5F6B7A"/>
                </a:solidFill>
              </a:defRPr>
            </a:pPr>
            <a:r>
              <a:rPr lang="zh-CN" sz="1350" b="0">
                <a:solidFill>
                  <a:srgbClr val="5F6B7A"/>
                </a:solidFill>
                <a:latin typeface="Source Han Sans SC"/>
                <a:ea typeface="Source Han Sans SC"/>
              </a:rPr>
              <a:t>为什么</a:t>
            </a:r>
            <a:r>
              <a:rPr sz="1350" b="0">
                <a:solidFill>
                  <a:srgbClr val="5F6B7A"/>
                </a:solidFill>
                <a:latin typeface="Source Han Sans SC"/>
              </a:rPr>
              <a:t> GPT </a:t>
            </a:r>
            <a:r>
              <a:rPr lang="zh-CN" sz="1350" b="0">
                <a:solidFill>
                  <a:srgbClr val="5F6B7A"/>
                </a:solidFill>
                <a:latin typeface="Source Han Sans SC"/>
                <a:ea typeface="Source Han Sans SC"/>
              </a:rPr>
              <a:t>类生成模型通常采用</a:t>
            </a:r>
            <a:r>
              <a:rPr sz="1350" b="0">
                <a:solidFill>
                  <a:srgbClr val="5F6B7A"/>
                </a:solidFill>
                <a:latin typeface="Source Han Sans SC"/>
              </a:rPr>
              <a:t> Decoder-Only</a:t>
            </a:r>
            <a:endParaRPr sz="1350" b="0">
              <a:solidFill>
                <a:srgbClr val="5F6B7A"/>
              </a:solidFill>
            </a:endParaRPr>
          </a:p>
        </p:txBody>
      </p:sp>
      <p:sp>
        <p:nvSpPr>
          <p:cNvPr id="3" name="圆角矩形 2"/>
          <p:cNvSpPr>
            <a:spLocks noGrp="1"/>
          </p:cNvSpPr>
          <p:nvPr/>
        </p:nvSpPr>
        <p:spPr>
          <a:xfrm>
            <a:off x="523875" y="1714500"/>
            <a:ext cx="2286000" cy="2571750"/>
          </a:xfrm>
          <a:prstGeom prst="roundRect">
            <a:avLst>
              <a:gd name="adj" fmla="val 3333"/>
            </a:avLst>
          </a:prstGeom>
          <a:solidFill>
            <a:srgbClr val="EAF1FF"/>
          </a:solidFill>
          <a:ln w="12383">
            <a:solidFill>
              <a:srgbClr val="2F6BDA"/>
            </a:solidFill>
            <a:prstDash val="solid"/>
          </a:ln>
        </p:spPr>
        <p:txBody>
          <a:bodyPr/>
          <a:p/>
        </p:txBody>
      </p:sp>
      <p:sp>
        <p:nvSpPr>
          <p:cNvPr id="4" name="矩形 3"/>
          <p:cNvSpPr>
            <a:spLocks noGrp="1"/>
          </p:cNvSpPr>
          <p:nvPr/>
        </p:nvSpPr>
        <p:spPr>
          <a:xfrm>
            <a:off x="638175" y="1790700"/>
            <a:ext cx="2057400" cy="285750"/>
          </a:xfrm>
          <a:prstGeom prst="rect">
            <a:avLst/>
          </a:prstGeom>
          <a:noFill/>
          <a:ln w="0">
            <a:noFill/>
            <a:prstDash val="solid"/>
          </a:ln>
        </p:spPr>
        <p:txBody>
          <a:bodyPr wrap="square" lIns="38100" tIns="19050" rIns="38100" bIns="19050" anchor="ctr">
            <a:normAutofit fontScale="94203"/>
          </a:bodyPr>
          <a:lstStyle/>
          <a:p>
            <a:pPr algn="ctr">
              <a:defRPr sz="1725" b="1">
                <a:solidFill>
                  <a:srgbClr val="2F6BDA"/>
                </a:solidFill>
              </a:defRPr>
            </a:pPr>
            <a:r>
              <a:rPr lang="zh-CN" sz="1725" b="1">
                <a:solidFill>
                  <a:srgbClr val="2F6BDA"/>
                </a:solidFill>
                <a:latin typeface="Source Han Sans SC"/>
                <a:ea typeface="Source Han Sans SC"/>
              </a:rPr>
              <a:t>目标统一</a:t>
            </a:r>
            <a:endParaRPr sz="1725" b="1">
              <a:solidFill>
                <a:srgbClr val="2F6BDA"/>
              </a:solidFill>
            </a:endParaRPr>
          </a:p>
        </p:txBody>
      </p:sp>
      <p:sp>
        <p:nvSpPr>
          <p:cNvPr id="5" name="矩形 4"/>
          <p:cNvSpPr>
            <a:spLocks noGrp="1"/>
          </p:cNvSpPr>
          <p:nvPr/>
        </p:nvSpPr>
        <p:spPr>
          <a:xfrm>
            <a:off x="638175" y="2095500"/>
            <a:ext cx="2057400" cy="2114550"/>
          </a:xfrm>
          <a:prstGeom prst="rect">
            <a:avLst/>
          </a:prstGeom>
          <a:noFill/>
          <a:ln w="0">
            <a:noFill/>
            <a:prstDash val="solid"/>
          </a:ln>
        </p:spPr>
        <p:txBody>
          <a:bodyPr wrap="square" lIns="38100" tIns="19050" rIns="38100" bIns="19050" anchor="t">
            <a:normAutofit/>
          </a:bodyPr>
          <a:lstStyle/>
          <a:p>
            <a:pPr algn="ctr">
              <a:spcBef>
                <a:spcPts val="0"/>
              </a:spcBef>
              <a:spcAft>
                <a:spcPts val="0"/>
              </a:spcAft>
              <a:defRPr sz="1350" b="0">
                <a:solidFill>
                  <a:srgbClr val="1F2937"/>
                </a:solidFill>
              </a:defRPr>
            </a:pPr>
            <a:r>
              <a:rPr lang="zh-CN" sz="1150" b="0">
                <a:solidFill>
                  <a:srgbClr val="1F2937"/>
                </a:solidFill>
                <a:latin typeface="Source Han Sans SC"/>
                <a:ea typeface="Source Han Sans SC"/>
              </a:rPr>
              <a:t>所有语料整理为</a:t>
            </a:r>
            <a:r>
              <a:rPr sz="1150" b="0">
                <a:solidFill>
                  <a:srgbClr val="1F2937"/>
                </a:solidFill>
                <a:latin typeface="Source Han Sans SC"/>
              </a:rPr>
              <a:t> Token </a:t>
            </a:r>
            <a:r>
              <a:rPr lang="zh-CN" sz="1150" b="0">
                <a:solidFill>
                  <a:srgbClr val="1F2937"/>
                </a:solidFill>
                <a:latin typeface="Source Han Sans SC"/>
                <a:ea typeface="Source Han Sans SC"/>
              </a:rPr>
              <a:t>序列</a:t>
            </a:r>
            <a:endParaRPr sz="1150" b="0">
              <a:solidFill>
                <a:srgbClr val="1F2937"/>
              </a:solidFill>
            </a:endParaRPr>
          </a:p>
          <a:p>
            <a:pPr algn="ctr">
              <a:spcBef>
                <a:spcPts val="0"/>
              </a:spcBef>
              <a:spcAft>
                <a:spcPts val="0"/>
              </a:spcAft>
            </a:pPr>
            <a:r>
              <a:rPr lang="zh-CN" sz="1150" b="0">
                <a:solidFill>
                  <a:srgbClr val="1F2937"/>
                </a:solidFill>
                <a:latin typeface="Source Han Sans SC"/>
                <a:ea typeface="Source Han Sans SC"/>
              </a:rPr>
              <a:t>统一使用</a:t>
            </a:r>
            <a:r>
              <a:rPr sz="1150" b="0">
                <a:solidFill>
                  <a:srgbClr val="1F2937"/>
                </a:solidFill>
                <a:latin typeface="Source Han Sans SC"/>
              </a:rPr>
              <a:t> Next-Token Prediction</a:t>
            </a:r>
            <a:endParaRPr sz="1150" b="0">
              <a:solidFill>
                <a:srgbClr val="1F2937"/>
              </a:solidFill>
            </a:endParaRPr>
          </a:p>
          <a:p>
            <a:pPr algn="ctr">
              <a:spcBef>
                <a:spcPts val="0"/>
              </a:spcBef>
              <a:spcAft>
                <a:spcPts val="0"/>
              </a:spcAft>
            </a:pPr>
            <a:r>
              <a:rPr lang="zh-CN" sz="1150" b="0">
                <a:solidFill>
                  <a:srgbClr val="1F2937"/>
                </a:solidFill>
                <a:latin typeface="Source Han Sans SC"/>
                <a:ea typeface="Source Han Sans SC"/>
              </a:rPr>
              <a:t>根据左侧上下文预测下一个</a:t>
            </a:r>
            <a:r>
              <a:rPr sz="1150" b="0">
                <a:solidFill>
                  <a:srgbClr val="1F2937"/>
                </a:solidFill>
                <a:latin typeface="Source Han Sans SC"/>
              </a:rPr>
              <a:t> Token</a:t>
            </a:r>
            <a:endParaRPr sz="1150" b="0">
              <a:solidFill>
                <a:srgbClr val="1F2937"/>
              </a:solidFill>
            </a:endParaRPr>
          </a:p>
        </p:txBody>
      </p:sp>
      <p:sp>
        <p:nvSpPr>
          <p:cNvPr id="6" name="直接连接符 5"/>
          <p:cNvSpPr>
            <a:spLocks noGrp="1"/>
          </p:cNvSpPr>
          <p:nvPr/>
        </p:nvSpPr>
        <p:spPr>
          <a:xfrm>
            <a:off x="2809875" y="3000375"/>
            <a:ext cx="333375" cy="0"/>
          </a:xfrm>
          <a:prstGeom prst="line">
            <a:avLst/>
          </a:prstGeom>
          <a:noFill/>
          <a:ln w="19050">
            <a:solidFill>
              <a:srgbClr val="5F6B7A"/>
            </a:solidFill>
            <a:prstDash val="solid"/>
          </a:ln>
        </p:spPr>
      </p:sp>
      <p:sp>
        <p:nvSpPr>
          <p:cNvPr id="7" name="任意多边形 6"/>
          <p:cNvSpPr>
            <a:spLocks noGrp="1"/>
          </p:cNvSpPr>
          <p:nvPr/>
        </p:nvSpPr>
        <p:spPr>
          <a:xfrm>
            <a:off x="3038475" y="2952750"/>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sp>
      <p:sp>
        <p:nvSpPr>
          <p:cNvPr id="8" name="圆角矩形 7"/>
          <p:cNvSpPr>
            <a:spLocks noGrp="1"/>
          </p:cNvSpPr>
          <p:nvPr/>
        </p:nvSpPr>
        <p:spPr>
          <a:xfrm>
            <a:off x="3190875" y="1714500"/>
            <a:ext cx="2286000" cy="2571750"/>
          </a:xfrm>
          <a:prstGeom prst="roundRect">
            <a:avLst>
              <a:gd name="adj" fmla="val 3333"/>
            </a:avLst>
          </a:prstGeom>
          <a:solidFill>
            <a:srgbClr val="F3EEF5"/>
          </a:solidFill>
          <a:ln w="12383">
            <a:solidFill>
              <a:srgbClr val="660874"/>
            </a:solidFill>
            <a:prstDash val="solid"/>
          </a:ln>
        </p:spPr>
      </p:sp>
      <p:sp>
        <p:nvSpPr>
          <p:cNvPr id="9" name="矩形 8"/>
          <p:cNvSpPr>
            <a:spLocks noGrp="1"/>
          </p:cNvSpPr>
          <p:nvPr/>
        </p:nvSpPr>
        <p:spPr>
          <a:xfrm>
            <a:off x="3305175" y="1790700"/>
            <a:ext cx="2057400" cy="285750"/>
          </a:xfrm>
          <a:prstGeom prst="rect">
            <a:avLst/>
          </a:prstGeom>
          <a:noFill/>
          <a:ln w="0">
            <a:noFill/>
            <a:prstDash val="solid"/>
          </a:ln>
        </p:spPr>
        <p:txBody>
          <a:bodyPr wrap="square" lIns="38100" tIns="19050" rIns="38100" bIns="19050" anchor="ctr">
            <a:normAutofit fontScale="94203"/>
          </a:bodyPr>
          <a:lstStyle/>
          <a:p>
            <a:pPr algn="ctr">
              <a:defRPr sz="1725" b="1">
                <a:solidFill>
                  <a:srgbClr val="660874"/>
                </a:solidFill>
              </a:defRPr>
            </a:pPr>
            <a:r>
              <a:rPr lang="zh-CN" sz="1725" b="1">
                <a:solidFill>
                  <a:srgbClr val="660874"/>
                </a:solidFill>
                <a:latin typeface="Source Han Sans SC"/>
                <a:ea typeface="Source Han Sans SC"/>
              </a:rPr>
              <a:t>主干统一</a:t>
            </a:r>
            <a:endParaRPr sz="1725" b="1">
              <a:solidFill>
                <a:srgbClr val="660874"/>
              </a:solidFill>
            </a:endParaRPr>
          </a:p>
        </p:txBody>
      </p:sp>
      <p:sp>
        <p:nvSpPr>
          <p:cNvPr id="10" name="矩形 9"/>
          <p:cNvSpPr>
            <a:spLocks noGrp="1"/>
          </p:cNvSpPr>
          <p:nvPr/>
        </p:nvSpPr>
        <p:spPr>
          <a:xfrm>
            <a:off x="3305175" y="2095500"/>
            <a:ext cx="2057400" cy="2114550"/>
          </a:xfrm>
          <a:prstGeom prst="rect">
            <a:avLst/>
          </a:prstGeom>
          <a:noFill/>
          <a:ln w="0">
            <a:noFill/>
            <a:prstDash val="solid"/>
          </a:ln>
        </p:spPr>
        <p:txBody>
          <a:bodyPr wrap="square" lIns="38100" tIns="19050" rIns="38100" bIns="19050" anchor="t">
            <a:normAutofit/>
          </a:bodyPr>
          <a:lstStyle/>
          <a:p>
            <a:pPr algn="ctr">
              <a:defRPr sz="1350" b="0">
                <a:solidFill>
                  <a:srgbClr val="1F2937"/>
                </a:solidFill>
              </a:defRPr>
            </a:pPr>
            <a:r>
              <a:rPr lang="zh-CN" sz="1350" b="0">
                <a:solidFill>
                  <a:srgbClr val="1F2937"/>
                </a:solidFill>
                <a:latin typeface="Source Han Sans SC"/>
                <a:ea typeface="Source Han Sans SC"/>
              </a:rPr>
              <a:t>所有</a:t>
            </a:r>
            <a:r>
              <a:rPr sz="1350" b="0">
                <a:solidFill>
                  <a:srgbClr val="1F2937"/>
                </a:solidFill>
                <a:latin typeface="Source Han Sans SC"/>
              </a:rPr>
              <a:t> Token </a:t>
            </a:r>
            <a:r>
              <a:rPr lang="zh-CN" sz="1350" b="0">
                <a:solidFill>
                  <a:srgbClr val="1F2937"/>
                </a:solidFill>
                <a:latin typeface="Source Han Sans SC"/>
                <a:ea typeface="Source Han Sans SC"/>
              </a:rPr>
              <a:t>经过同一组</a:t>
            </a:r>
            <a:r>
              <a:rPr sz="1350" b="0">
                <a:solidFill>
                  <a:srgbClr val="1F2937"/>
                </a:solidFill>
                <a:latin typeface="Source Han Sans SC"/>
              </a:rPr>
              <a:t> Decoder Blocks</a:t>
            </a:r>
            <a:endParaRPr sz="1350" b="0">
              <a:solidFill>
                <a:srgbClr val="1F2937"/>
              </a:solidFill>
            </a:endParaRPr>
          </a:p>
          <a:p>
            <a:pPr algn="ctr">
              <a:defRPr sz="1350" b="0">
                <a:solidFill>
                  <a:srgbClr val="1F2937"/>
                </a:solidFill>
              </a:defRPr>
            </a:pPr>
            <a:r>
              <a:rPr lang="zh-CN" sz="1350" b="0">
                <a:solidFill>
                  <a:srgbClr val="1F2937"/>
                </a:solidFill>
                <a:latin typeface="Source Han Sans SC"/>
                <a:ea typeface="Source Han Sans SC"/>
              </a:rPr>
              <a:t>便于扩大层数、宽度与数据规模</a:t>
            </a:r>
            <a:endParaRPr sz="1350" b="0">
              <a:solidFill>
                <a:srgbClr val="1F2937"/>
              </a:solidFill>
            </a:endParaRPr>
          </a:p>
        </p:txBody>
      </p:sp>
      <p:sp>
        <p:nvSpPr>
          <p:cNvPr id="11" name="直接连接符 10"/>
          <p:cNvSpPr>
            <a:spLocks noGrp="1"/>
          </p:cNvSpPr>
          <p:nvPr/>
        </p:nvSpPr>
        <p:spPr>
          <a:xfrm>
            <a:off x="5476875" y="3000375"/>
            <a:ext cx="333375" cy="0"/>
          </a:xfrm>
          <a:prstGeom prst="line">
            <a:avLst/>
          </a:prstGeom>
          <a:noFill/>
          <a:ln w="19050">
            <a:solidFill>
              <a:srgbClr val="5F6B7A"/>
            </a:solidFill>
            <a:prstDash val="solid"/>
          </a:ln>
        </p:spPr>
      </p:sp>
      <p:sp>
        <p:nvSpPr>
          <p:cNvPr id="12" name="任意多边形 11"/>
          <p:cNvSpPr>
            <a:spLocks noGrp="1"/>
          </p:cNvSpPr>
          <p:nvPr/>
        </p:nvSpPr>
        <p:spPr>
          <a:xfrm>
            <a:off x="5705475" y="2952750"/>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sp>
      <p:sp>
        <p:nvSpPr>
          <p:cNvPr id="13" name="圆角矩形 12"/>
          <p:cNvSpPr>
            <a:spLocks noGrp="1"/>
          </p:cNvSpPr>
          <p:nvPr/>
        </p:nvSpPr>
        <p:spPr>
          <a:xfrm>
            <a:off x="5857875" y="1714500"/>
            <a:ext cx="2286000" cy="2571750"/>
          </a:xfrm>
          <a:prstGeom prst="roundRect">
            <a:avLst>
              <a:gd name="adj" fmla="val 3333"/>
            </a:avLst>
          </a:prstGeom>
          <a:solidFill>
            <a:srgbClr val="E9F4F4"/>
          </a:solidFill>
          <a:ln w="12383">
            <a:solidFill>
              <a:srgbClr val="1E8E94"/>
            </a:solidFill>
            <a:prstDash val="solid"/>
          </a:ln>
        </p:spPr>
      </p:sp>
      <p:sp>
        <p:nvSpPr>
          <p:cNvPr id="14" name="矩形 13"/>
          <p:cNvSpPr>
            <a:spLocks noGrp="1"/>
          </p:cNvSpPr>
          <p:nvPr/>
        </p:nvSpPr>
        <p:spPr>
          <a:xfrm>
            <a:off x="5972175" y="1790700"/>
            <a:ext cx="2057400" cy="285750"/>
          </a:xfrm>
          <a:prstGeom prst="rect">
            <a:avLst/>
          </a:prstGeom>
          <a:noFill/>
          <a:ln w="0">
            <a:noFill/>
            <a:prstDash val="solid"/>
          </a:ln>
        </p:spPr>
        <p:txBody>
          <a:bodyPr wrap="square" lIns="38100" tIns="19050" rIns="38100" bIns="19050" anchor="ctr">
            <a:normAutofit fontScale="94203"/>
          </a:bodyPr>
          <a:lstStyle/>
          <a:p>
            <a:pPr algn="ctr">
              <a:defRPr sz="1725" b="1">
                <a:solidFill>
                  <a:srgbClr val="1E8E94"/>
                </a:solidFill>
              </a:defRPr>
            </a:pPr>
            <a:r>
              <a:rPr lang="zh-CN" sz="1725" b="1">
                <a:solidFill>
                  <a:srgbClr val="1E8E94"/>
                </a:solidFill>
                <a:latin typeface="Source Han Sans SC"/>
                <a:ea typeface="Source Han Sans SC"/>
              </a:rPr>
              <a:t>条件统一</a:t>
            </a:r>
            <a:endParaRPr sz="1725" b="1">
              <a:solidFill>
                <a:srgbClr val="1E8E94"/>
              </a:solidFill>
            </a:endParaRPr>
          </a:p>
        </p:txBody>
      </p:sp>
      <p:sp>
        <p:nvSpPr>
          <p:cNvPr id="15" name="矩形 14"/>
          <p:cNvSpPr>
            <a:spLocks noGrp="1"/>
          </p:cNvSpPr>
          <p:nvPr/>
        </p:nvSpPr>
        <p:spPr>
          <a:xfrm>
            <a:off x="5972175" y="2095500"/>
            <a:ext cx="2057400" cy="2114550"/>
          </a:xfrm>
          <a:prstGeom prst="rect">
            <a:avLst/>
          </a:prstGeom>
          <a:noFill/>
          <a:ln w="0">
            <a:noFill/>
            <a:prstDash val="solid"/>
          </a:ln>
        </p:spPr>
        <p:txBody>
          <a:bodyPr wrap="square" lIns="38100" tIns="19050" rIns="38100" bIns="19050" anchor="t">
            <a:normAutofit/>
          </a:bodyPr>
          <a:lstStyle/>
          <a:p>
            <a:pPr algn="ctr">
              <a:defRPr sz="1350" b="0">
                <a:solidFill>
                  <a:srgbClr val="1F2937"/>
                </a:solidFill>
              </a:defRPr>
            </a:pPr>
            <a:r>
              <a:rPr lang="zh-CN" sz="1350" b="0">
                <a:solidFill>
                  <a:srgbClr val="1F2937"/>
                </a:solidFill>
                <a:latin typeface="Source Han Sans SC"/>
                <a:ea typeface="Source Han Sans SC"/>
              </a:rPr>
              <a:t>问题、指令、上下文和答案</a:t>
            </a:r>
            <a:endParaRPr sz="1350" b="0">
              <a:solidFill>
                <a:srgbClr val="1F2937"/>
              </a:solidFill>
            </a:endParaRPr>
          </a:p>
          <a:p>
            <a:pPr algn="ctr">
              <a:defRPr sz="1350" b="0">
                <a:solidFill>
                  <a:srgbClr val="1F2937"/>
                </a:solidFill>
              </a:defRPr>
            </a:pPr>
            <a:r>
              <a:rPr lang="zh-CN" sz="1350" b="0">
                <a:solidFill>
                  <a:srgbClr val="1F2937"/>
                </a:solidFill>
                <a:latin typeface="Source Han Sans SC"/>
                <a:ea typeface="Source Han Sans SC"/>
              </a:rPr>
              <a:t>都表示为左侧条件</a:t>
            </a:r>
            <a:r>
              <a:rPr sz="1350" b="0">
                <a:solidFill>
                  <a:srgbClr val="1F2937"/>
                </a:solidFill>
                <a:latin typeface="Source Han Sans SC"/>
              </a:rPr>
              <a:t> + </a:t>
            </a:r>
            <a:r>
              <a:rPr lang="zh-CN" sz="1350" b="0">
                <a:solidFill>
                  <a:srgbClr val="1F2937"/>
                </a:solidFill>
                <a:latin typeface="Source Han Sans SC"/>
                <a:ea typeface="Source Han Sans SC"/>
              </a:rPr>
              <a:t>后续</a:t>
            </a:r>
            <a:r>
              <a:rPr sz="1350" b="0">
                <a:solidFill>
                  <a:srgbClr val="1F2937"/>
                </a:solidFill>
                <a:latin typeface="Source Han Sans SC"/>
              </a:rPr>
              <a:t> Token</a:t>
            </a:r>
            <a:endParaRPr sz="1350" b="0">
              <a:solidFill>
                <a:srgbClr val="1F2937"/>
              </a:solidFill>
            </a:endParaRPr>
          </a:p>
        </p:txBody>
      </p:sp>
      <p:sp>
        <p:nvSpPr>
          <p:cNvPr id="16" name="圆角矩形 15"/>
          <p:cNvSpPr>
            <a:spLocks noGrp="1"/>
          </p:cNvSpPr>
          <p:nvPr/>
        </p:nvSpPr>
        <p:spPr>
          <a:xfrm>
            <a:off x="8858250" y="1714500"/>
            <a:ext cx="2619375" cy="2571750"/>
          </a:xfrm>
          <a:prstGeom prst="roundRect">
            <a:avLst>
              <a:gd name="adj" fmla="val 2963"/>
            </a:avLst>
          </a:prstGeom>
          <a:solidFill>
            <a:srgbClr val="F5F7FA"/>
          </a:solidFill>
          <a:ln w="12383">
            <a:solidFill>
              <a:srgbClr val="5F6B7A"/>
            </a:solidFill>
            <a:prstDash val="solid"/>
          </a:ln>
        </p:spPr>
      </p:sp>
      <p:sp>
        <p:nvSpPr>
          <p:cNvPr id="17" name="矩形 16"/>
          <p:cNvSpPr>
            <a:spLocks noGrp="1"/>
          </p:cNvSpPr>
          <p:nvPr/>
        </p:nvSpPr>
        <p:spPr>
          <a:xfrm>
            <a:off x="8972550" y="1790700"/>
            <a:ext cx="2390775" cy="285750"/>
          </a:xfrm>
          <a:prstGeom prst="rect">
            <a:avLst/>
          </a:prstGeom>
          <a:noFill/>
          <a:ln w="0">
            <a:noFill/>
            <a:prstDash val="solid"/>
          </a:ln>
        </p:spPr>
        <p:txBody>
          <a:bodyPr wrap="square" lIns="38100" tIns="19050" rIns="38100" bIns="19050" anchor="ctr">
            <a:normAutofit fontScale="98485"/>
          </a:bodyPr>
          <a:lstStyle/>
          <a:p>
            <a:pPr algn="l">
              <a:defRPr sz="1650" b="1">
                <a:solidFill>
                  <a:srgbClr val="5F6B7A"/>
                </a:solidFill>
              </a:defRPr>
            </a:pPr>
            <a:r>
              <a:rPr lang="zh-CN" sz="1650" b="1">
                <a:solidFill>
                  <a:srgbClr val="5F6B7A"/>
                </a:solidFill>
                <a:latin typeface="Source Han Sans SC"/>
                <a:ea typeface="Source Han Sans SC"/>
              </a:rPr>
              <a:t>适用边界</a:t>
            </a:r>
            <a:endParaRPr sz="1650" b="1">
              <a:solidFill>
                <a:srgbClr val="5F6B7A"/>
              </a:solidFill>
            </a:endParaRPr>
          </a:p>
        </p:txBody>
      </p:sp>
      <p:sp>
        <p:nvSpPr>
          <p:cNvPr id="18" name="矩形 17"/>
          <p:cNvSpPr>
            <a:spLocks noGrp="1"/>
          </p:cNvSpPr>
          <p:nvPr/>
        </p:nvSpPr>
        <p:spPr>
          <a:xfrm>
            <a:off x="8972550" y="2095500"/>
            <a:ext cx="2390775" cy="2114550"/>
          </a:xfrm>
          <a:prstGeom prst="rect">
            <a:avLst/>
          </a:prstGeom>
          <a:noFill/>
          <a:ln w="0">
            <a:noFill/>
            <a:prstDash val="solid"/>
          </a:ln>
        </p:spPr>
        <p:txBody>
          <a:bodyPr wrap="square" lIns="38100" tIns="19050" rIns="38100" bIns="19050" anchor="t">
            <a:normAutofit/>
          </a:bodyPr>
          <a:lstStyle/>
          <a:p>
            <a:pPr algn="l">
              <a:defRPr sz="1350" b="0">
                <a:solidFill>
                  <a:srgbClr val="1F2937"/>
                </a:solidFill>
              </a:defRPr>
            </a:pPr>
            <a:r>
              <a:rPr sz="1350" b="0">
                <a:solidFill>
                  <a:srgbClr val="1F2937"/>
                </a:solidFill>
                <a:latin typeface="Source Han Sans SC"/>
              </a:rPr>
              <a:t>Encoder-Decoder</a:t>
            </a:r>
            <a:r>
              <a:rPr lang="zh-CN" sz="1350" b="0">
                <a:solidFill>
                  <a:srgbClr val="1F2937"/>
                </a:solidFill>
                <a:latin typeface="Source Han Sans SC"/>
                <a:ea typeface="Source Han Sans SC"/>
              </a:rPr>
              <a:t>：源序列与目标序列职责清楚。</a:t>
            </a:r>
            <a:endParaRPr sz="1350" b="0">
              <a:solidFill>
                <a:srgbClr val="1F2937"/>
              </a:solidFill>
            </a:endParaRPr>
          </a:p>
          <a:p>
            <a:endParaRPr sz="1350"/>
          </a:p>
          <a:p>
            <a:pPr algn="l">
              <a:defRPr sz="1350" b="0">
                <a:solidFill>
                  <a:srgbClr val="1F2937"/>
                </a:solidFill>
              </a:defRPr>
            </a:pPr>
            <a:r>
              <a:rPr sz="1350" b="0">
                <a:solidFill>
                  <a:srgbClr val="1F2937"/>
                </a:solidFill>
                <a:latin typeface="Source Han Sans SC"/>
              </a:rPr>
              <a:t>Encoder</a:t>
            </a:r>
            <a:r>
              <a:rPr lang="zh-CN" sz="1350" b="0">
                <a:solidFill>
                  <a:srgbClr val="1F2937"/>
                </a:solidFill>
                <a:latin typeface="Source Han Sans SC"/>
                <a:ea typeface="Source Han Sans SC"/>
              </a:rPr>
              <a:t>：需要双向表示的分类、检索或表征任务。</a:t>
            </a:r>
            <a:endParaRPr sz="1350" b="0">
              <a:solidFill>
                <a:srgbClr val="1F2937"/>
              </a:solidFill>
            </a:endParaRPr>
          </a:p>
        </p:txBody>
      </p:sp>
      <p:sp>
        <p:nvSpPr>
          <p:cNvPr id="19" name="矩形 18"/>
          <p:cNvSpPr>
            <a:spLocks noGrp="1"/>
          </p:cNvSpPr>
          <p:nvPr/>
        </p:nvSpPr>
        <p:spPr>
          <a:xfrm>
            <a:off x="333375" y="5743575"/>
            <a:ext cx="11525250" cy="514350"/>
          </a:xfrm>
          <a:prstGeom prst="rect">
            <a:avLst/>
          </a:prstGeom>
          <a:solidFill>
            <a:srgbClr val="660874"/>
          </a:solidFill>
          <a:ln w="0">
            <a:noFill/>
            <a:prstDash val="solid"/>
          </a:ln>
        </p:spPr>
      </p:sp>
      <p:sp>
        <p:nvSpPr>
          <p:cNvPr id="20" name="矩形 19"/>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defRPr sz="1425" b="1">
                <a:solidFill>
                  <a:srgbClr val="FFFFFF"/>
                </a:solidFill>
              </a:defRPr>
            </a:pPr>
            <a:r>
              <a:rPr sz="1425" b="1">
                <a:solidFill>
                  <a:srgbClr val="FFFFFF"/>
                </a:solidFill>
                <a:latin typeface="Source Han Sans SC"/>
              </a:rPr>
              <a:t>Decoder-Only </a:t>
            </a:r>
            <a:r>
              <a:rPr lang="zh-CN" sz="1425" b="1">
                <a:solidFill>
                  <a:srgbClr val="FFFFFF"/>
                </a:solidFill>
                <a:latin typeface="Source Han Sans SC"/>
                <a:ea typeface="Source Han Sans SC"/>
              </a:rPr>
              <a:t>的优势是统一，不等于在所有任务上绝对优于其他架构。</a:t>
            </a:r>
            <a:endParaRPr sz="1425" b="1">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 name="title"/>
          <p:cNvSpPr>
            <a:spLocks noGrp="1"/>
          </p:cNvSpPr>
          <p:nvPr/>
        </p:nvSpPr>
        <p:spPr>
          <a:xfrm>
            <a:off x="333375" y="95250"/>
            <a:ext cx="10058400" cy="647700"/>
          </a:xfrm>
          <a:prstGeom prst="rect">
            <a:avLst/>
          </a:prstGeom>
          <a:noFill/>
          <a:ln w="0">
            <a:noFill/>
            <a:prstDash val="solid"/>
          </a:ln>
        </p:spPr>
        <p:txBody>
          <a:bodyPr wrap="square" lIns="38100" tIns="19050" rIns="38100" bIns="19050" anchor="ctr">
            <a:normAutofit/>
          </a:bodyPr>
          <a:lstStyle/>
          <a:p>
            <a:pPr algn="l">
              <a:lnSpc>
                <a:spcPct val="100000"/>
              </a:lnSpc>
              <a:spcBef>
                <a:spcPts val="0"/>
              </a:spcBef>
              <a:spcAft>
                <a:spcPts val="0"/>
              </a:spcAft>
              <a:defRPr sz="2700" b="1">
                <a:solidFill>
                  <a:srgbClr val="1F2937"/>
                </a:solidFill>
              </a:defRPr>
            </a:pPr>
            <a:r>
              <a:rPr lang="zh-CN" altLang="en-US" sz="2950" b="1">
                <a:solidFill>
                  <a:srgbClr val="1F2937"/>
                </a:solidFill>
                <a:latin typeface="Source Han Sans SC"/>
                <a:ea typeface="Source Han Sans SC"/>
              </a:rPr>
              <a:t>Decoder-Only </a:t>
            </a:r>
            <a:r>
              <a:rPr lang="zh-CN" altLang="en-US" sz="2950" b="1">
                <a:solidFill>
                  <a:srgbClr val="1F2937"/>
                </a:solidFill>
                <a:latin typeface="Source Han Sans SC"/>
                <a:ea typeface="Source Han Sans SC"/>
              </a:rPr>
              <a:t>前向数据流</a:t>
            </a:r>
            <a:r>
              <a:rPr lang="zh-CN" altLang="en-US" sz="2950" b="1">
                <a:solidFill>
                  <a:srgbClr val="1F2937"/>
                </a:solidFill>
                <a:latin typeface="Source Han Sans SC"/>
                <a:ea typeface="Source Han Sans SC"/>
              </a:rPr>
              <a:t>：</a:t>
            </a:r>
            <a:r>
              <a:rPr lang="zh-CN" altLang="en-US" sz="2950" b="1">
                <a:solidFill>
                  <a:srgbClr val="1F2937"/>
                </a:solidFill>
                <a:latin typeface="Source Han Sans SC"/>
                <a:ea typeface="Source Han Sans SC"/>
              </a:rPr>
              <a:t>从</a:t>
            </a:r>
            <a:r>
              <a:rPr lang="zh-CN" altLang="en-US" sz="2950" b="1">
                <a:solidFill>
                  <a:srgbClr val="1F2937"/>
                </a:solidFill>
                <a:latin typeface="Source Han Sans SC"/>
                <a:ea typeface="Source Han Sans SC"/>
              </a:rPr>
              <a:t> Token IDs </a:t>
            </a:r>
            <a:r>
              <a:rPr lang="zh-CN" altLang="en-US" sz="2950" b="1">
                <a:solidFill>
                  <a:srgbClr val="1F2937"/>
                </a:solidFill>
                <a:latin typeface="Source Han Sans SC"/>
                <a:ea typeface="Source Han Sans SC"/>
              </a:rPr>
              <a:t>到</a:t>
            </a:r>
            <a:r>
              <a:rPr lang="zh-CN" altLang="en-US" sz="2950" b="1">
                <a:solidFill>
                  <a:srgbClr val="1F2937"/>
                </a:solidFill>
                <a:latin typeface="Source Han Sans SC"/>
                <a:ea typeface="Source Han Sans SC"/>
              </a:rPr>
              <a:t> Logits</a:t>
            </a:r>
            <a:endParaRPr sz="2700" b="1">
              <a:solidFill>
                <a:srgbClr val="1F2937"/>
              </a:solidFill>
            </a:endParaRPr>
          </a:p>
        </p:txBody>
      </p:sp>
      <p:sp>
        <p:nvSpPr>
          <p:cNvPr id="2" name="矩形 1"/>
          <p:cNvSpPr>
            <a:spLocks noGrp="1"/>
          </p:cNvSpPr>
          <p:nvPr/>
        </p:nvSpPr>
        <p:spPr>
          <a:xfrm>
            <a:off x="333375" y="971550"/>
            <a:ext cx="9525000" cy="228600"/>
          </a:xfrm>
          <a:prstGeom prst="rect">
            <a:avLst/>
          </a:prstGeom>
          <a:noFill/>
          <a:ln w="0">
            <a:noFill/>
            <a:prstDash val="solid"/>
          </a:ln>
        </p:spPr>
        <p:txBody>
          <a:bodyPr wrap="square" lIns="38100" tIns="19050" rIns="38100" bIns="19050" anchor="ctr">
            <a:normAutofit fontScale="92593"/>
          </a:bodyPr>
          <a:lstStyle/>
          <a:p>
            <a:pPr algn="l">
              <a:lnSpc>
                <a:spcPct val="100000"/>
              </a:lnSpc>
              <a:spcBef>
                <a:spcPts val="0"/>
              </a:spcBef>
              <a:spcAft>
                <a:spcPts val="0"/>
              </a:spcAft>
              <a:defRPr sz="1350" b="0">
                <a:solidFill>
                  <a:srgbClr val="5F6B7A"/>
                </a:solidFill>
              </a:defRPr>
            </a:pPr>
            <a:r>
              <a:rPr lang="zh-CN" altLang="en-US" sz="1200" b="0">
                <a:solidFill>
                  <a:srgbClr val="5F6B7A"/>
                </a:solidFill>
                <a:latin typeface="Source Han Sans SC"/>
                <a:ea typeface="Source Han Sans SC"/>
              </a:rPr>
              <a:t>左侧是抽象层级的前向数据流总览</a:t>
            </a:r>
            <a:r>
              <a:rPr lang="zh-CN" altLang="en-US" sz="1200" b="0">
                <a:solidFill>
                  <a:srgbClr val="5F6B7A"/>
                </a:solidFill>
                <a:latin typeface="Source Han Sans SC"/>
                <a:ea typeface="Source Han Sans SC"/>
              </a:rPr>
              <a:t>；</a:t>
            </a:r>
            <a:r>
              <a:rPr lang="zh-CN" altLang="en-US" sz="1200" b="0">
                <a:solidFill>
                  <a:srgbClr val="5F6B7A"/>
                </a:solidFill>
                <a:latin typeface="Source Han Sans SC"/>
                <a:ea typeface="Source Han Sans SC"/>
              </a:rPr>
              <a:t>右侧展开一个</a:t>
            </a:r>
            <a:r>
              <a:rPr lang="zh-CN" altLang="en-US" sz="1200" b="0">
                <a:solidFill>
                  <a:srgbClr val="5F6B7A"/>
                </a:solidFill>
                <a:latin typeface="Source Han Sans SC"/>
                <a:ea typeface="Source Han Sans SC"/>
              </a:rPr>
              <a:t> Decoder Block </a:t>
            </a:r>
            <a:r>
              <a:rPr lang="zh-CN" altLang="en-US" sz="1200" b="0">
                <a:solidFill>
                  <a:srgbClr val="5F6B7A"/>
                </a:solidFill>
                <a:latin typeface="Source Han Sans SC"/>
                <a:ea typeface="Source Han Sans SC"/>
              </a:rPr>
              <a:t>的内部组成</a:t>
            </a:r>
            <a:r>
              <a:rPr lang="zh-CN" altLang="en-US" sz="1200" b="0">
                <a:solidFill>
                  <a:srgbClr val="5F6B7A"/>
                </a:solidFill>
                <a:latin typeface="Source Han Sans SC"/>
                <a:ea typeface="Source Han Sans SC"/>
              </a:rPr>
              <a:t>。</a:t>
            </a:r>
            <a:endParaRPr sz="1250" b="0">
              <a:solidFill>
                <a:srgbClr val="5F6B7A"/>
              </a:solidFill>
            </a:endParaRPr>
          </a:p>
        </p:txBody>
      </p:sp>
      <p:sp>
        <p:nvSpPr>
          <p:cNvPr id="3" name="矩形 2"/>
          <p:cNvSpPr>
            <a:spLocks noGrp="1"/>
          </p:cNvSpPr>
          <p:nvPr/>
        </p:nvSpPr>
        <p:spPr>
          <a:xfrm>
            <a:off x="523875" y="1381125"/>
            <a:ext cx="4572000" cy="323850"/>
          </a:xfrm>
          <a:prstGeom prst="rect">
            <a:avLst/>
          </a:prstGeom>
          <a:noFill/>
          <a:ln w="0">
            <a:noFill/>
            <a:prstDash val="solid"/>
          </a:ln>
        </p:spPr>
        <p:txBody>
          <a:bodyPr wrap="square" lIns="38100" tIns="19050" rIns="38100" bIns="19050" anchor="ctr">
            <a:normAutofit/>
          </a:bodyPr>
          <a:lstStyle/>
          <a:p>
            <a:pPr algn="l">
              <a:lnSpc>
                <a:spcPct val="100000"/>
              </a:lnSpc>
              <a:spcBef>
                <a:spcPts val="0"/>
              </a:spcBef>
              <a:spcAft>
                <a:spcPts val="0"/>
              </a:spcAft>
              <a:defRPr sz="1725" b="1">
                <a:solidFill>
                  <a:srgbClr val="660874"/>
                </a:solidFill>
              </a:defRPr>
            </a:pPr>
            <a:r>
              <a:rPr lang="zh-CN" altLang="en-US" sz="1700" b="1">
                <a:solidFill>
                  <a:srgbClr val="660874"/>
                </a:solidFill>
                <a:latin typeface="Source Han Sans SC"/>
                <a:ea typeface="Source Han Sans SC"/>
              </a:rPr>
              <a:t>Decoder-Only </a:t>
            </a:r>
            <a:r>
              <a:rPr lang="zh-CN" altLang="en-US" sz="1700" b="1">
                <a:solidFill>
                  <a:srgbClr val="660874"/>
                </a:solidFill>
                <a:latin typeface="Source Han Sans SC"/>
                <a:ea typeface="Source Han Sans SC"/>
              </a:rPr>
              <a:t>前向数据流总览</a:t>
            </a:r>
            <a:endParaRPr sz="1725" b="1">
              <a:solidFill>
                <a:srgbClr val="660874"/>
              </a:solidFill>
            </a:endParaRPr>
          </a:p>
        </p:txBody>
      </p:sp>
      <p:sp>
        <p:nvSpPr>
          <p:cNvPr id="4" name="直接连接符 3"/>
          <p:cNvSpPr>
            <a:spLocks noGrp="1"/>
          </p:cNvSpPr>
          <p:nvPr/>
        </p:nvSpPr>
        <p:spPr>
          <a:xfrm>
            <a:off x="2667000" y="2314575"/>
            <a:ext cx="0" cy="161925"/>
          </a:xfrm>
          <a:prstGeom prst="line">
            <a:avLst/>
          </a:prstGeom>
          <a:noFill/>
          <a:ln w="19050">
            <a:solidFill>
              <a:srgbClr val="5F6B7A"/>
            </a:solidFill>
            <a:prstDash val="solid"/>
          </a:ln>
        </p:spPr>
        <p:txBody>
          <a:bodyPr/>
          <a:p/>
        </p:txBody>
      </p:sp>
      <p:sp>
        <p:nvSpPr>
          <p:cNvPr id="5" name="任意多边形 4"/>
          <p:cNvSpPr>
            <a:spLocks noGrp="1"/>
          </p:cNvSpPr>
          <p:nvPr/>
        </p:nvSpPr>
        <p:spPr>
          <a:xfrm>
            <a:off x="2619375" y="2371725"/>
            <a:ext cx="95250" cy="104775"/>
          </a:xfrm>
          <a:custGeom>
            <a:avLst/>
            <a:gdLst/>
            <a:ahLst/>
            <a:cxnLst/>
            <a:pathLst>
              <a:path w="95250" h="104775">
                <a:moveTo>
                  <a:pt x="0" y="0"/>
                </a:moveTo>
                <a:lnTo>
                  <a:pt x="47625" y="104775"/>
                </a:lnTo>
                <a:lnTo>
                  <a:pt x="95250" y="0"/>
                </a:lnTo>
                <a:close/>
              </a:path>
            </a:pathLst>
          </a:custGeom>
          <a:solidFill>
            <a:srgbClr val="5F6B7A"/>
          </a:solidFill>
          <a:ln w="0">
            <a:solidFill>
              <a:srgbClr val="5F6B7A"/>
            </a:solidFill>
            <a:prstDash val="solid"/>
          </a:ln>
        </p:spPr>
        <p:txBody>
          <a:bodyPr/>
          <a:p/>
        </p:txBody>
      </p:sp>
      <p:sp>
        <p:nvSpPr>
          <p:cNvPr id="6" name="圆角矩形 5"/>
          <p:cNvSpPr>
            <a:spLocks noGrp="1"/>
          </p:cNvSpPr>
          <p:nvPr/>
        </p:nvSpPr>
        <p:spPr>
          <a:xfrm>
            <a:off x="857250" y="1857375"/>
            <a:ext cx="3619500" cy="495300"/>
          </a:xfrm>
          <a:prstGeom prst="roundRect">
            <a:avLst>
              <a:gd name="adj" fmla="val 15385"/>
            </a:avLst>
          </a:prstGeom>
          <a:solidFill>
            <a:srgbClr val="EAF1FF"/>
          </a:solidFill>
          <a:ln w="12383">
            <a:solidFill>
              <a:srgbClr val="2F6BDA"/>
            </a:solidFill>
            <a:prstDash val="solid"/>
          </a:ln>
        </p:spPr>
        <p:txBody>
          <a:bodyPr/>
          <a:p/>
        </p:txBody>
      </p:sp>
      <p:sp>
        <p:nvSpPr>
          <p:cNvPr id="7" name="矩形 6"/>
          <p:cNvSpPr>
            <a:spLocks noGrp="1"/>
          </p:cNvSpPr>
          <p:nvPr/>
        </p:nvSpPr>
        <p:spPr>
          <a:xfrm>
            <a:off x="971550" y="1933575"/>
            <a:ext cx="3390900" cy="342900"/>
          </a:xfrm>
          <a:prstGeom prst="rect">
            <a:avLst/>
          </a:prstGeom>
          <a:noFill/>
          <a:ln w="0">
            <a:noFill/>
            <a:prstDash val="solid"/>
          </a:ln>
        </p:spPr>
        <p:txBody>
          <a:bodyPr wrap="square" lIns="38100" tIns="19050" rIns="38100" bIns="19050" anchor="ctr">
            <a:normAutofit/>
          </a:bodyPr>
          <a:lstStyle/>
          <a:p>
            <a:pPr algn="ctr">
              <a:defRPr sz="1425" b="0">
                <a:solidFill>
                  <a:srgbClr val="1F2937"/>
                </a:solidFill>
              </a:defRPr>
            </a:pPr>
            <a:r>
              <a:rPr sz="1425" b="0">
                <a:solidFill>
                  <a:srgbClr val="1F2937"/>
                </a:solidFill>
                <a:latin typeface="Source Han Sans SC"/>
              </a:rPr>
              <a:t>Token IDs  (B,T)</a:t>
            </a:r>
            <a:endParaRPr sz="1425" b="0">
              <a:solidFill>
                <a:srgbClr val="1F2937"/>
              </a:solidFill>
            </a:endParaRPr>
          </a:p>
        </p:txBody>
      </p:sp>
      <p:sp>
        <p:nvSpPr>
          <p:cNvPr id="8" name="直接连接符 7"/>
          <p:cNvSpPr>
            <a:spLocks noGrp="1"/>
          </p:cNvSpPr>
          <p:nvPr/>
        </p:nvSpPr>
        <p:spPr>
          <a:xfrm>
            <a:off x="2667000" y="2981325"/>
            <a:ext cx="0" cy="257175"/>
          </a:xfrm>
          <a:prstGeom prst="line">
            <a:avLst/>
          </a:prstGeom>
          <a:noFill/>
          <a:ln w="19050">
            <a:solidFill>
              <a:srgbClr val="5F6B7A"/>
            </a:solidFill>
            <a:prstDash val="solid"/>
          </a:ln>
        </p:spPr>
        <p:txBody>
          <a:bodyPr/>
          <a:p/>
        </p:txBody>
      </p:sp>
      <p:sp>
        <p:nvSpPr>
          <p:cNvPr id="9" name="任意多边形 8"/>
          <p:cNvSpPr>
            <a:spLocks noGrp="1"/>
          </p:cNvSpPr>
          <p:nvPr/>
        </p:nvSpPr>
        <p:spPr>
          <a:xfrm>
            <a:off x="2619375" y="3133725"/>
            <a:ext cx="95250" cy="104775"/>
          </a:xfrm>
          <a:custGeom>
            <a:avLst/>
            <a:gdLst/>
            <a:ahLst/>
            <a:cxnLst/>
            <a:pathLst>
              <a:path w="95250" h="104775">
                <a:moveTo>
                  <a:pt x="0" y="0"/>
                </a:moveTo>
                <a:lnTo>
                  <a:pt x="47625" y="104775"/>
                </a:lnTo>
                <a:lnTo>
                  <a:pt x="95250" y="0"/>
                </a:lnTo>
                <a:close/>
              </a:path>
            </a:pathLst>
          </a:custGeom>
          <a:solidFill>
            <a:srgbClr val="5F6B7A"/>
          </a:solidFill>
          <a:ln w="0">
            <a:solidFill>
              <a:srgbClr val="5F6B7A"/>
            </a:solidFill>
            <a:prstDash val="solid"/>
          </a:ln>
        </p:spPr>
        <p:txBody>
          <a:bodyPr/>
          <a:p/>
        </p:txBody>
      </p:sp>
      <p:sp>
        <p:nvSpPr>
          <p:cNvPr id="10" name="圆角矩形 9"/>
          <p:cNvSpPr>
            <a:spLocks noGrp="1"/>
          </p:cNvSpPr>
          <p:nvPr/>
        </p:nvSpPr>
        <p:spPr>
          <a:xfrm>
            <a:off x="857250" y="2524125"/>
            <a:ext cx="3619500" cy="495300"/>
          </a:xfrm>
          <a:prstGeom prst="roundRect">
            <a:avLst>
              <a:gd name="adj" fmla="val 15385"/>
            </a:avLst>
          </a:prstGeom>
          <a:solidFill>
            <a:srgbClr val="E9F4F4"/>
          </a:solidFill>
          <a:ln w="12383">
            <a:solidFill>
              <a:srgbClr val="1E8E94"/>
            </a:solidFill>
            <a:prstDash val="solid"/>
          </a:ln>
        </p:spPr>
        <p:txBody>
          <a:bodyPr/>
          <a:p/>
        </p:txBody>
      </p:sp>
      <p:sp>
        <p:nvSpPr>
          <p:cNvPr id="11" name="矩形 10"/>
          <p:cNvSpPr>
            <a:spLocks noGrp="1"/>
          </p:cNvSpPr>
          <p:nvPr/>
        </p:nvSpPr>
        <p:spPr>
          <a:xfrm>
            <a:off x="971550" y="2600325"/>
            <a:ext cx="3390900" cy="342900"/>
          </a:xfrm>
          <a:prstGeom prst="rect">
            <a:avLst/>
          </a:prstGeom>
          <a:noFill/>
          <a:ln w="0">
            <a:noFill/>
            <a:prstDash val="solid"/>
          </a:ln>
        </p:spPr>
        <p:txBody>
          <a:bodyPr wrap="square" lIns="38100" tIns="19050" rIns="38100" bIns="19050" anchor="ctr">
            <a:normAutofit/>
          </a:bodyPr>
          <a:lstStyle/>
          <a:p>
            <a:pPr algn="ctr">
              <a:defRPr sz="1425" b="0">
                <a:solidFill>
                  <a:srgbClr val="1F2937"/>
                </a:solidFill>
              </a:defRPr>
            </a:pPr>
            <a:r>
              <a:rPr sz="1425" b="0">
                <a:solidFill>
                  <a:srgbClr val="1F2937"/>
                </a:solidFill>
                <a:latin typeface="Source Han Sans SC"/>
              </a:rPr>
              <a:t>Token Embedding  (B,T,C)</a:t>
            </a:r>
            <a:endParaRPr sz="1425" b="0">
              <a:solidFill>
                <a:srgbClr val="1F2937"/>
              </a:solidFill>
            </a:endParaRPr>
          </a:p>
        </p:txBody>
      </p:sp>
      <p:sp>
        <p:nvSpPr>
          <p:cNvPr id="12" name="直接连接符 11"/>
          <p:cNvSpPr>
            <a:spLocks noGrp="1"/>
          </p:cNvSpPr>
          <p:nvPr/>
        </p:nvSpPr>
        <p:spPr>
          <a:xfrm>
            <a:off x="2667000" y="3743325"/>
            <a:ext cx="0" cy="257175"/>
          </a:xfrm>
          <a:prstGeom prst="line">
            <a:avLst/>
          </a:prstGeom>
          <a:noFill/>
          <a:ln w="19050">
            <a:solidFill>
              <a:srgbClr val="5F6B7A"/>
            </a:solidFill>
            <a:prstDash val="solid"/>
          </a:ln>
        </p:spPr>
        <p:txBody>
          <a:bodyPr/>
          <a:p/>
        </p:txBody>
      </p:sp>
      <p:sp>
        <p:nvSpPr>
          <p:cNvPr id="13" name="任意多边形 12"/>
          <p:cNvSpPr>
            <a:spLocks noGrp="1"/>
          </p:cNvSpPr>
          <p:nvPr/>
        </p:nvSpPr>
        <p:spPr>
          <a:xfrm>
            <a:off x="2619375" y="3895725"/>
            <a:ext cx="95250" cy="104775"/>
          </a:xfrm>
          <a:custGeom>
            <a:avLst/>
            <a:gdLst/>
            <a:ahLst/>
            <a:cxnLst/>
            <a:pathLst>
              <a:path w="95250" h="104775">
                <a:moveTo>
                  <a:pt x="0" y="0"/>
                </a:moveTo>
                <a:lnTo>
                  <a:pt x="47625" y="104775"/>
                </a:lnTo>
                <a:lnTo>
                  <a:pt x="95250" y="0"/>
                </a:lnTo>
                <a:close/>
              </a:path>
            </a:pathLst>
          </a:custGeom>
          <a:solidFill>
            <a:srgbClr val="5F6B7A"/>
          </a:solidFill>
          <a:ln w="0">
            <a:solidFill>
              <a:srgbClr val="5F6B7A"/>
            </a:solidFill>
            <a:prstDash val="solid"/>
          </a:ln>
        </p:spPr>
        <p:txBody>
          <a:bodyPr/>
          <a:p/>
        </p:txBody>
      </p:sp>
      <p:sp>
        <p:nvSpPr>
          <p:cNvPr id="14" name="圆角矩形 13"/>
          <p:cNvSpPr>
            <a:spLocks noGrp="1"/>
          </p:cNvSpPr>
          <p:nvPr/>
        </p:nvSpPr>
        <p:spPr>
          <a:xfrm>
            <a:off x="857250" y="3286125"/>
            <a:ext cx="3619500" cy="495300"/>
          </a:xfrm>
          <a:prstGeom prst="roundRect">
            <a:avLst>
              <a:gd name="adj" fmla="val 15385"/>
            </a:avLst>
          </a:prstGeom>
          <a:solidFill>
            <a:srgbClr val="F3EEF5"/>
          </a:solidFill>
          <a:ln w="12383">
            <a:solidFill>
              <a:srgbClr val="660874"/>
            </a:solidFill>
            <a:prstDash val="solid"/>
          </a:ln>
        </p:spPr>
        <p:txBody>
          <a:bodyPr/>
          <a:p/>
        </p:txBody>
      </p:sp>
      <p:sp>
        <p:nvSpPr>
          <p:cNvPr id="15" name="矩形 14"/>
          <p:cNvSpPr>
            <a:spLocks noGrp="1"/>
          </p:cNvSpPr>
          <p:nvPr/>
        </p:nvSpPr>
        <p:spPr>
          <a:xfrm>
            <a:off x="971550" y="3362325"/>
            <a:ext cx="3390900" cy="342900"/>
          </a:xfrm>
          <a:prstGeom prst="rect">
            <a:avLst/>
          </a:prstGeom>
          <a:noFill/>
          <a:ln w="0">
            <a:noFill/>
            <a:prstDash val="solid"/>
          </a:ln>
        </p:spPr>
        <p:txBody>
          <a:bodyPr wrap="square" lIns="38100" tIns="19050" rIns="38100" bIns="19050" anchor="ctr">
            <a:normAutofit/>
          </a:bodyPr>
          <a:lstStyle/>
          <a:p>
            <a:pPr algn="ctr">
              <a:defRPr sz="1425" b="0">
                <a:solidFill>
                  <a:srgbClr val="1F2937"/>
                </a:solidFill>
              </a:defRPr>
            </a:pPr>
            <a:r>
              <a:rPr sz="1425" b="0">
                <a:solidFill>
                  <a:srgbClr val="1F2937"/>
                </a:solidFill>
                <a:latin typeface="Source Han Sans SC"/>
              </a:rPr>
              <a:t>N × Decoder Blocks</a:t>
            </a:r>
            <a:endParaRPr sz="1425" b="0">
              <a:solidFill>
                <a:srgbClr val="1F2937"/>
              </a:solidFill>
            </a:endParaRPr>
          </a:p>
        </p:txBody>
      </p:sp>
      <p:sp>
        <p:nvSpPr>
          <p:cNvPr id="16" name="直接连接符 15"/>
          <p:cNvSpPr>
            <a:spLocks noGrp="1"/>
          </p:cNvSpPr>
          <p:nvPr/>
        </p:nvSpPr>
        <p:spPr>
          <a:xfrm>
            <a:off x="2667000" y="4505325"/>
            <a:ext cx="0" cy="161925"/>
          </a:xfrm>
          <a:prstGeom prst="line">
            <a:avLst/>
          </a:prstGeom>
          <a:noFill/>
          <a:ln w="19050">
            <a:solidFill>
              <a:srgbClr val="5F6B7A"/>
            </a:solidFill>
            <a:prstDash val="solid"/>
          </a:ln>
        </p:spPr>
        <p:txBody>
          <a:bodyPr/>
          <a:p/>
        </p:txBody>
      </p:sp>
      <p:sp>
        <p:nvSpPr>
          <p:cNvPr id="17" name="任意多边形 16"/>
          <p:cNvSpPr>
            <a:spLocks noGrp="1"/>
          </p:cNvSpPr>
          <p:nvPr/>
        </p:nvSpPr>
        <p:spPr>
          <a:xfrm>
            <a:off x="2619375" y="4562475"/>
            <a:ext cx="95250" cy="104775"/>
          </a:xfrm>
          <a:custGeom>
            <a:avLst/>
            <a:gdLst/>
            <a:ahLst/>
            <a:cxnLst/>
            <a:pathLst>
              <a:path w="95250" h="104775">
                <a:moveTo>
                  <a:pt x="0" y="0"/>
                </a:moveTo>
                <a:lnTo>
                  <a:pt x="47625" y="104775"/>
                </a:lnTo>
                <a:lnTo>
                  <a:pt x="95250" y="0"/>
                </a:lnTo>
                <a:close/>
              </a:path>
            </a:pathLst>
          </a:custGeom>
          <a:solidFill>
            <a:srgbClr val="5F6B7A"/>
          </a:solidFill>
          <a:ln w="0">
            <a:solidFill>
              <a:srgbClr val="5F6B7A"/>
            </a:solidFill>
            <a:prstDash val="solid"/>
          </a:ln>
        </p:spPr>
        <p:txBody>
          <a:bodyPr/>
          <a:p/>
        </p:txBody>
      </p:sp>
      <p:sp>
        <p:nvSpPr>
          <p:cNvPr id="18" name="圆角矩形 17"/>
          <p:cNvSpPr>
            <a:spLocks noGrp="1"/>
          </p:cNvSpPr>
          <p:nvPr/>
        </p:nvSpPr>
        <p:spPr>
          <a:xfrm>
            <a:off x="857250" y="4048125"/>
            <a:ext cx="3619500" cy="495300"/>
          </a:xfrm>
          <a:prstGeom prst="roundRect">
            <a:avLst>
              <a:gd name="adj" fmla="val 15385"/>
            </a:avLst>
          </a:prstGeom>
          <a:solidFill>
            <a:srgbClr val="EEF8E9"/>
          </a:solidFill>
          <a:ln w="12383">
            <a:solidFill>
              <a:srgbClr val="48BB00"/>
            </a:solidFill>
            <a:prstDash val="solid"/>
          </a:ln>
        </p:spPr>
        <p:txBody>
          <a:bodyPr/>
          <a:p/>
        </p:txBody>
      </p:sp>
      <p:sp>
        <p:nvSpPr>
          <p:cNvPr id="19" name="矩形 18"/>
          <p:cNvSpPr>
            <a:spLocks noGrp="1"/>
          </p:cNvSpPr>
          <p:nvPr/>
        </p:nvSpPr>
        <p:spPr>
          <a:xfrm>
            <a:off x="971550" y="4124325"/>
            <a:ext cx="3390900" cy="342900"/>
          </a:xfrm>
          <a:prstGeom prst="rect">
            <a:avLst/>
          </a:prstGeom>
          <a:noFill/>
          <a:ln w="0">
            <a:noFill/>
            <a:prstDash val="solid"/>
          </a:ln>
        </p:spPr>
        <p:txBody>
          <a:bodyPr wrap="square" lIns="38100" tIns="19050" rIns="38100" bIns="19050" anchor="ctr">
            <a:normAutofit/>
          </a:bodyPr>
          <a:lstStyle/>
          <a:p>
            <a:pPr algn="ctr">
              <a:defRPr sz="1425" b="0">
                <a:solidFill>
                  <a:srgbClr val="1F2937"/>
                </a:solidFill>
              </a:defRPr>
            </a:pPr>
            <a:r>
              <a:rPr sz="1425" b="0">
                <a:solidFill>
                  <a:srgbClr val="1F2937"/>
                </a:solidFill>
                <a:latin typeface="Source Han Sans SC"/>
              </a:rPr>
              <a:t>Final Norm + LM Head</a:t>
            </a:r>
            <a:endParaRPr sz="1425" b="0">
              <a:solidFill>
                <a:srgbClr val="1F2937"/>
              </a:solidFill>
            </a:endParaRPr>
          </a:p>
        </p:txBody>
      </p:sp>
      <p:sp>
        <p:nvSpPr>
          <p:cNvPr id="20" name="圆角矩形 19"/>
          <p:cNvSpPr>
            <a:spLocks noGrp="1"/>
          </p:cNvSpPr>
          <p:nvPr/>
        </p:nvSpPr>
        <p:spPr>
          <a:xfrm>
            <a:off x="857250" y="4714875"/>
            <a:ext cx="3619500" cy="495300"/>
          </a:xfrm>
          <a:prstGeom prst="roundRect">
            <a:avLst>
              <a:gd name="adj" fmla="val 15385"/>
            </a:avLst>
          </a:prstGeom>
          <a:solidFill>
            <a:srgbClr val="FFF7E8"/>
          </a:solidFill>
          <a:ln w="12383">
            <a:solidFill>
              <a:srgbClr val="C26700"/>
            </a:solidFill>
            <a:prstDash val="solid"/>
          </a:ln>
        </p:spPr>
        <p:txBody>
          <a:bodyPr/>
          <a:p/>
        </p:txBody>
      </p:sp>
      <p:sp>
        <p:nvSpPr>
          <p:cNvPr id="21" name="矩形 20"/>
          <p:cNvSpPr>
            <a:spLocks noGrp="1"/>
          </p:cNvSpPr>
          <p:nvPr/>
        </p:nvSpPr>
        <p:spPr>
          <a:xfrm>
            <a:off x="971550" y="4791075"/>
            <a:ext cx="3390900" cy="342900"/>
          </a:xfrm>
          <a:prstGeom prst="rect">
            <a:avLst/>
          </a:prstGeom>
          <a:noFill/>
          <a:ln w="0">
            <a:noFill/>
            <a:prstDash val="solid"/>
          </a:ln>
        </p:spPr>
        <p:txBody>
          <a:bodyPr wrap="square" lIns="38100" tIns="19050" rIns="38100" bIns="19050" anchor="ctr">
            <a:normAutofit/>
          </a:bodyPr>
          <a:lstStyle/>
          <a:p>
            <a:pPr algn="ctr">
              <a:defRPr sz="1425" b="0">
                <a:solidFill>
                  <a:srgbClr val="1F2937"/>
                </a:solidFill>
              </a:defRPr>
            </a:pPr>
            <a:r>
              <a:rPr sz="1425" b="0">
                <a:solidFill>
                  <a:srgbClr val="1F2937"/>
                </a:solidFill>
                <a:latin typeface="Source Han Sans SC"/>
              </a:rPr>
              <a:t>Logits  (B,T,V)</a:t>
            </a:r>
            <a:endParaRPr sz="1425" b="0">
              <a:solidFill>
                <a:srgbClr val="1F2937"/>
              </a:solidFill>
            </a:endParaRPr>
          </a:p>
        </p:txBody>
      </p:sp>
      <p:sp>
        <p:nvSpPr>
          <p:cNvPr id="22" name="矩形 21"/>
          <p:cNvSpPr>
            <a:spLocks noGrp="1"/>
          </p:cNvSpPr>
          <p:nvPr/>
        </p:nvSpPr>
        <p:spPr>
          <a:xfrm>
            <a:off x="6191250" y="1381125"/>
            <a:ext cx="4762500" cy="323850"/>
          </a:xfrm>
          <a:prstGeom prst="rect">
            <a:avLst/>
          </a:prstGeom>
          <a:noFill/>
          <a:ln w="0">
            <a:noFill/>
            <a:prstDash val="solid"/>
          </a:ln>
        </p:spPr>
        <p:txBody>
          <a:bodyPr wrap="square" lIns="38100" tIns="19050" rIns="38100" bIns="19050" anchor="ctr">
            <a:normAutofit/>
          </a:bodyPr>
          <a:lstStyle/>
          <a:p>
            <a:pPr algn="l">
              <a:defRPr sz="1725" b="1">
                <a:solidFill>
                  <a:srgbClr val="660874"/>
                </a:solidFill>
              </a:defRPr>
            </a:pPr>
            <a:r>
              <a:rPr lang="zh-CN" sz="1725" b="1">
                <a:solidFill>
                  <a:srgbClr val="660874"/>
                </a:solidFill>
                <a:latin typeface="Source Han Sans SC"/>
                <a:ea typeface="Source Han Sans SC"/>
              </a:rPr>
              <a:t>放大一个</a:t>
            </a:r>
            <a:r>
              <a:rPr sz="1725" b="1">
                <a:solidFill>
                  <a:srgbClr val="660874"/>
                </a:solidFill>
                <a:latin typeface="Source Han Sans SC"/>
              </a:rPr>
              <a:t> Decoder Block</a:t>
            </a:r>
            <a:endParaRPr sz="1725" b="1">
              <a:solidFill>
                <a:srgbClr val="660874"/>
              </a:solidFill>
            </a:endParaRPr>
          </a:p>
        </p:txBody>
      </p:sp>
      <p:sp>
        <p:nvSpPr>
          <p:cNvPr id="23" name="直接连接符 22"/>
          <p:cNvSpPr>
            <a:spLocks noGrp="1"/>
          </p:cNvSpPr>
          <p:nvPr/>
        </p:nvSpPr>
        <p:spPr>
          <a:xfrm>
            <a:off x="6429375" y="2714625"/>
            <a:ext cx="3857625" cy="0"/>
          </a:xfrm>
          <a:prstGeom prst="line">
            <a:avLst/>
          </a:prstGeom>
          <a:noFill/>
          <a:ln w="26670">
            <a:solidFill>
              <a:srgbClr val="660874"/>
            </a:solidFill>
            <a:prstDash val="solid"/>
          </a:ln>
        </p:spPr>
        <p:txBody>
          <a:bodyPr/>
          <a:p/>
        </p:txBody>
      </p:sp>
      <p:sp>
        <p:nvSpPr>
          <p:cNvPr id="24" name="任意多边形 23"/>
          <p:cNvSpPr>
            <a:spLocks noGrp="1"/>
          </p:cNvSpPr>
          <p:nvPr/>
        </p:nvSpPr>
        <p:spPr>
          <a:xfrm>
            <a:off x="10182225" y="2667000"/>
            <a:ext cx="104775" cy="95250"/>
          </a:xfrm>
          <a:custGeom>
            <a:avLst/>
            <a:gdLst/>
            <a:ahLst/>
            <a:cxnLst/>
            <a:pathLst>
              <a:path w="104775" h="95250">
                <a:moveTo>
                  <a:pt x="0" y="0"/>
                </a:moveTo>
                <a:lnTo>
                  <a:pt x="104775" y="47625"/>
                </a:lnTo>
                <a:lnTo>
                  <a:pt x="0" y="95250"/>
                </a:lnTo>
                <a:close/>
              </a:path>
            </a:pathLst>
          </a:custGeom>
          <a:solidFill>
            <a:srgbClr val="660874"/>
          </a:solidFill>
          <a:ln w="0">
            <a:solidFill>
              <a:srgbClr val="660874"/>
            </a:solidFill>
            <a:prstDash val="solid"/>
          </a:ln>
        </p:spPr>
        <p:txBody>
          <a:bodyPr/>
          <a:p/>
        </p:txBody>
      </p:sp>
      <p:sp>
        <p:nvSpPr>
          <p:cNvPr id="25" name="直接连接符 24"/>
          <p:cNvSpPr>
            <a:spLocks noGrp="1"/>
          </p:cNvSpPr>
          <p:nvPr/>
        </p:nvSpPr>
        <p:spPr>
          <a:xfrm>
            <a:off x="6429375" y="4095750"/>
            <a:ext cx="3857625" cy="0"/>
          </a:xfrm>
          <a:prstGeom prst="line">
            <a:avLst/>
          </a:prstGeom>
          <a:noFill/>
          <a:ln w="26670">
            <a:solidFill>
              <a:srgbClr val="1E8E94"/>
            </a:solidFill>
            <a:prstDash val="solid"/>
          </a:ln>
        </p:spPr>
        <p:txBody>
          <a:bodyPr/>
          <a:p/>
        </p:txBody>
      </p:sp>
      <p:sp>
        <p:nvSpPr>
          <p:cNvPr id="26" name="任意多边形 25"/>
          <p:cNvSpPr>
            <a:spLocks noGrp="1"/>
          </p:cNvSpPr>
          <p:nvPr/>
        </p:nvSpPr>
        <p:spPr>
          <a:xfrm>
            <a:off x="10182225" y="4048125"/>
            <a:ext cx="104775" cy="95250"/>
          </a:xfrm>
          <a:custGeom>
            <a:avLst/>
            <a:gdLst/>
            <a:ahLst/>
            <a:cxnLst/>
            <a:pathLst>
              <a:path w="104775" h="95250">
                <a:moveTo>
                  <a:pt x="0" y="0"/>
                </a:moveTo>
                <a:lnTo>
                  <a:pt x="104775" y="47625"/>
                </a:lnTo>
                <a:lnTo>
                  <a:pt x="0" y="95250"/>
                </a:lnTo>
                <a:close/>
              </a:path>
            </a:pathLst>
          </a:custGeom>
          <a:solidFill>
            <a:srgbClr val="1E8E94"/>
          </a:solidFill>
          <a:ln w="0">
            <a:solidFill>
              <a:srgbClr val="1E8E94"/>
            </a:solidFill>
            <a:prstDash val="solid"/>
          </a:ln>
        </p:spPr>
        <p:txBody>
          <a:bodyPr/>
          <a:p/>
        </p:txBody>
      </p:sp>
      <p:sp>
        <p:nvSpPr>
          <p:cNvPr id="27" name="圆角矩形 26"/>
          <p:cNvSpPr>
            <a:spLocks noGrp="1"/>
          </p:cNvSpPr>
          <p:nvPr/>
        </p:nvSpPr>
        <p:spPr>
          <a:xfrm>
            <a:off x="6191250" y="2095500"/>
            <a:ext cx="1524000" cy="1190625"/>
          </a:xfrm>
          <a:prstGeom prst="roundRect">
            <a:avLst>
              <a:gd name="adj" fmla="val 6400"/>
            </a:avLst>
          </a:prstGeom>
          <a:solidFill>
            <a:srgbClr val="F3EEF5"/>
          </a:solidFill>
          <a:ln w="12383">
            <a:solidFill>
              <a:srgbClr val="660874"/>
            </a:solidFill>
            <a:prstDash val="solid"/>
          </a:ln>
        </p:spPr>
        <p:txBody>
          <a:bodyPr/>
          <a:p/>
        </p:txBody>
      </p:sp>
      <p:sp>
        <p:nvSpPr>
          <p:cNvPr id="28" name="矩形 27"/>
          <p:cNvSpPr>
            <a:spLocks noGrp="1"/>
          </p:cNvSpPr>
          <p:nvPr/>
        </p:nvSpPr>
        <p:spPr>
          <a:xfrm>
            <a:off x="6305550" y="2171700"/>
            <a:ext cx="1295400" cy="285750"/>
          </a:xfrm>
          <a:prstGeom prst="rect">
            <a:avLst/>
          </a:prstGeom>
          <a:noFill/>
          <a:ln w="0">
            <a:noFill/>
            <a:prstDash val="solid"/>
          </a:ln>
        </p:spPr>
        <p:txBody>
          <a:bodyPr wrap="square" lIns="38100" tIns="19050" rIns="38100" bIns="19050" anchor="ctr">
            <a:normAutofit/>
          </a:bodyPr>
          <a:lstStyle/>
          <a:p>
            <a:pPr algn="ctr">
              <a:defRPr sz="1500" b="1">
                <a:solidFill>
                  <a:srgbClr val="1F2937"/>
                </a:solidFill>
              </a:defRPr>
            </a:pPr>
            <a:r>
              <a:rPr sz="1500" b="1">
                <a:solidFill>
                  <a:srgbClr val="1F2937"/>
                </a:solidFill>
                <a:latin typeface="Source Han Sans SC"/>
              </a:rPr>
              <a:t>Norm</a:t>
            </a:r>
            <a:endParaRPr sz="1500" b="1">
              <a:solidFill>
                <a:srgbClr val="1F2937"/>
              </a:solidFill>
            </a:endParaRPr>
          </a:p>
        </p:txBody>
      </p:sp>
      <p:sp>
        <p:nvSpPr>
          <p:cNvPr id="29" name="矩形 28"/>
          <p:cNvSpPr>
            <a:spLocks noGrp="1"/>
          </p:cNvSpPr>
          <p:nvPr/>
        </p:nvSpPr>
        <p:spPr>
          <a:xfrm>
            <a:off x="6305550" y="2476500"/>
            <a:ext cx="1295400" cy="733425"/>
          </a:xfrm>
          <a:prstGeom prst="rect">
            <a:avLst/>
          </a:prstGeom>
          <a:noFill/>
          <a:ln w="0">
            <a:noFill/>
            <a:prstDash val="solid"/>
          </a:ln>
        </p:spPr>
        <p:txBody>
          <a:bodyPr wrap="square" lIns="38100" tIns="19050" rIns="38100" bIns="19050" anchor="t">
            <a:normAutofit/>
          </a:bodyPr>
          <a:lstStyle/>
          <a:p>
            <a:pPr algn="ctr">
              <a:defRPr sz="1275" b="0">
                <a:solidFill>
                  <a:srgbClr val="1F2937"/>
                </a:solidFill>
              </a:defRPr>
            </a:pPr>
            <a:r>
              <a:rPr lang="zh-CN" sz="1275" b="0">
                <a:solidFill>
                  <a:srgbClr val="1F2937"/>
                </a:solidFill>
                <a:latin typeface="Source Han Sans SC"/>
                <a:ea typeface="Source Han Sans SC"/>
              </a:rPr>
              <a:t>归一化输入</a:t>
            </a:r>
            <a:endParaRPr sz="1275" b="0">
              <a:solidFill>
                <a:srgbClr val="1F2937"/>
              </a:solidFill>
            </a:endParaRPr>
          </a:p>
        </p:txBody>
      </p:sp>
      <p:sp>
        <p:nvSpPr>
          <p:cNvPr id="30" name="圆角矩形 29"/>
          <p:cNvSpPr>
            <a:spLocks noGrp="1"/>
          </p:cNvSpPr>
          <p:nvPr/>
        </p:nvSpPr>
        <p:spPr>
          <a:xfrm>
            <a:off x="8096250" y="1952625"/>
            <a:ext cx="1809750" cy="1476375"/>
          </a:xfrm>
          <a:prstGeom prst="roundRect">
            <a:avLst>
              <a:gd name="adj" fmla="val 5161"/>
            </a:avLst>
          </a:prstGeom>
          <a:solidFill>
            <a:srgbClr val="E9F4F4"/>
          </a:solidFill>
          <a:ln w="12383">
            <a:solidFill>
              <a:srgbClr val="1E8E94"/>
            </a:solidFill>
            <a:prstDash val="solid"/>
          </a:ln>
        </p:spPr>
        <p:txBody>
          <a:bodyPr/>
          <a:p/>
        </p:txBody>
      </p:sp>
      <p:sp>
        <p:nvSpPr>
          <p:cNvPr id="31" name="矩形 30"/>
          <p:cNvSpPr>
            <a:spLocks noGrp="1"/>
          </p:cNvSpPr>
          <p:nvPr/>
        </p:nvSpPr>
        <p:spPr>
          <a:xfrm>
            <a:off x="8210550" y="2028825"/>
            <a:ext cx="1581150" cy="285750"/>
          </a:xfrm>
          <a:prstGeom prst="rect">
            <a:avLst/>
          </a:prstGeom>
          <a:noFill/>
          <a:ln w="0">
            <a:noFill/>
            <a:prstDash val="solid"/>
          </a:ln>
        </p:spPr>
        <p:txBody>
          <a:bodyPr wrap="square" lIns="38100" tIns="19050" rIns="38100" bIns="19050" anchor="ctr">
            <a:normAutofit fontScale="78437"/>
          </a:bodyPr>
          <a:lstStyle/>
          <a:p>
            <a:pPr algn="ctr">
              <a:defRPr sz="1500" b="1">
                <a:solidFill>
                  <a:srgbClr val="1F2937"/>
                </a:solidFill>
              </a:defRPr>
            </a:pPr>
            <a:r>
              <a:rPr sz="1500" b="1">
                <a:solidFill>
                  <a:srgbClr val="1F2937"/>
                </a:solidFill>
                <a:latin typeface="Source Han Sans SC"/>
              </a:rPr>
              <a:t>Causal Self-Attention</a:t>
            </a:r>
            <a:endParaRPr sz="1500" b="1">
              <a:solidFill>
                <a:srgbClr val="1F2937"/>
              </a:solidFill>
            </a:endParaRPr>
          </a:p>
        </p:txBody>
      </p:sp>
      <p:sp>
        <p:nvSpPr>
          <p:cNvPr id="32" name="矩形 31"/>
          <p:cNvSpPr>
            <a:spLocks noGrp="1"/>
          </p:cNvSpPr>
          <p:nvPr/>
        </p:nvSpPr>
        <p:spPr>
          <a:xfrm>
            <a:off x="8210550" y="2333625"/>
            <a:ext cx="1581150" cy="1019175"/>
          </a:xfrm>
          <a:prstGeom prst="rect">
            <a:avLst/>
          </a:prstGeom>
          <a:noFill/>
          <a:ln w="0">
            <a:noFill/>
            <a:prstDash val="solid"/>
          </a:ln>
        </p:spPr>
        <p:txBody>
          <a:bodyPr wrap="square" lIns="38100" tIns="19050" rIns="38100" bIns="19050" anchor="t">
            <a:normAutofit/>
          </a:bodyPr>
          <a:lstStyle/>
          <a:p>
            <a:pPr algn="ctr">
              <a:defRPr sz="1350" b="0">
                <a:solidFill>
                  <a:srgbClr val="1F2937"/>
                </a:solidFill>
              </a:defRPr>
            </a:pPr>
            <a:r>
              <a:rPr lang="zh-CN" sz="1350" b="0">
                <a:solidFill>
                  <a:srgbClr val="1F2937"/>
                </a:solidFill>
                <a:latin typeface="Source Han Sans SC"/>
                <a:ea typeface="Source Han Sans SC"/>
              </a:rPr>
              <a:t>聚合允许读取的上下文</a:t>
            </a:r>
            <a:endParaRPr sz="1350" b="0">
              <a:solidFill>
                <a:srgbClr val="1F2937"/>
              </a:solidFill>
            </a:endParaRPr>
          </a:p>
        </p:txBody>
      </p:sp>
      <p:sp>
        <p:nvSpPr>
          <p:cNvPr id="33" name="圆角矩形 32"/>
          <p:cNvSpPr>
            <a:spLocks noGrp="1"/>
          </p:cNvSpPr>
          <p:nvPr/>
        </p:nvSpPr>
        <p:spPr>
          <a:xfrm>
            <a:off x="10287000" y="2095500"/>
            <a:ext cx="1047750" cy="1190625"/>
          </a:xfrm>
          <a:prstGeom prst="roundRect">
            <a:avLst>
              <a:gd name="adj" fmla="val 7273"/>
            </a:avLst>
          </a:prstGeom>
          <a:solidFill>
            <a:srgbClr val="EEF8E9"/>
          </a:solidFill>
          <a:ln w="12383">
            <a:solidFill>
              <a:srgbClr val="48BB00"/>
            </a:solidFill>
            <a:prstDash val="solid"/>
          </a:ln>
        </p:spPr>
        <p:txBody>
          <a:bodyPr/>
          <a:p/>
        </p:txBody>
      </p:sp>
      <p:sp>
        <p:nvSpPr>
          <p:cNvPr id="34" name="矩形 33"/>
          <p:cNvSpPr>
            <a:spLocks noGrp="1"/>
          </p:cNvSpPr>
          <p:nvPr/>
        </p:nvSpPr>
        <p:spPr>
          <a:xfrm>
            <a:off x="10401300" y="2171700"/>
            <a:ext cx="819150" cy="285750"/>
          </a:xfrm>
          <a:prstGeom prst="rect">
            <a:avLst/>
          </a:prstGeom>
          <a:noFill/>
          <a:ln w="0">
            <a:noFill/>
            <a:prstDash val="solid"/>
          </a:ln>
        </p:spPr>
        <p:txBody>
          <a:bodyPr wrap="square" lIns="38100" tIns="19050" rIns="38100" bIns="19050" anchor="ctr">
            <a:normAutofit/>
          </a:bodyPr>
          <a:lstStyle/>
          <a:p>
            <a:pPr algn="ctr">
              <a:defRPr sz="1500" b="1">
                <a:solidFill>
                  <a:srgbClr val="1F2937"/>
                </a:solidFill>
              </a:defRPr>
            </a:pPr>
            <a:r>
              <a:rPr sz="1500" b="1">
                <a:solidFill>
                  <a:srgbClr val="1F2937"/>
                </a:solidFill>
                <a:latin typeface="Source Han Sans SC"/>
              </a:rPr>
              <a:t>+ </a:t>
            </a:r>
            <a:r>
              <a:rPr lang="zh-CN" sz="1500" b="1">
                <a:solidFill>
                  <a:srgbClr val="1F2937"/>
                </a:solidFill>
                <a:latin typeface="Source Han Sans SC"/>
                <a:ea typeface="Source Han Sans SC"/>
              </a:rPr>
              <a:t>残差</a:t>
            </a:r>
            <a:endParaRPr sz="1500" b="1">
              <a:solidFill>
                <a:srgbClr val="1F2937"/>
              </a:solidFill>
            </a:endParaRPr>
          </a:p>
        </p:txBody>
      </p:sp>
      <p:sp>
        <p:nvSpPr>
          <p:cNvPr id="35" name="矩形 34"/>
          <p:cNvSpPr>
            <a:spLocks noGrp="1"/>
          </p:cNvSpPr>
          <p:nvPr/>
        </p:nvSpPr>
        <p:spPr>
          <a:xfrm>
            <a:off x="10401300" y="2476500"/>
            <a:ext cx="819150" cy="733425"/>
          </a:xfrm>
          <a:prstGeom prst="rect">
            <a:avLst/>
          </a:prstGeom>
          <a:noFill/>
          <a:ln w="0">
            <a:noFill/>
            <a:prstDash val="solid"/>
          </a:ln>
        </p:spPr>
        <p:txBody>
          <a:bodyPr wrap="square" lIns="38100" tIns="19050" rIns="38100" bIns="19050" anchor="t">
            <a:normAutofit/>
          </a:bodyPr>
          <a:lstStyle/>
          <a:p>
            <a:pPr algn="ctr">
              <a:defRPr sz="1275" b="0">
                <a:solidFill>
                  <a:srgbClr val="1F2937"/>
                </a:solidFill>
              </a:defRPr>
            </a:pPr>
            <a:r>
              <a:rPr lang="zh-CN" sz="1275" b="0">
                <a:solidFill>
                  <a:srgbClr val="1F2937"/>
                </a:solidFill>
                <a:latin typeface="Source Han Sans SC"/>
                <a:ea typeface="Source Han Sans SC"/>
              </a:rPr>
              <a:t>加回输入</a:t>
            </a:r>
            <a:endParaRPr sz="1275" b="0">
              <a:solidFill>
                <a:srgbClr val="1F2937"/>
              </a:solidFill>
            </a:endParaRPr>
          </a:p>
        </p:txBody>
      </p:sp>
      <p:sp>
        <p:nvSpPr>
          <p:cNvPr id="36" name="圆角矩形 35"/>
          <p:cNvSpPr>
            <a:spLocks noGrp="1"/>
          </p:cNvSpPr>
          <p:nvPr/>
        </p:nvSpPr>
        <p:spPr>
          <a:xfrm>
            <a:off x="6191250" y="3476625"/>
            <a:ext cx="1524000" cy="1190625"/>
          </a:xfrm>
          <a:prstGeom prst="roundRect">
            <a:avLst>
              <a:gd name="adj" fmla="val 6400"/>
            </a:avLst>
          </a:prstGeom>
          <a:solidFill>
            <a:srgbClr val="F3EEF5"/>
          </a:solidFill>
          <a:ln w="12383">
            <a:solidFill>
              <a:srgbClr val="660874"/>
            </a:solidFill>
            <a:prstDash val="solid"/>
          </a:ln>
        </p:spPr>
        <p:txBody>
          <a:bodyPr/>
          <a:p/>
        </p:txBody>
      </p:sp>
      <p:sp>
        <p:nvSpPr>
          <p:cNvPr id="37" name="矩形 36"/>
          <p:cNvSpPr>
            <a:spLocks noGrp="1"/>
          </p:cNvSpPr>
          <p:nvPr/>
        </p:nvSpPr>
        <p:spPr>
          <a:xfrm>
            <a:off x="6305550" y="3552825"/>
            <a:ext cx="1295400" cy="285750"/>
          </a:xfrm>
          <a:prstGeom prst="rect">
            <a:avLst/>
          </a:prstGeom>
          <a:noFill/>
          <a:ln w="0">
            <a:noFill/>
            <a:prstDash val="solid"/>
          </a:ln>
        </p:spPr>
        <p:txBody>
          <a:bodyPr wrap="square" lIns="38100" tIns="19050" rIns="38100" bIns="19050" anchor="ctr">
            <a:normAutofit/>
          </a:bodyPr>
          <a:lstStyle/>
          <a:p>
            <a:pPr algn="ctr">
              <a:defRPr sz="1500" b="1">
                <a:solidFill>
                  <a:srgbClr val="1F2937"/>
                </a:solidFill>
              </a:defRPr>
            </a:pPr>
            <a:r>
              <a:rPr sz="1500" b="1">
                <a:solidFill>
                  <a:srgbClr val="1F2937"/>
                </a:solidFill>
                <a:latin typeface="Source Han Sans SC"/>
              </a:rPr>
              <a:t>Norm</a:t>
            </a:r>
            <a:endParaRPr sz="1500" b="1">
              <a:solidFill>
                <a:srgbClr val="1F2937"/>
              </a:solidFill>
            </a:endParaRPr>
          </a:p>
        </p:txBody>
      </p:sp>
      <p:sp>
        <p:nvSpPr>
          <p:cNvPr id="38" name="矩形 37"/>
          <p:cNvSpPr>
            <a:spLocks noGrp="1"/>
          </p:cNvSpPr>
          <p:nvPr/>
        </p:nvSpPr>
        <p:spPr>
          <a:xfrm>
            <a:off x="6305550" y="3857625"/>
            <a:ext cx="1295400" cy="733425"/>
          </a:xfrm>
          <a:prstGeom prst="rect">
            <a:avLst/>
          </a:prstGeom>
          <a:noFill/>
          <a:ln w="0">
            <a:noFill/>
            <a:prstDash val="solid"/>
          </a:ln>
        </p:spPr>
        <p:txBody>
          <a:bodyPr wrap="square" lIns="38100" tIns="19050" rIns="38100" bIns="19050" anchor="t">
            <a:normAutofit/>
          </a:bodyPr>
          <a:lstStyle/>
          <a:p>
            <a:pPr algn="ctr">
              <a:defRPr sz="1275" b="0">
                <a:solidFill>
                  <a:srgbClr val="1F2937"/>
                </a:solidFill>
              </a:defRPr>
            </a:pPr>
            <a:r>
              <a:rPr lang="zh-CN" sz="1275" b="0">
                <a:solidFill>
                  <a:srgbClr val="1F2937"/>
                </a:solidFill>
                <a:latin typeface="Source Han Sans SC"/>
                <a:ea typeface="Source Han Sans SC"/>
              </a:rPr>
              <a:t>归一化输入</a:t>
            </a:r>
            <a:endParaRPr sz="1275" b="0">
              <a:solidFill>
                <a:srgbClr val="1F2937"/>
              </a:solidFill>
            </a:endParaRPr>
          </a:p>
        </p:txBody>
      </p:sp>
      <p:sp>
        <p:nvSpPr>
          <p:cNvPr id="39" name="圆角矩形 38"/>
          <p:cNvSpPr>
            <a:spLocks noGrp="1"/>
          </p:cNvSpPr>
          <p:nvPr/>
        </p:nvSpPr>
        <p:spPr>
          <a:xfrm>
            <a:off x="8096250" y="3476625"/>
            <a:ext cx="1809750" cy="1190625"/>
          </a:xfrm>
          <a:prstGeom prst="roundRect">
            <a:avLst>
              <a:gd name="adj" fmla="val 6400"/>
            </a:avLst>
          </a:prstGeom>
          <a:solidFill>
            <a:srgbClr val="FFF7E8"/>
          </a:solidFill>
          <a:ln w="12383">
            <a:solidFill>
              <a:srgbClr val="C26700"/>
            </a:solidFill>
            <a:prstDash val="solid"/>
          </a:ln>
        </p:spPr>
        <p:txBody>
          <a:bodyPr/>
          <a:p/>
        </p:txBody>
      </p:sp>
      <p:sp>
        <p:nvSpPr>
          <p:cNvPr id="40" name="矩形 39"/>
          <p:cNvSpPr>
            <a:spLocks noGrp="1"/>
          </p:cNvSpPr>
          <p:nvPr/>
        </p:nvSpPr>
        <p:spPr>
          <a:xfrm>
            <a:off x="8210550" y="3552825"/>
            <a:ext cx="1581150" cy="285750"/>
          </a:xfrm>
          <a:prstGeom prst="rect">
            <a:avLst/>
          </a:prstGeom>
          <a:noFill/>
          <a:ln w="0">
            <a:noFill/>
            <a:prstDash val="solid"/>
          </a:ln>
        </p:spPr>
        <p:txBody>
          <a:bodyPr wrap="square" lIns="38100" tIns="19050" rIns="38100" bIns="19050" anchor="ctr">
            <a:normAutofit/>
          </a:bodyPr>
          <a:lstStyle/>
          <a:p>
            <a:pPr algn="ctr">
              <a:defRPr sz="1500" b="1">
                <a:solidFill>
                  <a:srgbClr val="1F2937"/>
                </a:solidFill>
              </a:defRPr>
            </a:pPr>
            <a:r>
              <a:rPr sz="1500" b="1">
                <a:solidFill>
                  <a:srgbClr val="1F2937"/>
                </a:solidFill>
                <a:latin typeface="Source Han Sans SC"/>
              </a:rPr>
              <a:t>MLP</a:t>
            </a:r>
            <a:endParaRPr sz="1500" b="1">
              <a:solidFill>
                <a:srgbClr val="1F2937"/>
              </a:solidFill>
            </a:endParaRPr>
          </a:p>
        </p:txBody>
      </p:sp>
      <p:sp>
        <p:nvSpPr>
          <p:cNvPr id="41" name="矩形 40"/>
          <p:cNvSpPr>
            <a:spLocks noGrp="1"/>
          </p:cNvSpPr>
          <p:nvPr/>
        </p:nvSpPr>
        <p:spPr>
          <a:xfrm>
            <a:off x="8210550" y="3857625"/>
            <a:ext cx="1581150" cy="733425"/>
          </a:xfrm>
          <a:prstGeom prst="rect">
            <a:avLst/>
          </a:prstGeom>
          <a:noFill/>
          <a:ln w="0">
            <a:noFill/>
            <a:prstDash val="solid"/>
          </a:ln>
        </p:spPr>
        <p:txBody>
          <a:bodyPr wrap="square" lIns="38100" tIns="19050" rIns="38100" bIns="19050" anchor="t">
            <a:normAutofit/>
          </a:bodyPr>
          <a:lstStyle/>
          <a:p>
            <a:pPr algn="ctr">
              <a:defRPr sz="1350" b="0">
                <a:solidFill>
                  <a:srgbClr val="1F2937"/>
                </a:solidFill>
              </a:defRPr>
            </a:pPr>
            <a:r>
              <a:rPr lang="zh-CN" sz="1350" b="0">
                <a:solidFill>
                  <a:srgbClr val="1F2937"/>
                </a:solidFill>
                <a:latin typeface="Source Han Sans SC"/>
                <a:ea typeface="Source Han Sans SC"/>
              </a:rPr>
              <a:t>逐位置非线性变换</a:t>
            </a:r>
            <a:endParaRPr sz="1350" b="0">
              <a:solidFill>
                <a:srgbClr val="1F2937"/>
              </a:solidFill>
            </a:endParaRPr>
          </a:p>
        </p:txBody>
      </p:sp>
      <p:sp>
        <p:nvSpPr>
          <p:cNvPr id="42" name="圆角矩形 41"/>
          <p:cNvSpPr>
            <a:spLocks noGrp="1"/>
          </p:cNvSpPr>
          <p:nvPr/>
        </p:nvSpPr>
        <p:spPr>
          <a:xfrm>
            <a:off x="10287000" y="3476625"/>
            <a:ext cx="1047750" cy="1190625"/>
          </a:xfrm>
          <a:prstGeom prst="roundRect">
            <a:avLst>
              <a:gd name="adj" fmla="val 7273"/>
            </a:avLst>
          </a:prstGeom>
          <a:solidFill>
            <a:srgbClr val="EEF8E9"/>
          </a:solidFill>
          <a:ln w="12383">
            <a:solidFill>
              <a:srgbClr val="48BB00"/>
            </a:solidFill>
            <a:prstDash val="solid"/>
          </a:ln>
        </p:spPr>
        <p:txBody>
          <a:bodyPr/>
          <a:p/>
        </p:txBody>
      </p:sp>
      <p:sp>
        <p:nvSpPr>
          <p:cNvPr id="43" name="矩形 42"/>
          <p:cNvSpPr>
            <a:spLocks noGrp="1"/>
          </p:cNvSpPr>
          <p:nvPr/>
        </p:nvSpPr>
        <p:spPr>
          <a:xfrm>
            <a:off x="10401300" y="3552825"/>
            <a:ext cx="819150" cy="285750"/>
          </a:xfrm>
          <a:prstGeom prst="rect">
            <a:avLst/>
          </a:prstGeom>
          <a:noFill/>
          <a:ln w="0">
            <a:noFill/>
            <a:prstDash val="solid"/>
          </a:ln>
        </p:spPr>
        <p:txBody>
          <a:bodyPr wrap="square" lIns="38100" tIns="19050" rIns="38100" bIns="19050" anchor="ctr">
            <a:normAutofit/>
          </a:bodyPr>
          <a:lstStyle/>
          <a:p>
            <a:pPr algn="ctr">
              <a:defRPr sz="1500" b="1">
                <a:solidFill>
                  <a:srgbClr val="1F2937"/>
                </a:solidFill>
              </a:defRPr>
            </a:pPr>
            <a:r>
              <a:rPr sz="1500" b="1">
                <a:solidFill>
                  <a:srgbClr val="1F2937"/>
                </a:solidFill>
                <a:latin typeface="Source Han Sans SC"/>
              </a:rPr>
              <a:t>+ </a:t>
            </a:r>
            <a:r>
              <a:rPr lang="zh-CN" sz="1500" b="1">
                <a:solidFill>
                  <a:srgbClr val="1F2937"/>
                </a:solidFill>
                <a:latin typeface="Source Han Sans SC"/>
                <a:ea typeface="Source Han Sans SC"/>
              </a:rPr>
              <a:t>残差</a:t>
            </a:r>
            <a:endParaRPr sz="1500" b="1">
              <a:solidFill>
                <a:srgbClr val="1F2937"/>
              </a:solidFill>
            </a:endParaRPr>
          </a:p>
        </p:txBody>
      </p:sp>
      <p:sp>
        <p:nvSpPr>
          <p:cNvPr id="44" name="矩形 43"/>
          <p:cNvSpPr>
            <a:spLocks noGrp="1"/>
          </p:cNvSpPr>
          <p:nvPr/>
        </p:nvSpPr>
        <p:spPr>
          <a:xfrm>
            <a:off x="10401300" y="3857625"/>
            <a:ext cx="819150" cy="733425"/>
          </a:xfrm>
          <a:prstGeom prst="rect">
            <a:avLst/>
          </a:prstGeom>
          <a:noFill/>
          <a:ln w="0">
            <a:noFill/>
            <a:prstDash val="solid"/>
          </a:ln>
        </p:spPr>
        <p:txBody>
          <a:bodyPr wrap="square" lIns="38100" tIns="19050" rIns="38100" bIns="19050" anchor="t">
            <a:normAutofit/>
          </a:bodyPr>
          <a:lstStyle/>
          <a:p>
            <a:pPr algn="ctr">
              <a:defRPr sz="1275" b="0">
                <a:solidFill>
                  <a:srgbClr val="1F2937"/>
                </a:solidFill>
              </a:defRPr>
            </a:pPr>
            <a:r>
              <a:rPr lang="zh-CN" sz="1275" b="0">
                <a:solidFill>
                  <a:srgbClr val="1F2937"/>
                </a:solidFill>
                <a:latin typeface="Source Han Sans SC"/>
                <a:ea typeface="Source Han Sans SC"/>
              </a:rPr>
              <a:t>加回输入</a:t>
            </a:r>
            <a:endParaRPr sz="1275" b="0">
              <a:solidFill>
                <a:srgbClr val="1F2937"/>
              </a:solidFill>
            </a:endParaRPr>
          </a:p>
        </p:txBody>
      </p:sp>
      <p:sp>
        <p:nvSpPr>
          <p:cNvPr id="45" name="矩形 44"/>
          <p:cNvSpPr>
            <a:spLocks noGrp="1"/>
          </p:cNvSpPr>
          <p:nvPr/>
        </p:nvSpPr>
        <p:spPr>
          <a:xfrm>
            <a:off x="6191250" y="4864608"/>
            <a:ext cx="5238750" cy="566928"/>
          </a:xfrm>
          <a:prstGeom prst="rect">
            <a:avLst/>
          </a:prstGeom>
          <a:noFill/>
          <a:ln w="0">
            <a:noFill/>
            <a:prstDash val="solid"/>
          </a:ln>
        </p:spPr>
        <p:txBody>
          <a:bodyPr wrap="square" lIns="38100" tIns="19050" rIns="38100" bIns="19050" anchor="ctr">
            <a:normAutofit/>
          </a:bodyPr>
          <a:lstStyle/>
          <a:p>
            <a:pPr algn="l">
              <a:spcBef>
                <a:spcPts val="0"/>
              </a:spcBef>
              <a:spcAft>
                <a:spcPts val="0"/>
              </a:spcAft>
              <a:defRPr sz="1200" b="0">
                <a:solidFill>
                  <a:srgbClr val="5F6B7A"/>
                </a:solidFill>
              </a:defRPr>
            </a:pPr>
            <a:r>
              <a:rPr sz="1050" b="0">
                <a:solidFill>
                  <a:srgbClr val="5F6B7A"/>
                </a:solidFill>
                <a:latin typeface="Source Han Sans SC"/>
              </a:rPr>
              <a:t>MLP = Multi-Layer Perceptron</a:t>
            </a:r>
            <a:r>
              <a:rPr lang="zh-CN" sz="1050" b="0">
                <a:solidFill>
                  <a:srgbClr val="5F6B7A"/>
                </a:solidFill>
                <a:latin typeface="Source Han Sans SC"/>
                <a:ea typeface="Source Han Sans SC"/>
              </a:rPr>
              <a:t>（逐位置前馈网络）</a:t>
            </a:r>
            <a:endParaRPr sz="1050" b="0">
              <a:solidFill>
                <a:srgbClr val="5F6B7A"/>
              </a:solidFill>
            </a:endParaRPr>
          </a:p>
          <a:p>
            <a:pPr algn="l">
              <a:spcBef>
                <a:spcPts val="0"/>
              </a:spcBef>
              <a:spcAft>
                <a:spcPts val="0"/>
              </a:spcAft>
            </a:pPr>
            <a:r>
              <a:rPr sz="1050" b="0">
                <a:solidFill>
                  <a:srgbClr val="5F6B7A"/>
                </a:solidFill>
                <a:latin typeface="Source Han Sans SC"/>
              </a:rPr>
              <a:t>B=Batch｜T=Sequence Length｜C=Hidden Dimension｜V=Vocabulary Size</a:t>
            </a:r>
            <a:endParaRPr sz="1050" b="0">
              <a:solidFill>
                <a:srgbClr val="5F6B7A"/>
              </a:solidFill>
            </a:endParaRPr>
          </a:p>
        </p:txBody>
      </p:sp>
      <p:sp>
        <p:nvSpPr>
          <p:cNvPr id="46" name="矩形 45"/>
          <p:cNvSpPr>
            <a:spLocks noGrp="1"/>
          </p:cNvSpPr>
          <p:nvPr/>
        </p:nvSpPr>
        <p:spPr>
          <a:xfrm>
            <a:off x="333375" y="5743575"/>
            <a:ext cx="11525250" cy="514350"/>
          </a:xfrm>
          <a:prstGeom prst="rect">
            <a:avLst/>
          </a:prstGeom>
          <a:noFill/>
          <a:ln w="0">
            <a:noFill/>
            <a:prstDash val="solid"/>
          </a:ln>
        </p:spPr>
      </p:sp>
      <p:sp>
        <p:nvSpPr>
          <p:cNvPr id="47" name="矩形 46"/>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l">
              <a:lnSpc>
                <a:spcPct val="100000"/>
              </a:lnSpc>
              <a:spcBef>
                <a:spcPts val="0"/>
              </a:spcBef>
              <a:spcAft>
                <a:spcPts val="0"/>
              </a:spcAft>
              <a:defRPr sz="1425" b="1">
                <a:solidFill>
                  <a:srgbClr val="FFFFFF"/>
                </a:solidFill>
              </a:defRPr>
            </a:pPr>
            <a:endParaRPr sz="1425" b="1">
              <a:solidFill>
                <a:srgbClr val="FFFFFF"/>
              </a:solidFill>
            </a:endParaRPr>
          </a:p>
        </p:txBody>
      </p:sp>
      <p:sp>
        <p:nvSpPr>
          <p:cNvPr id="49" name="TextBox 48"/>
          <p:cNvSpPr txBox="1"/>
          <p:nvPr/>
        </p:nvSpPr>
        <p:spPr>
          <a:xfrm>
            <a:off x="521207" y="5349240"/>
            <a:ext cx="3017520" cy="21031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1120" b="1">
                <a:solidFill>
                  <a:srgbClr val="5F6B7A"/>
                </a:solidFill>
                <a:latin typeface="Source Han Sans SC"/>
                <a:ea typeface="Source Han Sans SC"/>
              </a:rPr>
              <a:t>nanochat </a:t>
            </a:r>
            <a:r>
              <a:rPr lang="zh-CN" altLang="en-US" sz="1120" b="1">
                <a:solidFill>
                  <a:srgbClr val="5F6B7A"/>
                </a:solidFill>
                <a:latin typeface="Source Han Sans SC"/>
                <a:ea typeface="Source Han Sans SC"/>
              </a:rPr>
              <a:t>仓库模块映射</a:t>
            </a:r>
            <a:endParaRPr lang="zh-CN" altLang="en-US" sz="1120" b="1">
              <a:solidFill>
                <a:srgbClr val="5F6B7A"/>
              </a:solidFill>
              <a:latin typeface="Source Han Sans SC"/>
              <a:ea typeface="Source Han Sans SC"/>
            </a:endParaRPr>
          </a:p>
        </p:txBody>
      </p:sp>
      <p:sp>
        <p:nvSpPr>
          <p:cNvPr id="50" name="Rounded Rectangle 49"/>
          <p:cNvSpPr/>
          <p:nvPr/>
        </p:nvSpPr>
        <p:spPr>
          <a:xfrm>
            <a:off x="521207" y="5577840"/>
            <a:ext cx="2660904" cy="658368"/>
          </a:xfrm>
          <a:prstGeom prst="roundRect">
            <a:avLst/>
          </a:prstGeom>
          <a:solidFill>
            <a:srgbClr val="ECF2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lnSpc>
                <a:spcPct val="100000"/>
              </a:lnSpc>
              <a:spcBef>
                <a:spcPts val="0"/>
              </a:spcBef>
              <a:spcAft>
                <a:spcPts val="0"/>
              </a:spcAft>
            </a:pPr>
            <a:r>
              <a:rPr lang="zh-CN" altLang="en-US" sz="1020" b="1">
                <a:solidFill>
                  <a:srgbClr val="2563EB"/>
                </a:solidFill>
                <a:latin typeface="Source Han Sans SC"/>
                <a:ea typeface="Source Han Sans SC"/>
              </a:rPr>
              <a:t>nanochat/dataloader.py
</a:t>
            </a:r>
            <a:r>
              <a:rPr lang="zh-CN" altLang="en-US" sz="1020" b="1">
                <a:solidFill>
                  <a:srgbClr val="2563EB"/>
                </a:solidFill>
                <a:latin typeface="Source Han Sans SC"/>
                <a:ea typeface="Source Han Sans SC"/>
              </a:rPr>
              <a:t>组装</a:t>
            </a:r>
            <a:r>
              <a:rPr lang="zh-CN" altLang="en-US" sz="1020" b="1">
                <a:solidFill>
                  <a:srgbClr val="2563EB"/>
                </a:solidFill>
                <a:latin typeface="Source Han Sans SC"/>
                <a:ea typeface="Source Han Sans SC"/>
              </a:rPr>
              <a:t> inputs / targets</a:t>
            </a:r>
            <a:endParaRPr lang="zh-CN" altLang="en-US" sz="1020" b="1">
              <a:solidFill>
                <a:srgbClr val="2563EB"/>
              </a:solidFill>
              <a:latin typeface="Source Han Sans SC"/>
              <a:ea typeface="Source Han Sans SC"/>
            </a:endParaRPr>
          </a:p>
        </p:txBody>
      </p:sp>
      <p:sp>
        <p:nvSpPr>
          <p:cNvPr id="51" name="Rounded Rectangle 50"/>
          <p:cNvSpPr/>
          <p:nvPr/>
        </p:nvSpPr>
        <p:spPr>
          <a:xfrm>
            <a:off x="3383280" y="5577840"/>
            <a:ext cx="2660904" cy="658368"/>
          </a:xfrm>
          <a:prstGeom prst="roundRect">
            <a:avLst/>
          </a:prstGeom>
          <a:solidFill>
            <a:srgbClr val="F3EEF5"/>
          </a:solidFill>
          <a:ln w="12700">
            <a:solidFill>
              <a:srgbClr val="660874"/>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lnSpc>
                <a:spcPct val="100000"/>
              </a:lnSpc>
              <a:spcBef>
                <a:spcPts val="0"/>
              </a:spcBef>
              <a:spcAft>
                <a:spcPts val="0"/>
              </a:spcAft>
            </a:pPr>
            <a:r>
              <a:rPr lang="zh-CN" altLang="en-US" sz="1020" b="1">
                <a:solidFill>
                  <a:srgbClr val="660874"/>
                </a:solidFill>
                <a:latin typeface="Source Han Sans SC"/>
                <a:ea typeface="Source Han Sans SC"/>
              </a:rPr>
              <a:t>nanochat/gpt.py
Embedding → Blocks → LM Head</a:t>
            </a:r>
            <a:endParaRPr lang="zh-CN" altLang="en-US" sz="1020" b="1">
              <a:solidFill>
                <a:srgbClr val="660874"/>
              </a:solidFill>
              <a:latin typeface="Source Han Sans SC"/>
              <a:ea typeface="Source Han Sans SC"/>
            </a:endParaRPr>
          </a:p>
        </p:txBody>
      </p:sp>
      <p:sp>
        <p:nvSpPr>
          <p:cNvPr id="52" name="Rounded Rectangle 51"/>
          <p:cNvSpPr/>
          <p:nvPr/>
        </p:nvSpPr>
        <p:spPr>
          <a:xfrm>
            <a:off x="6245352" y="5577840"/>
            <a:ext cx="2660904" cy="658368"/>
          </a:xfrm>
          <a:prstGeom prst="roundRect">
            <a:avLst/>
          </a:prstGeom>
          <a:solidFill>
            <a:srgbClr val="FFF6E8"/>
          </a:solidFill>
          <a:ln w="12700">
            <a:solidFill>
              <a:srgbClr val="C96700"/>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lnSpc>
                <a:spcPct val="100000"/>
              </a:lnSpc>
              <a:spcBef>
                <a:spcPts val="0"/>
              </a:spcBef>
              <a:spcAft>
                <a:spcPts val="0"/>
              </a:spcAft>
            </a:pPr>
            <a:r>
              <a:rPr lang="zh-CN" altLang="en-US" sz="1020" b="1">
                <a:solidFill>
                  <a:srgbClr val="C96700"/>
                </a:solidFill>
                <a:latin typeface="Source Han Sans SC"/>
                <a:ea typeface="Source Han Sans SC"/>
              </a:rPr>
              <a:t>scripts/base_train.py
loss → backward → step</a:t>
            </a:r>
            <a:endParaRPr lang="zh-CN" altLang="en-US" sz="1020" b="1">
              <a:solidFill>
                <a:srgbClr val="C96700"/>
              </a:solidFill>
              <a:latin typeface="Source Han Sans SC"/>
              <a:ea typeface="Source Han Sans SC"/>
            </a:endParaRPr>
          </a:p>
        </p:txBody>
      </p:sp>
      <p:sp>
        <p:nvSpPr>
          <p:cNvPr id="53" name="Rounded Rectangle 52"/>
          <p:cNvSpPr/>
          <p:nvPr/>
        </p:nvSpPr>
        <p:spPr>
          <a:xfrm>
            <a:off x="9107424" y="5577840"/>
            <a:ext cx="2660904" cy="658368"/>
          </a:xfrm>
          <a:prstGeom prst="roundRect">
            <a:avLst/>
          </a:prstGeom>
          <a:solidFill>
            <a:srgbClr val="E9F4F4"/>
          </a:solidFill>
          <a:ln w="12700">
            <a:solidFill>
              <a:srgbClr val="1E8E94"/>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lnSpc>
                <a:spcPct val="100000"/>
              </a:lnSpc>
              <a:spcBef>
                <a:spcPts val="0"/>
              </a:spcBef>
              <a:spcAft>
                <a:spcPts val="0"/>
              </a:spcAft>
            </a:pPr>
            <a:r>
              <a:rPr lang="zh-CN" altLang="en-US" sz="1020" b="1">
                <a:solidFill>
                  <a:srgbClr val="1E8E94"/>
                </a:solidFill>
                <a:latin typeface="Source Han Sans SC"/>
                <a:ea typeface="Source Han Sans SC"/>
              </a:rPr>
              <a:t>checkpoint_manager.py
</a:t>
            </a:r>
            <a:r>
              <a:rPr lang="zh-CN" altLang="en-US" sz="1020" b="1">
                <a:solidFill>
                  <a:srgbClr val="1E8E94"/>
                </a:solidFill>
                <a:latin typeface="Source Han Sans SC"/>
                <a:ea typeface="Source Han Sans SC"/>
              </a:rPr>
              <a:t>保存模型与训练状态</a:t>
            </a:r>
            <a:endParaRPr lang="zh-CN" altLang="en-US" sz="1020" b="1">
              <a:solidFill>
                <a:srgbClr val="1E8E94"/>
              </a:solidFill>
              <a:latin typeface="Source Han Sans SC"/>
              <a:ea typeface="Source Han Sans S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title"/>
          <p:cNvSpPr>
            <a:spLocks noGrp="1"/>
          </p:cNvSpPr>
          <p:nvPr/>
        </p:nvSpPr>
        <p:spPr>
          <a:xfrm>
            <a:off x="333375" y="95250"/>
            <a:ext cx="10060940" cy="647700"/>
          </a:xfrm>
          <a:prstGeom prst="rect">
            <a:avLst/>
          </a:prstGeom>
          <a:noFill/>
          <a:ln w="0">
            <a:noFill/>
            <a:prstDash val="solid"/>
          </a:ln>
        </p:spPr>
        <p:txBody>
          <a:bodyPr wrap="square" lIns="38100" tIns="19050" rIns="38100" bIns="19050" anchor="ctr">
            <a:normAutofit fontScale="88643"/>
          </a:bodyPr>
          <a:lstStyle/>
          <a:p>
            <a:pPr algn="l">
              <a:defRPr sz="3200" b="1">
                <a:solidFill>
                  <a:srgbClr val="1F2937"/>
                </a:solidFill>
              </a:defRPr>
            </a:pPr>
            <a:r>
              <a:rPr lang="zh-CN" sz="3200" b="1">
                <a:solidFill>
                  <a:srgbClr val="1F2937"/>
                </a:solidFill>
                <a:latin typeface="Source Han Sans SC"/>
                <a:ea typeface="Source Han Sans SC"/>
              </a:rPr>
              <a:t>一条文本通过右移一位，变成多个</a:t>
            </a:r>
            <a:r>
              <a:rPr sz="3200" b="1">
                <a:solidFill>
                  <a:srgbClr val="1F2937"/>
                </a:solidFill>
                <a:latin typeface="Source Han Sans SC"/>
              </a:rPr>
              <a:t> Next-Token </a:t>
            </a:r>
            <a:r>
              <a:rPr lang="zh-CN" sz="3200" b="1">
                <a:solidFill>
                  <a:srgbClr val="1F2937"/>
                </a:solidFill>
                <a:latin typeface="Source Han Sans SC"/>
                <a:ea typeface="Source Han Sans SC"/>
              </a:rPr>
              <a:t>训练样本</a:t>
            </a:r>
            <a:endParaRPr sz="3200" b="1">
              <a:solidFill>
                <a:srgbClr val="1F2937"/>
              </a:solidFill>
            </a:endParaRPr>
          </a:p>
        </p:txBody>
      </p:sp>
      <p:sp>
        <p:nvSpPr>
          <p:cNvPr id="2" name="矩形 1"/>
          <p:cNvSpPr>
            <a:spLocks noGrp="1"/>
          </p:cNvSpPr>
          <p:nvPr/>
        </p:nvSpPr>
        <p:spPr>
          <a:xfrm>
            <a:off x="333375" y="914400"/>
            <a:ext cx="10001250" cy="420624"/>
          </a:xfrm>
          <a:prstGeom prst="rect">
            <a:avLst/>
          </a:prstGeom>
          <a:noFill/>
          <a:ln w="0">
            <a:noFill/>
            <a:prstDash val="solid"/>
          </a:ln>
        </p:spPr>
        <p:txBody>
          <a:bodyPr wrap="square" lIns="38100" tIns="19050" rIns="38100" bIns="19050" anchor="ctr">
            <a:normAutofit fontScale="92593"/>
          </a:bodyPr>
          <a:lstStyle/>
          <a:p>
            <a:pPr algn="l">
              <a:lnSpc>
                <a:spcPct val="100000"/>
              </a:lnSpc>
              <a:spcBef>
                <a:spcPts val="0"/>
              </a:spcBef>
              <a:spcAft>
                <a:spcPts val="0"/>
              </a:spcAft>
              <a:defRPr sz="1350" b="0">
                <a:solidFill>
                  <a:srgbClr val="5F6B7A"/>
                </a:solidFill>
              </a:defRPr>
            </a:pPr>
            <a:r>
              <a:rPr lang="zh-CN" altLang="en-US" sz="1120" b="0">
                <a:solidFill>
                  <a:srgbClr val="5F6B7A"/>
                </a:solidFill>
                <a:latin typeface="Source Han Sans SC"/>
                <a:ea typeface="Source Han Sans SC"/>
              </a:rPr>
              <a:t>Label Shift（</a:t>
            </a:r>
            <a:r>
              <a:rPr lang="zh-CN" altLang="en-US" sz="1120" b="0">
                <a:solidFill>
                  <a:srgbClr val="5F6B7A"/>
                </a:solidFill>
                <a:latin typeface="Source Han Sans SC"/>
                <a:ea typeface="Source Han Sans SC"/>
              </a:rPr>
              <a:t>标签右移</a:t>
            </a:r>
            <a:r>
              <a:rPr lang="zh-CN" altLang="en-US" sz="1120" b="0">
                <a:solidFill>
                  <a:srgbClr val="5F6B7A"/>
                </a:solidFill>
                <a:latin typeface="Source Han Sans SC"/>
                <a:ea typeface="Source Han Sans SC"/>
              </a:rPr>
              <a:t>）：</a:t>
            </a:r>
            <a:r>
              <a:rPr lang="zh-CN" altLang="en-US" sz="1120" b="0">
                <a:solidFill>
                  <a:srgbClr val="5F6B7A"/>
                </a:solidFill>
                <a:latin typeface="Source Han Sans SC"/>
                <a:ea typeface="Source Han Sans SC"/>
              </a:rPr>
              <a:t>同一</a:t>
            </a:r>
            <a:r>
              <a:rPr lang="zh-CN" altLang="en-US" sz="1120" b="0">
                <a:solidFill>
                  <a:srgbClr val="5F6B7A"/>
                </a:solidFill>
                <a:latin typeface="Source Han Sans SC"/>
                <a:ea typeface="Source Han Sans SC"/>
              </a:rPr>
              <a:t> Token </a:t>
            </a:r>
            <a:r>
              <a:rPr lang="zh-CN" altLang="en-US" sz="1120" b="0">
                <a:solidFill>
                  <a:srgbClr val="5F6B7A"/>
                </a:solidFill>
                <a:latin typeface="Source Han Sans SC"/>
                <a:ea typeface="Source Han Sans SC"/>
              </a:rPr>
              <a:t>序列错开一位</a:t>
            </a:r>
            <a:r>
              <a:rPr lang="zh-CN" altLang="en-US" sz="1120" b="0">
                <a:solidFill>
                  <a:srgbClr val="5F6B7A"/>
                </a:solidFill>
                <a:latin typeface="Source Han Sans SC"/>
                <a:ea typeface="Source Han Sans SC"/>
              </a:rPr>
              <a:t>，</a:t>
            </a:r>
            <a:r>
              <a:rPr lang="zh-CN" altLang="en-US" sz="1120" b="0">
                <a:solidFill>
                  <a:srgbClr val="5F6B7A"/>
                </a:solidFill>
                <a:latin typeface="Source Han Sans SC"/>
                <a:ea typeface="Source Han Sans SC"/>
              </a:rPr>
              <a:t>使</a:t>
            </a:r>
            <a:r>
              <a:rPr lang="zh-CN" altLang="en-US" sz="1120" b="0">
                <a:solidFill>
                  <a:srgbClr val="5F6B7A"/>
                </a:solidFill>
                <a:latin typeface="Source Han Sans SC"/>
                <a:ea typeface="Source Han Sans SC"/>
              </a:rPr>
              <a:t> inputs[t] </a:t>
            </a:r>
            <a:r>
              <a:rPr lang="zh-CN" altLang="en-US" sz="1120" b="0">
                <a:solidFill>
                  <a:srgbClr val="5F6B7A"/>
                </a:solidFill>
                <a:latin typeface="Source Han Sans SC"/>
                <a:ea typeface="Source Han Sans SC"/>
              </a:rPr>
              <a:t>的正确答案成为</a:t>
            </a:r>
            <a:r>
              <a:rPr lang="zh-CN" altLang="en-US" sz="1120" b="0">
                <a:solidFill>
                  <a:srgbClr val="5F6B7A"/>
                </a:solidFill>
                <a:latin typeface="Source Han Sans SC"/>
                <a:ea typeface="Source Han Sans SC"/>
              </a:rPr>
              <a:t> targets[t]；Next-Token Prediction：</a:t>
            </a:r>
            <a:r>
              <a:rPr lang="zh-CN" altLang="en-US" sz="1120" b="0">
                <a:solidFill>
                  <a:srgbClr val="5F6B7A"/>
                </a:solidFill>
                <a:latin typeface="Source Han Sans SC"/>
                <a:ea typeface="Source Han Sans SC"/>
              </a:rPr>
              <a:t>依据左侧上下文预测下一个</a:t>
            </a:r>
            <a:r>
              <a:rPr lang="zh-CN" altLang="en-US" sz="1120" b="0">
                <a:solidFill>
                  <a:srgbClr val="5F6B7A"/>
                </a:solidFill>
                <a:latin typeface="Source Han Sans SC"/>
                <a:ea typeface="Source Han Sans SC"/>
              </a:rPr>
              <a:t> Token。</a:t>
            </a:r>
            <a:endParaRPr sz="1350" b="0">
              <a:solidFill>
                <a:srgbClr val="5F6B7A"/>
              </a:solidFill>
            </a:endParaRPr>
          </a:p>
        </p:txBody>
      </p:sp>
      <p:sp>
        <p:nvSpPr>
          <p:cNvPr id="3" name="矩形 2"/>
          <p:cNvSpPr>
            <a:spLocks noGrp="1"/>
          </p:cNvSpPr>
          <p:nvPr/>
        </p:nvSpPr>
        <p:spPr>
          <a:xfrm>
            <a:off x="428625" y="1619250"/>
            <a:ext cx="1000125" cy="419100"/>
          </a:xfrm>
          <a:prstGeom prst="rect">
            <a:avLst/>
          </a:prstGeom>
          <a:noFill/>
          <a:ln w="0">
            <a:noFill/>
            <a:prstDash val="solid"/>
          </a:ln>
        </p:spPr>
        <p:txBody>
          <a:bodyPr wrap="square" lIns="38100" tIns="19050" rIns="38100" bIns="19050" anchor="ctr">
            <a:normAutofit/>
          </a:bodyPr>
          <a:lstStyle/>
          <a:p>
            <a:pPr algn="ctr">
              <a:lnSpc>
                <a:spcPct val="100000"/>
              </a:lnSpc>
              <a:spcBef>
                <a:spcPts val="0"/>
              </a:spcBef>
              <a:spcAft>
                <a:spcPts val="0"/>
              </a:spcAft>
              <a:defRPr sz="1500" b="1">
                <a:solidFill>
                  <a:srgbClr val="2F6BDA"/>
                </a:solidFill>
              </a:defRPr>
            </a:pPr>
            <a:r>
              <a:rPr lang="zh-CN" altLang="en-US" sz="1400" b="1">
                <a:solidFill>
                  <a:srgbClr val="2563EB"/>
                </a:solidFill>
                <a:latin typeface="Source Han Sans SC"/>
                <a:ea typeface="Source Han Sans SC"/>
              </a:rPr>
              <a:t>① </a:t>
            </a:r>
            <a:r>
              <a:rPr lang="zh-CN" altLang="en-US" sz="1400" b="1">
                <a:solidFill>
                  <a:srgbClr val="2563EB"/>
                </a:solidFill>
                <a:latin typeface="Source Han Sans SC"/>
                <a:ea typeface="Source Han Sans SC"/>
              </a:rPr>
              <a:t>原始序列</a:t>
            </a:r>
            <a:endParaRPr sz="1500" b="1">
              <a:solidFill>
                <a:srgbClr val="2F6BDA"/>
              </a:solidFill>
            </a:endParaRPr>
          </a:p>
        </p:txBody>
      </p:sp>
      <p:sp>
        <p:nvSpPr>
          <p:cNvPr id="4" name="圆角矩形 3"/>
          <p:cNvSpPr>
            <a:spLocks noGrp="1"/>
          </p:cNvSpPr>
          <p:nvPr/>
        </p:nvSpPr>
        <p:spPr>
          <a:xfrm>
            <a:off x="1619250" y="1571625"/>
            <a:ext cx="1000125" cy="514350"/>
          </a:xfrm>
          <a:prstGeom prst="roundRect">
            <a:avLst>
              <a:gd name="adj" fmla="val 14815"/>
            </a:avLst>
          </a:prstGeom>
          <a:solidFill>
            <a:srgbClr val="EAF1FF"/>
          </a:solidFill>
          <a:ln w="12383">
            <a:solidFill>
              <a:srgbClr val="2F6BDA"/>
            </a:solidFill>
            <a:prstDash val="solid"/>
          </a:ln>
        </p:spPr>
        <p:txBody>
          <a:bodyPr/>
          <a:p/>
        </p:txBody>
      </p:sp>
      <p:sp>
        <p:nvSpPr>
          <p:cNvPr id="5" name="矩形 4"/>
          <p:cNvSpPr>
            <a:spLocks noGrp="1"/>
          </p:cNvSpPr>
          <p:nvPr/>
        </p:nvSpPr>
        <p:spPr>
          <a:xfrm>
            <a:off x="1733550" y="16478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sz="1500" b="0">
                <a:solidFill>
                  <a:srgbClr val="1F2937"/>
                </a:solidFill>
                <a:latin typeface="Source Han Sans SC"/>
              </a:rPr>
              <a:t>&lt;BOS&gt;</a:t>
            </a:r>
            <a:endParaRPr sz="1500" b="0">
              <a:solidFill>
                <a:srgbClr val="1F2937"/>
              </a:solidFill>
            </a:endParaRPr>
          </a:p>
        </p:txBody>
      </p:sp>
      <p:sp>
        <p:nvSpPr>
          <p:cNvPr id="6" name="圆角矩形 5"/>
          <p:cNvSpPr>
            <a:spLocks noGrp="1"/>
          </p:cNvSpPr>
          <p:nvPr/>
        </p:nvSpPr>
        <p:spPr>
          <a:xfrm>
            <a:off x="2905125" y="1571625"/>
            <a:ext cx="1000125" cy="514350"/>
          </a:xfrm>
          <a:prstGeom prst="roundRect">
            <a:avLst>
              <a:gd name="adj" fmla="val 14815"/>
            </a:avLst>
          </a:prstGeom>
          <a:solidFill>
            <a:srgbClr val="EAF1FF"/>
          </a:solidFill>
          <a:ln w="12383">
            <a:solidFill>
              <a:srgbClr val="2F6BDA"/>
            </a:solidFill>
            <a:prstDash val="solid"/>
          </a:ln>
        </p:spPr>
        <p:txBody>
          <a:bodyPr/>
          <a:p/>
        </p:txBody>
      </p:sp>
      <p:sp>
        <p:nvSpPr>
          <p:cNvPr id="7" name="矩形 6"/>
          <p:cNvSpPr>
            <a:spLocks noGrp="1"/>
          </p:cNvSpPr>
          <p:nvPr/>
        </p:nvSpPr>
        <p:spPr>
          <a:xfrm>
            <a:off x="3019425" y="16478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春</a:t>
            </a:r>
            <a:endParaRPr sz="1500" b="0">
              <a:solidFill>
                <a:srgbClr val="1F2937"/>
              </a:solidFill>
            </a:endParaRPr>
          </a:p>
        </p:txBody>
      </p:sp>
      <p:sp>
        <p:nvSpPr>
          <p:cNvPr id="8" name="圆角矩形 7"/>
          <p:cNvSpPr>
            <a:spLocks noGrp="1"/>
          </p:cNvSpPr>
          <p:nvPr/>
        </p:nvSpPr>
        <p:spPr>
          <a:xfrm>
            <a:off x="4191000" y="1571625"/>
            <a:ext cx="1000125" cy="514350"/>
          </a:xfrm>
          <a:prstGeom prst="roundRect">
            <a:avLst>
              <a:gd name="adj" fmla="val 14815"/>
            </a:avLst>
          </a:prstGeom>
          <a:solidFill>
            <a:srgbClr val="EAF1FF"/>
          </a:solidFill>
          <a:ln w="12383">
            <a:solidFill>
              <a:srgbClr val="2F6BDA"/>
            </a:solidFill>
            <a:prstDash val="solid"/>
          </a:ln>
        </p:spPr>
        <p:txBody>
          <a:bodyPr/>
          <a:p/>
        </p:txBody>
      </p:sp>
      <p:sp>
        <p:nvSpPr>
          <p:cNvPr id="9" name="矩形 8"/>
          <p:cNvSpPr>
            <a:spLocks noGrp="1"/>
          </p:cNvSpPr>
          <p:nvPr/>
        </p:nvSpPr>
        <p:spPr>
          <a:xfrm>
            <a:off x="4305300" y="16478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天</a:t>
            </a:r>
            <a:endParaRPr sz="1500" b="0">
              <a:solidFill>
                <a:srgbClr val="1F2937"/>
              </a:solidFill>
            </a:endParaRPr>
          </a:p>
        </p:txBody>
      </p:sp>
      <p:sp>
        <p:nvSpPr>
          <p:cNvPr id="10" name="圆角矩形 9"/>
          <p:cNvSpPr>
            <a:spLocks noGrp="1"/>
          </p:cNvSpPr>
          <p:nvPr/>
        </p:nvSpPr>
        <p:spPr>
          <a:xfrm>
            <a:off x="5476875" y="1571625"/>
            <a:ext cx="1000125" cy="514350"/>
          </a:xfrm>
          <a:prstGeom prst="roundRect">
            <a:avLst>
              <a:gd name="adj" fmla="val 14815"/>
            </a:avLst>
          </a:prstGeom>
          <a:solidFill>
            <a:srgbClr val="EAF1FF"/>
          </a:solidFill>
          <a:ln w="12383">
            <a:solidFill>
              <a:srgbClr val="2F6BDA"/>
            </a:solidFill>
            <a:prstDash val="solid"/>
          </a:ln>
        </p:spPr>
        <p:txBody>
          <a:bodyPr/>
          <a:p/>
        </p:txBody>
      </p:sp>
      <p:sp>
        <p:nvSpPr>
          <p:cNvPr id="11" name="矩形 10"/>
          <p:cNvSpPr>
            <a:spLocks noGrp="1"/>
          </p:cNvSpPr>
          <p:nvPr/>
        </p:nvSpPr>
        <p:spPr>
          <a:xfrm>
            <a:off x="5591175" y="16478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来</a:t>
            </a:r>
            <a:endParaRPr sz="1500" b="0">
              <a:solidFill>
                <a:srgbClr val="1F2937"/>
              </a:solidFill>
            </a:endParaRPr>
          </a:p>
        </p:txBody>
      </p:sp>
      <p:sp>
        <p:nvSpPr>
          <p:cNvPr id="12" name="圆角矩形 11"/>
          <p:cNvSpPr>
            <a:spLocks noGrp="1"/>
          </p:cNvSpPr>
          <p:nvPr/>
        </p:nvSpPr>
        <p:spPr>
          <a:xfrm>
            <a:off x="6762750" y="1571625"/>
            <a:ext cx="1000125" cy="514350"/>
          </a:xfrm>
          <a:prstGeom prst="roundRect">
            <a:avLst>
              <a:gd name="adj" fmla="val 14815"/>
            </a:avLst>
          </a:prstGeom>
          <a:solidFill>
            <a:srgbClr val="EAF1FF"/>
          </a:solidFill>
          <a:ln w="12383">
            <a:solidFill>
              <a:srgbClr val="2F6BDA"/>
            </a:solidFill>
            <a:prstDash val="solid"/>
          </a:ln>
        </p:spPr>
        <p:txBody>
          <a:bodyPr/>
          <a:p/>
        </p:txBody>
      </p:sp>
      <p:sp>
        <p:nvSpPr>
          <p:cNvPr id="13" name="矩形 12"/>
          <p:cNvSpPr>
            <a:spLocks noGrp="1"/>
          </p:cNvSpPr>
          <p:nvPr/>
        </p:nvSpPr>
        <p:spPr>
          <a:xfrm>
            <a:off x="6877050" y="16478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了</a:t>
            </a:r>
            <a:endParaRPr sz="1500" b="0">
              <a:solidFill>
                <a:srgbClr val="1F2937"/>
              </a:solidFill>
            </a:endParaRPr>
          </a:p>
        </p:txBody>
      </p:sp>
      <p:sp>
        <p:nvSpPr>
          <p:cNvPr id="14" name="圆角矩形 13"/>
          <p:cNvSpPr>
            <a:spLocks noGrp="1"/>
          </p:cNvSpPr>
          <p:nvPr/>
        </p:nvSpPr>
        <p:spPr>
          <a:xfrm>
            <a:off x="8048625" y="1571625"/>
            <a:ext cx="1000125" cy="514350"/>
          </a:xfrm>
          <a:prstGeom prst="roundRect">
            <a:avLst>
              <a:gd name="adj" fmla="val 14815"/>
            </a:avLst>
          </a:prstGeom>
          <a:solidFill>
            <a:srgbClr val="EAF1FF"/>
          </a:solidFill>
          <a:ln w="12383">
            <a:solidFill>
              <a:srgbClr val="2F6BDA"/>
            </a:solidFill>
            <a:prstDash val="solid"/>
          </a:ln>
        </p:spPr>
        <p:txBody>
          <a:bodyPr/>
          <a:p/>
        </p:txBody>
      </p:sp>
      <p:sp>
        <p:nvSpPr>
          <p:cNvPr id="15" name="矩形 14"/>
          <p:cNvSpPr>
            <a:spLocks noGrp="1"/>
          </p:cNvSpPr>
          <p:nvPr/>
        </p:nvSpPr>
        <p:spPr>
          <a:xfrm>
            <a:off x="8162925" y="16478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sz="1500" b="0">
                <a:solidFill>
                  <a:srgbClr val="1F2937"/>
                </a:solidFill>
              </a:rPr>
              <a:t>。</a:t>
            </a:r>
            <a:endParaRPr sz="1500" b="0">
              <a:solidFill>
                <a:srgbClr val="1F2937"/>
              </a:solidFill>
            </a:endParaRPr>
          </a:p>
        </p:txBody>
      </p:sp>
      <p:sp>
        <p:nvSpPr>
          <p:cNvPr id="16" name="矩形 15"/>
          <p:cNvSpPr>
            <a:spLocks noGrp="1"/>
          </p:cNvSpPr>
          <p:nvPr/>
        </p:nvSpPr>
        <p:spPr>
          <a:xfrm>
            <a:off x="428625" y="2571750"/>
            <a:ext cx="1000125" cy="419100"/>
          </a:xfrm>
          <a:prstGeom prst="rect">
            <a:avLst/>
          </a:prstGeom>
          <a:noFill/>
          <a:ln w="0">
            <a:noFill/>
            <a:prstDash val="solid"/>
          </a:ln>
        </p:spPr>
        <p:txBody>
          <a:bodyPr wrap="square" lIns="38100" tIns="19050" rIns="38100" bIns="19050" anchor="ctr">
            <a:normAutofit/>
          </a:bodyPr>
          <a:lstStyle/>
          <a:p>
            <a:pPr algn="ctr">
              <a:lnSpc>
                <a:spcPct val="100000"/>
              </a:lnSpc>
              <a:spcBef>
                <a:spcPts val="0"/>
              </a:spcBef>
              <a:spcAft>
                <a:spcPts val="0"/>
              </a:spcAft>
              <a:defRPr sz="1500" b="1">
                <a:solidFill>
                  <a:srgbClr val="C26700"/>
                </a:solidFill>
              </a:defRPr>
            </a:pPr>
            <a:r>
              <a:rPr lang="zh-CN" altLang="en-US" sz="1400" b="1">
                <a:solidFill>
                  <a:srgbClr val="C96700"/>
                </a:solidFill>
                <a:latin typeface="Source Han Sans SC"/>
                <a:ea typeface="Source Han Sans SC"/>
              </a:rPr>
              <a:t>② inputs</a:t>
            </a:r>
            <a:endParaRPr sz="1500" b="1">
              <a:solidFill>
                <a:srgbClr val="C26700"/>
              </a:solidFill>
            </a:endParaRPr>
          </a:p>
        </p:txBody>
      </p:sp>
      <p:sp>
        <p:nvSpPr>
          <p:cNvPr id="17" name="矩形 16"/>
          <p:cNvSpPr>
            <a:spLocks noGrp="1"/>
          </p:cNvSpPr>
          <p:nvPr/>
        </p:nvSpPr>
        <p:spPr>
          <a:xfrm>
            <a:off x="428625" y="3524250"/>
            <a:ext cx="1000125" cy="419100"/>
          </a:xfrm>
          <a:prstGeom prst="rect">
            <a:avLst/>
          </a:prstGeom>
          <a:noFill/>
          <a:ln w="0">
            <a:noFill/>
            <a:prstDash val="solid"/>
          </a:ln>
        </p:spPr>
        <p:txBody>
          <a:bodyPr wrap="square" lIns="38100" tIns="19050" rIns="38100" bIns="19050" anchor="ctr">
            <a:normAutofit/>
          </a:bodyPr>
          <a:lstStyle/>
          <a:p>
            <a:pPr algn="ctr">
              <a:lnSpc>
                <a:spcPct val="100000"/>
              </a:lnSpc>
              <a:spcBef>
                <a:spcPts val="0"/>
              </a:spcBef>
              <a:spcAft>
                <a:spcPts val="0"/>
              </a:spcAft>
              <a:defRPr sz="1500" b="1">
                <a:solidFill>
                  <a:srgbClr val="1E8E94"/>
                </a:solidFill>
              </a:defRPr>
            </a:pPr>
            <a:r>
              <a:rPr lang="zh-CN" altLang="en-US" sz="1400" b="1">
                <a:solidFill>
                  <a:srgbClr val="1E8E94"/>
                </a:solidFill>
                <a:latin typeface="Source Han Sans SC"/>
                <a:ea typeface="Source Han Sans SC"/>
              </a:rPr>
              <a:t>③ targets</a:t>
            </a:r>
            <a:endParaRPr sz="1500" b="1">
              <a:solidFill>
                <a:srgbClr val="1E8E94"/>
              </a:solidFill>
            </a:endParaRPr>
          </a:p>
        </p:txBody>
      </p:sp>
      <p:sp>
        <p:nvSpPr>
          <p:cNvPr id="18" name="直接连接符 17"/>
          <p:cNvSpPr>
            <a:spLocks noGrp="1"/>
          </p:cNvSpPr>
          <p:nvPr/>
        </p:nvSpPr>
        <p:spPr>
          <a:xfrm>
            <a:off x="2114550" y="3105150"/>
            <a:ext cx="0" cy="342900"/>
          </a:xfrm>
          <a:prstGeom prst="line">
            <a:avLst/>
          </a:prstGeom>
          <a:noFill/>
          <a:ln w="19050">
            <a:solidFill>
              <a:srgbClr val="660874"/>
            </a:solidFill>
            <a:prstDash val="solid"/>
          </a:ln>
        </p:spPr>
        <p:txBody>
          <a:bodyPr/>
          <a:p/>
        </p:txBody>
      </p:sp>
      <p:sp>
        <p:nvSpPr>
          <p:cNvPr id="19" name="任意多边形 18"/>
          <p:cNvSpPr>
            <a:spLocks noGrp="1"/>
          </p:cNvSpPr>
          <p:nvPr/>
        </p:nvSpPr>
        <p:spPr>
          <a:xfrm>
            <a:off x="2066925" y="3343275"/>
            <a:ext cx="95250" cy="104775"/>
          </a:xfrm>
          <a:custGeom>
            <a:avLst/>
            <a:gdLst/>
            <a:ahLst/>
            <a:cxnLst/>
            <a:pathLst>
              <a:path w="95250" h="104775">
                <a:moveTo>
                  <a:pt x="0" y="0"/>
                </a:moveTo>
                <a:lnTo>
                  <a:pt x="47625" y="104775"/>
                </a:lnTo>
                <a:lnTo>
                  <a:pt x="95250" y="0"/>
                </a:lnTo>
                <a:close/>
              </a:path>
            </a:pathLst>
          </a:custGeom>
          <a:solidFill>
            <a:srgbClr val="660874"/>
          </a:solidFill>
          <a:ln w="0">
            <a:solidFill>
              <a:srgbClr val="660874"/>
            </a:solidFill>
            <a:prstDash val="solid"/>
          </a:ln>
        </p:spPr>
        <p:txBody>
          <a:bodyPr/>
          <a:p/>
        </p:txBody>
      </p:sp>
      <p:sp>
        <p:nvSpPr>
          <p:cNvPr id="20" name="圆角矩形 19"/>
          <p:cNvSpPr>
            <a:spLocks noGrp="1"/>
          </p:cNvSpPr>
          <p:nvPr/>
        </p:nvSpPr>
        <p:spPr>
          <a:xfrm>
            <a:off x="1619250" y="2524125"/>
            <a:ext cx="1000125" cy="514350"/>
          </a:xfrm>
          <a:prstGeom prst="roundRect">
            <a:avLst>
              <a:gd name="adj" fmla="val 14815"/>
            </a:avLst>
          </a:prstGeom>
          <a:solidFill>
            <a:srgbClr val="FFF7E8"/>
          </a:solidFill>
          <a:ln w="12383">
            <a:solidFill>
              <a:srgbClr val="C26700"/>
            </a:solidFill>
            <a:prstDash val="solid"/>
          </a:ln>
        </p:spPr>
        <p:txBody>
          <a:bodyPr/>
          <a:p/>
        </p:txBody>
      </p:sp>
      <p:sp>
        <p:nvSpPr>
          <p:cNvPr id="21" name="矩形 20"/>
          <p:cNvSpPr>
            <a:spLocks noGrp="1"/>
          </p:cNvSpPr>
          <p:nvPr/>
        </p:nvSpPr>
        <p:spPr>
          <a:xfrm>
            <a:off x="1733550" y="26003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sz="1500" b="0">
                <a:solidFill>
                  <a:srgbClr val="1F2937"/>
                </a:solidFill>
                <a:latin typeface="Source Han Sans SC"/>
              </a:rPr>
              <a:t>&lt;BOS&gt;</a:t>
            </a:r>
            <a:endParaRPr sz="1500" b="0">
              <a:solidFill>
                <a:srgbClr val="1F2937"/>
              </a:solidFill>
            </a:endParaRPr>
          </a:p>
        </p:txBody>
      </p:sp>
      <p:sp>
        <p:nvSpPr>
          <p:cNvPr id="22" name="圆角矩形 21"/>
          <p:cNvSpPr>
            <a:spLocks noGrp="1"/>
          </p:cNvSpPr>
          <p:nvPr/>
        </p:nvSpPr>
        <p:spPr>
          <a:xfrm>
            <a:off x="1619250" y="3476625"/>
            <a:ext cx="1000125" cy="514350"/>
          </a:xfrm>
          <a:prstGeom prst="roundRect">
            <a:avLst>
              <a:gd name="adj" fmla="val 14815"/>
            </a:avLst>
          </a:prstGeom>
          <a:solidFill>
            <a:srgbClr val="E9F4F4"/>
          </a:solidFill>
          <a:ln w="12383">
            <a:solidFill>
              <a:srgbClr val="1E8E94"/>
            </a:solidFill>
            <a:prstDash val="solid"/>
          </a:ln>
        </p:spPr>
        <p:txBody>
          <a:bodyPr/>
          <a:p/>
        </p:txBody>
      </p:sp>
      <p:sp>
        <p:nvSpPr>
          <p:cNvPr id="23" name="矩形 22"/>
          <p:cNvSpPr>
            <a:spLocks noGrp="1"/>
          </p:cNvSpPr>
          <p:nvPr/>
        </p:nvSpPr>
        <p:spPr>
          <a:xfrm>
            <a:off x="1733550" y="35528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春</a:t>
            </a:r>
            <a:endParaRPr sz="1500" b="0">
              <a:solidFill>
                <a:srgbClr val="1F2937"/>
              </a:solidFill>
            </a:endParaRPr>
          </a:p>
        </p:txBody>
      </p:sp>
      <p:sp>
        <p:nvSpPr>
          <p:cNvPr id="24" name="直接连接符 23"/>
          <p:cNvSpPr>
            <a:spLocks noGrp="1"/>
          </p:cNvSpPr>
          <p:nvPr/>
        </p:nvSpPr>
        <p:spPr>
          <a:xfrm>
            <a:off x="3400425" y="3105150"/>
            <a:ext cx="0" cy="342900"/>
          </a:xfrm>
          <a:prstGeom prst="line">
            <a:avLst/>
          </a:prstGeom>
          <a:noFill/>
          <a:ln w="19050">
            <a:solidFill>
              <a:srgbClr val="660874"/>
            </a:solidFill>
            <a:prstDash val="solid"/>
          </a:ln>
        </p:spPr>
        <p:txBody>
          <a:bodyPr/>
          <a:p/>
        </p:txBody>
      </p:sp>
      <p:sp>
        <p:nvSpPr>
          <p:cNvPr id="25" name="任意多边形 24"/>
          <p:cNvSpPr>
            <a:spLocks noGrp="1"/>
          </p:cNvSpPr>
          <p:nvPr/>
        </p:nvSpPr>
        <p:spPr>
          <a:xfrm>
            <a:off x="3352800" y="3343275"/>
            <a:ext cx="95250" cy="104775"/>
          </a:xfrm>
          <a:custGeom>
            <a:avLst/>
            <a:gdLst/>
            <a:ahLst/>
            <a:cxnLst/>
            <a:pathLst>
              <a:path w="95250" h="104775">
                <a:moveTo>
                  <a:pt x="0" y="0"/>
                </a:moveTo>
                <a:lnTo>
                  <a:pt x="47625" y="104775"/>
                </a:lnTo>
                <a:lnTo>
                  <a:pt x="95250" y="0"/>
                </a:lnTo>
                <a:close/>
              </a:path>
            </a:pathLst>
          </a:custGeom>
          <a:solidFill>
            <a:srgbClr val="660874"/>
          </a:solidFill>
          <a:ln w="0">
            <a:solidFill>
              <a:srgbClr val="660874"/>
            </a:solidFill>
            <a:prstDash val="solid"/>
          </a:ln>
        </p:spPr>
        <p:txBody>
          <a:bodyPr/>
          <a:p/>
        </p:txBody>
      </p:sp>
      <p:sp>
        <p:nvSpPr>
          <p:cNvPr id="26" name="圆角矩形 25"/>
          <p:cNvSpPr>
            <a:spLocks noGrp="1"/>
          </p:cNvSpPr>
          <p:nvPr/>
        </p:nvSpPr>
        <p:spPr>
          <a:xfrm>
            <a:off x="2905125" y="2524125"/>
            <a:ext cx="1000125" cy="514350"/>
          </a:xfrm>
          <a:prstGeom prst="roundRect">
            <a:avLst>
              <a:gd name="adj" fmla="val 14815"/>
            </a:avLst>
          </a:prstGeom>
          <a:solidFill>
            <a:srgbClr val="FFF7E8"/>
          </a:solidFill>
          <a:ln w="12383">
            <a:solidFill>
              <a:srgbClr val="C26700"/>
            </a:solidFill>
            <a:prstDash val="solid"/>
          </a:ln>
        </p:spPr>
        <p:txBody>
          <a:bodyPr/>
          <a:p/>
        </p:txBody>
      </p:sp>
      <p:sp>
        <p:nvSpPr>
          <p:cNvPr id="27" name="矩形 26"/>
          <p:cNvSpPr>
            <a:spLocks noGrp="1"/>
          </p:cNvSpPr>
          <p:nvPr/>
        </p:nvSpPr>
        <p:spPr>
          <a:xfrm>
            <a:off x="3019425" y="26003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春</a:t>
            </a:r>
            <a:endParaRPr sz="1500" b="0">
              <a:solidFill>
                <a:srgbClr val="1F2937"/>
              </a:solidFill>
            </a:endParaRPr>
          </a:p>
        </p:txBody>
      </p:sp>
      <p:sp>
        <p:nvSpPr>
          <p:cNvPr id="28" name="圆角矩形 27"/>
          <p:cNvSpPr>
            <a:spLocks noGrp="1"/>
          </p:cNvSpPr>
          <p:nvPr/>
        </p:nvSpPr>
        <p:spPr>
          <a:xfrm>
            <a:off x="2905125" y="3476625"/>
            <a:ext cx="1000125" cy="514350"/>
          </a:xfrm>
          <a:prstGeom prst="roundRect">
            <a:avLst>
              <a:gd name="adj" fmla="val 14815"/>
            </a:avLst>
          </a:prstGeom>
          <a:solidFill>
            <a:srgbClr val="E9F4F4"/>
          </a:solidFill>
          <a:ln w="12383">
            <a:solidFill>
              <a:srgbClr val="1E8E94"/>
            </a:solidFill>
            <a:prstDash val="solid"/>
          </a:ln>
        </p:spPr>
        <p:txBody>
          <a:bodyPr/>
          <a:p/>
        </p:txBody>
      </p:sp>
      <p:sp>
        <p:nvSpPr>
          <p:cNvPr id="29" name="矩形 28"/>
          <p:cNvSpPr>
            <a:spLocks noGrp="1"/>
          </p:cNvSpPr>
          <p:nvPr/>
        </p:nvSpPr>
        <p:spPr>
          <a:xfrm>
            <a:off x="3019425" y="35528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天</a:t>
            </a:r>
            <a:endParaRPr sz="1500" b="0">
              <a:solidFill>
                <a:srgbClr val="1F2937"/>
              </a:solidFill>
            </a:endParaRPr>
          </a:p>
        </p:txBody>
      </p:sp>
      <p:sp>
        <p:nvSpPr>
          <p:cNvPr id="30" name="直接连接符 29"/>
          <p:cNvSpPr>
            <a:spLocks noGrp="1"/>
          </p:cNvSpPr>
          <p:nvPr/>
        </p:nvSpPr>
        <p:spPr>
          <a:xfrm>
            <a:off x="4686300" y="3105150"/>
            <a:ext cx="0" cy="342900"/>
          </a:xfrm>
          <a:prstGeom prst="line">
            <a:avLst/>
          </a:prstGeom>
          <a:noFill/>
          <a:ln w="19050">
            <a:solidFill>
              <a:srgbClr val="660874"/>
            </a:solidFill>
            <a:prstDash val="solid"/>
          </a:ln>
        </p:spPr>
        <p:txBody>
          <a:bodyPr/>
          <a:p/>
        </p:txBody>
      </p:sp>
      <p:sp>
        <p:nvSpPr>
          <p:cNvPr id="31" name="任意多边形 30"/>
          <p:cNvSpPr>
            <a:spLocks noGrp="1"/>
          </p:cNvSpPr>
          <p:nvPr/>
        </p:nvSpPr>
        <p:spPr>
          <a:xfrm>
            <a:off x="4638675" y="3343275"/>
            <a:ext cx="95250" cy="104775"/>
          </a:xfrm>
          <a:custGeom>
            <a:avLst/>
            <a:gdLst/>
            <a:ahLst/>
            <a:cxnLst/>
            <a:pathLst>
              <a:path w="95250" h="104775">
                <a:moveTo>
                  <a:pt x="0" y="0"/>
                </a:moveTo>
                <a:lnTo>
                  <a:pt x="47625" y="104775"/>
                </a:lnTo>
                <a:lnTo>
                  <a:pt x="95250" y="0"/>
                </a:lnTo>
                <a:close/>
              </a:path>
            </a:pathLst>
          </a:custGeom>
          <a:solidFill>
            <a:srgbClr val="660874"/>
          </a:solidFill>
          <a:ln w="0">
            <a:solidFill>
              <a:srgbClr val="660874"/>
            </a:solidFill>
            <a:prstDash val="solid"/>
          </a:ln>
        </p:spPr>
        <p:txBody>
          <a:bodyPr/>
          <a:p/>
        </p:txBody>
      </p:sp>
      <p:sp>
        <p:nvSpPr>
          <p:cNvPr id="32" name="圆角矩形 31"/>
          <p:cNvSpPr>
            <a:spLocks noGrp="1"/>
          </p:cNvSpPr>
          <p:nvPr/>
        </p:nvSpPr>
        <p:spPr>
          <a:xfrm>
            <a:off x="4191000" y="2524125"/>
            <a:ext cx="1000125" cy="514350"/>
          </a:xfrm>
          <a:prstGeom prst="roundRect">
            <a:avLst>
              <a:gd name="adj" fmla="val 14815"/>
            </a:avLst>
          </a:prstGeom>
          <a:solidFill>
            <a:srgbClr val="FFF7E8"/>
          </a:solidFill>
          <a:ln w="12383">
            <a:solidFill>
              <a:srgbClr val="C26700"/>
            </a:solidFill>
            <a:prstDash val="solid"/>
          </a:ln>
        </p:spPr>
        <p:txBody>
          <a:bodyPr/>
          <a:p/>
        </p:txBody>
      </p:sp>
      <p:sp>
        <p:nvSpPr>
          <p:cNvPr id="33" name="矩形 32"/>
          <p:cNvSpPr>
            <a:spLocks noGrp="1"/>
          </p:cNvSpPr>
          <p:nvPr/>
        </p:nvSpPr>
        <p:spPr>
          <a:xfrm>
            <a:off x="4305300" y="26003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天</a:t>
            </a:r>
            <a:endParaRPr sz="1500" b="0">
              <a:solidFill>
                <a:srgbClr val="1F2937"/>
              </a:solidFill>
            </a:endParaRPr>
          </a:p>
        </p:txBody>
      </p:sp>
      <p:sp>
        <p:nvSpPr>
          <p:cNvPr id="34" name="圆角矩形 33"/>
          <p:cNvSpPr>
            <a:spLocks noGrp="1"/>
          </p:cNvSpPr>
          <p:nvPr/>
        </p:nvSpPr>
        <p:spPr>
          <a:xfrm>
            <a:off x="4191000" y="3476625"/>
            <a:ext cx="1000125" cy="514350"/>
          </a:xfrm>
          <a:prstGeom prst="roundRect">
            <a:avLst>
              <a:gd name="adj" fmla="val 14815"/>
            </a:avLst>
          </a:prstGeom>
          <a:solidFill>
            <a:srgbClr val="E9F4F4"/>
          </a:solidFill>
          <a:ln w="12383">
            <a:solidFill>
              <a:srgbClr val="1E8E94"/>
            </a:solidFill>
            <a:prstDash val="solid"/>
          </a:ln>
        </p:spPr>
        <p:txBody>
          <a:bodyPr/>
          <a:p/>
        </p:txBody>
      </p:sp>
      <p:sp>
        <p:nvSpPr>
          <p:cNvPr id="35" name="矩形 34"/>
          <p:cNvSpPr>
            <a:spLocks noGrp="1"/>
          </p:cNvSpPr>
          <p:nvPr/>
        </p:nvSpPr>
        <p:spPr>
          <a:xfrm>
            <a:off x="4305300" y="35528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来</a:t>
            </a:r>
            <a:endParaRPr sz="1500" b="0">
              <a:solidFill>
                <a:srgbClr val="1F2937"/>
              </a:solidFill>
            </a:endParaRPr>
          </a:p>
        </p:txBody>
      </p:sp>
      <p:sp>
        <p:nvSpPr>
          <p:cNvPr id="36" name="直接连接符 35"/>
          <p:cNvSpPr>
            <a:spLocks noGrp="1"/>
          </p:cNvSpPr>
          <p:nvPr/>
        </p:nvSpPr>
        <p:spPr>
          <a:xfrm>
            <a:off x="5972175" y="3105150"/>
            <a:ext cx="0" cy="342900"/>
          </a:xfrm>
          <a:prstGeom prst="line">
            <a:avLst/>
          </a:prstGeom>
          <a:noFill/>
          <a:ln w="19050">
            <a:solidFill>
              <a:srgbClr val="660874"/>
            </a:solidFill>
            <a:prstDash val="solid"/>
          </a:ln>
        </p:spPr>
        <p:txBody>
          <a:bodyPr/>
          <a:p/>
        </p:txBody>
      </p:sp>
      <p:sp>
        <p:nvSpPr>
          <p:cNvPr id="37" name="任意多边形 36"/>
          <p:cNvSpPr>
            <a:spLocks noGrp="1"/>
          </p:cNvSpPr>
          <p:nvPr/>
        </p:nvSpPr>
        <p:spPr>
          <a:xfrm>
            <a:off x="5924550" y="3343275"/>
            <a:ext cx="95250" cy="104775"/>
          </a:xfrm>
          <a:custGeom>
            <a:avLst/>
            <a:gdLst/>
            <a:ahLst/>
            <a:cxnLst/>
            <a:pathLst>
              <a:path w="95250" h="104775">
                <a:moveTo>
                  <a:pt x="0" y="0"/>
                </a:moveTo>
                <a:lnTo>
                  <a:pt x="47625" y="104775"/>
                </a:lnTo>
                <a:lnTo>
                  <a:pt x="95250" y="0"/>
                </a:lnTo>
                <a:close/>
              </a:path>
            </a:pathLst>
          </a:custGeom>
          <a:solidFill>
            <a:srgbClr val="660874"/>
          </a:solidFill>
          <a:ln w="0">
            <a:solidFill>
              <a:srgbClr val="660874"/>
            </a:solidFill>
            <a:prstDash val="solid"/>
          </a:ln>
        </p:spPr>
        <p:txBody>
          <a:bodyPr/>
          <a:p/>
        </p:txBody>
      </p:sp>
      <p:sp>
        <p:nvSpPr>
          <p:cNvPr id="38" name="圆角矩形 37"/>
          <p:cNvSpPr>
            <a:spLocks noGrp="1"/>
          </p:cNvSpPr>
          <p:nvPr/>
        </p:nvSpPr>
        <p:spPr>
          <a:xfrm>
            <a:off x="5476875" y="2524125"/>
            <a:ext cx="1000125" cy="514350"/>
          </a:xfrm>
          <a:prstGeom prst="roundRect">
            <a:avLst>
              <a:gd name="adj" fmla="val 14815"/>
            </a:avLst>
          </a:prstGeom>
          <a:solidFill>
            <a:srgbClr val="FFF7E8"/>
          </a:solidFill>
          <a:ln w="12383">
            <a:solidFill>
              <a:srgbClr val="C26700"/>
            </a:solidFill>
            <a:prstDash val="solid"/>
          </a:ln>
        </p:spPr>
        <p:txBody>
          <a:bodyPr/>
          <a:p/>
        </p:txBody>
      </p:sp>
      <p:sp>
        <p:nvSpPr>
          <p:cNvPr id="39" name="矩形 38"/>
          <p:cNvSpPr>
            <a:spLocks noGrp="1"/>
          </p:cNvSpPr>
          <p:nvPr/>
        </p:nvSpPr>
        <p:spPr>
          <a:xfrm>
            <a:off x="5591175" y="26003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来</a:t>
            </a:r>
            <a:endParaRPr sz="1500" b="0">
              <a:solidFill>
                <a:srgbClr val="1F2937"/>
              </a:solidFill>
            </a:endParaRPr>
          </a:p>
        </p:txBody>
      </p:sp>
      <p:sp>
        <p:nvSpPr>
          <p:cNvPr id="40" name="圆角矩形 39"/>
          <p:cNvSpPr>
            <a:spLocks noGrp="1"/>
          </p:cNvSpPr>
          <p:nvPr/>
        </p:nvSpPr>
        <p:spPr>
          <a:xfrm>
            <a:off x="5476875" y="3476625"/>
            <a:ext cx="1000125" cy="514350"/>
          </a:xfrm>
          <a:prstGeom prst="roundRect">
            <a:avLst>
              <a:gd name="adj" fmla="val 14815"/>
            </a:avLst>
          </a:prstGeom>
          <a:solidFill>
            <a:srgbClr val="E9F4F4"/>
          </a:solidFill>
          <a:ln w="12383">
            <a:solidFill>
              <a:srgbClr val="1E8E94"/>
            </a:solidFill>
            <a:prstDash val="solid"/>
          </a:ln>
        </p:spPr>
        <p:txBody>
          <a:bodyPr/>
          <a:p/>
        </p:txBody>
      </p:sp>
      <p:sp>
        <p:nvSpPr>
          <p:cNvPr id="41" name="矩形 40"/>
          <p:cNvSpPr>
            <a:spLocks noGrp="1"/>
          </p:cNvSpPr>
          <p:nvPr/>
        </p:nvSpPr>
        <p:spPr>
          <a:xfrm>
            <a:off x="5591175" y="35528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了</a:t>
            </a:r>
            <a:endParaRPr sz="1500" b="0">
              <a:solidFill>
                <a:srgbClr val="1F2937"/>
              </a:solidFill>
            </a:endParaRPr>
          </a:p>
        </p:txBody>
      </p:sp>
      <p:sp>
        <p:nvSpPr>
          <p:cNvPr id="42" name="直接连接符 41"/>
          <p:cNvSpPr>
            <a:spLocks noGrp="1"/>
          </p:cNvSpPr>
          <p:nvPr/>
        </p:nvSpPr>
        <p:spPr>
          <a:xfrm>
            <a:off x="7258050" y="3105150"/>
            <a:ext cx="0" cy="342900"/>
          </a:xfrm>
          <a:prstGeom prst="line">
            <a:avLst/>
          </a:prstGeom>
          <a:noFill/>
          <a:ln w="19050">
            <a:solidFill>
              <a:srgbClr val="660874"/>
            </a:solidFill>
            <a:prstDash val="solid"/>
          </a:ln>
        </p:spPr>
        <p:txBody>
          <a:bodyPr/>
          <a:p/>
        </p:txBody>
      </p:sp>
      <p:sp>
        <p:nvSpPr>
          <p:cNvPr id="43" name="任意多边形 42"/>
          <p:cNvSpPr>
            <a:spLocks noGrp="1"/>
          </p:cNvSpPr>
          <p:nvPr/>
        </p:nvSpPr>
        <p:spPr>
          <a:xfrm>
            <a:off x="7210425" y="3343275"/>
            <a:ext cx="95250" cy="104775"/>
          </a:xfrm>
          <a:custGeom>
            <a:avLst/>
            <a:gdLst/>
            <a:ahLst/>
            <a:cxnLst/>
            <a:pathLst>
              <a:path w="95250" h="104775">
                <a:moveTo>
                  <a:pt x="0" y="0"/>
                </a:moveTo>
                <a:lnTo>
                  <a:pt x="47625" y="104775"/>
                </a:lnTo>
                <a:lnTo>
                  <a:pt x="95250" y="0"/>
                </a:lnTo>
                <a:close/>
              </a:path>
            </a:pathLst>
          </a:custGeom>
          <a:solidFill>
            <a:srgbClr val="660874"/>
          </a:solidFill>
          <a:ln w="0">
            <a:solidFill>
              <a:srgbClr val="660874"/>
            </a:solidFill>
            <a:prstDash val="solid"/>
          </a:ln>
        </p:spPr>
        <p:txBody>
          <a:bodyPr/>
          <a:p/>
        </p:txBody>
      </p:sp>
      <p:sp>
        <p:nvSpPr>
          <p:cNvPr id="44" name="圆角矩形 43"/>
          <p:cNvSpPr>
            <a:spLocks noGrp="1"/>
          </p:cNvSpPr>
          <p:nvPr/>
        </p:nvSpPr>
        <p:spPr>
          <a:xfrm>
            <a:off x="6762750" y="2524125"/>
            <a:ext cx="1000125" cy="514350"/>
          </a:xfrm>
          <a:prstGeom prst="roundRect">
            <a:avLst>
              <a:gd name="adj" fmla="val 14815"/>
            </a:avLst>
          </a:prstGeom>
          <a:solidFill>
            <a:srgbClr val="FFF7E8"/>
          </a:solidFill>
          <a:ln w="12383">
            <a:solidFill>
              <a:srgbClr val="C26700"/>
            </a:solidFill>
            <a:prstDash val="solid"/>
          </a:ln>
        </p:spPr>
        <p:txBody>
          <a:bodyPr/>
          <a:p/>
        </p:txBody>
      </p:sp>
      <p:sp>
        <p:nvSpPr>
          <p:cNvPr id="45" name="矩形 44"/>
          <p:cNvSpPr>
            <a:spLocks noGrp="1"/>
          </p:cNvSpPr>
          <p:nvPr/>
        </p:nvSpPr>
        <p:spPr>
          <a:xfrm>
            <a:off x="6877050" y="26003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了</a:t>
            </a:r>
            <a:endParaRPr sz="1500" b="0">
              <a:solidFill>
                <a:srgbClr val="1F2937"/>
              </a:solidFill>
            </a:endParaRPr>
          </a:p>
        </p:txBody>
      </p:sp>
      <p:sp>
        <p:nvSpPr>
          <p:cNvPr id="46" name="圆角矩形 45"/>
          <p:cNvSpPr>
            <a:spLocks noGrp="1"/>
          </p:cNvSpPr>
          <p:nvPr/>
        </p:nvSpPr>
        <p:spPr>
          <a:xfrm>
            <a:off x="6762750" y="3476625"/>
            <a:ext cx="1000125" cy="514350"/>
          </a:xfrm>
          <a:prstGeom prst="roundRect">
            <a:avLst>
              <a:gd name="adj" fmla="val 14815"/>
            </a:avLst>
          </a:prstGeom>
          <a:solidFill>
            <a:srgbClr val="E9F4F4"/>
          </a:solidFill>
          <a:ln w="12383">
            <a:solidFill>
              <a:srgbClr val="1E8E94"/>
            </a:solidFill>
            <a:prstDash val="solid"/>
          </a:ln>
        </p:spPr>
        <p:txBody>
          <a:bodyPr/>
          <a:p/>
        </p:txBody>
      </p:sp>
      <p:sp>
        <p:nvSpPr>
          <p:cNvPr id="47" name="矩形 46"/>
          <p:cNvSpPr>
            <a:spLocks noGrp="1"/>
          </p:cNvSpPr>
          <p:nvPr/>
        </p:nvSpPr>
        <p:spPr>
          <a:xfrm>
            <a:off x="6877050" y="3552825"/>
            <a:ext cx="771525" cy="36195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sz="1500" b="0">
                <a:solidFill>
                  <a:srgbClr val="1F2937"/>
                </a:solidFill>
              </a:rPr>
              <a:t>。</a:t>
            </a:r>
            <a:endParaRPr sz="1500" b="0">
              <a:solidFill>
                <a:srgbClr val="1F2937"/>
              </a:solidFill>
            </a:endParaRPr>
          </a:p>
        </p:txBody>
      </p:sp>
      <p:sp>
        <p:nvSpPr>
          <p:cNvPr id="48" name="圆角矩形 47"/>
          <p:cNvSpPr>
            <a:spLocks noGrp="1"/>
          </p:cNvSpPr>
          <p:nvPr/>
        </p:nvSpPr>
        <p:spPr>
          <a:xfrm>
            <a:off x="8858250" y="2381250"/>
            <a:ext cx="2381250" cy="1714500"/>
          </a:xfrm>
          <a:prstGeom prst="roundRect">
            <a:avLst>
              <a:gd name="adj" fmla="val 4444"/>
            </a:avLst>
          </a:prstGeom>
          <a:solidFill>
            <a:srgbClr val="F3EEF5"/>
          </a:solidFill>
          <a:ln w="12383">
            <a:solidFill>
              <a:srgbClr val="660874"/>
            </a:solidFill>
            <a:prstDash val="solid"/>
          </a:ln>
        </p:spPr>
        <p:txBody>
          <a:bodyPr/>
          <a:p/>
        </p:txBody>
      </p:sp>
      <p:sp>
        <p:nvSpPr>
          <p:cNvPr id="49" name="矩形 48"/>
          <p:cNvSpPr>
            <a:spLocks noGrp="1"/>
          </p:cNvSpPr>
          <p:nvPr/>
        </p:nvSpPr>
        <p:spPr>
          <a:xfrm>
            <a:off x="8972550" y="2457450"/>
            <a:ext cx="2152650" cy="285750"/>
          </a:xfrm>
          <a:prstGeom prst="rect">
            <a:avLst/>
          </a:prstGeom>
          <a:noFill/>
          <a:ln w="0">
            <a:noFill/>
            <a:prstDash val="solid"/>
          </a:ln>
        </p:spPr>
        <p:txBody>
          <a:bodyPr wrap="square" lIns="38100" tIns="19050" rIns="38100" bIns="19050" anchor="ctr">
            <a:normAutofit/>
          </a:bodyPr>
          <a:lstStyle/>
          <a:p>
            <a:pPr algn="ctr">
              <a:lnSpc>
                <a:spcPct val="100000"/>
              </a:lnSpc>
              <a:spcBef>
                <a:spcPts val="0"/>
              </a:spcBef>
              <a:spcAft>
                <a:spcPts val="0"/>
              </a:spcAft>
              <a:defRPr sz="1500" b="1">
                <a:solidFill>
                  <a:srgbClr val="660874"/>
                </a:solidFill>
              </a:defRPr>
            </a:pPr>
            <a:r>
              <a:rPr lang="zh-CN" altLang="en-US" sz="1500" b="1">
                <a:solidFill>
                  <a:srgbClr val="660874"/>
                </a:solidFill>
                <a:latin typeface="Source Han Sans SC"/>
                <a:ea typeface="Source Han Sans SC"/>
              </a:rPr>
              <a:t>④ </a:t>
            </a:r>
            <a:r>
              <a:rPr lang="zh-CN" altLang="en-US" sz="1500" b="1">
                <a:solidFill>
                  <a:srgbClr val="660874"/>
                </a:solidFill>
                <a:latin typeface="Source Han Sans SC"/>
                <a:ea typeface="Source Han Sans SC"/>
              </a:rPr>
              <a:t>一次</a:t>
            </a:r>
            <a:r>
              <a:rPr lang="zh-CN" altLang="en-US" sz="1500" b="1">
                <a:solidFill>
                  <a:srgbClr val="660874"/>
                </a:solidFill>
                <a:latin typeface="Source Han Sans SC"/>
                <a:ea typeface="Source Han Sans SC"/>
              </a:rPr>
              <a:t> Forward</a:t>
            </a:r>
            <a:endParaRPr sz="1500" b="1">
              <a:solidFill>
                <a:srgbClr val="660874"/>
              </a:solidFill>
            </a:endParaRPr>
          </a:p>
        </p:txBody>
      </p:sp>
      <p:sp>
        <p:nvSpPr>
          <p:cNvPr id="50" name="矩形 49"/>
          <p:cNvSpPr>
            <a:spLocks noGrp="1"/>
          </p:cNvSpPr>
          <p:nvPr/>
        </p:nvSpPr>
        <p:spPr>
          <a:xfrm>
            <a:off x="8972550" y="2762250"/>
            <a:ext cx="2152650" cy="1257300"/>
          </a:xfrm>
          <a:prstGeom prst="rect">
            <a:avLst/>
          </a:prstGeom>
          <a:noFill/>
          <a:ln w="0">
            <a:noFill/>
            <a:prstDash val="solid"/>
          </a:ln>
        </p:spPr>
        <p:txBody>
          <a:bodyPr wrap="square" lIns="38100" tIns="19050" rIns="38100" bIns="19050" anchor="ctr">
            <a:normAutofit/>
          </a:bodyPr>
          <a:lstStyle/>
          <a:p>
            <a:pPr algn="ctr">
              <a:lnSpc>
                <a:spcPct val="100000"/>
              </a:lnSpc>
              <a:spcBef>
                <a:spcPts val="0"/>
              </a:spcBef>
              <a:spcAft>
                <a:spcPts val="0"/>
              </a:spcAft>
              <a:defRPr sz="1350" b="0">
                <a:solidFill>
                  <a:srgbClr val="1F2937"/>
                </a:solidFill>
              </a:defRPr>
            </a:pPr>
            <a:r>
              <a:rPr lang="zh-CN" altLang="en-US" sz="1220" b="0">
                <a:solidFill>
                  <a:srgbClr val="1F2937"/>
                </a:solidFill>
                <a:latin typeface="Source Han Sans SC"/>
                <a:ea typeface="Source Han Sans SC"/>
              </a:rPr>
              <a:t>同时产生</a:t>
            </a:r>
            <a:r>
              <a:rPr lang="zh-CN" altLang="en-US" sz="1220" b="0">
                <a:solidFill>
                  <a:srgbClr val="1F2937"/>
                </a:solidFill>
                <a:latin typeface="Source Han Sans SC"/>
                <a:ea typeface="Source Han Sans SC"/>
              </a:rPr>
              <a:t> 5 </a:t>
            </a:r>
            <a:r>
              <a:rPr lang="zh-CN" altLang="en-US" sz="1220" b="0">
                <a:solidFill>
                  <a:srgbClr val="1F2937"/>
                </a:solidFill>
                <a:latin typeface="Source Han Sans SC"/>
                <a:ea typeface="Source Han Sans SC"/>
              </a:rPr>
              <a:t>个位置的</a:t>
            </a:r>
            <a:r>
              <a:rPr lang="zh-CN" altLang="en-US" sz="1220" b="0">
                <a:solidFill>
                  <a:srgbClr val="1F2937"/>
                </a:solidFill>
                <a:latin typeface="Source Han Sans SC"/>
                <a:ea typeface="Source Han Sans SC"/>
              </a:rPr>
              <a:t> Logits
</a:t>
            </a:r>
            <a:r>
              <a:rPr lang="zh-CN" altLang="en-US" sz="1220" b="0">
                <a:solidFill>
                  <a:srgbClr val="1F2937"/>
                </a:solidFill>
                <a:latin typeface="Source Han Sans SC"/>
                <a:ea typeface="Source Han Sans SC"/>
              </a:rPr>
              <a:t>而不是把</a:t>
            </a:r>
            <a:r>
              <a:rPr lang="zh-CN" altLang="en-US" sz="1220" b="0">
                <a:solidFill>
                  <a:srgbClr val="1F2937"/>
                </a:solidFill>
                <a:latin typeface="Source Han Sans SC"/>
                <a:ea typeface="Source Han Sans SC"/>
              </a:rPr>
              <a:t> 5 </a:t>
            </a:r>
            <a:r>
              <a:rPr lang="zh-CN" altLang="en-US" sz="1220" b="0">
                <a:solidFill>
                  <a:srgbClr val="1F2937"/>
                </a:solidFill>
                <a:latin typeface="Source Han Sans SC"/>
                <a:ea typeface="Source Han Sans SC"/>
              </a:rPr>
              <a:t>条前缀分别运行</a:t>
            </a:r>
            <a:r>
              <a:rPr lang="zh-CN" altLang="en-US" sz="1220" b="0">
                <a:solidFill>
                  <a:srgbClr val="1F2937"/>
                </a:solidFill>
                <a:latin typeface="Source Han Sans SC"/>
                <a:ea typeface="Source Han Sans SC"/>
              </a:rPr>
              <a:t> 5 </a:t>
            </a:r>
            <a:r>
              <a:rPr lang="zh-CN" altLang="en-US" sz="1220" b="0">
                <a:solidFill>
                  <a:srgbClr val="1F2937"/>
                </a:solidFill>
                <a:latin typeface="Source Han Sans SC"/>
                <a:ea typeface="Source Han Sans SC"/>
              </a:rPr>
              <a:t>次</a:t>
            </a:r>
            <a:endParaRPr sz="1350" b="0">
              <a:solidFill>
                <a:srgbClr val="1F2937"/>
              </a:solidFill>
            </a:endParaRPr>
          </a:p>
        </p:txBody>
      </p:sp>
      <p:sp>
        <p:nvSpPr>
          <p:cNvPr id="51" name="矩形 50"/>
          <p:cNvSpPr>
            <a:spLocks noGrp="1"/>
          </p:cNvSpPr>
          <p:nvPr/>
        </p:nvSpPr>
        <p:spPr>
          <a:xfrm>
            <a:off x="1619250" y="4429125"/>
            <a:ext cx="8096250" cy="228600"/>
          </a:xfrm>
          <a:prstGeom prst="rect">
            <a:avLst/>
          </a:prstGeom>
          <a:noFill/>
          <a:ln w="0">
            <a:noFill/>
            <a:prstDash val="solid"/>
          </a:ln>
        </p:spPr>
        <p:txBody>
          <a:bodyPr wrap="square" lIns="38100" tIns="19050" rIns="38100" bIns="19050" anchor="ctr">
            <a:normAutofit fontScale="98039"/>
          </a:bodyPr>
          <a:lstStyle/>
          <a:p>
            <a:pPr algn="l">
              <a:spcBef>
                <a:spcPts val="0"/>
              </a:spcBef>
              <a:spcAft>
                <a:spcPts val="0"/>
              </a:spcAft>
              <a:defRPr sz="1275" b="0">
                <a:solidFill>
                  <a:srgbClr val="5F6B7A"/>
                </a:solidFill>
              </a:defRPr>
            </a:pPr>
            <a:r>
              <a:rPr sz="1125" b="0">
                <a:solidFill>
                  <a:srgbClr val="5F6B7A"/>
                </a:solidFill>
                <a:latin typeface="Source Han Sans SC"/>
              </a:rPr>
              <a:t>BOS</a:t>
            </a:r>
            <a:r>
              <a:rPr sz="1125" b="0">
                <a:solidFill>
                  <a:srgbClr val="5F6B7A"/>
                </a:solidFill>
                <a:latin typeface="Source Han Sans SC"/>
              </a:rPr>
              <a:t>（</a:t>
            </a:r>
            <a:r>
              <a:rPr sz="1125" b="0">
                <a:solidFill>
                  <a:srgbClr val="5F6B7A"/>
                </a:solidFill>
                <a:latin typeface="Source Han Sans SC"/>
              </a:rPr>
              <a:t>Beginning of Sequence</a:t>
            </a:r>
            <a:r>
              <a:rPr lang="zh-CN" sz="1125" b="0">
                <a:solidFill>
                  <a:srgbClr val="5F6B7A"/>
                </a:solidFill>
                <a:latin typeface="Source Han Sans SC"/>
                <a:ea typeface="Source Han Sans SC"/>
              </a:rPr>
              <a:t>）表示序列开始｜</a:t>
            </a:r>
            <a:r>
              <a:rPr sz="1125" b="0">
                <a:solidFill>
                  <a:srgbClr val="5F6B7A"/>
                </a:solidFill>
                <a:latin typeface="Source Han Sans SC"/>
              </a:rPr>
              <a:t>inputs </a:t>
            </a:r>
            <a:r>
              <a:rPr lang="zh-CN" sz="1125" b="0">
                <a:solidFill>
                  <a:srgbClr val="5F6B7A"/>
                </a:solidFill>
                <a:latin typeface="Source Han Sans SC"/>
                <a:ea typeface="Source Han Sans SC"/>
              </a:rPr>
              <a:t>与</a:t>
            </a:r>
            <a:r>
              <a:rPr sz="1125" b="0">
                <a:solidFill>
                  <a:srgbClr val="5F6B7A"/>
                </a:solidFill>
                <a:latin typeface="Source Han Sans SC"/>
              </a:rPr>
              <a:t> targets </a:t>
            </a:r>
            <a:r>
              <a:rPr lang="zh-CN" sz="1125" b="0">
                <a:solidFill>
                  <a:srgbClr val="5F6B7A"/>
                </a:solidFill>
                <a:latin typeface="Source Han Sans SC"/>
                <a:ea typeface="Source Han Sans SC"/>
              </a:rPr>
              <a:t>形状相同，只错开一位</a:t>
            </a:r>
            <a:endParaRPr sz="1125" b="0">
              <a:solidFill>
                <a:srgbClr val="5F6B7A"/>
              </a:solidFill>
            </a:endParaRPr>
          </a:p>
        </p:txBody>
      </p:sp>
      <p:sp>
        <p:nvSpPr>
          <p:cNvPr id="52" name="矩形 51"/>
          <p:cNvSpPr>
            <a:spLocks noGrp="1"/>
          </p:cNvSpPr>
          <p:nvPr/>
        </p:nvSpPr>
        <p:spPr>
          <a:xfrm>
            <a:off x="333375" y="5743575"/>
            <a:ext cx="11525250" cy="514350"/>
          </a:xfrm>
          <a:prstGeom prst="rect">
            <a:avLst/>
          </a:prstGeom>
          <a:solidFill>
            <a:srgbClr val="C26700"/>
          </a:solidFill>
          <a:ln w="0">
            <a:noFill/>
            <a:prstDash val="solid"/>
          </a:ln>
        </p:spPr>
      </p:sp>
      <p:sp>
        <p:nvSpPr>
          <p:cNvPr id="53" name="矩形 52"/>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lnSpc>
                <a:spcPct val="100000"/>
              </a:lnSpc>
              <a:spcBef>
                <a:spcPts val="0"/>
              </a:spcBef>
              <a:spcAft>
                <a:spcPts val="0"/>
              </a:spcAft>
              <a:defRPr sz="1425" b="1">
                <a:solidFill>
                  <a:srgbClr val="FFFFFF"/>
                </a:solidFill>
              </a:defRPr>
            </a:pPr>
            <a:r>
              <a:rPr lang="zh-CN" altLang="en-US" sz="1340" b="1">
                <a:solidFill>
                  <a:srgbClr val="FFFFFF"/>
                </a:solidFill>
                <a:latin typeface="Source Han Sans SC"/>
                <a:ea typeface="Source Han Sans SC"/>
              </a:rPr>
              <a:t>标签右移定义</a:t>
            </a:r>
            <a:r>
              <a:rPr lang="zh-CN" altLang="en-US" sz="1340" b="1">
                <a:solidFill>
                  <a:srgbClr val="FFFFFF"/>
                </a:solidFill>
                <a:latin typeface="Source Han Sans SC"/>
                <a:ea typeface="Source Han Sans SC"/>
              </a:rPr>
              <a:t>“</a:t>
            </a:r>
            <a:r>
              <a:rPr lang="zh-CN" altLang="en-US" sz="1340" b="1">
                <a:solidFill>
                  <a:srgbClr val="FFFFFF"/>
                </a:solidFill>
                <a:latin typeface="Source Han Sans SC"/>
                <a:ea typeface="Source Han Sans SC"/>
              </a:rPr>
              <a:t>每个位置预测谁</a:t>
            </a:r>
            <a:r>
              <a:rPr lang="zh-CN" altLang="en-US" sz="1340" b="1">
                <a:solidFill>
                  <a:srgbClr val="FFFFFF"/>
                </a:solidFill>
                <a:latin typeface="Source Han Sans SC"/>
                <a:ea typeface="Source Han Sans SC"/>
              </a:rPr>
              <a:t>”；</a:t>
            </a:r>
            <a:r>
              <a:rPr lang="zh-CN" altLang="en-US" sz="1340" b="1">
                <a:solidFill>
                  <a:srgbClr val="FFFFFF"/>
                </a:solidFill>
                <a:latin typeface="Source Han Sans SC"/>
                <a:ea typeface="Source Han Sans SC"/>
              </a:rPr>
              <a:t>下一步再用</a:t>
            </a:r>
            <a:r>
              <a:rPr lang="zh-CN" altLang="en-US" sz="1340" b="1">
                <a:solidFill>
                  <a:srgbClr val="FFFFFF"/>
                </a:solidFill>
                <a:latin typeface="Source Han Sans SC"/>
                <a:ea typeface="Source Han Sans SC"/>
              </a:rPr>
              <a:t> Causal Attention </a:t>
            </a:r>
            <a:r>
              <a:rPr lang="zh-CN" altLang="en-US" sz="1340" b="1">
                <a:solidFill>
                  <a:srgbClr val="FFFFFF"/>
                </a:solidFill>
                <a:latin typeface="Source Han Sans SC"/>
                <a:ea typeface="Source Han Sans SC"/>
              </a:rPr>
              <a:t>限制</a:t>
            </a:r>
            <a:r>
              <a:rPr lang="zh-CN" altLang="en-US" sz="1340" b="1">
                <a:solidFill>
                  <a:srgbClr val="FFFFFF"/>
                </a:solidFill>
                <a:latin typeface="Source Han Sans SC"/>
                <a:ea typeface="Source Han Sans SC"/>
              </a:rPr>
              <a:t>“</a:t>
            </a:r>
            <a:r>
              <a:rPr lang="zh-CN" altLang="en-US" sz="1340" b="1">
                <a:solidFill>
                  <a:srgbClr val="FFFFFF"/>
                </a:solidFill>
                <a:latin typeface="Source Han Sans SC"/>
                <a:ea typeface="Source Han Sans SC"/>
              </a:rPr>
              <a:t>每个位置允许看谁</a:t>
            </a:r>
            <a:r>
              <a:rPr lang="zh-CN" altLang="en-US" sz="1340" b="1">
                <a:solidFill>
                  <a:srgbClr val="FFFFFF"/>
                </a:solidFill>
                <a:latin typeface="Source Han Sans SC"/>
                <a:ea typeface="Source Han Sans SC"/>
              </a:rPr>
              <a:t>”。</a:t>
            </a:r>
            <a:endParaRPr sz="1425" b="1">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 name="title"/>
          <p:cNvSpPr>
            <a:spLocks noGrp="1"/>
          </p:cNvSpPr>
          <p:nvPr/>
        </p:nvSpPr>
        <p:spPr>
          <a:xfrm>
            <a:off x="333375" y="95250"/>
            <a:ext cx="10058400" cy="647700"/>
          </a:xfrm>
          <a:prstGeom prst="rect">
            <a:avLst/>
          </a:prstGeom>
          <a:noFill/>
          <a:ln w="0">
            <a:noFill/>
            <a:prstDash val="solid"/>
          </a:ln>
        </p:spPr>
        <p:txBody>
          <a:bodyPr wrap="square" lIns="38100" tIns="19050" rIns="38100" bIns="19050" anchor="ctr">
            <a:normAutofit/>
          </a:bodyPr>
          <a:lstStyle/>
          <a:p>
            <a:pPr algn="l">
              <a:defRPr sz="3200" b="1">
                <a:solidFill>
                  <a:srgbClr val="1F2937"/>
                </a:solidFill>
              </a:defRPr>
            </a:pPr>
            <a:r>
              <a:rPr lang="zh-CN" sz="3200" b="1">
                <a:solidFill>
                  <a:srgbClr val="1F2937"/>
                </a:solidFill>
                <a:latin typeface="Source Han Sans SC"/>
                <a:ea typeface="Source Han Sans SC"/>
              </a:rPr>
              <a:t>如果不限制可见范围，训练位置会直接读到正确答案</a:t>
            </a:r>
            <a:endParaRPr sz="3200" b="1">
              <a:solidFill>
                <a:srgbClr val="1F2937"/>
              </a:solidFill>
            </a:endParaRPr>
          </a:p>
        </p:txBody>
      </p:sp>
      <p:sp>
        <p:nvSpPr>
          <p:cNvPr id="2" name="矩形 1"/>
          <p:cNvSpPr>
            <a:spLocks noGrp="1"/>
          </p:cNvSpPr>
          <p:nvPr/>
        </p:nvSpPr>
        <p:spPr>
          <a:xfrm>
            <a:off x="333375" y="971550"/>
            <a:ext cx="10001250" cy="228600"/>
          </a:xfrm>
          <a:prstGeom prst="rect">
            <a:avLst/>
          </a:prstGeom>
          <a:noFill/>
          <a:ln w="0">
            <a:noFill/>
            <a:prstDash val="solid"/>
          </a:ln>
        </p:spPr>
        <p:txBody>
          <a:bodyPr wrap="square" lIns="38100" tIns="19050" rIns="38100" bIns="19050" anchor="ctr">
            <a:normAutofit fontScale="92593"/>
          </a:bodyPr>
          <a:lstStyle/>
          <a:p>
            <a:pPr algn="l">
              <a:lnSpc>
                <a:spcPct val="100000"/>
              </a:lnSpc>
              <a:spcBef>
                <a:spcPts val="0"/>
              </a:spcBef>
              <a:spcAft>
                <a:spcPts val="0"/>
              </a:spcAft>
              <a:defRPr sz="1350" b="0">
                <a:solidFill>
                  <a:srgbClr val="5F6B7A"/>
                </a:solidFill>
              </a:defRPr>
            </a:pPr>
            <a:r>
              <a:rPr lang="zh-CN" altLang="en-US" sz="1200" b="0">
                <a:solidFill>
                  <a:srgbClr val="5F6B7A"/>
                </a:solidFill>
                <a:latin typeface="Source Han Sans SC"/>
                <a:ea typeface="Source Han Sans SC"/>
              </a:rPr>
              <a:t>① </a:t>
            </a:r>
            <a:r>
              <a:rPr lang="zh-CN" altLang="en-US" sz="1200" b="0">
                <a:solidFill>
                  <a:srgbClr val="5F6B7A"/>
                </a:solidFill>
                <a:latin typeface="Source Han Sans SC"/>
                <a:ea typeface="Source Han Sans SC"/>
              </a:rPr>
              <a:t>训练输入</a:t>
            </a:r>
            <a:r>
              <a:rPr lang="zh-CN" altLang="en-US" sz="1200" b="0">
                <a:solidFill>
                  <a:srgbClr val="5F6B7A"/>
                </a:solidFill>
                <a:latin typeface="Source Han Sans SC"/>
                <a:ea typeface="Source Han Sans SC"/>
              </a:rPr>
              <a:t>：</a:t>
            </a:r>
            <a:r>
              <a:rPr lang="zh-CN" altLang="en-US" sz="1200" b="0">
                <a:solidFill>
                  <a:srgbClr val="5F6B7A"/>
                </a:solidFill>
                <a:latin typeface="Source Han Sans SC"/>
                <a:ea typeface="Source Han Sans SC"/>
              </a:rPr>
              <a:t>整段序列一次进入模型</a:t>
            </a:r>
            <a:r>
              <a:rPr lang="zh-CN" altLang="en-US" sz="1200" b="0">
                <a:solidFill>
                  <a:srgbClr val="5F6B7A"/>
                </a:solidFill>
                <a:latin typeface="Source Han Sans SC"/>
                <a:ea typeface="Source Han Sans SC"/>
              </a:rPr>
              <a:t>，</a:t>
            </a:r>
            <a:r>
              <a:rPr lang="zh-CN" altLang="en-US" sz="1200" b="0">
                <a:solidFill>
                  <a:srgbClr val="5F6B7A"/>
                </a:solidFill>
                <a:latin typeface="Source Han Sans SC"/>
                <a:ea typeface="Source Han Sans SC"/>
              </a:rPr>
              <a:t>因此必须主动限制每个位置的可见范围</a:t>
            </a:r>
            <a:r>
              <a:rPr lang="zh-CN" altLang="en-US" sz="1200" b="0">
                <a:solidFill>
                  <a:srgbClr val="5F6B7A"/>
                </a:solidFill>
                <a:latin typeface="Source Han Sans SC"/>
                <a:ea typeface="Source Han Sans SC"/>
              </a:rPr>
              <a:t>。</a:t>
            </a:r>
            <a:endParaRPr sz="1350" b="0">
              <a:solidFill>
                <a:srgbClr val="5F6B7A"/>
              </a:solidFill>
            </a:endParaRPr>
          </a:p>
        </p:txBody>
      </p:sp>
      <p:sp>
        <p:nvSpPr>
          <p:cNvPr id="3" name="矩形 2"/>
          <p:cNvSpPr>
            <a:spLocks noGrp="1"/>
          </p:cNvSpPr>
          <p:nvPr/>
        </p:nvSpPr>
        <p:spPr>
          <a:xfrm>
            <a:off x="619125" y="1476375"/>
            <a:ext cx="4762500" cy="381000"/>
          </a:xfrm>
          <a:prstGeom prst="rect">
            <a:avLst/>
          </a:prstGeom>
          <a:noFill/>
          <a:ln w="0">
            <a:noFill/>
            <a:prstDash val="solid"/>
          </a:ln>
        </p:spPr>
        <p:txBody>
          <a:bodyPr wrap="square" lIns="38100" tIns="19050" rIns="38100" bIns="19050" anchor="ctr">
            <a:normAutofit/>
          </a:bodyPr>
          <a:lstStyle/>
          <a:p>
            <a:pPr algn="ctr">
              <a:lnSpc>
                <a:spcPct val="100000"/>
              </a:lnSpc>
              <a:spcBef>
                <a:spcPts val="0"/>
              </a:spcBef>
              <a:spcAft>
                <a:spcPts val="0"/>
              </a:spcAft>
              <a:defRPr sz="1800" b="1">
                <a:solidFill>
                  <a:srgbClr val="C83B4D"/>
                </a:solidFill>
              </a:defRPr>
            </a:pPr>
            <a:r>
              <a:rPr lang="zh-CN" altLang="en-US" sz="1620" b="1">
                <a:solidFill>
                  <a:srgbClr val="D8344A"/>
                </a:solidFill>
                <a:latin typeface="Source Han Sans SC"/>
                <a:ea typeface="Source Han Sans SC"/>
              </a:rPr>
              <a:t>② </a:t>
            </a:r>
            <a:r>
              <a:rPr lang="zh-CN" altLang="en-US" sz="1620" b="1">
                <a:solidFill>
                  <a:srgbClr val="D8344A"/>
                </a:solidFill>
                <a:latin typeface="Source Han Sans SC"/>
                <a:ea typeface="Source Han Sans SC"/>
              </a:rPr>
              <a:t>错误</a:t>
            </a:r>
            <a:r>
              <a:rPr lang="zh-CN" altLang="en-US" sz="1620" b="1">
                <a:solidFill>
                  <a:srgbClr val="D8344A"/>
                </a:solidFill>
                <a:latin typeface="Source Han Sans SC"/>
                <a:ea typeface="Source Han Sans SC"/>
              </a:rPr>
              <a:t>：</a:t>
            </a:r>
            <a:r>
              <a:rPr lang="zh-CN" altLang="en-US" sz="1620" b="1">
                <a:solidFill>
                  <a:srgbClr val="D8344A"/>
                </a:solidFill>
                <a:latin typeface="Source Han Sans SC"/>
                <a:ea typeface="Source Han Sans SC"/>
              </a:rPr>
              <a:t>未限制可见范围</a:t>
            </a:r>
            <a:endParaRPr sz="1800" b="1">
              <a:solidFill>
                <a:srgbClr val="C83B4D"/>
              </a:solidFill>
            </a:endParaRPr>
          </a:p>
        </p:txBody>
      </p:sp>
      <p:sp>
        <p:nvSpPr>
          <p:cNvPr id="4" name="矩形 3"/>
          <p:cNvSpPr>
            <a:spLocks noGrp="1"/>
          </p:cNvSpPr>
          <p:nvPr/>
        </p:nvSpPr>
        <p:spPr>
          <a:xfrm>
            <a:off x="6572250" y="1476375"/>
            <a:ext cx="4762500" cy="381000"/>
          </a:xfrm>
          <a:prstGeom prst="rect">
            <a:avLst/>
          </a:prstGeom>
          <a:noFill/>
          <a:ln w="0">
            <a:noFill/>
            <a:prstDash val="solid"/>
          </a:ln>
        </p:spPr>
        <p:txBody>
          <a:bodyPr wrap="square" lIns="38100" tIns="19050" rIns="38100" bIns="19050" anchor="ctr">
            <a:normAutofit/>
          </a:bodyPr>
          <a:lstStyle/>
          <a:p>
            <a:pPr algn="ctr">
              <a:lnSpc>
                <a:spcPct val="100000"/>
              </a:lnSpc>
              <a:spcBef>
                <a:spcPts val="0"/>
              </a:spcBef>
              <a:spcAft>
                <a:spcPts val="0"/>
              </a:spcAft>
              <a:defRPr sz="1800" b="1">
                <a:solidFill>
                  <a:srgbClr val="1E8E94"/>
                </a:solidFill>
              </a:defRPr>
            </a:pPr>
            <a:r>
              <a:rPr lang="zh-CN" altLang="en-US" sz="1560" b="1">
                <a:solidFill>
                  <a:srgbClr val="1E8E94"/>
                </a:solidFill>
                <a:latin typeface="Source Han Sans SC"/>
                <a:ea typeface="Source Han Sans SC"/>
              </a:rPr>
              <a:t>③ </a:t>
            </a:r>
            <a:r>
              <a:rPr lang="zh-CN" altLang="en-US" sz="1560" b="1">
                <a:solidFill>
                  <a:srgbClr val="1E8E94"/>
                </a:solidFill>
                <a:latin typeface="Source Han Sans SC"/>
                <a:ea typeface="Source Han Sans SC"/>
              </a:rPr>
              <a:t>正确</a:t>
            </a:r>
            <a:r>
              <a:rPr lang="zh-CN" altLang="en-US" sz="1560" b="1">
                <a:solidFill>
                  <a:srgbClr val="1E8E94"/>
                </a:solidFill>
                <a:latin typeface="Source Han Sans SC"/>
                <a:ea typeface="Source Han Sans SC"/>
              </a:rPr>
              <a:t>：Causal Attention </a:t>
            </a:r>
            <a:r>
              <a:rPr lang="zh-CN" altLang="en-US" sz="1560" b="1">
                <a:solidFill>
                  <a:srgbClr val="1E8E94"/>
                </a:solidFill>
                <a:latin typeface="Source Han Sans SC"/>
                <a:ea typeface="Source Han Sans SC"/>
              </a:rPr>
              <a:t>限制</a:t>
            </a:r>
            <a:r>
              <a:rPr lang="zh-CN" altLang="en-US" sz="1560" b="1">
                <a:solidFill>
                  <a:srgbClr val="1E8E94"/>
                </a:solidFill>
                <a:latin typeface="Source Han Sans SC"/>
                <a:ea typeface="Source Han Sans SC"/>
              </a:rPr>
              <a:t> j ≤ i</a:t>
            </a:r>
            <a:endParaRPr sz="1800" b="1">
              <a:solidFill>
                <a:srgbClr val="1E8E94"/>
              </a:solidFill>
            </a:endParaRPr>
          </a:p>
        </p:txBody>
      </p:sp>
      <p:sp>
        <p:nvSpPr>
          <p:cNvPr id="5" name="圆角矩形 4"/>
          <p:cNvSpPr>
            <a:spLocks noGrp="1"/>
          </p:cNvSpPr>
          <p:nvPr/>
        </p:nvSpPr>
        <p:spPr>
          <a:xfrm>
            <a:off x="809625" y="2333625"/>
            <a:ext cx="819150" cy="666750"/>
          </a:xfrm>
          <a:prstGeom prst="roundRect">
            <a:avLst>
              <a:gd name="adj" fmla="val 11429"/>
            </a:avLst>
          </a:prstGeom>
          <a:solidFill>
            <a:srgbClr val="F8E9EC"/>
          </a:solidFill>
          <a:ln w="12383">
            <a:solidFill>
              <a:srgbClr val="C83B4D"/>
            </a:solidFill>
            <a:prstDash val="solid"/>
          </a:ln>
        </p:spPr>
      </p:sp>
      <p:sp>
        <p:nvSpPr>
          <p:cNvPr id="6" name="矩形 5"/>
          <p:cNvSpPr>
            <a:spLocks noGrp="1"/>
          </p:cNvSpPr>
          <p:nvPr/>
        </p:nvSpPr>
        <p:spPr>
          <a:xfrm>
            <a:off x="923925" y="2409825"/>
            <a:ext cx="590550" cy="514350"/>
          </a:xfrm>
          <a:prstGeom prst="rect">
            <a:avLst/>
          </a:prstGeom>
          <a:noFill/>
          <a:ln w="0">
            <a:noFill/>
            <a:prstDash val="solid"/>
          </a:ln>
        </p:spPr>
        <p:txBody>
          <a:bodyPr wrap="square" lIns="38100" tIns="19050" rIns="38100" bIns="19050" anchor="ctr">
            <a:normAutofit/>
          </a:bodyPr>
          <a:lstStyle/>
          <a:p>
            <a:pPr algn="ctr">
              <a:defRPr sz="1650" b="0">
                <a:solidFill>
                  <a:srgbClr val="1F2937"/>
                </a:solidFill>
              </a:defRPr>
            </a:pPr>
            <a:r>
              <a:rPr lang="zh-CN" sz="1650" b="0">
                <a:solidFill>
                  <a:srgbClr val="1F2937"/>
                </a:solidFill>
                <a:latin typeface="Source Han Sans SC"/>
                <a:ea typeface="Source Han Sans SC"/>
              </a:rPr>
              <a:t>春</a:t>
            </a:r>
            <a:endParaRPr sz="1650" b="0">
              <a:solidFill>
                <a:srgbClr val="1F2937"/>
              </a:solidFill>
            </a:endParaRPr>
          </a:p>
        </p:txBody>
      </p:sp>
      <p:sp>
        <p:nvSpPr>
          <p:cNvPr id="7" name="圆角矩形 6"/>
          <p:cNvSpPr>
            <a:spLocks noGrp="1"/>
          </p:cNvSpPr>
          <p:nvPr/>
        </p:nvSpPr>
        <p:spPr>
          <a:xfrm>
            <a:off x="6762750" y="2333625"/>
            <a:ext cx="819150" cy="666750"/>
          </a:xfrm>
          <a:prstGeom prst="roundRect">
            <a:avLst>
              <a:gd name="adj" fmla="val 11429"/>
            </a:avLst>
          </a:prstGeom>
          <a:solidFill>
            <a:srgbClr val="E9F4F4"/>
          </a:solidFill>
          <a:ln w="12383">
            <a:solidFill>
              <a:srgbClr val="1E8E94"/>
            </a:solidFill>
            <a:prstDash val="solid"/>
          </a:ln>
        </p:spPr>
      </p:sp>
      <p:sp>
        <p:nvSpPr>
          <p:cNvPr id="8" name="矩形 7"/>
          <p:cNvSpPr>
            <a:spLocks noGrp="1"/>
          </p:cNvSpPr>
          <p:nvPr/>
        </p:nvSpPr>
        <p:spPr>
          <a:xfrm>
            <a:off x="6877050" y="2409825"/>
            <a:ext cx="590550" cy="514350"/>
          </a:xfrm>
          <a:prstGeom prst="rect">
            <a:avLst/>
          </a:prstGeom>
          <a:noFill/>
          <a:ln w="0">
            <a:noFill/>
            <a:prstDash val="solid"/>
          </a:ln>
        </p:spPr>
        <p:txBody>
          <a:bodyPr wrap="square" lIns="38100" tIns="19050" rIns="38100" bIns="19050" anchor="ctr">
            <a:normAutofit/>
          </a:bodyPr>
          <a:lstStyle/>
          <a:p>
            <a:pPr algn="ctr">
              <a:defRPr sz="1650" b="0">
                <a:solidFill>
                  <a:srgbClr val="1F2937"/>
                </a:solidFill>
              </a:defRPr>
            </a:pPr>
            <a:r>
              <a:rPr lang="zh-CN" sz="1650" b="0">
                <a:solidFill>
                  <a:srgbClr val="1F2937"/>
                </a:solidFill>
                <a:latin typeface="Source Han Sans SC"/>
                <a:ea typeface="Source Han Sans SC"/>
              </a:rPr>
              <a:t>春</a:t>
            </a:r>
            <a:endParaRPr sz="1650" b="0">
              <a:solidFill>
                <a:srgbClr val="1F2937"/>
              </a:solidFill>
            </a:endParaRPr>
          </a:p>
        </p:txBody>
      </p:sp>
      <p:sp>
        <p:nvSpPr>
          <p:cNvPr id="9" name="圆角矩形 8"/>
          <p:cNvSpPr>
            <a:spLocks noGrp="1"/>
          </p:cNvSpPr>
          <p:nvPr/>
        </p:nvSpPr>
        <p:spPr>
          <a:xfrm>
            <a:off x="1905000" y="2333625"/>
            <a:ext cx="819150" cy="666750"/>
          </a:xfrm>
          <a:prstGeom prst="roundRect">
            <a:avLst>
              <a:gd name="adj" fmla="val 11429"/>
            </a:avLst>
          </a:prstGeom>
          <a:solidFill>
            <a:srgbClr val="F8E9EC"/>
          </a:solidFill>
          <a:ln w="12383">
            <a:solidFill>
              <a:srgbClr val="C83B4D"/>
            </a:solidFill>
            <a:prstDash val="solid"/>
          </a:ln>
        </p:spPr>
      </p:sp>
      <p:sp>
        <p:nvSpPr>
          <p:cNvPr id="10" name="矩形 9"/>
          <p:cNvSpPr>
            <a:spLocks noGrp="1"/>
          </p:cNvSpPr>
          <p:nvPr/>
        </p:nvSpPr>
        <p:spPr>
          <a:xfrm>
            <a:off x="2019300" y="2409825"/>
            <a:ext cx="590550" cy="514350"/>
          </a:xfrm>
          <a:prstGeom prst="rect">
            <a:avLst/>
          </a:prstGeom>
          <a:noFill/>
          <a:ln w="0">
            <a:noFill/>
            <a:prstDash val="solid"/>
          </a:ln>
        </p:spPr>
        <p:txBody>
          <a:bodyPr wrap="square" lIns="38100" tIns="19050" rIns="38100" bIns="19050" anchor="ctr">
            <a:normAutofit/>
          </a:bodyPr>
          <a:lstStyle/>
          <a:p>
            <a:pPr algn="ctr">
              <a:defRPr sz="1650" b="0">
                <a:solidFill>
                  <a:srgbClr val="1F2937"/>
                </a:solidFill>
              </a:defRPr>
            </a:pPr>
            <a:r>
              <a:rPr lang="zh-CN" sz="1650" b="0">
                <a:solidFill>
                  <a:srgbClr val="1F2937"/>
                </a:solidFill>
                <a:latin typeface="Source Han Sans SC"/>
                <a:ea typeface="Source Han Sans SC"/>
              </a:rPr>
              <a:t>天</a:t>
            </a:r>
            <a:endParaRPr sz="1650" b="0">
              <a:solidFill>
                <a:srgbClr val="1F2937"/>
              </a:solidFill>
            </a:endParaRPr>
          </a:p>
        </p:txBody>
      </p:sp>
      <p:sp>
        <p:nvSpPr>
          <p:cNvPr id="11" name="圆角矩形 10"/>
          <p:cNvSpPr>
            <a:spLocks noGrp="1"/>
          </p:cNvSpPr>
          <p:nvPr/>
        </p:nvSpPr>
        <p:spPr>
          <a:xfrm>
            <a:off x="7858125" y="2333625"/>
            <a:ext cx="819150" cy="666750"/>
          </a:xfrm>
          <a:prstGeom prst="roundRect">
            <a:avLst>
              <a:gd name="adj" fmla="val 11429"/>
            </a:avLst>
          </a:prstGeom>
          <a:solidFill>
            <a:srgbClr val="E9F4F4"/>
          </a:solidFill>
          <a:ln w="12383">
            <a:solidFill>
              <a:srgbClr val="1E8E94"/>
            </a:solidFill>
            <a:prstDash val="solid"/>
          </a:ln>
        </p:spPr>
      </p:sp>
      <p:sp>
        <p:nvSpPr>
          <p:cNvPr id="12" name="矩形 11"/>
          <p:cNvSpPr>
            <a:spLocks noGrp="1"/>
          </p:cNvSpPr>
          <p:nvPr/>
        </p:nvSpPr>
        <p:spPr>
          <a:xfrm>
            <a:off x="7972425" y="2409825"/>
            <a:ext cx="590550" cy="514350"/>
          </a:xfrm>
          <a:prstGeom prst="rect">
            <a:avLst/>
          </a:prstGeom>
          <a:noFill/>
          <a:ln w="0">
            <a:noFill/>
            <a:prstDash val="solid"/>
          </a:ln>
        </p:spPr>
        <p:txBody>
          <a:bodyPr wrap="square" lIns="38100" tIns="19050" rIns="38100" bIns="19050" anchor="ctr">
            <a:normAutofit/>
          </a:bodyPr>
          <a:lstStyle/>
          <a:p>
            <a:pPr algn="ctr">
              <a:defRPr sz="1650" b="0">
                <a:solidFill>
                  <a:srgbClr val="1F2937"/>
                </a:solidFill>
              </a:defRPr>
            </a:pPr>
            <a:r>
              <a:rPr lang="zh-CN" sz="1650" b="0">
                <a:solidFill>
                  <a:srgbClr val="1F2937"/>
                </a:solidFill>
                <a:latin typeface="Source Han Sans SC"/>
                <a:ea typeface="Source Han Sans SC"/>
              </a:rPr>
              <a:t>天</a:t>
            </a:r>
            <a:endParaRPr sz="1650" b="0">
              <a:solidFill>
                <a:srgbClr val="1F2937"/>
              </a:solidFill>
            </a:endParaRPr>
          </a:p>
        </p:txBody>
      </p:sp>
      <p:sp>
        <p:nvSpPr>
          <p:cNvPr id="13" name="圆角矩形 12"/>
          <p:cNvSpPr>
            <a:spLocks noGrp="1"/>
          </p:cNvSpPr>
          <p:nvPr/>
        </p:nvSpPr>
        <p:spPr>
          <a:xfrm>
            <a:off x="3000375" y="2333625"/>
            <a:ext cx="819150" cy="666750"/>
          </a:xfrm>
          <a:prstGeom prst="roundRect">
            <a:avLst>
              <a:gd name="adj" fmla="val 11429"/>
            </a:avLst>
          </a:prstGeom>
          <a:solidFill>
            <a:srgbClr val="F8E9EC"/>
          </a:solidFill>
          <a:ln w="12383">
            <a:solidFill>
              <a:srgbClr val="C83B4D"/>
            </a:solidFill>
            <a:prstDash val="solid"/>
          </a:ln>
        </p:spPr>
      </p:sp>
      <p:sp>
        <p:nvSpPr>
          <p:cNvPr id="14" name="矩形 13"/>
          <p:cNvSpPr>
            <a:spLocks noGrp="1"/>
          </p:cNvSpPr>
          <p:nvPr/>
        </p:nvSpPr>
        <p:spPr>
          <a:xfrm>
            <a:off x="3114675" y="2409825"/>
            <a:ext cx="590550" cy="514350"/>
          </a:xfrm>
          <a:prstGeom prst="rect">
            <a:avLst/>
          </a:prstGeom>
          <a:noFill/>
          <a:ln w="0">
            <a:noFill/>
            <a:prstDash val="solid"/>
          </a:ln>
        </p:spPr>
        <p:txBody>
          <a:bodyPr wrap="square" lIns="38100" tIns="19050" rIns="38100" bIns="19050" anchor="ctr">
            <a:normAutofit/>
          </a:bodyPr>
          <a:lstStyle/>
          <a:p>
            <a:pPr algn="ctr">
              <a:defRPr sz="1650" b="0">
                <a:solidFill>
                  <a:srgbClr val="1F2937"/>
                </a:solidFill>
              </a:defRPr>
            </a:pPr>
            <a:r>
              <a:rPr lang="zh-CN" sz="1650" b="0">
                <a:solidFill>
                  <a:srgbClr val="1F2937"/>
                </a:solidFill>
                <a:latin typeface="Source Han Sans SC"/>
                <a:ea typeface="Source Han Sans SC"/>
              </a:rPr>
              <a:t>来</a:t>
            </a:r>
            <a:endParaRPr sz="1650" b="0">
              <a:solidFill>
                <a:srgbClr val="1F2937"/>
              </a:solidFill>
            </a:endParaRPr>
          </a:p>
        </p:txBody>
      </p:sp>
      <p:sp>
        <p:nvSpPr>
          <p:cNvPr id="15" name="圆角矩形 14"/>
          <p:cNvSpPr>
            <a:spLocks noGrp="1"/>
          </p:cNvSpPr>
          <p:nvPr/>
        </p:nvSpPr>
        <p:spPr>
          <a:xfrm>
            <a:off x="8953500" y="2333625"/>
            <a:ext cx="819150" cy="666750"/>
          </a:xfrm>
          <a:prstGeom prst="roundRect">
            <a:avLst>
              <a:gd name="adj" fmla="val 11429"/>
            </a:avLst>
          </a:prstGeom>
          <a:solidFill>
            <a:srgbClr val="E9F4F4"/>
          </a:solidFill>
          <a:ln w="12383">
            <a:solidFill>
              <a:srgbClr val="1E8E94"/>
            </a:solidFill>
            <a:prstDash val="solid"/>
          </a:ln>
        </p:spPr>
      </p:sp>
      <p:sp>
        <p:nvSpPr>
          <p:cNvPr id="16" name="矩形 15"/>
          <p:cNvSpPr>
            <a:spLocks noGrp="1"/>
          </p:cNvSpPr>
          <p:nvPr/>
        </p:nvSpPr>
        <p:spPr>
          <a:xfrm>
            <a:off x="9067800" y="2409825"/>
            <a:ext cx="590550" cy="514350"/>
          </a:xfrm>
          <a:prstGeom prst="rect">
            <a:avLst/>
          </a:prstGeom>
          <a:noFill/>
          <a:ln w="0">
            <a:noFill/>
            <a:prstDash val="solid"/>
          </a:ln>
        </p:spPr>
        <p:txBody>
          <a:bodyPr wrap="square" lIns="38100" tIns="19050" rIns="38100" bIns="19050" anchor="ctr">
            <a:normAutofit/>
          </a:bodyPr>
          <a:lstStyle/>
          <a:p>
            <a:pPr algn="ctr">
              <a:defRPr sz="1650" b="0">
                <a:solidFill>
                  <a:srgbClr val="1F2937"/>
                </a:solidFill>
              </a:defRPr>
            </a:pPr>
            <a:r>
              <a:rPr lang="zh-CN" sz="1650" b="0">
                <a:solidFill>
                  <a:srgbClr val="1F2937"/>
                </a:solidFill>
                <a:latin typeface="Source Han Sans SC"/>
                <a:ea typeface="Source Han Sans SC"/>
              </a:rPr>
              <a:t>来</a:t>
            </a:r>
            <a:endParaRPr sz="1650" b="0">
              <a:solidFill>
                <a:srgbClr val="1F2937"/>
              </a:solidFill>
            </a:endParaRPr>
          </a:p>
        </p:txBody>
      </p:sp>
      <p:sp>
        <p:nvSpPr>
          <p:cNvPr id="17" name="圆角矩形 16"/>
          <p:cNvSpPr>
            <a:spLocks noGrp="1"/>
          </p:cNvSpPr>
          <p:nvPr/>
        </p:nvSpPr>
        <p:spPr>
          <a:xfrm>
            <a:off x="4095750" y="2333625"/>
            <a:ext cx="819150" cy="666750"/>
          </a:xfrm>
          <a:prstGeom prst="roundRect">
            <a:avLst>
              <a:gd name="adj" fmla="val 11429"/>
            </a:avLst>
          </a:prstGeom>
          <a:solidFill>
            <a:srgbClr val="F8E9EC"/>
          </a:solidFill>
          <a:ln w="12383">
            <a:solidFill>
              <a:srgbClr val="C83B4D"/>
            </a:solidFill>
            <a:prstDash val="solid"/>
          </a:ln>
        </p:spPr>
      </p:sp>
      <p:sp>
        <p:nvSpPr>
          <p:cNvPr id="18" name="矩形 17"/>
          <p:cNvSpPr>
            <a:spLocks noGrp="1"/>
          </p:cNvSpPr>
          <p:nvPr/>
        </p:nvSpPr>
        <p:spPr>
          <a:xfrm>
            <a:off x="4210050" y="2409825"/>
            <a:ext cx="590550" cy="514350"/>
          </a:xfrm>
          <a:prstGeom prst="rect">
            <a:avLst/>
          </a:prstGeom>
          <a:noFill/>
          <a:ln w="0">
            <a:noFill/>
            <a:prstDash val="solid"/>
          </a:ln>
        </p:spPr>
        <p:txBody>
          <a:bodyPr wrap="square" lIns="38100" tIns="19050" rIns="38100" bIns="19050" anchor="ctr">
            <a:normAutofit/>
          </a:bodyPr>
          <a:lstStyle/>
          <a:p>
            <a:pPr algn="ctr">
              <a:defRPr sz="1650" b="0">
                <a:solidFill>
                  <a:srgbClr val="1F2937"/>
                </a:solidFill>
              </a:defRPr>
            </a:pPr>
            <a:r>
              <a:rPr lang="zh-CN" sz="1650" b="0">
                <a:solidFill>
                  <a:srgbClr val="1F2937"/>
                </a:solidFill>
                <a:latin typeface="Source Han Sans SC"/>
                <a:ea typeface="Source Han Sans SC"/>
              </a:rPr>
              <a:t>了</a:t>
            </a:r>
            <a:endParaRPr sz="1650" b="0">
              <a:solidFill>
                <a:srgbClr val="1F2937"/>
              </a:solidFill>
            </a:endParaRPr>
          </a:p>
        </p:txBody>
      </p:sp>
      <p:sp>
        <p:nvSpPr>
          <p:cNvPr id="19" name="圆角矩形 18"/>
          <p:cNvSpPr>
            <a:spLocks noGrp="1"/>
          </p:cNvSpPr>
          <p:nvPr/>
        </p:nvSpPr>
        <p:spPr>
          <a:xfrm>
            <a:off x="10048875" y="2333625"/>
            <a:ext cx="819150" cy="666750"/>
          </a:xfrm>
          <a:prstGeom prst="roundRect">
            <a:avLst>
              <a:gd name="adj" fmla="val 11429"/>
            </a:avLst>
          </a:prstGeom>
          <a:solidFill>
            <a:srgbClr val="E9F4F4"/>
          </a:solidFill>
          <a:ln w="12383">
            <a:solidFill>
              <a:srgbClr val="1E8E94"/>
            </a:solidFill>
            <a:prstDash val="solid"/>
          </a:ln>
        </p:spPr>
      </p:sp>
      <p:sp>
        <p:nvSpPr>
          <p:cNvPr id="20" name="矩形 19"/>
          <p:cNvSpPr>
            <a:spLocks noGrp="1"/>
          </p:cNvSpPr>
          <p:nvPr/>
        </p:nvSpPr>
        <p:spPr>
          <a:xfrm>
            <a:off x="10163175" y="2409825"/>
            <a:ext cx="590550" cy="514350"/>
          </a:xfrm>
          <a:prstGeom prst="rect">
            <a:avLst/>
          </a:prstGeom>
          <a:noFill/>
          <a:ln w="0">
            <a:noFill/>
            <a:prstDash val="solid"/>
          </a:ln>
        </p:spPr>
        <p:txBody>
          <a:bodyPr wrap="square" lIns="38100" tIns="19050" rIns="38100" bIns="19050" anchor="ctr">
            <a:normAutofit/>
          </a:bodyPr>
          <a:lstStyle/>
          <a:p>
            <a:pPr algn="ctr">
              <a:defRPr sz="1650" b="0">
                <a:solidFill>
                  <a:srgbClr val="1F2937"/>
                </a:solidFill>
              </a:defRPr>
            </a:pPr>
            <a:r>
              <a:rPr lang="zh-CN" sz="1650" b="0">
                <a:solidFill>
                  <a:srgbClr val="1F2937"/>
                </a:solidFill>
                <a:latin typeface="Source Han Sans SC"/>
                <a:ea typeface="Source Han Sans SC"/>
              </a:rPr>
              <a:t>了</a:t>
            </a:r>
            <a:endParaRPr sz="1650" b="0">
              <a:solidFill>
                <a:srgbClr val="1F2937"/>
              </a:solidFill>
            </a:endParaRPr>
          </a:p>
        </p:txBody>
      </p:sp>
      <p:sp>
        <p:nvSpPr>
          <p:cNvPr id="21" name="直接连接符 20"/>
          <p:cNvSpPr>
            <a:spLocks noGrp="1"/>
          </p:cNvSpPr>
          <p:nvPr/>
        </p:nvSpPr>
        <p:spPr>
          <a:xfrm>
            <a:off x="1219200" y="2238375"/>
            <a:ext cx="1095375" cy="0"/>
          </a:xfrm>
          <a:prstGeom prst="line">
            <a:avLst/>
          </a:prstGeom>
          <a:noFill/>
          <a:ln w="28575">
            <a:solidFill>
              <a:srgbClr val="C83B4D"/>
            </a:solidFill>
            <a:prstDash val="solid"/>
          </a:ln>
        </p:spPr>
      </p:sp>
      <p:sp>
        <p:nvSpPr>
          <p:cNvPr id="22" name="任意多边形 21"/>
          <p:cNvSpPr>
            <a:spLocks noGrp="1"/>
          </p:cNvSpPr>
          <p:nvPr/>
        </p:nvSpPr>
        <p:spPr>
          <a:xfrm>
            <a:off x="2209800" y="2190750"/>
            <a:ext cx="104775" cy="95250"/>
          </a:xfrm>
          <a:custGeom>
            <a:avLst/>
            <a:gdLst/>
            <a:ahLst/>
            <a:cxnLst/>
            <a:pathLst>
              <a:path w="104775" h="95250">
                <a:moveTo>
                  <a:pt x="0" y="0"/>
                </a:moveTo>
                <a:lnTo>
                  <a:pt x="104775" y="47625"/>
                </a:lnTo>
                <a:lnTo>
                  <a:pt x="0" y="95250"/>
                </a:lnTo>
                <a:close/>
              </a:path>
            </a:pathLst>
          </a:custGeom>
          <a:solidFill>
            <a:srgbClr val="C83B4D"/>
          </a:solidFill>
          <a:ln w="0">
            <a:solidFill>
              <a:srgbClr val="C83B4D"/>
            </a:solidFill>
            <a:prstDash val="solid"/>
          </a:ln>
        </p:spPr>
      </p:sp>
      <p:sp>
        <p:nvSpPr>
          <p:cNvPr id="23" name="矩形 22"/>
          <p:cNvSpPr>
            <a:spLocks noGrp="1"/>
          </p:cNvSpPr>
          <p:nvPr/>
        </p:nvSpPr>
        <p:spPr>
          <a:xfrm>
            <a:off x="762000" y="3238500"/>
            <a:ext cx="4381500" cy="400050"/>
          </a:xfrm>
          <a:prstGeom prst="rect">
            <a:avLst/>
          </a:prstGeom>
          <a:noFill/>
          <a:ln w="0">
            <a:noFill/>
            <a:prstDash val="solid"/>
          </a:ln>
        </p:spPr>
        <p:txBody>
          <a:bodyPr wrap="square" lIns="38100" tIns="19050" rIns="38100" bIns="19050" anchor="ctr">
            <a:normAutofit/>
          </a:bodyPr>
          <a:lstStyle/>
          <a:p>
            <a:pPr algn="ctr">
              <a:defRPr sz="1500" b="1">
                <a:solidFill>
                  <a:srgbClr val="C83B4D"/>
                </a:solidFill>
              </a:defRPr>
            </a:pPr>
            <a:r>
              <a:rPr sz="1500" b="1">
                <a:solidFill>
                  <a:srgbClr val="C83B4D"/>
                </a:solidFill>
                <a:latin typeface="Source Han Sans SC"/>
              </a:rPr>
              <a:t>“</a:t>
            </a:r>
            <a:r>
              <a:rPr lang="zh-CN" sz="1500" b="1">
                <a:solidFill>
                  <a:srgbClr val="C83B4D"/>
                </a:solidFill>
                <a:latin typeface="Source Han Sans SC"/>
                <a:ea typeface="Source Han Sans SC"/>
              </a:rPr>
              <a:t>春</a:t>
            </a:r>
            <a:r>
              <a:rPr sz="1500" b="1">
                <a:solidFill>
                  <a:srgbClr val="C83B4D"/>
                </a:solidFill>
                <a:latin typeface="Source Han Sans SC"/>
              </a:rPr>
              <a:t>”</a:t>
            </a:r>
            <a:r>
              <a:rPr lang="zh-CN" sz="1500" b="1">
                <a:solidFill>
                  <a:srgbClr val="C83B4D"/>
                </a:solidFill>
                <a:latin typeface="Source Han Sans SC"/>
                <a:ea typeface="Source Han Sans SC"/>
              </a:rPr>
              <a:t>直接看见答案</a:t>
            </a:r>
            <a:r>
              <a:rPr sz="1500" b="1">
                <a:solidFill>
                  <a:srgbClr val="C83B4D"/>
                </a:solidFill>
                <a:latin typeface="Source Han Sans SC"/>
              </a:rPr>
              <a:t>“</a:t>
            </a:r>
            <a:r>
              <a:rPr lang="zh-CN" sz="1500" b="1">
                <a:solidFill>
                  <a:srgbClr val="C83B4D"/>
                </a:solidFill>
                <a:latin typeface="Source Han Sans SC"/>
                <a:ea typeface="Source Han Sans SC"/>
              </a:rPr>
              <a:t>天</a:t>
            </a:r>
            <a:r>
              <a:rPr sz="1500" b="1">
                <a:solidFill>
                  <a:srgbClr val="C83B4D"/>
                </a:solidFill>
                <a:latin typeface="Source Han Sans SC"/>
              </a:rPr>
              <a:t>”</a:t>
            </a:r>
            <a:endParaRPr sz="1500" b="1">
              <a:solidFill>
                <a:srgbClr val="C83B4D"/>
              </a:solidFill>
            </a:endParaRPr>
          </a:p>
        </p:txBody>
      </p:sp>
      <p:sp>
        <p:nvSpPr>
          <p:cNvPr id="24" name="直接连接符 23"/>
          <p:cNvSpPr>
            <a:spLocks noGrp="1"/>
          </p:cNvSpPr>
          <p:nvPr/>
        </p:nvSpPr>
        <p:spPr>
          <a:xfrm flipV="1">
            <a:off x="7172325" y="1952625"/>
            <a:ext cx="0" cy="285750"/>
          </a:xfrm>
          <a:prstGeom prst="line">
            <a:avLst/>
          </a:prstGeom>
          <a:noFill/>
          <a:ln w="28575">
            <a:solidFill>
              <a:srgbClr val="1E8E94"/>
            </a:solidFill>
            <a:prstDash val="solid"/>
          </a:ln>
        </p:spPr>
      </p:sp>
      <p:sp>
        <p:nvSpPr>
          <p:cNvPr id="25" name="任意多边形 24"/>
          <p:cNvSpPr>
            <a:spLocks noGrp="1"/>
          </p:cNvSpPr>
          <p:nvPr/>
        </p:nvSpPr>
        <p:spPr>
          <a:xfrm>
            <a:off x="7124700" y="1952625"/>
            <a:ext cx="95250" cy="104775"/>
          </a:xfrm>
          <a:custGeom>
            <a:avLst/>
            <a:gdLst/>
            <a:ahLst/>
            <a:cxnLst/>
            <a:pathLst>
              <a:path w="95250" h="104775">
                <a:moveTo>
                  <a:pt x="0" y="104775"/>
                </a:moveTo>
                <a:lnTo>
                  <a:pt x="47625" y="0"/>
                </a:lnTo>
                <a:lnTo>
                  <a:pt x="95250" y="104775"/>
                </a:lnTo>
                <a:close/>
              </a:path>
            </a:pathLst>
          </a:custGeom>
          <a:solidFill>
            <a:srgbClr val="1E8E94"/>
          </a:solidFill>
          <a:ln w="0">
            <a:solidFill>
              <a:srgbClr val="1E8E94"/>
            </a:solidFill>
            <a:prstDash val="solid"/>
          </a:ln>
        </p:spPr>
      </p:sp>
      <p:sp>
        <p:nvSpPr>
          <p:cNvPr id="26" name="矩形 25"/>
          <p:cNvSpPr>
            <a:spLocks noGrp="1"/>
          </p:cNvSpPr>
          <p:nvPr/>
        </p:nvSpPr>
        <p:spPr>
          <a:xfrm>
            <a:off x="6715125" y="3238500"/>
            <a:ext cx="4381500" cy="400050"/>
          </a:xfrm>
          <a:prstGeom prst="rect">
            <a:avLst/>
          </a:prstGeom>
          <a:noFill/>
          <a:ln w="0">
            <a:noFill/>
            <a:prstDash val="solid"/>
          </a:ln>
        </p:spPr>
        <p:txBody>
          <a:bodyPr wrap="square" lIns="38100" tIns="19050" rIns="38100" bIns="19050" anchor="ctr">
            <a:normAutofit/>
          </a:bodyPr>
          <a:lstStyle/>
          <a:p>
            <a:pPr algn="ctr">
              <a:defRPr sz="1500" b="1">
                <a:solidFill>
                  <a:srgbClr val="1E8E94"/>
                </a:solidFill>
              </a:defRPr>
            </a:pPr>
            <a:r>
              <a:rPr lang="zh-CN" sz="1500" b="1">
                <a:solidFill>
                  <a:srgbClr val="1E8E94"/>
                </a:solidFill>
                <a:latin typeface="Source Han Sans SC"/>
                <a:ea typeface="Source Han Sans SC"/>
              </a:rPr>
              <a:t>位置</a:t>
            </a:r>
            <a:r>
              <a:rPr sz="1500" b="1">
                <a:solidFill>
                  <a:srgbClr val="1E8E94"/>
                </a:solidFill>
                <a:latin typeface="Source Han Sans SC"/>
              </a:rPr>
              <a:t> i </a:t>
            </a:r>
            <a:r>
              <a:rPr lang="zh-CN" sz="1500" b="1">
                <a:solidFill>
                  <a:srgbClr val="1E8E94"/>
                </a:solidFill>
                <a:latin typeface="Source Han Sans SC"/>
                <a:ea typeface="Source Han Sans SC"/>
              </a:rPr>
              <a:t>只能读取</a:t>
            </a:r>
            <a:r>
              <a:rPr sz="1500" b="1">
                <a:solidFill>
                  <a:srgbClr val="1E8E94"/>
                </a:solidFill>
                <a:latin typeface="Source Han Sans SC"/>
              </a:rPr>
              <a:t> j ≤ i</a:t>
            </a:r>
            <a:endParaRPr sz="1500" b="1">
              <a:solidFill>
                <a:srgbClr val="1E8E94"/>
              </a:solidFill>
            </a:endParaRPr>
          </a:p>
        </p:txBody>
      </p:sp>
      <p:sp>
        <p:nvSpPr>
          <p:cNvPr id="27" name="圆角矩形 26"/>
          <p:cNvSpPr>
            <a:spLocks noGrp="1"/>
          </p:cNvSpPr>
          <p:nvPr/>
        </p:nvSpPr>
        <p:spPr>
          <a:xfrm>
            <a:off x="714375" y="4000500"/>
            <a:ext cx="4572000" cy="1000125"/>
          </a:xfrm>
          <a:prstGeom prst="roundRect">
            <a:avLst>
              <a:gd name="adj" fmla="val 7619"/>
            </a:avLst>
          </a:prstGeom>
          <a:solidFill>
            <a:srgbClr val="F8E9EC"/>
          </a:solidFill>
          <a:ln w="12383">
            <a:solidFill>
              <a:srgbClr val="C83B4D"/>
            </a:solidFill>
            <a:prstDash val="solid"/>
          </a:ln>
        </p:spPr>
      </p:sp>
      <p:sp>
        <p:nvSpPr>
          <p:cNvPr id="28" name="矩形 27"/>
          <p:cNvSpPr>
            <a:spLocks noGrp="1"/>
          </p:cNvSpPr>
          <p:nvPr/>
        </p:nvSpPr>
        <p:spPr>
          <a:xfrm>
            <a:off x="828675" y="4076700"/>
            <a:ext cx="4343400" cy="285750"/>
          </a:xfrm>
          <a:prstGeom prst="rect">
            <a:avLst/>
          </a:prstGeom>
          <a:noFill/>
          <a:ln w="0">
            <a:noFill/>
            <a:prstDash val="solid"/>
          </a:ln>
        </p:spPr>
        <p:txBody>
          <a:bodyPr wrap="square" lIns="38100" tIns="19050" rIns="38100" bIns="19050" anchor="ctr">
            <a:normAutofit/>
          </a:bodyPr>
          <a:lstStyle/>
          <a:p>
            <a:pPr algn="l">
              <a:lnSpc>
                <a:spcPct val="100000"/>
              </a:lnSpc>
              <a:spcBef>
                <a:spcPts val="0"/>
              </a:spcBef>
              <a:spcAft>
                <a:spcPts val="0"/>
              </a:spcAft>
              <a:defRPr sz="1500" b="1">
                <a:solidFill>
                  <a:srgbClr val="1F2937"/>
                </a:solidFill>
              </a:defRPr>
            </a:pPr>
            <a:r>
              <a:rPr lang="zh-CN" altLang="en-US" sz="1400" b="1">
                <a:solidFill>
                  <a:srgbClr val="1F2937"/>
                </a:solidFill>
                <a:latin typeface="Source Han Sans SC"/>
                <a:ea typeface="Source Han Sans SC"/>
              </a:rPr>
              <a:t>Information Leakage（</a:t>
            </a:r>
            <a:r>
              <a:rPr lang="zh-CN" altLang="en-US" sz="1400" b="1">
                <a:solidFill>
                  <a:srgbClr val="1F2937"/>
                </a:solidFill>
                <a:latin typeface="Source Han Sans SC"/>
                <a:ea typeface="Source Han Sans SC"/>
              </a:rPr>
              <a:t>信息泄漏</a:t>
            </a:r>
            <a:r>
              <a:rPr lang="zh-CN" altLang="en-US" sz="1400" b="1">
                <a:solidFill>
                  <a:srgbClr val="1F2937"/>
                </a:solidFill>
                <a:latin typeface="Source Han Sans SC"/>
                <a:ea typeface="Source Han Sans SC"/>
              </a:rPr>
              <a:t>）</a:t>
            </a:r>
            <a:endParaRPr sz="1500" b="1">
              <a:solidFill>
                <a:srgbClr val="1F2937"/>
              </a:solidFill>
            </a:endParaRPr>
          </a:p>
        </p:txBody>
      </p:sp>
      <p:sp>
        <p:nvSpPr>
          <p:cNvPr id="29" name="矩形 28"/>
          <p:cNvSpPr>
            <a:spLocks noGrp="1"/>
          </p:cNvSpPr>
          <p:nvPr/>
        </p:nvSpPr>
        <p:spPr>
          <a:xfrm>
            <a:off x="828675" y="4381500"/>
            <a:ext cx="4343400" cy="542925"/>
          </a:xfrm>
          <a:prstGeom prst="rect">
            <a:avLst/>
          </a:prstGeom>
          <a:noFill/>
          <a:ln w="0">
            <a:noFill/>
            <a:prstDash val="solid"/>
          </a:ln>
        </p:spPr>
        <p:txBody>
          <a:bodyPr wrap="square" lIns="38100" tIns="19050" rIns="38100" bIns="19050" anchor="ctr">
            <a:normAutofit fontScale="89364"/>
          </a:bodyPr>
          <a:lstStyle/>
          <a:p>
            <a:pPr algn="l">
              <a:lnSpc>
                <a:spcPct val="100000"/>
              </a:lnSpc>
              <a:spcBef>
                <a:spcPts val="0"/>
              </a:spcBef>
              <a:spcAft>
                <a:spcPts val="0"/>
              </a:spcAft>
              <a:defRPr sz="1350" b="0">
                <a:solidFill>
                  <a:srgbClr val="1F2937"/>
                </a:solidFill>
              </a:defRPr>
            </a:pPr>
            <a:r>
              <a:rPr lang="zh-CN" altLang="en-US" sz="1100" b="0">
                <a:solidFill>
                  <a:srgbClr val="1F2937"/>
                </a:solidFill>
                <a:latin typeface="Source Han Sans SC"/>
                <a:ea typeface="Source Han Sans SC"/>
              </a:rPr>
              <a:t>定义</a:t>
            </a:r>
            <a:r>
              <a:rPr lang="zh-CN" altLang="en-US" sz="1100" b="0">
                <a:solidFill>
                  <a:srgbClr val="1F2937"/>
                </a:solidFill>
                <a:latin typeface="Source Han Sans SC"/>
                <a:ea typeface="Source Han Sans SC"/>
              </a:rPr>
              <a:t>：</a:t>
            </a:r>
            <a:r>
              <a:rPr lang="zh-CN" altLang="en-US" sz="1100" b="0">
                <a:solidFill>
                  <a:srgbClr val="1F2937"/>
                </a:solidFill>
                <a:latin typeface="Source Han Sans SC"/>
                <a:ea typeface="Source Han Sans SC"/>
              </a:rPr>
              <a:t>训练位置读取了右侧的未来</a:t>
            </a:r>
            <a:r>
              <a:rPr lang="zh-CN" altLang="en-US" sz="1100" b="0">
                <a:solidFill>
                  <a:srgbClr val="1F2937"/>
                </a:solidFill>
                <a:latin typeface="Source Han Sans SC"/>
                <a:ea typeface="Source Han Sans SC"/>
              </a:rPr>
              <a:t> Token，</a:t>
            </a:r>
            <a:r>
              <a:rPr lang="zh-CN" altLang="en-US" sz="1100" b="0">
                <a:solidFill>
                  <a:srgbClr val="1F2937"/>
                </a:solidFill>
                <a:latin typeface="Source Han Sans SC"/>
                <a:ea typeface="Source Han Sans SC"/>
              </a:rPr>
              <a:t>相当于提前看到正确答案</a:t>
            </a:r>
            <a:r>
              <a:rPr lang="zh-CN" altLang="en-US" sz="1100" b="0">
                <a:solidFill>
                  <a:srgbClr val="1F2937"/>
                </a:solidFill>
                <a:latin typeface="Source Han Sans SC"/>
                <a:ea typeface="Source Han Sans SC"/>
              </a:rPr>
              <a:t>。</a:t>
            </a:r>
            <a:endParaRPr sz="1350" b="0">
              <a:solidFill>
                <a:srgbClr val="1F2937"/>
              </a:solidFill>
            </a:endParaRPr>
          </a:p>
        </p:txBody>
      </p:sp>
      <p:sp>
        <p:nvSpPr>
          <p:cNvPr id="30" name="圆角矩形 29"/>
          <p:cNvSpPr>
            <a:spLocks noGrp="1"/>
          </p:cNvSpPr>
          <p:nvPr/>
        </p:nvSpPr>
        <p:spPr>
          <a:xfrm>
            <a:off x="6667500" y="4000500"/>
            <a:ext cx="4572000" cy="1000125"/>
          </a:xfrm>
          <a:prstGeom prst="roundRect">
            <a:avLst>
              <a:gd name="adj" fmla="val 7619"/>
            </a:avLst>
          </a:prstGeom>
          <a:solidFill>
            <a:srgbClr val="E9F4F4"/>
          </a:solidFill>
          <a:ln w="12383">
            <a:solidFill>
              <a:srgbClr val="1E8E94"/>
            </a:solidFill>
            <a:prstDash val="solid"/>
          </a:ln>
        </p:spPr>
      </p:sp>
      <p:sp>
        <p:nvSpPr>
          <p:cNvPr id="31" name="矩形 30"/>
          <p:cNvSpPr>
            <a:spLocks noGrp="1"/>
          </p:cNvSpPr>
          <p:nvPr/>
        </p:nvSpPr>
        <p:spPr>
          <a:xfrm>
            <a:off x="6781800" y="4076700"/>
            <a:ext cx="4343400" cy="285750"/>
          </a:xfrm>
          <a:prstGeom prst="rect">
            <a:avLst/>
          </a:prstGeom>
          <a:noFill/>
          <a:ln w="0">
            <a:noFill/>
            <a:prstDash val="solid"/>
          </a:ln>
        </p:spPr>
        <p:txBody>
          <a:bodyPr wrap="square" lIns="38100" tIns="19050" rIns="38100" bIns="19050" anchor="ctr">
            <a:normAutofit/>
          </a:bodyPr>
          <a:lstStyle/>
          <a:p>
            <a:pPr algn="l">
              <a:lnSpc>
                <a:spcPct val="100000"/>
              </a:lnSpc>
              <a:spcBef>
                <a:spcPts val="0"/>
              </a:spcBef>
              <a:spcAft>
                <a:spcPts val="0"/>
              </a:spcAft>
              <a:defRPr sz="1500" b="1">
                <a:solidFill>
                  <a:srgbClr val="1F2937"/>
                </a:solidFill>
              </a:defRPr>
            </a:pPr>
            <a:r>
              <a:rPr lang="zh-CN" altLang="en-US" sz="1400" b="1">
                <a:solidFill>
                  <a:srgbClr val="1F2937"/>
                </a:solidFill>
                <a:latin typeface="Source Han Sans SC"/>
                <a:ea typeface="Source Han Sans SC"/>
              </a:rPr>
              <a:t>Causal Attention（</a:t>
            </a:r>
            <a:r>
              <a:rPr lang="zh-CN" altLang="en-US" sz="1400" b="1">
                <a:solidFill>
                  <a:srgbClr val="1F2937"/>
                </a:solidFill>
                <a:latin typeface="Source Han Sans SC"/>
                <a:ea typeface="Source Han Sans SC"/>
              </a:rPr>
              <a:t>因果注意力</a:t>
            </a:r>
            <a:r>
              <a:rPr lang="zh-CN" altLang="en-US" sz="1400" b="1">
                <a:solidFill>
                  <a:srgbClr val="1F2937"/>
                </a:solidFill>
                <a:latin typeface="Source Han Sans SC"/>
                <a:ea typeface="Source Han Sans SC"/>
              </a:rPr>
              <a:t>）</a:t>
            </a:r>
            <a:endParaRPr sz="1500" b="1">
              <a:solidFill>
                <a:srgbClr val="1F2937"/>
              </a:solidFill>
            </a:endParaRPr>
          </a:p>
        </p:txBody>
      </p:sp>
      <p:sp>
        <p:nvSpPr>
          <p:cNvPr id="32" name="矩形 31"/>
          <p:cNvSpPr>
            <a:spLocks noGrp="1"/>
          </p:cNvSpPr>
          <p:nvPr/>
        </p:nvSpPr>
        <p:spPr>
          <a:xfrm>
            <a:off x="6781800" y="4381500"/>
            <a:ext cx="4343400" cy="542925"/>
          </a:xfrm>
          <a:prstGeom prst="rect">
            <a:avLst/>
          </a:prstGeom>
          <a:noFill/>
          <a:ln w="0">
            <a:noFill/>
            <a:prstDash val="solid"/>
          </a:ln>
        </p:spPr>
        <p:txBody>
          <a:bodyPr wrap="square" lIns="38100" tIns="19050" rIns="38100" bIns="19050" anchor="ctr">
            <a:normAutofit/>
          </a:bodyPr>
          <a:lstStyle/>
          <a:p>
            <a:pPr algn="l">
              <a:lnSpc>
                <a:spcPct val="100000"/>
              </a:lnSpc>
              <a:spcBef>
                <a:spcPts val="0"/>
              </a:spcBef>
              <a:spcAft>
                <a:spcPts val="0"/>
              </a:spcAft>
              <a:defRPr sz="1350" b="0">
                <a:solidFill>
                  <a:srgbClr val="1F2937"/>
                </a:solidFill>
              </a:defRPr>
            </a:pPr>
            <a:r>
              <a:rPr lang="zh-CN" altLang="en-US" sz="1100" b="0">
                <a:solidFill>
                  <a:srgbClr val="1F2937"/>
                </a:solidFill>
                <a:latin typeface="Source Han Sans SC"/>
                <a:ea typeface="Source Han Sans SC"/>
              </a:rPr>
              <a:t>定义</a:t>
            </a:r>
            <a:r>
              <a:rPr lang="zh-CN" altLang="en-US" sz="1100" b="0">
                <a:solidFill>
                  <a:srgbClr val="1F2937"/>
                </a:solidFill>
                <a:latin typeface="Source Han Sans SC"/>
                <a:ea typeface="Source Han Sans SC"/>
              </a:rPr>
              <a:t>：</a:t>
            </a:r>
            <a:r>
              <a:rPr lang="zh-CN" altLang="en-US" sz="1100" b="0">
                <a:solidFill>
                  <a:srgbClr val="1F2937"/>
                </a:solidFill>
                <a:latin typeface="Source Han Sans SC"/>
                <a:ea typeface="Source Han Sans SC"/>
              </a:rPr>
              <a:t>位置</a:t>
            </a:r>
            <a:r>
              <a:rPr lang="zh-CN" altLang="en-US" sz="1100" b="0">
                <a:solidFill>
                  <a:srgbClr val="1F2937"/>
                </a:solidFill>
                <a:latin typeface="Source Han Sans SC"/>
                <a:ea typeface="Source Han Sans SC"/>
              </a:rPr>
              <a:t> i </a:t>
            </a:r>
            <a:r>
              <a:rPr lang="zh-CN" altLang="en-US" sz="1100" b="0">
                <a:solidFill>
                  <a:srgbClr val="1F2937"/>
                </a:solidFill>
                <a:latin typeface="Source Han Sans SC"/>
                <a:ea typeface="Source Han Sans SC"/>
              </a:rPr>
              <a:t>只能读取位置</a:t>
            </a:r>
            <a:r>
              <a:rPr lang="zh-CN" altLang="en-US" sz="1100" b="0">
                <a:solidFill>
                  <a:srgbClr val="1F2937"/>
                </a:solidFill>
                <a:latin typeface="Source Han Sans SC"/>
                <a:ea typeface="Source Han Sans SC"/>
              </a:rPr>
              <a:t> j ≤ i </a:t>
            </a:r>
            <a:r>
              <a:rPr lang="zh-CN" altLang="en-US" sz="1100" b="0">
                <a:solidFill>
                  <a:srgbClr val="1F2937"/>
                </a:solidFill>
                <a:latin typeface="Source Han Sans SC"/>
                <a:ea typeface="Source Han Sans SC"/>
              </a:rPr>
              <a:t>的</a:t>
            </a:r>
            <a:r>
              <a:rPr lang="zh-CN" altLang="en-US" sz="1100" b="0">
                <a:solidFill>
                  <a:srgbClr val="1F2937"/>
                </a:solidFill>
                <a:latin typeface="Source Han Sans SC"/>
                <a:ea typeface="Source Han Sans SC"/>
              </a:rPr>
              <a:t> Token；</a:t>
            </a:r>
            <a:r>
              <a:rPr lang="zh-CN" altLang="en-US" sz="1100" b="0">
                <a:solidFill>
                  <a:srgbClr val="1F2937"/>
                </a:solidFill>
                <a:latin typeface="Source Han Sans SC"/>
                <a:ea typeface="Source Han Sans SC"/>
              </a:rPr>
              <a:t>各位置仍可并行计算</a:t>
            </a:r>
            <a:r>
              <a:rPr lang="zh-CN" altLang="en-US" sz="1100" b="0">
                <a:solidFill>
                  <a:srgbClr val="1F2937"/>
                </a:solidFill>
                <a:latin typeface="Source Han Sans SC"/>
                <a:ea typeface="Source Han Sans SC"/>
              </a:rPr>
              <a:t>。</a:t>
            </a:r>
            <a:endParaRPr sz="1350" b="0">
              <a:solidFill>
                <a:srgbClr val="1F2937"/>
              </a:solidFill>
            </a:endParaRPr>
          </a:p>
        </p:txBody>
      </p:sp>
      <p:sp>
        <p:nvSpPr>
          <p:cNvPr id="33" name="矩形 32"/>
          <p:cNvSpPr>
            <a:spLocks noGrp="1"/>
          </p:cNvSpPr>
          <p:nvPr/>
        </p:nvSpPr>
        <p:spPr>
          <a:xfrm>
            <a:off x="333375" y="5743575"/>
            <a:ext cx="11525250" cy="514350"/>
          </a:xfrm>
          <a:prstGeom prst="rect">
            <a:avLst/>
          </a:prstGeom>
          <a:solidFill>
            <a:srgbClr val="1E8E94"/>
          </a:solidFill>
          <a:ln w="0">
            <a:noFill/>
            <a:prstDash val="solid"/>
          </a:ln>
        </p:spPr>
      </p:sp>
      <p:sp>
        <p:nvSpPr>
          <p:cNvPr id="34" name="矩形 33"/>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lnSpc>
                <a:spcPct val="100000"/>
              </a:lnSpc>
              <a:spcBef>
                <a:spcPts val="0"/>
              </a:spcBef>
              <a:spcAft>
                <a:spcPts val="0"/>
              </a:spcAft>
              <a:defRPr sz="1425" b="1">
                <a:solidFill>
                  <a:srgbClr val="FFFFFF"/>
                </a:solidFill>
              </a:defRPr>
            </a:pPr>
            <a:r>
              <a:rPr lang="zh-CN" altLang="en-US" sz="1340" b="1">
                <a:solidFill>
                  <a:srgbClr val="FFFFFF"/>
                </a:solidFill>
                <a:latin typeface="Source Han Sans SC"/>
                <a:ea typeface="Source Han Sans SC"/>
              </a:rPr>
              <a:t>④ </a:t>
            </a:r>
            <a:r>
              <a:rPr lang="zh-CN" altLang="en-US" sz="1340" b="1">
                <a:solidFill>
                  <a:srgbClr val="FFFFFF"/>
                </a:solidFill>
                <a:latin typeface="Source Han Sans SC"/>
                <a:ea typeface="Source Han Sans SC"/>
              </a:rPr>
              <a:t>结果</a:t>
            </a:r>
            <a:r>
              <a:rPr lang="zh-CN" altLang="en-US" sz="1340" b="1">
                <a:solidFill>
                  <a:srgbClr val="FFFFFF"/>
                </a:solidFill>
                <a:latin typeface="Source Han Sans SC"/>
                <a:ea typeface="Source Han Sans SC"/>
              </a:rPr>
              <a:t>：</a:t>
            </a:r>
            <a:r>
              <a:rPr lang="zh-CN" altLang="en-US" sz="1340" b="1">
                <a:solidFill>
                  <a:srgbClr val="FFFFFF"/>
                </a:solidFill>
                <a:latin typeface="Source Han Sans SC"/>
                <a:ea typeface="Source Han Sans SC"/>
              </a:rPr>
              <a:t>并行训练仍然保留</a:t>
            </a:r>
            <a:r>
              <a:rPr lang="zh-CN" altLang="en-US" sz="1340" b="1">
                <a:solidFill>
                  <a:srgbClr val="FFFFFF"/>
                </a:solidFill>
                <a:latin typeface="Source Han Sans SC"/>
                <a:ea typeface="Source Han Sans SC"/>
              </a:rPr>
              <a:t>，</a:t>
            </a:r>
            <a:r>
              <a:rPr lang="zh-CN" altLang="en-US" sz="1340" b="1">
                <a:solidFill>
                  <a:srgbClr val="FFFFFF"/>
                </a:solidFill>
                <a:latin typeface="Source Han Sans SC"/>
                <a:ea typeface="Source Han Sans SC"/>
              </a:rPr>
              <a:t>但训练时的可见范围与真实生成保持一致</a:t>
            </a:r>
            <a:r>
              <a:rPr lang="zh-CN" altLang="en-US" sz="1340" b="1">
                <a:solidFill>
                  <a:srgbClr val="FFFFFF"/>
                </a:solidFill>
                <a:latin typeface="Source Han Sans SC"/>
                <a:ea typeface="Source Han Sans SC"/>
              </a:rPr>
              <a:t>。</a:t>
            </a:r>
            <a:endParaRPr sz="1425" b="1">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p:cNvSpPr>
            <a:spLocks noGrp="1"/>
          </p:cNvSpPr>
          <p:nvPr/>
        </p:nvSpPr>
        <p:spPr>
          <a:xfrm>
            <a:off x="333375" y="95250"/>
            <a:ext cx="10058400" cy="647700"/>
          </a:xfrm>
          <a:prstGeom prst="rect">
            <a:avLst/>
          </a:prstGeom>
          <a:noFill/>
          <a:ln w="0">
            <a:noFill/>
            <a:prstDash val="solid"/>
          </a:ln>
        </p:spPr>
        <p:txBody>
          <a:bodyPr wrap="square" lIns="38100" tIns="19050" rIns="38100" bIns="19050" anchor="ctr">
            <a:normAutofit/>
          </a:bodyPr>
          <a:lstStyle/>
          <a:p>
            <a:pPr algn="l">
              <a:defRPr sz="2700" b="1">
                <a:solidFill>
                  <a:srgbClr val="1F2937"/>
                </a:solidFill>
              </a:defRPr>
            </a:pPr>
            <a:r>
              <a:rPr sz="2700" b="1">
                <a:solidFill>
                  <a:srgbClr val="1F2937"/>
                </a:solidFill>
                <a:latin typeface="Source Han Sans SC"/>
              </a:rPr>
              <a:t>Causal Mask </a:t>
            </a:r>
            <a:r>
              <a:rPr lang="zh-CN" sz="2700" b="1">
                <a:solidFill>
                  <a:srgbClr val="1F2937"/>
                </a:solidFill>
                <a:latin typeface="Source Han Sans SC"/>
                <a:ea typeface="Source Han Sans SC"/>
              </a:rPr>
              <a:t>在</a:t>
            </a:r>
            <a:r>
              <a:rPr sz="2700" b="1">
                <a:solidFill>
                  <a:srgbClr val="1F2937"/>
                </a:solidFill>
                <a:latin typeface="Source Han Sans SC"/>
              </a:rPr>
              <a:t> Softmax </a:t>
            </a:r>
            <a:r>
              <a:rPr lang="zh-CN" sz="2700" b="1">
                <a:solidFill>
                  <a:srgbClr val="1F2937"/>
                </a:solidFill>
                <a:latin typeface="Source Han Sans SC"/>
                <a:ea typeface="Source Han Sans SC"/>
              </a:rPr>
              <a:t>前把未来位置变成零概率</a:t>
            </a:r>
            <a:endParaRPr sz="2700" b="1">
              <a:solidFill>
                <a:srgbClr val="1F2937"/>
              </a:solidFill>
            </a:endParaRPr>
          </a:p>
        </p:txBody>
      </p:sp>
      <p:sp>
        <p:nvSpPr>
          <p:cNvPr id="4" name="Rounded Rectangle 3"/>
          <p:cNvSpPr/>
          <p:nvPr/>
        </p:nvSpPr>
        <p:spPr>
          <a:xfrm>
            <a:off x="429768" y="960120"/>
            <a:ext cx="11329416" cy="438912"/>
          </a:xfrm>
          <a:prstGeom prst="roundRect">
            <a:avLst/>
          </a:prstGeom>
          <a:solidFill>
            <a:srgbClr val="F4EEF7"/>
          </a:solidFill>
          <a:ln w="12700">
            <a:solidFill>
              <a:srgbClr val="F4E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30352" y="1024128"/>
            <a:ext cx="292608" cy="292608"/>
          </a:xfrm>
          <a:prstGeom prst="ellipse">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 y="1014984"/>
            <a:ext cx="292608" cy="301752"/>
          </a:xfrm>
          <a:prstGeom prst="rect">
            <a:avLst/>
          </a:prstGeom>
          <a:noFill/>
        </p:spPr>
        <p:txBody>
          <a:bodyPr wrap="square" lIns="45720" tIns="18288" rIns="45720" bIns="18288" anchor="ctr">
            <a:spAutoFit/>
          </a:bodyPr>
          <a:lstStyle/>
          <a:p>
            <a:pPr algn="l">
              <a:lnSpc>
                <a:spcPct val="100000"/>
              </a:lnSpc>
              <a:spcBef>
                <a:spcPts val="0"/>
              </a:spcBef>
              <a:spcAft>
                <a:spcPts val="0"/>
              </a:spcAft>
            </a:pPr>
            <a:endParaRPr lang="zh-CN" sz="1100" b="1">
              <a:solidFill>
                <a:srgbClr val="FFFFFF"/>
              </a:solidFill>
              <a:latin typeface="微软雅黑" panose="020B0503020204020204" charset="-122"/>
              <a:ea typeface="微软雅黑" panose="020B0503020204020204" charset="-122"/>
            </a:endParaRPr>
          </a:p>
        </p:txBody>
      </p:sp>
      <p:sp>
        <p:nvSpPr>
          <p:cNvPr id="7" name="TextBox 6"/>
          <p:cNvSpPr txBox="1"/>
          <p:nvPr/>
        </p:nvSpPr>
        <p:spPr>
          <a:xfrm>
            <a:off x="594360" y="987552"/>
            <a:ext cx="10881360" cy="365760"/>
          </a:xfrm>
          <a:prstGeom prst="rect">
            <a:avLst/>
          </a:prstGeom>
          <a:noFill/>
        </p:spPr>
        <p:txBody>
          <a:bodyPr wrap="square" lIns="45720" tIns="18288" rIns="45720" bIns="18288" anchor="ctr">
            <a:spAutoFit/>
          </a:bodyPr>
          <a:lstStyle/>
          <a:p>
            <a:pPr algn="l">
              <a:lnSpc>
                <a:spcPct val="100000"/>
              </a:lnSpc>
              <a:spcBef>
                <a:spcPts val="0"/>
              </a:spcBef>
              <a:spcAft>
                <a:spcPts val="0"/>
              </a:spcAft>
            </a:pPr>
            <a:r>
              <a:rPr lang="zh-CN" altLang="en-US" sz="1180" b="1">
                <a:solidFill>
                  <a:srgbClr val="1F2937"/>
                </a:solidFill>
                <a:latin typeface="Source Han Sans SC"/>
                <a:ea typeface="Source Han Sans SC"/>
              </a:rPr>
              <a:t>Causal Mask（</a:t>
            </a:r>
            <a:r>
              <a:rPr lang="zh-CN" altLang="en-US" sz="1180" b="1">
                <a:solidFill>
                  <a:srgbClr val="1F2937"/>
                </a:solidFill>
                <a:latin typeface="Source Han Sans SC"/>
                <a:ea typeface="Source Han Sans SC"/>
              </a:rPr>
              <a:t>因果掩码</a:t>
            </a:r>
            <a:r>
              <a:rPr lang="zh-CN" altLang="en-US" sz="1180" b="1">
                <a:solidFill>
                  <a:srgbClr val="1F2937"/>
                </a:solidFill>
                <a:latin typeface="Source Han Sans SC"/>
                <a:ea typeface="Source Han Sans SC"/>
              </a:rPr>
              <a:t>）：</a:t>
            </a:r>
            <a:r>
              <a:rPr lang="zh-CN" altLang="en-US" sz="1180" b="1">
                <a:solidFill>
                  <a:srgbClr val="1F2937"/>
                </a:solidFill>
                <a:latin typeface="Source Han Sans SC"/>
                <a:ea typeface="Source Han Sans SC"/>
              </a:rPr>
              <a:t>加在</a:t>
            </a:r>
            <a:r>
              <a:rPr lang="zh-CN" altLang="en-US" sz="1180" b="1">
                <a:solidFill>
                  <a:srgbClr val="1F2937"/>
                </a:solidFill>
                <a:latin typeface="Source Han Sans SC"/>
                <a:ea typeface="Source Han Sans SC"/>
              </a:rPr>
              <a:t> Attention Score </a:t>
            </a:r>
            <a:r>
              <a:rPr lang="zh-CN" altLang="en-US" sz="1180" b="1">
                <a:solidFill>
                  <a:srgbClr val="1F2937"/>
                </a:solidFill>
                <a:latin typeface="Source Han Sans SC"/>
                <a:ea typeface="Source Han Sans SC"/>
              </a:rPr>
              <a:t>上的下三角约束</a:t>
            </a:r>
            <a:r>
              <a:rPr lang="zh-CN" altLang="en-US" sz="1180" b="1">
                <a:solidFill>
                  <a:srgbClr val="1F2937"/>
                </a:solidFill>
                <a:latin typeface="Source Han Sans SC"/>
                <a:ea typeface="Source Han Sans SC"/>
              </a:rPr>
              <a:t>；</a:t>
            </a:r>
            <a:r>
              <a:rPr lang="zh-CN" altLang="en-US" sz="1180" b="1">
                <a:solidFill>
                  <a:srgbClr val="1F2937"/>
                </a:solidFill>
                <a:latin typeface="Source Han Sans SC"/>
                <a:ea typeface="Source Han Sans SC"/>
              </a:rPr>
              <a:t>允许位置加</a:t>
            </a:r>
            <a:r>
              <a:rPr lang="zh-CN" altLang="en-US" sz="1180" b="1">
                <a:solidFill>
                  <a:srgbClr val="1F2937"/>
                </a:solidFill>
                <a:latin typeface="Source Han Sans SC"/>
                <a:ea typeface="Source Han Sans SC"/>
              </a:rPr>
              <a:t> 0，</a:t>
            </a:r>
            <a:r>
              <a:rPr lang="zh-CN" altLang="en-US" sz="1180" b="1">
                <a:solidFill>
                  <a:srgbClr val="1F2937"/>
                </a:solidFill>
                <a:latin typeface="Source Han Sans SC"/>
                <a:ea typeface="Source Han Sans SC"/>
              </a:rPr>
              <a:t>未来位置加</a:t>
            </a:r>
            <a:r>
              <a:rPr lang="zh-CN" altLang="en-US" sz="1180" b="1">
                <a:solidFill>
                  <a:srgbClr val="1F2937"/>
                </a:solidFill>
                <a:latin typeface="Source Han Sans SC"/>
                <a:ea typeface="Source Han Sans SC"/>
              </a:rPr>
              <a:t> −∞。</a:t>
            </a:r>
            <a:endParaRPr lang="zh-CN" sz="1250" b="0">
              <a:solidFill>
                <a:srgbClr val="1F2937"/>
              </a:solidFill>
              <a:latin typeface="微软雅黑" panose="020B0503020204020204" charset="-122"/>
              <a:ea typeface="微软雅黑" panose="020B0503020204020204" charset="-122"/>
            </a:endParaRPr>
          </a:p>
        </p:txBody>
      </p:sp>
      <p:sp>
        <p:nvSpPr>
          <p:cNvPr id="8" name="TextBox 7"/>
          <p:cNvSpPr txBox="1"/>
          <p:nvPr/>
        </p:nvSpPr>
        <p:spPr>
          <a:xfrm>
            <a:off x="429768" y="1527048"/>
            <a:ext cx="4892040" cy="329184"/>
          </a:xfrm>
          <a:prstGeom prst="rect">
            <a:avLst/>
          </a:prstGeom>
          <a:noFill/>
        </p:spPr>
        <p:txBody>
          <a:bodyPr wrap="square" lIns="45720" tIns="18288" rIns="45720" bIns="18288" anchor="ctr">
            <a:spAutoFit/>
          </a:bodyPr>
          <a:lstStyle/>
          <a:p>
            <a:pPr algn="l">
              <a:lnSpc>
                <a:spcPct val="100000"/>
              </a:lnSpc>
              <a:spcBef>
                <a:spcPts val="0"/>
              </a:spcBef>
              <a:spcAft>
                <a:spcPts val="0"/>
              </a:spcAft>
            </a:pPr>
            <a:r>
              <a:rPr lang="zh-CN" altLang="en-US" sz="1600" b="1">
                <a:solidFill>
                  <a:srgbClr val="1F2937"/>
                </a:solidFill>
                <a:latin typeface="Source Han Sans SC"/>
                <a:ea typeface="Source Han Sans SC"/>
              </a:rPr>
              <a:t>① </a:t>
            </a:r>
            <a:r>
              <a:rPr lang="zh-CN" altLang="en-US" sz="1600" b="1">
                <a:solidFill>
                  <a:srgbClr val="1F2937"/>
                </a:solidFill>
                <a:latin typeface="Source Han Sans SC"/>
                <a:ea typeface="Source Han Sans SC"/>
              </a:rPr>
              <a:t>构造下三角</a:t>
            </a:r>
            <a:r>
              <a:rPr lang="zh-CN" altLang="en-US" sz="1600" b="1">
                <a:solidFill>
                  <a:srgbClr val="1F2937"/>
                </a:solidFill>
                <a:latin typeface="Source Han Sans SC"/>
                <a:ea typeface="Source Han Sans SC"/>
              </a:rPr>
              <a:t> Causal Mask</a:t>
            </a:r>
            <a:endParaRPr lang="zh-CN" sz="1700" b="1">
              <a:solidFill>
                <a:srgbClr val="1F2937"/>
              </a:solidFill>
              <a:latin typeface="微软雅黑" panose="020B0503020204020204" charset="-122"/>
              <a:ea typeface="微软雅黑" panose="020B0503020204020204" charset="-122"/>
            </a:endParaRPr>
          </a:p>
        </p:txBody>
      </p:sp>
      <p:sp>
        <p:nvSpPr>
          <p:cNvPr id="9" name="TextBox 8"/>
          <p:cNvSpPr txBox="1"/>
          <p:nvPr/>
        </p:nvSpPr>
        <p:spPr>
          <a:xfrm>
            <a:off x="429768" y="1847088"/>
            <a:ext cx="4892040" cy="237744"/>
          </a:xfrm>
          <a:prstGeom prst="rect">
            <a:avLst/>
          </a:prstGeom>
          <a:noFill/>
        </p:spPr>
        <p:txBody>
          <a:bodyPr wrap="square" lIns="45720" tIns="18288" rIns="45720" bIns="18288" anchor="ctr">
            <a:spAutoFit/>
          </a:bodyPr>
          <a:lstStyle/>
          <a:p>
            <a:pPr algn="l">
              <a:lnSpc>
                <a:spcPct val="100000"/>
              </a:lnSpc>
              <a:spcBef>
                <a:spcPts val="0"/>
              </a:spcBef>
              <a:spcAft>
                <a:spcPts val="0"/>
              </a:spcAft>
            </a:pPr>
            <a:r>
              <a:rPr lang="zh-CN" altLang="en-US" sz="1080" b="0">
                <a:solidFill>
                  <a:srgbClr val="5F6B7A"/>
                </a:solidFill>
                <a:latin typeface="Source Han Sans SC"/>
                <a:ea typeface="Source Han Sans SC"/>
              </a:rPr>
              <a:t>0 = </a:t>
            </a:r>
            <a:r>
              <a:rPr lang="zh-CN" altLang="en-US" sz="1080" b="0">
                <a:solidFill>
                  <a:srgbClr val="5F6B7A"/>
                </a:solidFill>
                <a:latin typeface="Source Han Sans SC"/>
                <a:ea typeface="Source Han Sans SC"/>
              </a:rPr>
              <a:t>保留原分数</a:t>
            </a:r>
            <a:r>
              <a:rPr lang="zh-CN" altLang="en-US" sz="1080" b="0">
                <a:solidFill>
                  <a:srgbClr val="5F6B7A"/>
                </a:solidFill>
                <a:latin typeface="Source Han Sans SC"/>
                <a:ea typeface="Source Han Sans SC"/>
              </a:rPr>
              <a:t>；−∞ = </a:t>
            </a:r>
            <a:r>
              <a:rPr lang="zh-CN" altLang="en-US" sz="1080" b="0">
                <a:solidFill>
                  <a:srgbClr val="5F6B7A"/>
                </a:solidFill>
                <a:latin typeface="Source Han Sans SC"/>
                <a:ea typeface="Source Han Sans SC"/>
              </a:rPr>
              <a:t>禁止关注</a:t>
            </a:r>
            <a:r>
              <a:rPr lang="zh-CN" altLang="en-US" sz="1080" b="0">
                <a:solidFill>
                  <a:srgbClr val="5F6B7A"/>
                </a:solidFill>
                <a:latin typeface="Source Han Sans SC"/>
                <a:ea typeface="Source Han Sans SC"/>
              </a:rPr>
              <a:t>。</a:t>
            </a:r>
            <a:endParaRPr lang="zh-CN" sz="1050" b="0">
              <a:solidFill>
                <a:srgbClr val="5F6B7A"/>
              </a:solidFill>
              <a:latin typeface="微软雅黑" panose="020B0503020204020204" charset="-122"/>
              <a:ea typeface="微软雅黑" panose="020B0503020204020204" charset="-122"/>
            </a:endParaRPr>
          </a:p>
        </p:txBody>
      </p:sp>
      <p:sp>
        <p:nvSpPr>
          <p:cNvPr id="10" name="TextBox 9"/>
          <p:cNvSpPr txBox="1"/>
          <p:nvPr/>
        </p:nvSpPr>
        <p:spPr>
          <a:xfrm>
            <a:off x="1417320" y="2057400"/>
            <a:ext cx="621792" cy="228600"/>
          </a:xfrm>
          <a:prstGeom prst="rect">
            <a:avLst/>
          </a:prstGeom>
          <a:noFill/>
        </p:spPr>
        <p:txBody>
          <a:bodyPr wrap="square" lIns="45720" tIns="18288" rIns="45720" bIns="18288" anchor="ctr">
            <a:spAutoFit/>
          </a:bodyPr>
          <a:lstStyle/>
          <a:p>
            <a:pPr algn="ctr">
              <a:spcBef>
                <a:spcPts val="0"/>
              </a:spcBef>
              <a:spcAft>
                <a:spcPts val="0"/>
              </a:spcAft>
            </a:pPr>
            <a:r>
              <a:rPr lang="zh-CN" sz="1050" b="1">
                <a:solidFill>
                  <a:srgbClr val="1F2937"/>
                </a:solidFill>
                <a:latin typeface="Source Han Sans SC" panose="020B0503020204020204" charset="-122"/>
                <a:ea typeface="微软雅黑" panose="020B0503020204020204" charset="-122"/>
              </a:rPr>
              <a:t>0 </a:t>
            </a:r>
            <a:r>
              <a:rPr lang="zh-CN" sz="1050" b="1">
                <a:solidFill>
                  <a:srgbClr val="1F2937"/>
                </a:solidFill>
                <a:latin typeface="Source Han Sans SC" panose="020B0503020204020204" charset="-122"/>
                <a:ea typeface="Source Han Sans SC" panose="020B0503020204020204" charset="-122"/>
              </a:rPr>
              <a:t>春</a:t>
            </a:r>
            <a:endParaRPr lang="zh-CN" sz="1050" b="1">
              <a:solidFill>
                <a:srgbClr val="1F2937"/>
              </a:solidFill>
              <a:latin typeface="微软雅黑" panose="020B0503020204020204" charset="-122"/>
              <a:ea typeface="微软雅黑" panose="020B0503020204020204" charset="-122"/>
            </a:endParaRPr>
          </a:p>
        </p:txBody>
      </p:sp>
      <p:sp>
        <p:nvSpPr>
          <p:cNvPr id="11" name="TextBox 10"/>
          <p:cNvSpPr txBox="1"/>
          <p:nvPr/>
        </p:nvSpPr>
        <p:spPr>
          <a:xfrm>
            <a:off x="2103120" y="2057400"/>
            <a:ext cx="621792" cy="228600"/>
          </a:xfrm>
          <a:prstGeom prst="rect">
            <a:avLst/>
          </a:prstGeom>
          <a:noFill/>
        </p:spPr>
        <p:txBody>
          <a:bodyPr wrap="square" lIns="45720" tIns="18288" rIns="45720" bIns="18288" anchor="ctr">
            <a:spAutoFit/>
          </a:bodyPr>
          <a:lstStyle/>
          <a:p>
            <a:pPr algn="ctr">
              <a:spcBef>
                <a:spcPts val="0"/>
              </a:spcBef>
              <a:spcAft>
                <a:spcPts val="0"/>
              </a:spcAft>
            </a:pPr>
            <a:r>
              <a:rPr lang="zh-CN" sz="1050" b="1">
                <a:solidFill>
                  <a:srgbClr val="1F2937"/>
                </a:solidFill>
                <a:latin typeface="Source Han Sans SC" panose="020B0503020204020204" charset="-122"/>
                <a:ea typeface="微软雅黑" panose="020B0503020204020204" charset="-122"/>
              </a:rPr>
              <a:t>1 </a:t>
            </a:r>
            <a:r>
              <a:rPr lang="zh-CN" sz="1050" b="1">
                <a:solidFill>
                  <a:srgbClr val="1F2937"/>
                </a:solidFill>
                <a:latin typeface="Source Han Sans SC" panose="020B0503020204020204" charset="-122"/>
                <a:ea typeface="Source Han Sans SC" panose="020B0503020204020204" charset="-122"/>
              </a:rPr>
              <a:t>天</a:t>
            </a:r>
            <a:endParaRPr lang="zh-CN" sz="1050" b="1">
              <a:solidFill>
                <a:srgbClr val="1F2937"/>
              </a:solidFill>
              <a:latin typeface="微软雅黑" panose="020B0503020204020204" charset="-122"/>
              <a:ea typeface="微软雅黑" panose="020B0503020204020204" charset="-122"/>
            </a:endParaRPr>
          </a:p>
        </p:txBody>
      </p:sp>
      <p:sp>
        <p:nvSpPr>
          <p:cNvPr id="12" name="TextBox 11"/>
          <p:cNvSpPr txBox="1"/>
          <p:nvPr/>
        </p:nvSpPr>
        <p:spPr>
          <a:xfrm>
            <a:off x="2788920" y="2057400"/>
            <a:ext cx="621792" cy="228600"/>
          </a:xfrm>
          <a:prstGeom prst="rect">
            <a:avLst/>
          </a:prstGeom>
          <a:noFill/>
        </p:spPr>
        <p:txBody>
          <a:bodyPr wrap="square" lIns="45720" tIns="18288" rIns="45720" bIns="18288" anchor="ctr">
            <a:spAutoFit/>
          </a:bodyPr>
          <a:lstStyle/>
          <a:p>
            <a:pPr algn="ctr">
              <a:spcBef>
                <a:spcPts val="0"/>
              </a:spcBef>
              <a:spcAft>
                <a:spcPts val="0"/>
              </a:spcAft>
            </a:pPr>
            <a:r>
              <a:rPr lang="zh-CN" sz="1050" b="1">
                <a:solidFill>
                  <a:srgbClr val="1F2937"/>
                </a:solidFill>
                <a:latin typeface="Source Han Sans SC" panose="020B0503020204020204" charset="-122"/>
                <a:ea typeface="微软雅黑" panose="020B0503020204020204" charset="-122"/>
              </a:rPr>
              <a:t>2 </a:t>
            </a:r>
            <a:r>
              <a:rPr lang="zh-CN" sz="1050" b="1">
                <a:solidFill>
                  <a:srgbClr val="1F2937"/>
                </a:solidFill>
                <a:latin typeface="Source Han Sans SC" panose="020B0503020204020204" charset="-122"/>
                <a:ea typeface="Source Han Sans SC" panose="020B0503020204020204" charset="-122"/>
              </a:rPr>
              <a:t>来</a:t>
            </a:r>
            <a:endParaRPr lang="zh-CN" sz="1050" b="1">
              <a:solidFill>
                <a:srgbClr val="1F2937"/>
              </a:solidFill>
              <a:latin typeface="微软雅黑" panose="020B0503020204020204" charset="-122"/>
              <a:ea typeface="微软雅黑" panose="020B0503020204020204" charset="-122"/>
            </a:endParaRPr>
          </a:p>
        </p:txBody>
      </p:sp>
      <p:sp>
        <p:nvSpPr>
          <p:cNvPr id="13" name="TextBox 12"/>
          <p:cNvSpPr txBox="1"/>
          <p:nvPr/>
        </p:nvSpPr>
        <p:spPr>
          <a:xfrm>
            <a:off x="3474720" y="2057400"/>
            <a:ext cx="621792" cy="228600"/>
          </a:xfrm>
          <a:prstGeom prst="rect">
            <a:avLst/>
          </a:prstGeom>
          <a:noFill/>
        </p:spPr>
        <p:txBody>
          <a:bodyPr wrap="square" lIns="45720" tIns="18288" rIns="45720" bIns="18288" anchor="ctr">
            <a:spAutoFit/>
          </a:bodyPr>
          <a:lstStyle/>
          <a:p>
            <a:pPr algn="ctr">
              <a:spcBef>
                <a:spcPts val="0"/>
              </a:spcBef>
              <a:spcAft>
                <a:spcPts val="0"/>
              </a:spcAft>
            </a:pPr>
            <a:r>
              <a:rPr lang="zh-CN" sz="1050" b="1">
                <a:solidFill>
                  <a:srgbClr val="1F2937"/>
                </a:solidFill>
                <a:latin typeface="Source Han Sans SC" panose="020B0503020204020204" charset="-122"/>
                <a:ea typeface="微软雅黑" panose="020B0503020204020204" charset="-122"/>
              </a:rPr>
              <a:t>3 </a:t>
            </a:r>
            <a:r>
              <a:rPr lang="zh-CN" sz="1050" b="1">
                <a:solidFill>
                  <a:srgbClr val="1F2937"/>
                </a:solidFill>
                <a:latin typeface="Source Han Sans SC" panose="020B0503020204020204" charset="-122"/>
                <a:ea typeface="Source Han Sans SC" panose="020B0503020204020204" charset="-122"/>
              </a:rPr>
              <a:t>了</a:t>
            </a:r>
            <a:endParaRPr lang="zh-CN" sz="1050" b="1">
              <a:solidFill>
                <a:srgbClr val="1F2937"/>
              </a:solidFill>
              <a:latin typeface="微软雅黑" panose="020B0503020204020204" charset="-122"/>
              <a:ea typeface="微软雅黑" panose="020B0503020204020204" charset="-122"/>
            </a:endParaRPr>
          </a:p>
        </p:txBody>
      </p:sp>
      <p:sp>
        <p:nvSpPr>
          <p:cNvPr id="14" name="TextBox 13"/>
          <p:cNvSpPr txBox="1"/>
          <p:nvPr/>
        </p:nvSpPr>
        <p:spPr>
          <a:xfrm>
            <a:off x="685800" y="2331720"/>
            <a:ext cx="640080" cy="420624"/>
          </a:xfrm>
          <a:prstGeom prst="rect">
            <a:avLst/>
          </a:prstGeom>
          <a:noFill/>
        </p:spPr>
        <p:txBody>
          <a:bodyPr wrap="square" lIns="45720" tIns="18288" rIns="45720" bIns="18288" anchor="ctr">
            <a:spAutoFit/>
          </a:bodyPr>
          <a:lstStyle/>
          <a:p>
            <a:pPr algn="r">
              <a:spcBef>
                <a:spcPts val="0"/>
              </a:spcBef>
              <a:spcAft>
                <a:spcPts val="0"/>
              </a:spcAft>
            </a:pPr>
            <a:r>
              <a:rPr lang="zh-CN" sz="1050" b="1">
                <a:solidFill>
                  <a:srgbClr val="1F2937"/>
                </a:solidFill>
                <a:latin typeface="Source Han Sans SC" panose="020B0503020204020204" charset="-122"/>
                <a:ea typeface="微软雅黑" panose="020B0503020204020204" charset="-122"/>
              </a:rPr>
              <a:t>0 </a:t>
            </a:r>
            <a:r>
              <a:rPr lang="zh-CN" sz="1050" b="1">
                <a:solidFill>
                  <a:srgbClr val="1F2937"/>
                </a:solidFill>
                <a:latin typeface="Source Han Sans SC" panose="020B0503020204020204" charset="-122"/>
                <a:ea typeface="Source Han Sans SC" panose="020B0503020204020204" charset="-122"/>
              </a:rPr>
              <a:t>春</a:t>
            </a:r>
            <a:endParaRPr lang="zh-CN" sz="1050" b="1">
              <a:solidFill>
                <a:srgbClr val="1F2937"/>
              </a:solidFill>
              <a:latin typeface="微软雅黑" panose="020B0503020204020204" charset="-122"/>
              <a:ea typeface="微软雅黑" panose="020B0503020204020204" charset="-122"/>
            </a:endParaRPr>
          </a:p>
        </p:txBody>
      </p:sp>
      <p:sp>
        <p:nvSpPr>
          <p:cNvPr id="15" name="Rounded Rectangle 14"/>
          <p:cNvSpPr/>
          <p:nvPr/>
        </p:nvSpPr>
        <p:spPr>
          <a:xfrm>
            <a:off x="1417320" y="2331720"/>
            <a:ext cx="621792" cy="420624"/>
          </a:xfrm>
          <a:prstGeom prst="roundRect">
            <a:avLst/>
          </a:prstGeom>
          <a:solidFill>
            <a:srgbClr val="EAF6F7"/>
          </a:solidFill>
          <a:ln w="12700">
            <a:solidFill>
              <a:srgbClr val="1E8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63040" y="2359151"/>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Source Han Sans SC" panose="020B0503020204020204" charset="-122"/>
                <a:ea typeface="微软雅黑" panose="020B0503020204020204" charset="-122"/>
              </a:rPr>
              <a:t>0</a:t>
            </a:r>
            <a:endParaRPr lang="zh-CN" sz="1300" b="1">
              <a:solidFill>
                <a:srgbClr val="1F2937"/>
              </a:solidFill>
              <a:latin typeface="微软雅黑" panose="020B0503020204020204" charset="-122"/>
              <a:ea typeface="微软雅黑" panose="020B0503020204020204" charset="-122"/>
            </a:endParaRPr>
          </a:p>
        </p:txBody>
      </p:sp>
      <p:sp>
        <p:nvSpPr>
          <p:cNvPr id="17" name="Rounded Rectangle 16"/>
          <p:cNvSpPr/>
          <p:nvPr/>
        </p:nvSpPr>
        <p:spPr>
          <a:xfrm>
            <a:off x="2103120" y="2331720"/>
            <a:ext cx="621792" cy="420624"/>
          </a:xfrm>
          <a:prstGeom prst="roundRect">
            <a:avLst/>
          </a:prstGeom>
          <a:solidFill>
            <a:srgbClr val="FDECEF"/>
          </a:solidFill>
          <a:ln w="12700">
            <a:solidFill>
              <a:srgbClr val="E45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48839" y="2359151"/>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微软雅黑" panose="020B0503020204020204" charset="-122"/>
                <a:ea typeface="微软雅黑" panose="020B0503020204020204" charset="-122"/>
              </a:rPr>
              <a:t>−∞</a:t>
            </a:r>
            <a:endParaRPr lang="zh-CN" sz="1300" b="1">
              <a:solidFill>
                <a:srgbClr val="1F2937"/>
              </a:solidFill>
              <a:latin typeface="微软雅黑" panose="020B0503020204020204" charset="-122"/>
              <a:ea typeface="微软雅黑" panose="020B0503020204020204" charset="-122"/>
            </a:endParaRPr>
          </a:p>
        </p:txBody>
      </p:sp>
      <p:sp>
        <p:nvSpPr>
          <p:cNvPr id="19" name="Rounded Rectangle 18"/>
          <p:cNvSpPr/>
          <p:nvPr/>
        </p:nvSpPr>
        <p:spPr>
          <a:xfrm>
            <a:off x="2788920" y="2331720"/>
            <a:ext cx="621792" cy="420624"/>
          </a:xfrm>
          <a:prstGeom prst="roundRect">
            <a:avLst/>
          </a:prstGeom>
          <a:solidFill>
            <a:srgbClr val="FDECEF"/>
          </a:solidFill>
          <a:ln w="12700">
            <a:solidFill>
              <a:srgbClr val="E45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34639" y="2359151"/>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微软雅黑" panose="020B0503020204020204" charset="-122"/>
                <a:ea typeface="微软雅黑" panose="020B0503020204020204" charset="-122"/>
              </a:rPr>
              <a:t>−∞</a:t>
            </a:r>
            <a:endParaRPr lang="zh-CN" sz="1300" b="1">
              <a:solidFill>
                <a:srgbClr val="1F2937"/>
              </a:solidFill>
              <a:latin typeface="微软雅黑" panose="020B0503020204020204" charset="-122"/>
              <a:ea typeface="微软雅黑" panose="020B0503020204020204" charset="-122"/>
            </a:endParaRPr>
          </a:p>
        </p:txBody>
      </p:sp>
      <p:sp>
        <p:nvSpPr>
          <p:cNvPr id="21" name="Rounded Rectangle 20"/>
          <p:cNvSpPr/>
          <p:nvPr/>
        </p:nvSpPr>
        <p:spPr>
          <a:xfrm>
            <a:off x="3474720" y="2331720"/>
            <a:ext cx="621792" cy="420624"/>
          </a:xfrm>
          <a:prstGeom prst="roundRect">
            <a:avLst/>
          </a:prstGeom>
          <a:solidFill>
            <a:srgbClr val="FDECEF"/>
          </a:solidFill>
          <a:ln w="12700">
            <a:solidFill>
              <a:srgbClr val="E45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20439" y="2359151"/>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微软雅黑" panose="020B0503020204020204" charset="-122"/>
                <a:ea typeface="微软雅黑" panose="020B0503020204020204" charset="-122"/>
              </a:rPr>
              <a:t>−∞</a:t>
            </a:r>
            <a:endParaRPr lang="zh-CN" sz="1300" b="1">
              <a:solidFill>
                <a:srgbClr val="1F2937"/>
              </a:solidFill>
              <a:latin typeface="微软雅黑" panose="020B0503020204020204" charset="-122"/>
              <a:ea typeface="微软雅黑" panose="020B0503020204020204" charset="-122"/>
            </a:endParaRPr>
          </a:p>
        </p:txBody>
      </p:sp>
      <p:sp>
        <p:nvSpPr>
          <p:cNvPr id="23" name="TextBox 22"/>
          <p:cNvSpPr txBox="1"/>
          <p:nvPr/>
        </p:nvSpPr>
        <p:spPr>
          <a:xfrm>
            <a:off x="685800" y="2816352"/>
            <a:ext cx="640080" cy="420624"/>
          </a:xfrm>
          <a:prstGeom prst="rect">
            <a:avLst/>
          </a:prstGeom>
          <a:noFill/>
        </p:spPr>
        <p:txBody>
          <a:bodyPr wrap="square" lIns="45720" tIns="18288" rIns="45720" bIns="18288" anchor="ctr">
            <a:spAutoFit/>
          </a:bodyPr>
          <a:lstStyle/>
          <a:p>
            <a:pPr algn="r">
              <a:spcBef>
                <a:spcPts val="0"/>
              </a:spcBef>
              <a:spcAft>
                <a:spcPts val="0"/>
              </a:spcAft>
            </a:pPr>
            <a:r>
              <a:rPr lang="zh-CN" sz="1050" b="1">
                <a:solidFill>
                  <a:srgbClr val="1F2937"/>
                </a:solidFill>
                <a:latin typeface="Source Han Sans SC" panose="020B0503020204020204" charset="-122"/>
                <a:ea typeface="微软雅黑" panose="020B0503020204020204" charset="-122"/>
              </a:rPr>
              <a:t>1 </a:t>
            </a:r>
            <a:r>
              <a:rPr lang="zh-CN" sz="1050" b="1">
                <a:solidFill>
                  <a:srgbClr val="1F2937"/>
                </a:solidFill>
                <a:latin typeface="Source Han Sans SC" panose="020B0503020204020204" charset="-122"/>
                <a:ea typeface="Source Han Sans SC" panose="020B0503020204020204" charset="-122"/>
              </a:rPr>
              <a:t>天</a:t>
            </a:r>
            <a:endParaRPr lang="zh-CN" sz="1050" b="1">
              <a:solidFill>
                <a:srgbClr val="1F2937"/>
              </a:solidFill>
              <a:latin typeface="微软雅黑" panose="020B0503020204020204" charset="-122"/>
              <a:ea typeface="微软雅黑" panose="020B0503020204020204" charset="-122"/>
            </a:endParaRPr>
          </a:p>
        </p:txBody>
      </p:sp>
      <p:sp>
        <p:nvSpPr>
          <p:cNvPr id="24" name="Rounded Rectangle 23"/>
          <p:cNvSpPr/>
          <p:nvPr/>
        </p:nvSpPr>
        <p:spPr>
          <a:xfrm>
            <a:off x="1417320" y="2816352"/>
            <a:ext cx="621792" cy="420624"/>
          </a:xfrm>
          <a:prstGeom prst="roundRect">
            <a:avLst/>
          </a:prstGeom>
          <a:solidFill>
            <a:srgbClr val="EAF6F7"/>
          </a:solidFill>
          <a:ln w="12700">
            <a:solidFill>
              <a:srgbClr val="1E8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463040" y="2843784"/>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Source Han Sans SC" panose="020B0503020204020204" charset="-122"/>
                <a:ea typeface="微软雅黑" panose="020B0503020204020204" charset="-122"/>
              </a:rPr>
              <a:t>0</a:t>
            </a:r>
            <a:endParaRPr lang="zh-CN" sz="1300" b="1">
              <a:solidFill>
                <a:srgbClr val="1F2937"/>
              </a:solidFill>
              <a:latin typeface="微软雅黑" panose="020B0503020204020204" charset="-122"/>
              <a:ea typeface="微软雅黑" panose="020B0503020204020204" charset="-122"/>
            </a:endParaRPr>
          </a:p>
        </p:txBody>
      </p:sp>
      <p:sp>
        <p:nvSpPr>
          <p:cNvPr id="26" name="Rounded Rectangle 25"/>
          <p:cNvSpPr/>
          <p:nvPr/>
        </p:nvSpPr>
        <p:spPr>
          <a:xfrm>
            <a:off x="2103120" y="2816352"/>
            <a:ext cx="621792" cy="420624"/>
          </a:xfrm>
          <a:prstGeom prst="roundRect">
            <a:avLst/>
          </a:prstGeom>
          <a:solidFill>
            <a:srgbClr val="EAF6F7"/>
          </a:solidFill>
          <a:ln w="12700">
            <a:solidFill>
              <a:srgbClr val="1E8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148839" y="2843784"/>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Source Han Sans SC" panose="020B0503020204020204" charset="-122"/>
                <a:ea typeface="微软雅黑" panose="020B0503020204020204" charset="-122"/>
              </a:rPr>
              <a:t>0</a:t>
            </a:r>
            <a:endParaRPr lang="zh-CN" sz="1300" b="1">
              <a:solidFill>
                <a:srgbClr val="1F2937"/>
              </a:solidFill>
              <a:latin typeface="微软雅黑" panose="020B0503020204020204" charset="-122"/>
              <a:ea typeface="微软雅黑" panose="020B0503020204020204" charset="-122"/>
            </a:endParaRPr>
          </a:p>
        </p:txBody>
      </p:sp>
      <p:sp>
        <p:nvSpPr>
          <p:cNvPr id="28" name="Rounded Rectangle 27"/>
          <p:cNvSpPr/>
          <p:nvPr/>
        </p:nvSpPr>
        <p:spPr>
          <a:xfrm>
            <a:off x="2788920" y="2816352"/>
            <a:ext cx="621792" cy="420624"/>
          </a:xfrm>
          <a:prstGeom prst="roundRect">
            <a:avLst/>
          </a:prstGeom>
          <a:solidFill>
            <a:srgbClr val="FDECEF"/>
          </a:solidFill>
          <a:ln w="12700">
            <a:solidFill>
              <a:srgbClr val="E45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834639" y="2843784"/>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微软雅黑" panose="020B0503020204020204" charset="-122"/>
                <a:ea typeface="微软雅黑" panose="020B0503020204020204" charset="-122"/>
              </a:rPr>
              <a:t>−∞</a:t>
            </a:r>
            <a:endParaRPr lang="zh-CN" sz="1300" b="1">
              <a:solidFill>
                <a:srgbClr val="1F2937"/>
              </a:solidFill>
              <a:latin typeface="微软雅黑" panose="020B0503020204020204" charset="-122"/>
              <a:ea typeface="微软雅黑" panose="020B0503020204020204" charset="-122"/>
            </a:endParaRPr>
          </a:p>
        </p:txBody>
      </p:sp>
      <p:sp>
        <p:nvSpPr>
          <p:cNvPr id="30" name="Rounded Rectangle 29"/>
          <p:cNvSpPr/>
          <p:nvPr/>
        </p:nvSpPr>
        <p:spPr>
          <a:xfrm>
            <a:off x="3474720" y="2816352"/>
            <a:ext cx="621792" cy="420624"/>
          </a:xfrm>
          <a:prstGeom prst="roundRect">
            <a:avLst/>
          </a:prstGeom>
          <a:solidFill>
            <a:srgbClr val="FDECEF"/>
          </a:solidFill>
          <a:ln w="12700">
            <a:solidFill>
              <a:srgbClr val="E458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20439" y="2843784"/>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微软雅黑" panose="020B0503020204020204" charset="-122"/>
                <a:ea typeface="微软雅黑" panose="020B0503020204020204" charset="-122"/>
              </a:rPr>
              <a:t>−∞</a:t>
            </a:r>
            <a:endParaRPr lang="zh-CN" sz="1300" b="1">
              <a:solidFill>
                <a:srgbClr val="1F2937"/>
              </a:solidFill>
              <a:latin typeface="微软雅黑" panose="020B0503020204020204" charset="-122"/>
              <a:ea typeface="微软雅黑" panose="020B0503020204020204" charset="-122"/>
            </a:endParaRPr>
          </a:p>
        </p:txBody>
      </p:sp>
      <p:sp>
        <p:nvSpPr>
          <p:cNvPr id="32" name="TextBox 31"/>
          <p:cNvSpPr txBox="1"/>
          <p:nvPr/>
        </p:nvSpPr>
        <p:spPr>
          <a:xfrm>
            <a:off x="685800" y="3300984"/>
            <a:ext cx="640080" cy="420624"/>
          </a:xfrm>
          <a:prstGeom prst="rect">
            <a:avLst/>
          </a:prstGeom>
          <a:noFill/>
        </p:spPr>
        <p:txBody>
          <a:bodyPr wrap="square" lIns="45720" tIns="18288" rIns="45720" bIns="18288" anchor="ctr">
            <a:spAutoFit/>
          </a:bodyPr>
          <a:lstStyle/>
          <a:p>
            <a:pPr algn="r">
              <a:spcBef>
                <a:spcPts val="0"/>
              </a:spcBef>
              <a:spcAft>
                <a:spcPts val="0"/>
              </a:spcAft>
            </a:pPr>
            <a:r>
              <a:rPr lang="zh-CN" sz="1050" b="1">
                <a:solidFill>
                  <a:srgbClr val="660874"/>
                </a:solidFill>
                <a:latin typeface="Source Han Sans SC" panose="020B0503020204020204" charset="-122"/>
                <a:ea typeface="微软雅黑" panose="020B0503020204020204" charset="-122"/>
              </a:rPr>
              <a:t>2 </a:t>
            </a:r>
            <a:r>
              <a:rPr lang="zh-CN" sz="1050" b="1">
                <a:solidFill>
                  <a:srgbClr val="660874"/>
                </a:solidFill>
                <a:latin typeface="Source Han Sans SC" panose="020B0503020204020204" charset="-122"/>
                <a:ea typeface="Source Han Sans SC" panose="020B0503020204020204" charset="-122"/>
              </a:rPr>
              <a:t>来</a:t>
            </a:r>
            <a:endParaRPr lang="zh-CN" sz="1050" b="1">
              <a:solidFill>
                <a:srgbClr val="660874"/>
              </a:solidFill>
              <a:latin typeface="微软雅黑" panose="020B0503020204020204" charset="-122"/>
              <a:ea typeface="微软雅黑" panose="020B0503020204020204" charset="-122"/>
            </a:endParaRPr>
          </a:p>
        </p:txBody>
      </p:sp>
      <p:sp>
        <p:nvSpPr>
          <p:cNvPr id="33" name="Rounded Rectangle 32"/>
          <p:cNvSpPr/>
          <p:nvPr/>
        </p:nvSpPr>
        <p:spPr>
          <a:xfrm>
            <a:off x="1417320" y="3300984"/>
            <a:ext cx="621792" cy="420624"/>
          </a:xfrm>
          <a:prstGeom prst="roundRect">
            <a:avLst/>
          </a:prstGeom>
          <a:solidFill>
            <a:srgbClr val="EAF6F7"/>
          </a:solidFill>
          <a:ln w="25400">
            <a:solidFill>
              <a:srgbClr val="660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63040" y="3328415"/>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Source Han Sans SC" panose="020B0503020204020204" charset="-122"/>
                <a:ea typeface="微软雅黑" panose="020B0503020204020204" charset="-122"/>
              </a:rPr>
              <a:t>0</a:t>
            </a:r>
            <a:endParaRPr lang="zh-CN" sz="1300" b="1">
              <a:solidFill>
                <a:srgbClr val="1F2937"/>
              </a:solidFill>
              <a:latin typeface="微软雅黑" panose="020B0503020204020204" charset="-122"/>
              <a:ea typeface="微软雅黑" panose="020B0503020204020204" charset="-122"/>
            </a:endParaRPr>
          </a:p>
        </p:txBody>
      </p:sp>
      <p:sp>
        <p:nvSpPr>
          <p:cNvPr id="35" name="Rounded Rectangle 34"/>
          <p:cNvSpPr/>
          <p:nvPr/>
        </p:nvSpPr>
        <p:spPr>
          <a:xfrm>
            <a:off x="2103120" y="3300984"/>
            <a:ext cx="621792" cy="420624"/>
          </a:xfrm>
          <a:prstGeom prst="roundRect">
            <a:avLst/>
          </a:prstGeom>
          <a:solidFill>
            <a:srgbClr val="EAF6F7"/>
          </a:solidFill>
          <a:ln w="25400">
            <a:solidFill>
              <a:srgbClr val="660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48839" y="3328415"/>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Source Han Sans SC" panose="020B0503020204020204" charset="-122"/>
                <a:ea typeface="微软雅黑" panose="020B0503020204020204" charset="-122"/>
              </a:rPr>
              <a:t>0</a:t>
            </a:r>
            <a:endParaRPr lang="zh-CN" sz="1300" b="1">
              <a:solidFill>
                <a:srgbClr val="1F2937"/>
              </a:solidFill>
              <a:latin typeface="微软雅黑" panose="020B0503020204020204" charset="-122"/>
              <a:ea typeface="微软雅黑" panose="020B0503020204020204" charset="-122"/>
            </a:endParaRPr>
          </a:p>
        </p:txBody>
      </p:sp>
      <p:sp>
        <p:nvSpPr>
          <p:cNvPr id="37" name="Rounded Rectangle 36"/>
          <p:cNvSpPr/>
          <p:nvPr/>
        </p:nvSpPr>
        <p:spPr>
          <a:xfrm>
            <a:off x="2788920" y="3300984"/>
            <a:ext cx="621792" cy="420624"/>
          </a:xfrm>
          <a:prstGeom prst="roundRect">
            <a:avLst/>
          </a:prstGeom>
          <a:solidFill>
            <a:srgbClr val="EAF6F7"/>
          </a:solidFill>
          <a:ln w="25400">
            <a:solidFill>
              <a:srgbClr val="660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34639" y="3328415"/>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Source Han Sans SC" panose="020B0503020204020204" charset="-122"/>
                <a:ea typeface="微软雅黑" panose="020B0503020204020204" charset="-122"/>
              </a:rPr>
              <a:t>0</a:t>
            </a:r>
            <a:endParaRPr lang="zh-CN" sz="1300" b="1">
              <a:solidFill>
                <a:srgbClr val="1F2937"/>
              </a:solidFill>
              <a:latin typeface="微软雅黑" panose="020B0503020204020204" charset="-122"/>
              <a:ea typeface="微软雅黑" panose="020B0503020204020204" charset="-122"/>
            </a:endParaRPr>
          </a:p>
        </p:txBody>
      </p:sp>
      <p:sp>
        <p:nvSpPr>
          <p:cNvPr id="39" name="Rounded Rectangle 38"/>
          <p:cNvSpPr/>
          <p:nvPr/>
        </p:nvSpPr>
        <p:spPr>
          <a:xfrm>
            <a:off x="3474720" y="3300984"/>
            <a:ext cx="621792" cy="420624"/>
          </a:xfrm>
          <a:prstGeom prst="roundRect">
            <a:avLst/>
          </a:prstGeom>
          <a:solidFill>
            <a:srgbClr val="FDECEF"/>
          </a:solidFill>
          <a:ln w="25400">
            <a:solidFill>
              <a:srgbClr val="660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20439" y="3328415"/>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微软雅黑" panose="020B0503020204020204" charset="-122"/>
                <a:ea typeface="微软雅黑" panose="020B0503020204020204" charset="-122"/>
              </a:rPr>
              <a:t>−∞</a:t>
            </a:r>
            <a:endParaRPr lang="zh-CN" sz="1300" b="1">
              <a:solidFill>
                <a:srgbClr val="1F2937"/>
              </a:solidFill>
              <a:latin typeface="微软雅黑" panose="020B0503020204020204" charset="-122"/>
              <a:ea typeface="微软雅黑" panose="020B0503020204020204" charset="-122"/>
            </a:endParaRPr>
          </a:p>
        </p:txBody>
      </p:sp>
      <p:sp>
        <p:nvSpPr>
          <p:cNvPr id="41" name="TextBox 40"/>
          <p:cNvSpPr txBox="1"/>
          <p:nvPr/>
        </p:nvSpPr>
        <p:spPr>
          <a:xfrm>
            <a:off x="685800" y="3785615"/>
            <a:ext cx="640080" cy="420624"/>
          </a:xfrm>
          <a:prstGeom prst="rect">
            <a:avLst/>
          </a:prstGeom>
          <a:noFill/>
        </p:spPr>
        <p:txBody>
          <a:bodyPr wrap="square" lIns="45720" tIns="18288" rIns="45720" bIns="18288" anchor="ctr">
            <a:spAutoFit/>
          </a:bodyPr>
          <a:lstStyle/>
          <a:p>
            <a:pPr algn="r">
              <a:spcBef>
                <a:spcPts val="0"/>
              </a:spcBef>
              <a:spcAft>
                <a:spcPts val="0"/>
              </a:spcAft>
            </a:pPr>
            <a:r>
              <a:rPr lang="zh-CN" sz="1050" b="1">
                <a:solidFill>
                  <a:srgbClr val="1F2937"/>
                </a:solidFill>
                <a:latin typeface="Source Han Sans SC" panose="020B0503020204020204" charset="-122"/>
                <a:ea typeface="微软雅黑" panose="020B0503020204020204" charset="-122"/>
              </a:rPr>
              <a:t>3 </a:t>
            </a:r>
            <a:r>
              <a:rPr lang="zh-CN" sz="1050" b="1">
                <a:solidFill>
                  <a:srgbClr val="1F2937"/>
                </a:solidFill>
                <a:latin typeface="Source Han Sans SC" panose="020B0503020204020204" charset="-122"/>
                <a:ea typeface="Source Han Sans SC" panose="020B0503020204020204" charset="-122"/>
              </a:rPr>
              <a:t>了</a:t>
            </a:r>
            <a:endParaRPr lang="zh-CN" sz="1050" b="1">
              <a:solidFill>
                <a:srgbClr val="1F2937"/>
              </a:solidFill>
              <a:latin typeface="微软雅黑" panose="020B0503020204020204" charset="-122"/>
              <a:ea typeface="微软雅黑" panose="020B0503020204020204" charset="-122"/>
            </a:endParaRPr>
          </a:p>
        </p:txBody>
      </p:sp>
      <p:sp>
        <p:nvSpPr>
          <p:cNvPr id="42" name="Rounded Rectangle 41"/>
          <p:cNvSpPr/>
          <p:nvPr/>
        </p:nvSpPr>
        <p:spPr>
          <a:xfrm>
            <a:off x="1417320" y="3785615"/>
            <a:ext cx="621792" cy="420624"/>
          </a:xfrm>
          <a:prstGeom prst="roundRect">
            <a:avLst/>
          </a:prstGeom>
          <a:solidFill>
            <a:srgbClr val="EAF6F7"/>
          </a:solidFill>
          <a:ln w="12700">
            <a:solidFill>
              <a:srgbClr val="1E8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463040" y="3813048"/>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Source Han Sans SC" panose="020B0503020204020204" charset="-122"/>
                <a:ea typeface="微软雅黑" panose="020B0503020204020204" charset="-122"/>
              </a:rPr>
              <a:t>0</a:t>
            </a:r>
            <a:endParaRPr lang="zh-CN" sz="1300" b="1">
              <a:solidFill>
                <a:srgbClr val="1F2937"/>
              </a:solidFill>
              <a:latin typeface="微软雅黑" panose="020B0503020204020204" charset="-122"/>
              <a:ea typeface="微软雅黑" panose="020B0503020204020204" charset="-122"/>
            </a:endParaRPr>
          </a:p>
        </p:txBody>
      </p:sp>
      <p:sp>
        <p:nvSpPr>
          <p:cNvPr id="44" name="Rounded Rectangle 43"/>
          <p:cNvSpPr/>
          <p:nvPr/>
        </p:nvSpPr>
        <p:spPr>
          <a:xfrm>
            <a:off x="2103120" y="3785615"/>
            <a:ext cx="621792" cy="420624"/>
          </a:xfrm>
          <a:prstGeom prst="roundRect">
            <a:avLst/>
          </a:prstGeom>
          <a:solidFill>
            <a:srgbClr val="EAF6F7"/>
          </a:solidFill>
          <a:ln w="12700">
            <a:solidFill>
              <a:srgbClr val="1E8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148839" y="3813048"/>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Source Han Sans SC" panose="020B0503020204020204" charset="-122"/>
                <a:ea typeface="微软雅黑" panose="020B0503020204020204" charset="-122"/>
              </a:rPr>
              <a:t>0</a:t>
            </a:r>
            <a:endParaRPr lang="zh-CN" sz="1300" b="1">
              <a:solidFill>
                <a:srgbClr val="1F2937"/>
              </a:solidFill>
              <a:latin typeface="微软雅黑" panose="020B0503020204020204" charset="-122"/>
              <a:ea typeface="微软雅黑" panose="020B0503020204020204" charset="-122"/>
            </a:endParaRPr>
          </a:p>
        </p:txBody>
      </p:sp>
      <p:sp>
        <p:nvSpPr>
          <p:cNvPr id="46" name="Rounded Rectangle 45"/>
          <p:cNvSpPr/>
          <p:nvPr/>
        </p:nvSpPr>
        <p:spPr>
          <a:xfrm>
            <a:off x="2788920" y="3785615"/>
            <a:ext cx="621792" cy="420624"/>
          </a:xfrm>
          <a:prstGeom prst="roundRect">
            <a:avLst/>
          </a:prstGeom>
          <a:solidFill>
            <a:srgbClr val="EAF6F7"/>
          </a:solidFill>
          <a:ln w="12700">
            <a:solidFill>
              <a:srgbClr val="1E8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834639" y="3813048"/>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Source Han Sans SC" panose="020B0503020204020204" charset="-122"/>
                <a:ea typeface="微软雅黑" panose="020B0503020204020204" charset="-122"/>
              </a:rPr>
              <a:t>0</a:t>
            </a:r>
            <a:endParaRPr lang="zh-CN" sz="1300" b="1">
              <a:solidFill>
                <a:srgbClr val="1F2937"/>
              </a:solidFill>
              <a:latin typeface="微软雅黑" panose="020B0503020204020204" charset="-122"/>
              <a:ea typeface="微软雅黑" panose="020B0503020204020204" charset="-122"/>
            </a:endParaRPr>
          </a:p>
        </p:txBody>
      </p:sp>
      <p:sp>
        <p:nvSpPr>
          <p:cNvPr id="48" name="Rounded Rectangle 47"/>
          <p:cNvSpPr/>
          <p:nvPr/>
        </p:nvSpPr>
        <p:spPr>
          <a:xfrm>
            <a:off x="3474720" y="3785615"/>
            <a:ext cx="621792" cy="420624"/>
          </a:xfrm>
          <a:prstGeom prst="roundRect">
            <a:avLst/>
          </a:prstGeom>
          <a:solidFill>
            <a:srgbClr val="EAF6F7"/>
          </a:solidFill>
          <a:ln w="12700">
            <a:solidFill>
              <a:srgbClr val="1E8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520439" y="3813048"/>
            <a:ext cx="530352" cy="365760"/>
          </a:xfrm>
          <a:prstGeom prst="rect">
            <a:avLst/>
          </a:prstGeom>
          <a:noFill/>
        </p:spPr>
        <p:txBody>
          <a:bodyPr wrap="square" lIns="45720" tIns="18288" rIns="45720" bIns="18288" anchor="ctr">
            <a:spAutoFit/>
          </a:bodyPr>
          <a:lstStyle/>
          <a:p>
            <a:pPr algn="ctr">
              <a:spcBef>
                <a:spcPts val="0"/>
              </a:spcBef>
              <a:spcAft>
                <a:spcPts val="0"/>
              </a:spcAft>
            </a:pPr>
            <a:r>
              <a:rPr lang="zh-CN" sz="1300" b="1">
                <a:solidFill>
                  <a:srgbClr val="1F2937"/>
                </a:solidFill>
                <a:latin typeface="Source Han Sans SC" panose="020B0503020204020204" charset="-122"/>
                <a:ea typeface="微软雅黑" panose="020B0503020204020204" charset="-122"/>
              </a:rPr>
              <a:t>0</a:t>
            </a:r>
            <a:endParaRPr lang="zh-CN" sz="1300" b="1">
              <a:solidFill>
                <a:srgbClr val="1F2937"/>
              </a:solidFill>
              <a:latin typeface="微软雅黑" panose="020B0503020204020204" charset="-122"/>
              <a:ea typeface="微软雅黑" panose="020B0503020204020204" charset="-122"/>
            </a:endParaRPr>
          </a:p>
        </p:txBody>
      </p:sp>
      <p:sp>
        <p:nvSpPr>
          <p:cNvPr id="50" name="TextBox 49"/>
          <p:cNvSpPr txBox="1"/>
          <p:nvPr/>
        </p:nvSpPr>
        <p:spPr>
          <a:xfrm>
            <a:off x="685800" y="4434840"/>
            <a:ext cx="4572000" cy="256032"/>
          </a:xfrm>
          <a:prstGeom prst="rect">
            <a:avLst/>
          </a:prstGeom>
          <a:noFill/>
        </p:spPr>
        <p:txBody>
          <a:bodyPr wrap="square" lIns="45720" tIns="18288" rIns="45720" bIns="18288" anchor="ctr">
            <a:spAutoFit/>
          </a:bodyPr>
          <a:lstStyle/>
          <a:p>
            <a:pPr algn="l">
              <a:spcBef>
                <a:spcPts val="0"/>
              </a:spcBef>
              <a:spcAft>
                <a:spcPts val="0"/>
              </a:spcAft>
            </a:pPr>
            <a:r>
              <a:rPr lang="zh-CN" sz="1050" b="0">
                <a:solidFill>
                  <a:srgbClr val="1F2937"/>
                </a:solidFill>
                <a:latin typeface="Source Han Sans SC" panose="020B0503020204020204" charset="-122"/>
                <a:ea typeface="Source Han Sans SC" panose="020B0503020204020204" charset="-122"/>
              </a:rPr>
              <a:t>过去与当前位置：保留原始</a:t>
            </a:r>
            <a:r>
              <a:rPr lang="zh-CN" sz="1050" b="0">
                <a:solidFill>
                  <a:srgbClr val="1F2937"/>
                </a:solidFill>
                <a:latin typeface="Source Han Sans SC" panose="020B0503020204020204" charset="-122"/>
                <a:ea typeface="微软雅黑" panose="020B0503020204020204" charset="-122"/>
              </a:rPr>
              <a:t> Attention Score</a:t>
            </a:r>
            <a:endParaRPr lang="zh-CN" sz="1050" b="0">
              <a:solidFill>
                <a:srgbClr val="1F2937"/>
              </a:solidFill>
              <a:latin typeface="微软雅黑" panose="020B0503020204020204" charset="-122"/>
              <a:ea typeface="微软雅黑" panose="020B0503020204020204" charset="-122"/>
            </a:endParaRPr>
          </a:p>
        </p:txBody>
      </p:sp>
      <p:sp>
        <p:nvSpPr>
          <p:cNvPr id="51" name="TextBox 50"/>
          <p:cNvSpPr txBox="1"/>
          <p:nvPr/>
        </p:nvSpPr>
        <p:spPr>
          <a:xfrm>
            <a:off x="685800" y="4709160"/>
            <a:ext cx="4572000" cy="256032"/>
          </a:xfrm>
          <a:prstGeom prst="rect">
            <a:avLst/>
          </a:prstGeom>
          <a:noFill/>
        </p:spPr>
        <p:txBody>
          <a:bodyPr wrap="square" lIns="45720" tIns="18288" rIns="45720" bIns="18288" anchor="ctr">
            <a:spAutoFit/>
          </a:bodyPr>
          <a:lstStyle/>
          <a:p>
            <a:pPr algn="l">
              <a:spcBef>
                <a:spcPts val="0"/>
              </a:spcBef>
              <a:spcAft>
                <a:spcPts val="0"/>
              </a:spcAft>
            </a:pPr>
            <a:r>
              <a:rPr lang="zh-CN" sz="1050" b="0">
                <a:solidFill>
                  <a:srgbClr val="1F2937"/>
                </a:solidFill>
                <a:latin typeface="Source Han Sans SC" panose="020B0503020204020204" charset="-122"/>
                <a:ea typeface="Source Han Sans SC" panose="020B0503020204020204" charset="-122"/>
              </a:rPr>
              <a:t>未来位置：加上</a:t>
            </a:r>
            <a:r>
              <a:rPr lang="zh-CN" sz="1050" b="0">
                <a:solidFill>
                  <a:srgbClr val="1F2937"/>
                </a:solidFill>
                <a:latin typeface="Source Han Sans SC" panose="020B0503020204020204" charset="-122"/>
                <a:ea typeface="微软雅黑" panose="020B0503020204020204" charset="-122"/>
              </a:rPr>
              <a:t> −∞</a:t>
            </a:r>
            <a:r>
              <a:rPr lang="zh-CN" sz="1050" b="0">
                <a:solidFill>
                  <a:srgbClr val="1F2937"/>
                </a:solidFill>
                <a:latin typeface="Source Han Sans SC" panose="020B0503020204020204" charset="-122"/>
                <a:ea typeface="Source Han Sans SC" panose="020B0503020204020204" charset="-122"/>
              </a:rPr>
              <a:t>，使</a:t>
            </a:r>
            <a:r>
              <a:rPr lang="zh-CN" sz="1050" b="0">
                <a:solidFill>
                  <a:srgbClr val="1F2937"/>
                </a:solidFill>
                <a:latin typeface="Source Han Sans SC" panose="020B0503020204020204" charset="-122"/>
                <a:ea typeface="微软雅黑" panose="020B0503020204020204" charset="-122"/>
              </a:rPr>
              <a:t> Softmax </a:t>
            </a:r>
            <a:r>
              <a:rPr lang="zh-CN" sz="1050" b="0">
                <a:solidFill>
                  <a:srgbClr val="1F2937"/>
                </a:solidFill>
                <a:latin typeface="Source Han Sans SC" panose="020B0503020204020204" charset="-122"/>
                <a:ea typeface="Source Han Sans SC" panose="020B0503020204020204" charset="-122"/>
              </a:rPr>
              <a:t>后权重为</a:t>
            </a:r>
            <a:r>
              <a:rPr lang="zh-CN" sz="1050" b="0">
                <a:solidFill>
                  <a:srgbClr val="1F2937"/>
                </a:solidFill>
                <a:latin typeface="Source Han Sans SC" panose="020B0503020204020204" charset="-122"/>
                <a:ea typeface="微软雅黑" panose="020B0503020204020204" charset="-122"/>
              </a:rPr>
              <a:t> 0</a:t>
            </a:r>
            <a:endParaRPr lang="zh-CN" sz="1050" b="0">
              <a:solidFill>
                <a:srgbClr val="1F2937"/>
              </a:solidFill>
              <a:latin typeface="微软雅黑" panose="020B0503020204020204" charset="-122"/>
              <a:ea typeface="微软雅黑" panose="020B0503020204020204" charset="-122"/>
            </a:endParaRPr>
          </a:p>
        </p:txBody>
      </p:sp>
      <p:sp>
        <p:nvSpPr>
          <p:cNvPr id="52" name="TextBox 51"/>
          <p:cNvSpPr txBox="1"/>
          <p:nvPr/>
        </p:nvSpPr>
        <p:spPr>
          <a:xfrm>
            <a:off x="685800" y="5010912"/>
            <a:ext cx="4572000" cy="256032"/>
          </a:xfrm>
          <a:prstGeom prst="rect">
            <a:avLst/>
          </a:prstGeom>
          <a:noFill/>
        </p:spPr>
        <p:txBody>
          <a:bodyPr wrap="square" lIns="45720" tIns="18288" rIns="45720" bIns="18288" anchor="ctr">
            <a:spAutoFit/>
          </a:bodyPr>
          <a:lstStyle/>
          <a:p>
            <a:pPr algn="l">
              <a:spcBef>
                <a:spcPts val="0"/>
              </a:spcBef>
              <a:spcAft>
                <a:spcPts val="0"/>
              </a:spcAft>
            </a:pPr>
            <a:r>
              <a:rPr lang="zh-CN" sz="1050" b="0">
                <a:solidFill>
                  <a:srgbClr val="5F6B7A"/>
                </a:solidFill>
                <a:latin typeface="Source Han Sans SC" panose="020B0503020204020204" charset="-122"/>
                <a:ea typeface="微软雅黑" panose="020B0503020204020204" charset="-122"/>
              </a:rPr>
              <a:t>mask[i,j] = 0  (j ≤ i)；mask[i,j] = −∞  (j &gt; i)</a:t>
            </a:r>
            <a:endParaRPr lang="zh-CN" sz="1050" b="0">
              <a:solidFill>
                <a:srgbClr val="5F6B7A"/>
              </a:solidFill>
              <a:latin typeface="微软雅黑" panose="020B0503020204020204" charset="-122"/>
              <a:ea typeface="微软雅黑" panose="020B0503020204020204" charset="-122"/>
            </a:endParaRPr>
          </a:p>
        </p:txBody>
      </p:sp>
      <p:sp>
        <p:nvSpPr>
          <p:cNvPr id="53" name="Right Arrow 52"/>
          <p:cNvSpPr/>
          <p:nvPr/>
        </p:nvSpPr>
        <p:spPr>
          <a:xfrm>
            <a:off x="5074920" y="2862072"/>
            <a:ext cx="475488" cy="256032"/>
          </a:xfrm>
          <a:prstGeom prst="rightArrow">
            <a:avLst/>
          </a:prstGeom>
          <a:solidFill>
            <a:srgbClr val="660874"/>
          </a:solidFill>
          <a:ln>
            <a:solidFill>
              <a:srgbClr val="660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315968" y="2542032"/>
            <a:ext cx="1591056" cy="301752"/>
          </a:xfrm>
          <a:prstGeom prst="rect">
            <a:avLst/>
          </a:prstGeom>
          <a:noFill/>
        </p:spPr>
        <p:txBody>
          <a:bodyPr wrap="square" lIns="45720" tIns="18288" rIns="45720" bIns="18288" anchor="ctr">
            <a:spAutoFit/>
          </a:bodyPr>
          <a:lstStyle/>
          <a:p>
            <a:pPr algn="ctr">
              <a:lnSpc>
                <a:spcPct val="100000"/>
              </a:lnSpc>
              <a:spcBef>
                <a:spcPts val="0"/>
              </a:spcBef>
              <a:spcAft>
                <a:spcPts val="0"/>
              </a:spcAft>
            </a:pPr>
            <a:r>
              <a:rPr lang="zh-CN" altLang="en-US" sz="980" b="1">
                <a:solidFill>
                  <a:srgbClr val="5F6B7A"/>
                </a:solidFill>
                <a:latin typeface="Source Han Sans SC"/>
                <a:ea typeface="Source Han Sans SC"/>
              </a:rPr>
              <a:t>② </a:t>
            </a:r>
            <a:r>
              <a:rPr lang="zh-CN" altLang="en-US" sz="980" b="1">
                <a:solidFill>
                  <a:srgbClr val="5F6B7A"/>
                </a:solidFill>
                <a:latin typeface="Source Han Sans SC"/>
                <a:ea typeface="Source Han Sans SC"/>
              </a:rPr>
              <a:t>取</a:t>
            </a:r>
            <a:r>
              <a:rPr lang="zh-CN" altLang="en-US" sz="980" b="1">
                <a:solidFill>
                  <a:srgbClr val="5F6B7A"/>
                </a:solidFill>
                <a:latin typeface="Source Han Sans SC"/>
                <a:ea typeface="Source Han Sans SC"/>
              </a:rPr>
              <a:t>“</a:t>
            </a:r>
            <a:r>
              <a:rPr lang="zh-CN" altLang="en-US" sz="980" b="1">
                <a:solidFill>
                  <a:srgbClr val="5F6B7A"/>
                </a:solidFill>
                <a:latin typeface="Source Han Sans SC"/>
                <a:ea typeface="Source Han Sans SC"/>
              </a:rPr>
              <a:t>来</a:t>
            </a:r>
            <a:r>
              <a:rPr lang="zh-CN" altLang="en-US" sz="980" b="1">
                <a:solidFill>
                  <a:srgbClr val="5F6B7A"/>
                </a:solidFill>
                <a:latin typeface="Source Han Sans SC"/>
                <a:ea typeface="Source Han Sans SC"/>
              </a:rPr>
              <a:t>”</a:t>
            </a:r>
            <a:r>
              <a:rPr lang="zh-CN" altLang="en-US" sz="980" b="1">
                <a:solidFill>
                  <a:srgbClr val="5F6B7A"/>
                </a:solidFill>
                <a:latin typeface="Source Han Sans SC"/>
                <a:ea typeface="Source Han Sans SC"/>
              </a:rPr>
              <a:t>的第</a:t>
            </a:r>
            <a:r>
              <a:rPr lang="zh-CN" altLang="en-US" sz="980" b="1">
                <a:solidFill>
                  <a:srgbClr val="5F6B7A"/>
                </a:solidFill>
                <a:latin typeface="Source Han Sans SC"/>
                <a:ea typeface="Source Han Sans SC"/>
              </a:rPr>
              <a:t> 2 </a:t>
            </a:r>
            <a:r>
              <a:rPr lang="zh-CN" altLang="en-US" sz="980" b="1">
                <a:solidFill>
                  <a:srgbClr val="5F6B7A"/>
                </a:solidFill>
                <a:latin typeface="Source Han Sans SC"/>
                <a:ea typeface="Source Han Sans SC"/>
              </a:rPr>
              <a:t>行</a:t>
            </a:r>
            <a:endParaRPr lang="zh-CN" sz="1000" b="0">
              <a:solidFill>
                <a:srgbClr val="5F6B7A"/>
              </a:solidFill>
              <a:latin typeface="微软雅黑" panose="020B0503020204020204" charset="-122"/>
              <a:ea typeface="微软雅黑" panose="020B0503020204020204" charset="-122"/>
            </a:endParaRPr>
          </a:p>
        </p:txBody>
      </p:sp>
      <p:sp>
        <p:nvSpPr>
          <p:cNvPr id="55" name="TextBox 54"/>
          <p:cNvSpPr txBox="1"/>
          <p:nvPr/>
        </p:nvSpPr>
        <p:spPr>
          <a:xfrm>
            <a:off x="5715000" y="1527048"/>
            <a:ext cx="5669280" cy="329184"/>
          </a:xfrm>
          <a:prstGeom prst="rect">
            <a:avLst/>
          </a:prstGeom>
          <a:noFill/>
        </p:spPr>
        <p:txBody>
          <a:bodyPr wrap="square" lIns="45720" tIns="18288" rIns="45720" bIns="18288" anchor="ctr">
            <a:spAutoFit/>
          </a:bodyPr>
          <a:lstStyle/>
          <a:p>
            <a:pPr algn="l">
              <a:lnSpc>
                <a:spcPct val="100000"/>
              </a:lnSpc>
              <a:spcBef>
                <a:spcPts val="0"/>
              </a:spcBef>
              <a:spcAft>
                <a:spcPts val="0"/>
              </a:spcAft>
            </a:pPr>
            <a:r>
              <a:rPr lang="zh-CN" altLang="en-US" sz="1600" b="1">
                <a:solidFill>
                  <a:srgbClr val="1F2937"/>
                </a:solidFill>
                <a:latin typeface="Source Han Sans SC"/>
                <a:ea typeface="Source Han Sans SC"/>
              </a:rPr>
              <a:t>③ Mask </a:t>
            </a:r>
            <a:r>
              <a:rPr lang="zh-CN" altLang="en-US" sz="1600" b="1">
                <a:solidFill>
                  <a:srgbClr val="1F2937"/>
                </a:solidFill>
                <a:latin typeface="Source Han Sans SC"/>
                <a:ea typeface="Source Han Sans SC"/>
              </a:rPr>
              <a:t>加到</a:t>
            </a:r>
            <a:r>
              <a:rPr lang="zh-CN" altLang="en-US" sz="1600" b="1">
                <a:solidFill>
                  <a:srgbClr val="1F2937"/>
                </a:solidFill>
                <a:latin typeface="Source Han Sans SC"/>
                <a:ea typeface="Source Han Sans SC"/>
              </a:rPr>
              <a:t> Attention Score</a:t>
            </a:r>
            <a:endParaRPr lang="zh-CN" sz="1700" b="1">
              <a:solidFill>
                <a:srgbClr val="1F2937"/>
              </a:solidFill>
              <a:latin typeface="微软雅黑" panose="020B0503020204020204" charset="-122"/>
              <a:ea typeface="微软雅黑" panose="020B0503020204020204" charset="-122"/>
            </a:endParaRPr>
          </a:p>
        </p:txBody>
      </p:sp>
      <p:sp>
        <p:nvSpPr>
          <p:cNvPr id="56" name="TextBox 55"/>
          <p:cNvSpPr txBox="1"/>
          <p:nvPr/>
        </p:nvSpPr>
        <p:spPr>
          <a:xfrm>
            <a:off x="5715000" y="1847088"/>
            <a:ext cx="5669280" cy="237744"/>
          </a:xfrm>
          <a:prstGeom prst="rect">
            <a:avLst/>
          </a:prstGeom>
          <a:noFill/>
        </p:spPr>
        <p:txBody>
          <a:bodyPr wrap="square" lIns="45720" tIns="18288" rIns="45720" bIns="18288" anchor="ctr">
            <a:spAutoFit/>
          </a:bodyPr>
          <a:lstStyle/>
          <a:p>
            <a:pPr algn="l">
              <a:lnSpc>
                <a:spcPct val="100000"/>
              </a:lnSpc>
              <a:spcBef>
                <a:spcPts val="0"/>
              </a:spcBef>
              <a:spcAft>
                <a:spcPts val="0"/>
              </a:spcAft>
            </a:pPr>
            <a:r>
              <a:rPr lang="zh-CN" altLang="en-US" sz="1080" b="0">
                <a:solidFill>
                  <a:srgbClr val="5F6B7A"/>
                </a:solidFill>
                <a:latin typeface="Source Han Sans SC"/>
                <a:ea typeface="Source Han Sans SC"/>
              </a:rPr>
              <a:t>Attention Score（</a:t>
            </a:r>
            <a:r>
              <a:rPr lang="zh-CN" altLang="en-US" sz="1080" b="0">
                <a:solidFill>
                  <a:srgbClr val="5F6B7A"/>
                </a:solidFill>
                <a:latin typeface="Source Han Sans SC"/>
                <a:ea typeface="Source Han Sans SC"/>
              </a:rPr>
              <a:t>注意力分数</a:t>
            </a:r>
            <a:r>
              <a:rPr lang="zh-CN" altLang="en-US" sz="1080" b="0">
                <a:solidFill>
                  <a:srgbClr val="5F6B7A"/>
                </a:solidFill>
                <a:latin typeface="Source Han Sans SC"/>
                <a:ea typeface="Source Han Sans SC"/>
              </a:rPr>
              <a:t>）：Query </a:t>
            </a:r>
            <a:r>
              <a:rPr lang="zh-CN" altLang="en-US" sz="1080" b="0">
                <a:solidFill>
                  <a:srgbClr val="5F6B7A"/>
                </a:solidFill>
                <a:latin typeface="Source Han Sans SC"/>
                <a:ea typeface="Source Han Sans SC"/>
              </a:rPr>
              <a:t>与各</a:t>
            </a:r>
            <a:r>
              <a:rPr lang="zh-CN" altLang="en-US" sz="1080" b="0">
                <a:solidFill>
                  <a:srgbClr val="5F6B7A"/>
                </a:solidFill>
                <a:latin typeface="Source Han Sans SC"/>
                <a:ea typeface="Source Han Sans SC"/>
              </a:rPr>
              <a:t> Key </a:t>
            </a:r>
            <a:r>
              <a:rPr lang="zh-CN" altLang="en-US" sz="1080" b="0">
                <a:solidFill>
                  <a:srgbClr val="5F6B7A"/>
                </a:solidFill>
                <a:latin typeface="Source Han Sans SC"/>
                <a:ea typeface="Source Han Sans SC"/>
              </a:rPr>
              <a:t>的匹配程度</a:t>
            </a:r>
            <a:r>
              <a:rPr lang="zh-CN" altLang="en-US" sz="1080" b="0">
                <a:solidFill>
                  <a:srgbClr val="5F6B7A"/>
                </a:solidFill>
                <a:latin typeface="Source Han Sans SC"/>
                <a:ea typeface="Source Han Sans SC"/>
              </a:rPr>
              <a:t>。</a:t>
            </a:r>
            <a:endParaRPr lang="zh-CN" sz="1050" b="0">
              <a:solidFill>
                <a:srgbClr val="5F6B7A"/>
              </a:solidFill>
              <a:latin typeface="微软雅黑" panose="020B0503020204020204" charset="-122"/>
              <a:ea typeface="微软雅黑" panose="020B0503020204020204" charset="-122"/>
            </a:endParaRPr>
          </a:p>
        </p:txBody>
      </p:sp>
      <p:sp>
        <p:nvSpPr>
          <p:cNvPr id="57" name="TextBox 56"/>
          <p:cNvSpPr txBox="1"/>
          <p:nvPr/>
        </p:nvSpPr>
        <p:spPr>
          <a:xfrm>
            <a:off x="7287768" y="2103120"/>
            <a:ext cx="932688" cy="274320"/>
          </a:xfrm>
          <a:prstGeom prst="rect">
            <a:avLst/>
          </a:prstGeom>
          <a:noFill/>
        </p:spPr>
        <p:txBody>
          <a:bodyPr wrap="square" lIns="45720" tIns="18288" rIns="45720" bIns="18288" anchor="ctr">
            <a:spAutoFit/>
          </a:bodyPr>
          <a:lstStyle/>
          <a:p>
            <a:pPr algn="ctr">
              <a:spcBef>
                <a:spcPts val="0"/>
              </a:spcBef>
              <a:spcAft>
                <a:spcPts val="0"/>
              </a:spcAft>
            </a:pPr>
            <a:r>
              <a:rPr lang="zh-CN" sz="1050" b="1">
                <a:solidFill>
                  <a:srgbClr val="1F2937"/>
                </a:solidFill>
                <a:latin typeface="Source Han Sans SC" panose="020B0503020204020204" charset="-122"/>
                <a:ea typeface="Source Han Sans SC" panose="020B0503020204020204" charset="-122"/>
              </a:rPr>
              <a:t>春</a:t>
            </a:r>
            <a:endParaRPr lang="zh-CN" sz="1050" b="1">
              <a:solidFill>
                <a:srgbClr val="1F2937"/>
              </a:solidFill>
              <a:latin typeface="微软雅黑" panose="020B0503020204020204" charset="-122"/>
              <a:ea typeface="微软雅黑" panose="020B0503020204020204" charset="-122"/>
            </a:endParaRPr>
          </a:p>
        </p:txBody>
      </p:sp>
      <p:sp>
        <p:nvSpPr>
          <p:cNvPr id="58" name="TextBox 57"/>
          <p:cNvSpPr txBox="1"/>
          <p:nvPr/>
        </p:nvSpPr>
        <p:spPr>
          <a:xfrm>
            <a:off x="8220456" y="2103120"/>
            <a:ext cx="932688" cy="274320"/>
          </a:xfrm>
          <a:prstGeom prst="rect">
            <a:avLst/>
          </a:prstGeom>
          <a:noFill/>
        </p:spPr>
        <p:txBody>
          <a:bodyPr wrap="square" lIns="45720" tIns="18288" rIns="45720" bIns="18288" anchor="ctr">
            <a:spAutoFit/>
          </a:bodyPr>
          <a:lstStyle/>
          <a:p>
            <a:pPr algn="ctr">
              <a:spcBef>
                <a:spcPts val="0"/>
              </a:spcBef>
              <a:spcAft>
                <a:spcPts val="0"/>
              </a:spcAft>
            </a:pPr>
            <a:r>
              <a:rPr lang="zh-CN" sz="1050" b="1">
                <a:solidFill>
                  <a:srgbClr val="1F2937"/>
                </a:solidFill>
                <a:latin typeface="Source Han Sans SC" panose="020B0503020204020204" charset="-122"/>
                <a:ea typeface="Source Han Sans SC" panose="020B0503020204020204" charset="-122"/>
              </a:rPr>
              <a:t>天</a:t>
            </a:r>
            <a:endParaRPr lang="zh-CN" sz="1050" b="1">
              <a:solidFill>
                <a:srgbClr val="1F2937"/>
              </a:solidFill>
              <a:latin typeface="微软雅黑" panose="020B0503020204020204" charset="-122"/>
              <a:ea typeface="微软雅黑" panose="020B0503020204020204" charset="-122"/>
            </a:endParaRPr>
          </a:p>
        </p:txBody>
      </p:sp>
      <p:sp>
        <p:nvSpPr>
          <p:cNvPr id="59" name="TextBox 58"/>
          <p:cNvSpPr txBox="1"/>
          <p:nvPr/>
        </p:nvSpPr>
        <p:spPr>
          <a:xfrm>
            <a:off x="9153144" y="2103120"/>
            <a:ext cx="932688" cy="274320"/>
          </a:xfrm>
          <a:prstGeom prst="rect">
            <a:avLst/>
          </a:prstGeom>
          <a:noFill/>
        </p:spPr>
        <p:txBody>
          <a:bodyPr wrap="square" lIns="45720" tIns="18288" rIns="45720" bIns="18288" anchor="ctr">
            <a:spAutoFit/>
          </a:bodyPr>
          <a:lstStyle/>
          <a:p>
            <a:pPr algn="ctr">
              <a:spcBef>
                <a:spcPts val="0"/>
              </a:spcBef>
              <a:spcAft>
                <a:spcPts val="0"/>
              </a:spcAft>
            </a:pPr>
            <a:r>
              <a:rPr lang="zh-CN" sz="1050" b="1">
                <a:solidFill>
                  <a:srgbClr val="1F2937"/>
                </a:solidFill>
                <a:latin typeface="Source Han Sans SC" panose="020B0503020204020204" charset="-122"/>
                <a:ea typeface="Source Han Sans SC" panose="020B0503020204020204" charset="-122"/>
              </a:rPr>
              <a:t>来</a:t>
            </a:r>
            <a:endParaRPr lang="zh-CN" sz="1050" b="1">
              <a:solidFill>
                <a:srgbClr val="1F2937"/>
              </a:solidFill>
              <a:latin typeface="微软雅黑" panose="020B0503020204020204" charset="-122"/>
              <a:ea typeface="微软雅黑" panose="020B0503020204020204" charset="-122"/>
            </a:endParaRPr>
          </a:p>
        </p:txBody>
      </p:sp>
      <p:sp>
        <p:nvSpPr>
          <p:cNvPr id="60" name="TextBox 59"/>
          <p:cNvSpPr txBox="1"/>
          <p:nvPr/>
        </p:nvSpPr>
        <p:spPr>
          <a:xfrm>
            <a:off x="10085832" y="2103120"/>
            <a:ext cx="932688" cy="274320"/>
          </a:xfrm>
          <a:prstGeom prst="rect">
            <a:avLst/>
          </a:prstGeom>
          <a:noFill/>
        </p:spPr>
        <p:txBody>
          <a:bodyPr wrap="square" lIns="45720" tIns="18288" rIns="45720" bIns="18288" anchor="ctr">
            <a:spAutoFit/>
          </a:bodyPr>
          <a:lstStyle/>
          <a:p>
            <a:pPr algn="ctr">
              <a:spcBef>
                <a:spcPts val="0"/>
              </a:spcBef>
              <a:spcAft>
                <a:spcPts val="0"/>
              </a:spcAft>
            </a:pPr>
            <a:r>
              <a:rPr lang="zh-CN" sz="1050" b="1">
                <a:solidFill>
                  <a:srgbClr val="1F2937"/>
                </a:solidFill>
                <a:latin typeface="Source Han Sans SC" panose="020B0503020204020204" charset="-122"/>
                <a:ea typeface="Source Han Sans SC" panose="020B0503020204020204" charset="-122"/>
              </a:rPr>
              <a:t>了（未来）</a:t>
            </a:r>
            <a:endParaRPr lang="zh-CN" sz="1050" b="1">
              <a:solidFill>
                <a:srgbClr val="1F2937"/>
              </a:solidFill>
              <a:latin typeface="微软雅黑" panose="020B0503020204020204" charset="-122"/>
              <a:ea typeface="微软雅黑" panose="020B0503020204020204" charset="-122"/>
            </a:endParaRPr>
          </a:p>
        </p:txBody>
      </p:sp>
      <p:sp>
        <p:nvSpPr>
          <p:cNvPr id="61" name="Rounded Rectangle 60"/>
          <p:cNvSpPr/>
          <p:nvPr/>
        </p:nvSpPr>
        <p:spPr>
          <a:xfrm>
            <a:off x="5715000" y="2423160"/>
            <a:ext cx="5303520" cy="502920"/>
          </a:xfrm>
          <a:prstGeom prst="roundRect">
            <a:avLst/>
          </a:prstGeom>
          <a:solidFill>
            <a:srgbClr val="F5F7FA"/>
          </a:solidFill>
          <a:ln w="12700">
            <a:solidFill>
              <a:srgbClr val="F5F7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824728" y="2450591"/>
            <a:ext cx="1444752" cy="448056"/>
          </a:xfrm>
          <a:prstGeom prst="rect">
            <a:avLst/>
          </a:prstGeom>
          <a:noFill/>
        </p:spPr>
        <p:txBody>
          <a:bodyPr wrap="square" lIns="45720" tIns="18288" rIns="45720" bIns="18288" anchor="ctr">
            <a:spAutoFit/>
          </a:bodyPr>
          <a:lstStyle/>
          <a:p>
            <a:pPr algn="l">
              <a:spcBef>
                <a:spcPts val="0"/>
              </a:spcBef>
              <a:spcAft>
                <a:spcPts val="0"/>
              </a:spcAft>
            </a:pPr>
            <a:r>
              <a:rPr lang="zh-CN" sz="1050" b="1">
                <a:solidFill>
                  <a:srgbClr val="1F2937"/>
                </a:solidFill>
                <a:latin typeface="Source Han Sans SC" panose="020B0503020204020204" charset="-122"/>
                <a:ea typeface="Source Han Sans SC" panose="020B0503020204020204" charset="-122"/>
              </a:rPr>
              <a:t>原始</a:t>
            </a:r>
            <a:r>
              <a:rPr lang="zh-CN" sz="1050" b="1">
                <a:solidFill>
                  <a:srgbClr val="1F2937"/>
                </a:solidFill>
                <a:latin typeface="Source Han Sans SC" panose="020B0503020204020204" charset="-122"/>
                <a:ea typeface="微软雅黑" panose="020B0503020204020204" charset="-122"/>
              </a:rPr>
              <a:t> Score</a:t>
            </a:r>
            <a:endParaRPr lang="zh-CN" sz="1050" b="1">
              <a:solidFill>
                <a:srgbClr val="1F2937"/>
              </a:solidFill>
              <a:latin typeface="微软雅黑" panose="020B0503020204020204" charset="-122"/>
              <a:ea typeface="微软雅黑" panose="020B0503020204020204" charset="-122"/>
            </a:endParaRPr>
          </a:p>
        </p:txBody>
      </p:sp>
      <p:sp>
        <p:nvSpPr>
          <p:cNvPr id="63" name="TextBox 62"/>
          <p:cNvSpPr txBox="1"/>
          <p:nvPr/>
        </p:nvSpPr>
        <p:spPr>
          <a:xfrm>
            <a:off x="7287768" y="2450591"/>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Source Han Sans SC" panose="020B0503020204020204" charset="-122"/>
                <a:ea typeface="微软雅黑" panose="020B0503020204020204" charset="-122"/>
              </a:rPr>
              <a:t>1.0</a:t>
            </a:r>
            <a:endParaRPr lang="zh-CN" sz="1200" b="1">
              <a:solidFill>
                <a:srgbClr val="1F2937"/>
              </a:solidFill>
              <a:latin typeface="微软雅黑" panose="020B0503020204020204" charset="-122"/>
              <a:ea typeface="微软雅黑" panose="020B0503020204020204" charset="-122"/>
            </a:endParaRPr>
          </a:p>
        </p:txBody>
      </p:sp>
      <p:sp>
        <p:nvSpPr>
          <p:cNvPr id="64" name="TextBox 63"/>
          <p:cNvSpPr txBox="1"/>
          <p:nvPr/>
        </p:nvSpPr>
        <p:spPr>
          <a:xfrm>
            <a:off x="8220456" y="2450591"/>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Source Han Sans SC" panose="020B0503020204020204" charset="-122"/>
                <a:ea typeface="微软雅黑" panose="020B0503020204020204" charset="-122"/>
              </a:rPr>
              <a:t>0.5</a:t>
            </a:r>
            <a:endParaRPr lang="zh-CN" sz="1200" b="1">
              <a:solidFill>
                <a:srgbClr val="1F2937"/>
              </a:solidFill>
              <a:latin typeface="微软雅黑" panose="020B0503020204020204" charset="-122"/>
              <a:ea typeface="微软雅黑" panose="020B0503020204020204" charset="-122"/>
            </a:endParaRPr>
          </a:p>
        </p:txBody>
      </p:sp>
      <p:sp>
        <p:nvSpPr>
          <p:cNvPr id="65" name="TextBox 64"/>
          <p:cNvSpPr txBox="1"/>
          <p:nvPr/>
        </p:nvSpPr>
        <p:spPr>
          <a:xfrm>
            <a:off x="9153144" y="2450591"/>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Source Han Sans SC" panose="020B0503020204020204" charset="-122"/>
                <a:ea typeface="微软雅黑" panose="020B0503020204020204" charset="-122"/>
              </a:rPr>
              <a:t>1.5</a:t>
            </a:r>
            <a:endParaRPr lang="zh-CN" sz="1200" b="1">
              <a:solidFill>
                <a:srgbClr val="1F2937"/>
              </a:solidFill>
              <a:latin typeface="微软雅黑" panose="020B0503020204020204" charset="-122"/>
              <a:ea typeface="微软雅黑" panose="020B0503020204020204" charset="-122"/>
            </a:endParaRPr>
          </a:p>
        </p:txBody>
      </p:sp>
      <p:sp>
        <p:nvSpPr>
          <p:cNvPr id="66" name="TextBox 65"/>
          <p:cNvSpPr txBox="1"/>
          <p:nvPr/>
        </p:nvSpPr>
        <p:spPr>
          <a:xfrm>
            <a:off x="10085832" y="2450591"/>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Source Han Sans SC" panose="020B0503020204020204" charset="-122"/>
                <a:ea typeface="微软雅黑" panose="020B0503020204020204" charset="-122"/>
              </a:rPr>
              <a:t>0.7</a:t>
            </a:r>
            <a:endParaRPr lang="zh-CN" sz="1200" b="1">
              <a:solidFill>
                <a:srgbClr val="1F2937"/>
              </a:solidFill>
              <a:latin typeface="微软雅黑" panose="020B0503020204020204" charset="-122"/>
              <a:ea typeface="微软雅黑" panose="020B0503020204020204" charset="-122"/>
            </a:endParaRPr>
          </a:p>
        </p:txBody>
      </p:sp>
      <p:sp>
        <p:nvSpPr>
          <p:cNvPr id="67" name="Rounded Rectangle 66"/>
          <p:cNvSpPr/>
          <p:nvPr/>
        </p:nvSpPr>
        <p:spPr>
          <a:xfrm>
            <a:off x="5715000" y="3008376"/>
            <a:ext cx="5303520" cy="502920"/>
          </a:xfrm>
          <a:prstGeom prst="roundRect">
            <a:avLst/>
          </a:prstGeom>
          <a:solidFill>
            <a:srgbClr val="F4EEF7"/>
          </a:solidFill>
          <a:ln w="12700">
            <a:solidFill>
              <a:srgbClr val="F4E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824728" y="3035808"/>
            <a:ext cx="1444752" cy="448056"/>
          </a:xfrm>
          <a:prstGeom prst="rect">
            <a:avLst/>
          </a:prstGeom>
          <a:noFill/>
        </p:spPr>
        <p:txBody>
          <a:bodyPr wrap="square" lIns="45720" tIns="18288" rIns="45720" bIns="18288" anchor="ctr">
            <a:spAutoFit/>
          </a:bodyPr>
          <a:lstStyle/>
          <a:p>
            <a:pPr algn="l">
              <a:lnSpc>
                <a:spcPct val="100000"/>
              </a:lnSpc>
              <a:spcBef>
                <a:spcPts val="0"/>
              </a:spcBef>
              <a:spcAft>
                <a:spcPts val="0"/>
              </a:spcAft>
            </a:pPr>
            <a:r>
              <a:rPr lang="zh-CN" altLang="en-US" sz="1120" b="1">
                <a:solidFill>
                  <a:srgbClr val="1F2937"/>
                </a:solidFill>
                <a:latin typeface="Source Han Sans SC"/>
                <a:ea typeface="Source Han Sans SC"/>
              </a:rPr>
              <a:t>+ Causal Mask</a:t>
            </a:r>
            <a:endParaRPr lang="zh-CN" sz="1050" b="1">
              <a:solidFill>
                <a:srgbClr val="1F2937"/>
              </a:solidFill>
              <a:latin typeface="微软雅黑" panose="020B0503020204020204" charset="-122"/>
              <a:ea typeface="微软雅黑" panose="020B0503020204020204" charset="-122"/>
            </a:endParaRPr>
          </a:p>
        </p:txBody>
      </p:sp>
      <p:sp>
        <p:nvSpPr>
          <p:cNvPr id="69" name="TextBox 68"/>
          <p:cNvSpPr txBox="1"/>
          <p:nvPr/>
        </p:nvSpPr>
        <p:spPr>
          <a:xfrm>
            <a:off x="7287768" y="3035808"/>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Source Han Sans SC" panose="020B0503020204020204" charset="-122"/>
                <a:ea typeface="微软雅黑" panose="020B0503020204020204" charset="-122"/>
              </a:rPr>
              <a:t>0</a:t>
            </a:r>
            <a:endParaRPr lang="zh-CN" sz="1200" b="1">
              <a:solidFill>
                <a:srgbClr val="1F2937"/>
              </a:solidFill>
              <a:latin typeface="微软雅黑" panose="020B0503020204020204" charset="-122"/>
              <a:ea typeface="微软雅黑" panose="020B0503020204020204" charset="-122"/>
            </a:endParaRPr>
          </a:p>
        </p:txBody>
      </p:sp>
      <p:sp>
        <p:nvSpPr>
          <p:cNvPr id="70" name="TextBox 69"/>
          <p:cNvSpPr txBox="1"/>
          <p:nvPr/>
        </p:nvSpPr>
        <p:spPr>
          <a:xfrm>
            <a:off x="8220456" y="3035808"/>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Source Han Sans SC" panose="020B0503020204020204" charset="-122"/>
                <a:ea typeface="微软雅黑" panose="020B0503020204020204" charset="-122"/>
              </a:rPr>
              <a:t>0</a:t>
            </a:r>
            <a:endParaRPr lang="zh-CN" sz="1200" b="1">
              <a:solidFill>
                <a:srgbClr val="1F2937"/>
              </a:solidFill>
              <a:latin typeface="微软雅黑" panose="020B0503020204020204" charset="-122"/>
              <a:ea typeface="微软雅黑" panose="020B0503020204020204" charset="-122"/>
            </a:endParaRPr>
          </a:p>
        </p:txBody>
      </p:sp>
      <p:sp>
        <p:nvSpPr>
          <p:cNvPr id="71" name="TextBox 70"/>
          <p:cNvSpPr txBox="1"/>
          <p:nvPr/>
        </p:nvSpPr>
        <p:spPr>
          <a:xfrm>
            <a:off x="9153144" y="3035808"/>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Source Han Sans SC" panose="020B0503020204020204" charset="-122"/>
                <a:ea typeface="微软雅黑" panose="020B0503020204020204" charset="-122"/>
              </a:rPr>
              <a:t>0</a:t>
            </a:r>
            <a:endParaRPr lang="zh-CN" sz="1200" b="1">
              <a:solidFill>
                <a:srgbClr val="1F2937"/>
              </a:solidFill>
              <a:latin typeface="微软雅黑" panose="020B0503020204020204" charset="-122"/>
              <a:ea typeface="微软雅黑" panose="020B0503020204020204" charset="-122"/>
            </a:endParaRPr>
          </a:p>
        </p:txBody>
      </p:sp>
      <p:sp>
        <p:nvSpPr>
          <p:cNvPr id="72" name="TextBox 71"/>
          <p:cNvSpPr txBox="1"/>
          <p:nvPr/>
        </p:nvSpPr>
        <p:spPr>
          <a:xfrm>
            <a:off x="10085832" y="3035808"/>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微软雅黑" panose="020B0503020204020204" charset="-122"/>
                <a:ea typeface="微软雅黑" panose="020B0503020204020204" charset="-122"/>
              </a:rPr>
              <a:t>−∞</a:t>
            </a:r>
            <a:endParaRPr lang="zh-CN" sz="1200" b="1">
              <a:solidFill>
                <a:srgbClr val="1F2937"/>
              </a:solidFill>
              <a:latin typeface="微软雅黑" panose="020B0503020204020204" charset="-122"/>
              <a:ea typeface="微软雅黑" panose="020B0503020204020204" charset="-122"/>
            </a:endParaRPr>
          </a:p>
        </p:txBody>
      </p:sp>
      <p:sp>
        <p:nvSpPr>
          <p:cNvPr id="73" name="Rounded Rectangle 72"/>
          <p:cNvSpPr/>
          <p:nvPr/>
        </p:nvSpPr>
        <p:spPr>
          <a:xfrm>
            <a:off x="5715000" y="3593591"/>
            <a:ext cx="5303520" cy="502920"/>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824728" y="3621023"/>
            <a:ext cx="1444752" cy="448056"/>
          </a:xfrm>
          <a:prstGeom prst="rect">
            <a:avLst/>
          </a:prstGeom>
          <a:noFill/>
        </p:spPr>
        <p:txBody>
          <a:bodyPr wrap="square" lIns="45720" tIns="18288" rIns="45720" bIns="18288" anchor="ctr">
            <a:spAutoFit/>
          </a:bodyPr>
          <a:lstStyle/>
          <a:p>
            <a:pPr algn="l">
              <a:spcBef>
                <a:spcPts val="0"/>
              </a:spcBef>
              <a:spcAft>
                <a:spcPts val="0"/>
              </a:spcAft>
            </a:pPr>
            <a:r>
              <a:rPr lang="zh-CN" sz="1050" b="1">
                <a:solidFill>
                  <a:srgbClr val="1F2937"/>
                </a:solidFill>
                <a:latin typeface="Source Han Sans SC" panose="020B0503020204020204" charset="-122"/>
                <a:ea typeface="微软雅黑" panose="020B0503020204020204" charset="-122"/>
              </a:rPr>
              <a:t>Masked Score</a:t>
            </a:r>
            <a:endParaRPr lang="zh-CN" sz="1050" b="1">
              <a:solidFill>
                <a:srgbClr val="1F2937"/>
              </a:solidFill>
              <a:latin typeface="微软雅黑" panose="020B0503020204020204" charset="-122"/>
              <a:ea typeface="微软雅黑" panose="020B0503020204020204" charset="-122"/>
            </a:endParaRPr>
          </a:p>
        </p:txBody>
      </p:sp>
      <p:sp>
        <p:nvSpPr>
          <p:cNvPr id="75" name="TextBox 74"/>
          <p:cNvSpPr txBox="1"/>
          <p:nvPr/>
        </p:nvSpPr>
        <p:spPr>
          <a:xfrm>
            <a:off x="7287768" y="3621023"/>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Source Han Sans SC" panose="020B0503020204020204" charset="-122"/>
                <a:ea typeface="微软雅黑" panose="020B0503020204020204" charset="-122"/>
              </a:rPr>
              <a:t>1.0</a:t>
            </a:r>
            <a:endParaRPr lang="zh-CN" sz="1200" b="1">
              <a:solidFill>
                <a:srgbClr val="1F2937"/>
              </a:solidFill>
              <a:latin typeface="微软雅黑" panose="020B0503020204020204" charset="-122"/>
              <a:ea typeface="微软雅黑" panose="020B0503020204020204" charset="-122"/>
            </a:endParaRPr>
          </a:p>
        </p:txBody>
      </p:sp>
      <p:sp>
        <p:nvSpPr>
          <p:cNvPr id="76" name="TextBox 75"/>
          <p:cNvSpPr txBox="1"/>
          <p:nvPr/>
        </p:nvSpPr>
        <p:spPr>
          <a:xfrm>
            <a:off x="8220456" y="3621023"/>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Source Han Sans SC" panose="020B0503020204020204" charset="-122"/>
                <a:ea typeface="微软雅黑" panose="020B0503020204020204" charset="-122"/>
              </a:rPr>
              <a:t>0.5</a:t>
            </a:r>
            <a:endParaRPr lang="zh-CN" sz="1200" b="1">
              <a:solidFill>
                <a:srgbClr val="1F2937"/>
              </a:solidFill>
              <a:latin typeface="微软雅黑" panose="020B0503020204020204" charset="-122"/>
              <a:ea typeface="微软雅黑" panose="020B0503020204020204" charset="-122"/>
            </a:endParaRPr>
          </a:p>
        </p:txBody>
      </p:sp>
      <p:sp>
        <p:nvSpPr>
          <p:cNvPr id="77" name="TextBox 76"/>
          <p:cNvSpPr txBox="1"/>
          <p:nvPr/>
        </p:nvSpPr>
        <p:spPr>
          <a:xfrm>
            <a:off x="9153144" y="3621023"/>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Source Han Sans SC" panose="020B0503020204020204" charset="-122"/>
                <a:ea typeface="微软雅黑" panose="020B0503020204020204" charset="-122"/>
              </a:rPr>
              <a:t>1.5</a:t>
            </a:r>
            <a:endParaRPr lang="zh-CN" sz="1200" b="1">
              <a:solidFill>
                <a:srgbClr val="1F2937"/>
              </a:solidFill>
              <a:latin typeface="微软雅黑" panose="020B0503020204020204" charset="-122"/>
              <a:ea typeface="微软雅黑" panose="020B0503020204020204" charset="-122"/>
            </a:endParaRPr>
          </a:p>
        </p:txBody>
      </p:sp>
      <p:sp>
        <p:nvSpPr>
          <p:cNvPr id="78" name="TextBox 77"/>
          <p:cNvSpPr txBox="1"/>
          <p:nvPr/>
        </p:nvSpPr>
        <p:spPr>
          <a:xfrm>
            <a:off x="10085832" y="3621023"/>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微软雅黑" panose="020B0503020204020204" charset="-122"/>
                <a:ea typeface="微软雅黑" panose="020B0503020204020204" charset="-122"/>
              </a:rPr>
              <a:t>−∞</a:t>
            </a:r>
            <a:endParaRPr lang="zh-CN" sz="1200" b="1">
              <a:solidFill>
                <a:srgbClr val="1F2937"/>
              </a:solidFill>
              <a:latin typeface="微软雅黑" panose="020B0503020204020204" charset="-122"/>
              <a:ea typeface="微软雅黑" panose="020B0503020204020204" charset="-122"/>
            </a:endParaRPr>
          </a:p>
        </p:txBody>
      </p:sp>
      <p:sp>
        <p:nvSpPr>
          <p:cNvPr id="79" name="Rounded Rectangle 78"/>
          <p:cNvSpPr/>
          <p:nvPr/>
        </p:nvSpPr>
        <p:spPr>
          <a:xfrm>
            <a:off x="5715000" y="4178808"/>
            <a:ext cx="5303520" cy="502920"/>
          </a:xfrm>
          <a:prstGeom prst="roundRect">
            <a:avLst/>
          </a:prstGeom>
          <a:solidFill>
            <a:srgbClr val="EAF6F7"/>
          </a:solidFill>
          <a:ln w="12700">
            <a:solidFill>
              <a:srgbClr val="EAF6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824728" y="4206240"/>
            <a:ext cx="1444752" cy="448056"/>
          </a:xfrm>
          <a:prstGeom prst="rect">
            <a:avLst/>
          </a:prstGeom>
          <a:noFill/>
        </p:spPr>
        <p:txBody>
          <a:bodyPr wrap="square" lIns="45720" tIns="18288" rIns="45720" bIns="18288" anchor="ctr">
            <a:spAutoFit/>
          </a:bodyPr>
          <a:lstStyle/>
          <a:p>
            <a:pPr algn="l">
              <a:lnSpc>
                <a:spcPct val="100000"/>
              </a:lnSpc>
              <a:spcBef>
                <a:spcPts val="0"/>
              </a:spcBef>
              <a:spcAft>
                <a:spcPts val="0"/>
              </a:spcAft>
            </a:pPr>
            <a:r>
              <a:rPr lang="zh-CN" altLang="en-US" sz="1120" b="1">
                <a:solidFill>
                  <a:srgbClr val="1F2937"/>
                </a:solidFill>
                <a:latin typeface="Source Han Sans SC"/>
                <a:ea typeface="Source Han Sans SC"/>
              </a:rPr>
              <a:t>④ Softmax </a:t>
            </a:r>
            <a:r>
              <a:rPr lang="zh-CN" altLang="en-US" sz="1120" b="1">
                <a:solidFill>
                  <a:srgbClr val="1F2937"/>
                </a:solidFill>
                <a:latin typeface="Source Han Sans SC"/>
                <a:ea typeface="Source Han Sans SC"/>
              </a:rPr>
              <a:t>权重</a:t>
            </a:r>
            <a:endParaRPr lang="zh-CN" sz="1050" b="1">
              <a:solidFill>
                <a:srgbClr val="1F2937"/>
              </a:solidFill>
              <a:latin typeface="微软雅黑" panose="020B0503020204020204" charset="-122"/>
              <a:ea typeface="微软雅黑" panose="020B0503020204020204" charset="-122"/>
            </a:endParaRPr>
          </a:p>
        </p:txBody>
      </p:sp>
      <p:sp>
        <p:nvSpPr>
          <p:cNvPr id="81" name="TextBox 80"/>
          <p:cNvSpPr txBox="1"/>
          <p:nvPr/>
        </p:nvSpPr>
        <p:spPr>
          <a:xfrm>
            <a:off x="7287768" y="4206240"/>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Source Han Sans SC" panose="020B0503020204020204" charset="-122"/>
                <a:ea typeface="微软雅黑" panose="020B0503020204020204" charset="-122"/>
              </a:rPr>
              <a:t>0.307</a:t>
            </a:r>
            <a:endParaRPr lang="zh-CN" sz="1200" b="1">
              <a:solidFill>
                <a:srgbClr val="1F2937"/>
              </a:solidFill>
              <a:latin typeface="微软雅黑" panose="020B0503020204020204" charset="-122"/>
              <a:ea typeface="微软雅黑" panose="020B0503020204020204" charset="-122"/>
            </a:endParaRPr>
          </a:p>
        </p:txBody>
      </p:sp>
      <p:sp>
        <p:nvSpPr>
          <p:cNvPr id="82" name="TextBox 81"/>
          <p:cNvSpPr txBox="1"/>
          <p:nvPr/>
        </p:nvSpPr>
        <p:spPr>
          <a:xfrm>
            <a:off x="8220456" y="4206240"/>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Source Han Sans SC" panose="020B0503020204020204" charset="-122"/>
                <a:ea typeface="微软雅黑" panose="020B0503020204020204" charset="-122"/>
              </a:rPr>
              <a:t>0.186</a:t>
            </a:r>
            <a:endParaRPr lang="zh-CN" sz="1200" b="1">
              <a:solidFill>
                <a:srgbClr val="1F2937"/>
              </a:solidFill>
              <a:latin typeface="微软雅黑" panose="020B0503020204020204" charset="-122"/>
              <a:ea typeface="微软雅黑" panose="020B0503020204020204" charset="-122"/>
            </a:endParaRPr>
          </a:p>
        </p:txBody>
      </p:sp>
      <p:sp>
        <p:nvSpPr>
          <p:cNvPr id="83" name="TextBox 82"/>
          <p:cNvSpPr txBox="1"/>
          <p:nvPr/>
        </p:nvSpPr>
        <p:spPr>
          <a:xfrm>
            <a:off x="9153144" y="4206240"/>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Source Han Sans SC" panose="020B0503020204020204" charset="-122"/>
                <a:ea typeface="微软雅黑" panose="020B0503020204020204" charset="-122"/>
              </a:rPr>
              <a:t>0.507</a:t>
            </a:r>
            <a:endParaRPr lang="zh-CN" sz="1200" b="1">
              <a:solidFill>
                <a:srgbClr val="1F2937"/>
              </a:solidFill>
              <a:latin typeface="微软雅黑" panose="020B0503020204020204" charset="-122"/>
              <a:ea typeface="微软雅黑" panose="020B0503020204020204" charset="-122"/>
            </a:endParaRPr>
          </a:p>
        </p:txBody>
      </p:sp>
      <p:sp>
        <p:nvSpPr>
          <p:cNvPr id="84" name="TextBox 83"/>
          <p:cNvSpPr txBox="1"/>
          <p:nvPr/>
        </p:nvSpPr>
        <p:spPr>
          <a:xfrm>
            <a:off x="10085832" y="4206240"/>
            <a:ext cx="932688" cy="448056"/>
          </a:xfrm>
          <a:prstGeom prst="rect">
            <a:avLst/>
          </a:prstGeom>
          <a:noFill/>
        </p:spPr>
        <p:txBody>
          <a:bodyPr wrap="square" lIns="45720" tIns="18288" rIns="45720" bIns="18288" anchor="ctr">
            <a:spAutoFit/>
          </a:bodyPr>
          <a:lstStyle/>
          <a:p>
            <a:pPr algn="ctr">
              <a:spcBef>
                <a:spcPts val="0"/>
              </a:spcBef>
              <a:spcAft>
                <a:spcPts val="0"/>
              </a:spcAft>
            </a:pPr>
            <a:r>
              <a:rPr lang="zh-CN" sz="1200" b="1">
                <a:solidFill>
                  <a:srgbClr val="1F2937"/>
                </a:solidFill>
                <a:latin typeface="Source Han Sans SC" panose="020B0503020204020204" charset="-122"/>
                <a:ea typeface="微软雅黑" panose="020B0503020204020204" charset="-122"/>
              </a:rPr>
              <a:t>0</a:t>
            </a:r>
            <a:endParaRPr lang="zh-CN" sz="1200" b="1">
              <a:solidFill>
                <a:srgbClr val="1F2937"/>
              </a:solidFill>
              <a:latin typeface="微软雅黑" panose="020B0503020204020204" charset="-122"/>
              <a:ea typeface="微软雅黑" panose="020B0503020204020204" charset="-122"/>
            </a:endParaRPr>
          </a:p>
        </p:txBody>
      </p:sp>
      <p:sp>
        <p:nvSpPr>
          <p:cNvPr id="85" name="TextBox 84"/>
          <p:cNvSpPr txBox="1"/>
          <p:nvPr/>
        </p:nvSpPr>
        <p:spPr>
          <a:xfrm>
            <a:off x="5715000" y="4864608"/>
            <a:ext cx="5669280" cy="274320"/>
          </a:xfrm>
          <a:prstGeom prst="rect">
            <a:avLst/>
          </a:prstGeom>
          <a:noFill/>
        </p:spPr>
        <p:txBody>
          <a:bodyPr wrap="square" lIns="45720" tIns="18288" rIns="45720" bIns="18288" anchor="ctr">
            <a:spAutoFit/>
          </a:bodyPr>
          <a:lstStyle/>
          <a:p>
            <a:pPr algn="l">
              <a:spcBef>
                <a:spcPts val="0"/>
              </a:spcBef>
              <a:spcAft>
                <a:spcPts val="0"/>
              </a:spcAft>
            </a:pPr>
            <a:r>
              <a:rPr lang="zh-CN" sz="1050" b="0">
                <a:solidFill>
                  <a:srgbClr val="5F6B7A"/>
                </a:solidFill>
                <a:latin typeface="Source Han Sans SC" panose="020B0503020204020204" charset="-122"/>
                <a:ea typeface="微软雅黑" panose="020B0503020204020204" charset="-122"/>
              </a:rPr>
              <a:t>Softmax </a:t>
            </a:r>
            <a:r>
              <a:rPr lang="zh-CN" sz="1050" b="0">
                <a:solidFill>
                  <a:srgbClr val="5F6B7A"/>
                </a:solidFill>
                <a:latin typeface="Source Han Sans SC" panose="020B0503020204020204" charset="-122"/>
                <a:ea typeface="Source Han Sans SC" panose="020B0503020204020204" charset="-122"/>
              </a:rPr>
              <a:t>先计算</a:t>
            </a:r>
            <a:r>
              <a:rPr lang="zh-CN" sz="1050" b="0">
                <a:solidFill>
                  <a:srgbClr val="5F6B7A"/>
                </a:solidFill>
                <a:latin typeface="Source Han Sans SC" panose="020B0503020204020204" charset="-122"/>
                <a:ea typeface="微软雅黑" panose="020B0503020204020204" charset="-122"/>
              </a:rPr>
              <a:t> exp</a:t>
            </a:r>
            <a:r>
              <a:rPr lang="zh-CN" sz="1050" b="0">
                <a:solidFill>
                  <a:srgbClr val="5F6B7A"/>
                </a:solidFill>
                <a:latin typeface="Source Han Sans SC" panose="020B0503020204020204" charset="-122"/>
                <a:ea typeface="Source Han Sans SC" panose="020B0503020204020204" charset="-122"/>
              </a:rPr>
              <a:t>，再除以总和；</a:t>
            </a:r>
            <a:r>
              <a:rPr lang="zh-CN" sz="1050" b="0">
                <a:solidFill>
                  <a:srgbClr val="5F6B7A"/>
                </a:solidFill>
                <a:latin typeface="Source Han Sans SC" panose="020B0503020204020204" charset="-122"/>
                <a:ea typeface="微软雅黑" panose="020B0503020204020204" charset="-122"/>
              </a:rPr>
              <a:t>exp(−∞)=0</a:t>
            </a:r>
            <a:r>
              <a:rPr lang="zh-CN" sz="1050" b="0">
                <a:solidFill>
                  <a:srgbClr val="5F6B7A"/>
                </a:solidFill>
                <a:latin typeface="Source Han Sans SC" panose="020B0503020204020204" charset="-122"/>
                <a:ea typeface="微软雅黑" panose="020B0503020204020204" charset="-122"/>
              </a:rPr>
              <a:t>。</a:t>
            </a:r>
            <a:endParaRPr lang="zh-CN" sz="1050" b="0">
              <a:solidFill>
                <a:srgbClr val="5F6B7A"/>
              </a:solidFill>
              <a:latin typeface="微软雅黑" panose="020B0503020204020204" charset="-122"/>
              <a:ea typeface="微软雅黑" panose="020B0503020204020204" charset="-122"/>
            </a:endParaRPr>
          </a:p>
        </p:txBody>
      </p:sp>
      <p:sp>
        <p:nvSpPr>
          <p:cNvPr id="86" name="TextBox 85"/>
          <p:cNvSpPr txBox="1"/>
          <p:nvPr/>
        </p:nvSpPr>
        <p:spPr>
          <a:xfrm>
            <a:off x="5715000" y="5138928"/>
            <a:ext cx="5669280" cy="274320"/>
          </a:xfrm>
          <a:prstGeom prst="rect">
            <a:avLst/>
          </a:prstGeom>
          <a:noFill/>
        </p:spPr>
        <p:txBody>
          <a:bodyPr wrap="square" lIns="45720" tIns="18288" rIns="45720" bIns="18288" anchor="ctr">
            <a:spAutoFit/>
          </a:bodyPr>
          <a:lstStyle/>
          <a:p>
            <a:pPr algn="l">
              <a:spcBef>
                <a:spcPts val="0"/>
              </a:spcBef>
              <a:spcAft>
                <a:spcPts val="0"/>
              </a:spcAft>
            </a:pPr>
            <a:r>
              <a:rPr lang="zh-CN" sz="1100" b="1">
                <a:solidFill>
                  <a:srgbClr val="1E8E94"/>
                </a:solidFill>
                <a:latin typeface="Source Han Sans SC" panose="020B0503020204020204" charset="-122"/>
                <a:ea typeface="Source Han Sans SC" panose="020B0503020204020204" charset="-122"/>
              </a:rPr>
              <a:t>未来位置的</a:t>
            </a:r>
            <a:r>
              <a:rPr lang="zh-CN" sz="1100" b="1">
                <a:solidFill>
                  <a:srgbClr val="1E8E94"/>
                </a:solidFill>
                <a:latin typeface="Source Han Sans SC" panose="020B0503020204020204" charset="-122"/>
                <a:ea typeface="微软雅黑" panose="020B0503020204020204" charset="-122"/>
              </a:rPr>
              <a:t> Masked Score </a:t>
            </a:r>
            <a:r>
              <a:rPr lang="zh-CN" sz="1100" b="1">
                <a:solidFill>
                  <a:srgbClr val="1E8E94"/>
                </a:solidFill>
                <a:latin typeface="Source Han Sans SC" panose="020B0503020204020204" charset="-122"/>
                <a:ea typeface="Source Han Sans SC" panose="020B0503020204020204" charset="-122"/>
              </a:rPr>
              <a:t>为</a:t>
            </a:r>
            <a:r>
              <a:rPr lang="zh-CN" sz="1100" b="1">
                <a:solidFill>
                  <a:srgbClr val="1E8E94"/>
                </a:solidFill>
                <a:latin typeface="Source Han Sans SC" panose="020B0503020204020204" charset="-122"/>
                <a:ea typeface="微软雅黑" panose="020B0503020204020204" charset="-122"/>
              </a:rPr>
              <a:t> −∞</a:t>
            </a:r>
            <a:r>
              <a:rPr lang="zh-CN" sz="1100" b="1">
                <a:solidFill>
                  <a:srgbClr val="1E8E94"/>
                </a:solidFill>
                <a:latin typeface="Source Han Sans SC" panose="020B0503020204020204" charset="-122"/>
                <a:ea typeface="Source Han Sans SC" panose="020B0503020204020204" charset="-122"/>
              </a:rPr>
              <a:t>，因此最终权重严格为</a:t>
            </a:r>
            <a:r>
              <a:rPr lang="zh-CN" sz="1100" b="1">
                <a:solidFill>
                  <a:srgbClr val="1E8E94"/>
                </a:solidFill>
                <a:latin typeface="Source Han Sans SC" panose="020B0503020204020204" charset="-122"/>
                <a:ea typeface="微软雅黑" panose="020B0503020204020204" charset="-122"/>
              </a:rPr>
              <a:t> 0</a:t>
            </a:r>
            <a:r>
              <a:rPr lang="zh-CN" sz="1100" b="1">
                <a:solidFill>
                  <a:srgbClr val="1E8E94"/>
                </a:solidFill>
                <a:latin typeface="Source Han Sans SC" panose="020B0503020204020204" charset="-122"/>
                <a:ea typeface="微软雅黑" panose="020B0503020204020204" charset="-122"/>
              </a:rPr>
              <a:t>。</a:t>
            </a:r>
            <a:endParaRPr lang="zh-CN" sz="1100" b="1">
              <a:solidFill>
                <a:srgbClr val="1E8E94"/>
              </a:solidFill>
              <a:latin typeface="微软雅黑" panose="020B0503020204020204" charset="-122"/>
              <a:ea typeface="微软雅黑" panose="020B0503020204020204" charset="-122"/>
            </a:endParaRPr>
          </a:p>
        </p:txBody>
      </p:sp>
      <p:sp>
        <p:nvSpPr>
          <p:cNvPr id="87" name="Rectangle 86"/>
          <p:cNvSpPr/>
          <p:nvPr/>
        </p:nvSpPr>
        <p:spPr>
          <a:xfrm>
            <a:off x="329184" y="5742432"/>
            <a:ext cx="11521440" cy="512064"/>
          </a:xfrm>
          <a:prstGeom prst="rect">
            <a:avLst/>
          </a:prstGeom>
          <a:solidFill>
            <a:srgbClr val="660874"/>
          </a:solidFill>
          <a:ln w="12700">
            <a:solidFill>
              <a:srgbClr val="660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521207" y="5797296"/>
            <a:ext cx="11146536" cy="384048"/>
          </a:xfrm>
          <a:prstGeom prst="rect">
            <a:avLst/>
          </a:prstGeom>
          <a:noFill/>
        </p:spPr>
        <p:txBody>
          <a:bodyPr wrap="square" lIns="45720" tIns="18288" rIns="45720" bIns="18288" anchor="ctr">
            <a:spAutoFit/>
          </a:bodyPr>
          <a:lstStyle/>
          <a:p>
            <a:pPr algn="ctr">
              <a:lnSpc>
                <a:spcPct val="100000"/>
              </a:lnSpc>
              <a:spcBef>
                <a:spcPts val="0"/>
              </a:spcBef>
              <a:spcAft>
                <a:spcPts val="0"/>
              </a:spcAft>
            </a:pPr>
            <a:r>
              <a:rPr lang="zh-CN" altLang="en-US" sz="1320" b="1">
                <a:solidFill>
                  <a:srgbClr val="FFFFFF"/>
                </a:solidFill>
                <a:latin typeface="Source Han Sans SC"/>
                <a:ea typeface="Source Han Sans SC"/>
              </a:rPr>
              <a:t>结论</a:t>
            </a:r>
            <a:r>
              <a:rPr lang="zh-CN" altLang="en-US" sz="1320" b="1">
                <a:solidFill>
                  <a:srgbClr val="FFFFFF"/>
                </a:solidFill>
                <a:latin typeface="Source Han Sans SC"/>
                <a:ea typeface="Source Han Sans SC"/>
              </a:rPr>
              <a:t>：Mask </a:t>
            </a:r>
            <a:r>
              <a:rPr lang="zh-CN" altLang="en-US" sz="1320" b="1">
                <a:solidFill>
                  <a:srgbClr val="FFFFFF"/>
                </a:solidFill>
                <a:latin typeface="Source Han Sans SC"/>
                <a:ea typeface="Source Han Sans SC"/>
              </a:rPr>
              <a:t>不删除</a:t>
            </a:r>
            <a:r>
              <a:rPr lang="zh-CN" altLang="en-US" sz="1320" b="1">
                <a:solidFill>
                  <a:srgbClr val="FFFFFF"/>
                </a:solidFill>
                <a:latin typeface="Source Han Sans SC"/>
                <a:ea typeface="Source Han Sans SC"/>
              </a:rPr>
              <a:t> Token；</a:t>
            </a:r>
            <a:r>
              <a:rPr lang="zh-CN" altLang="en-US" sz="1320" b="1">
                <a:solidFill>
                  <a:srgbClr val="FFFFFF"/>
                </a:solidFill>
                <a:latin typeface="Source Han Sans SC"/>
                <a:ea typeface="Source Han Sans SC"/>
              </a:rPr>
              <a:t>它修改</a:t>
            </a:r>
            <a:r>
              <a:rPr lang="zh-CN" altLang="en-US" sz="1320" b="1">
                <a:solidFill>
                  <a:srgbClr val="FFFFFF"/>
                </a:solidFill>
                <a:latin typeface="Source Han Sans SC"/>
                <a:ea typeface="Source Han Sans SC"/>
              </a:rPr>
              <a:t> Attention Score，</a:t>
            </a:r>
            <a:r>
              <a:rPr lang="zh-CN" altLang="en-US" sz="1320" b="1">
                <a:solidFill>
                  <a:srgbClr val="FFFFFF"/>
                </a:solidFill>
                <a:latin typeface="Source Han Sans SC"/>
                <a:ea typeface="Source Han Sans SC"/>
              </a:rPr>
              <a:t>使未来位置在</a:t>
            </a:r>
            <a:r>
              <a:rPr lang="zh-CN" altLang="en-US" sz="1320" b="1">
                <a:solidFill>
                  <a:srgbClr val="FFFFFF"/>
                </a:solidFill>
                <a:latin typeface="Source Han Sans SC"/>
                <a:ea typeface="Source Han Sans SC"/>
              </a:rPr>
              <a:t> Softmax </a:t>
            </a:r>
            <a:r>
              <a:rPr lang="zh-CN" altLang="en-US" sz="1320" b="1">
                <a:solidFill>
                  <a:srgbClr val="FFFFFF"/>
                </a:solidFill>
                <a:latin typeface="Source Han Sans SC"/>
                <a:ea typeface="Source Han Sans SC"/>
              </a:rPr>
              <a:t>后得到零权重</a:t>
            </a:r>
            <a:r>
              <a:rPr lang="zh-CN" altLang="en-US" sz="1320" b="1">
                <a:solidFill>
                  <a:srgbClr val="FFFFFF"/>
                </a:solidFill>
                <a:latin typeface="Source Han Sans SC"/>
                <a:ea typeface="Source Han Sans SC"/>
              </a:rPr>
              <a:t>。</a:t>
            </a:r>
            <a:endParaRPr lang="zh-CN" sz="1425" b="1">
              <a:solidFill>
                <a:srgbClr val="FFFFFF"/>
              </a:solidFill>
              <a:latin typeface="微软雅黑" panose="020B0503020204020204" charset="-122"/>
              <a:ea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 name="title"/>
          <p:cNvSpPr>
            <a:spLocks noGrp="1"/>
          </p:cNvSpPr>
          <p:nvPr/>
        </p:nvSpPr>
        <p:spPr>
          <a:xfrm>
            <a:off x="333375" y="95250"/>
            <a:ext cx="10431780" cy="647700"/>
          </a:xfrm>
          <a:prstGeom prst="rect">
            <a:avLst/>
          </a:prstGeom>
          <a:noFill/>
          <a:ln w="0">
            <a:noFill/>
            <a:prstDash val="solid"/>
          </a:ln>
        </p:spPr>
        <p:txBody>
          <a:bodyPr wrap="square" lIns="38100" tIns="19050" rIns="38100" bIns="19050" anchor="ctr">
            <a:normAutofit/>
          </a:bodyPr>
          <a:lstStyle/>
          <a:p>
            <a:pPr algn="l">
              <a:defRPr sz="2700" b="1">
                <a:solidFill>
                  <a:srgbClr val="1F2937"/>
                </a:solidFill>
              </a:defRPr>
            </a:pPr>
            <a:r>
              <a:rPr lang="zh-CN" sz="2700" b="1">
                <a:solidFill>
                  <a:srgbClr val="1F2937"/>
                </a:solidFill>
                <a:latin typeface="Source Han Sans SC"/>
                <a:ea typeface="Source Han Sans SC"/>
              </a:rPr>
              <a:t>一次</a:t>
            </a:r>
            <a:r>
              <a:rPr sz="2700" b="1">
                <a:solidFill>
                  <a:srgbClr val="1F2937"/>
                </a:solidFill>
                <a:latin typeface="Source Han Sans SC"/>
              </a:rPr>
              <a:t> Forward </a:t>
            </a:r>
            <a:r>
              <a:rPr lang="zh-CN" sz="2700" b="1">
                <a:solidFill>
                  <a:srgbClr val="1F2937"/>
                </a:solidFill>
                <a:latin typeface="Source Han Sans SC"/>
                <a:ea typeface="Source Han Sans SC"/>
              </a:rPr>
              <a:t>同时计算所有位置，但每个位置看到的上下文不同</a:t>
            </a:r>
            <a:endParaRPr sz="2700" b="1">
              <a:solidFill>
                <a:srgbClr val="1F2937"/>
              </a:solidFill>
            </a:endParaRPr>
          </a:p>
        </p:txBody>
      </p:sp>
      <p:sp>
        <p:nvSpPr>
          <p:cNvPr id="2" name="矩形 1"/>
          <p:cNvSpPr>
            <a:spLocks noGrp="1"/>
          </p:cNvSpPr>
          <p:nvPr/>
        </p:nvSpPr>
        <p:spPr>
          <a:xfrm>
            <a:off x="333375" y="971550"/>
            <a:ext cx="10477500" cy="228600"/>
          </a:xfrm>
          <a:prstGeom prst="rect">
            <a:avLst/>
          </a:prstGeom>
          <a:noFill/>
          <a:ln w="0">
            <a:noFill/>
            <a:prstDash val="solid"/>
          </a:ln>
        </p:spPr>
        <p:txBody>
          <a:bodyPr wrap="square" lIns="38100" tIns="19050" rIns="38100" bIns="19050" anchor="ctr">
            <a:normAutofit fontScale="92593"/>
          </a:bodyPr>
          <a:lstStyle/>
          <a:p>
            <a:pPr algn="l">
              <a:defRPr sz="1350" b="0">
                <a:solidFill>
                  <a:srgbClr val="5F6B7A"/>
                </a:solidFill>
              </a:defRPr>
            </a:pPr>
            <a:r>
              <a:rPr lang="zh-CN" sz="1350" b="0">
                <a:solidFill>
                  <a:srgbClr val="5F6B7A"/>
                </a:solidFill>
                <a:latin typeface="Source Han Sans SC"/>
                <a:ea typeface="Source Han Sans SC"/>
              </a:rPr>
              <a:t>同一个下三角</a:t>
            </a:r>
            <a:r>
              <a:rPr sz="1350" b="0">
                <a:solidFill>
                  <a:srgbClr val="5F6B7A"/>
                </a:solidFill>
                <a:latin typeface="Source Han Sans SC"/>
              </a:rPr>
              <a:t> Mask</a:t>
            </a:r>
            <a:r>
              <a:rPr lang="zh-CN" sz="1350" b="0">
                <a:solidFill>
                  <a:srgbClr val="5F6B7A"/>
                </a:solidFill>
                <a:latin typeface="Source Han Sans SC"/>
                <a:ea typeface="Source Han Sans SC"/>
              </a:rPr>
              <a:t>，让一次矩阵计算包含多个不同前缀任务</a:t>
            </a:r>
            <a:endParaRPr sz="1350" b="0">
              <a:solidFill>
                <a:srgbClr val="5F6B7A"/>
              </a:solidFill>
            </a:endParaRPr>
          </a:p>
        </p:txBody>
      </p:sp>
      <p:sp>
        <p:nvSpPr>
          <p:cNvPr id="3" name="圆角矩形 2"/>
          <p:cNvSpPr>
            <a:spLocks noGrp="1"/>
          </p:cNvSpPr>
          <p:nvPr/>
        </p:nvSpPr>
        <p:spPr>
          <a:xfrm>
            <a:off x="523875" y="1571625"/>
            <a:ext cx="342900" cy="323850"/>
          </a:xfrm>
          <a:prstGeom prst="roundRect">
            <a:avLst>
              <a:gd name="adj" fmla="val 23529"/>
            </a:avLst>
          </a:prstGeom>
          <a:solidFill>
            <a:srgbClr val="660874"/>
          </a:solidFill>
          <a:ln w="12383">
            <a:solidFill>
              <a:srgbClr val="660874"/>
            </a:solidFill>
            <a:prstDash val="solid"/>
          </a:ln>
        </p:spPr>
      </p:sp>
      <p:sp>
        <p:nvSpPr>
          <p:cNvPr id="4" name="矩形 3"/>
          <p:cNvSpPr>
            <a:spLocks noGrp="1"/>
          </p:cNvSpPr>
          <p:nvPr/>
        </p:nvSpPr>
        <p:spPr>
          <a:xfrm>
            <a:off x="552450" y="1590675"/>
            <a:ext cx="285750" cy="285750"/>
          </a:xfrm>
          <a:prstGeom prst="rect">
            <a:avLst/>
          </a:prstGeom>
          <a:noFill/>
          <a:ln w="0">
            <a:noFill/>
            <a:prstDash val="solid"/>
          </a:ln>
        </p:spPr>
        <p:txBody>
          <a:bodyPr wrap="square" lIns="38100" tIns="19050" rIns="38100" bIns="19050" anchor="ctr">
            <a:normAutofit/>
          </a:bodyPr>
          <a:lstStyle/>
          <a:p>
            <a:pPr algn="ctr">
              <a:defRPr sz="1200" b="1">
                <a:solidFill>
                  <a:srgbClr val="FFFFFF"/>
                </a:solidFill>
              </a:defRPr>
            </a:pPr>
            <a:r>
              <a:rPr sz="1200" b="1">
                <a:solidFill>
                  <a:srgbClr val="FFFFFF"/>
                </a:solidFill>
                <a:latin typeface="Source Han Sans SC"/>
              </a:rPr>
              <a:t>1</a:t>
            </a:r>
            <a:endParaRPr sz="1200" b="1">
              <a:solidFill>
                <a:srgbClr val="FFFFFF"/>
              </a:solidFill>
            </a:endParaRPr>
          </a:p>
        </p:txBody>
      </p:sp>
      <p:sp>
        <p:nvSpPr>
          <p:cNvPr id="5" name="圆角矩形 4"/>
          <p:cNvSpPr>
            <a:spLocks noGrp="1"/>
          </p:cNvSpPr>
          <p:nvPr/>
        </p:nvSpPr>
        <p:spPr>
          <a:xfrm>
            <a:off x="1047750" y="1524000"/>
            <a:ext cx="1238250" cy="457200"/>
          </a:xfrm>
          <a:prstGeom prst="roundRect">
            <a:avLst>
              <a:gd name="adj" fmla="val 16667"/>
            </a:avLst>
          </a:prstGeom>
          <a:solidFill>
            <a:srgbClr val="EAF1FF"/>
          </a:solidFill>
          <a:ln w="12383">
            <a:solidFill>
              <a:srgbClr val="2F6BDA"/>
            </a:solidFill>
            <a:prstDash val="solid"/>
          </a:ln>
        </p:spPr>
      </p:sp>
      <p:sp>
        <p:nvSpPr>
          <p:cNvPr id="6" name="矩形 5"/>
          <p:cNvSpPr>
            <a:spLocks noGrp="1"/>
          </p:cNvSpPr>
          <p:nvPr/>
        </p:nvSpPr>
        <p:spPr>
          <a:xfrm>
            <a:off x="1162050" y="1600200"/>
            <a:ext cx="1009650" cy="304800"/>
          </a:xfrm>
          <a:prstGeom prst="rect">
            <a:avLst/>
          </a:prstGeom>
          <a:noFill/>
          <a:ln w="0">
            <a:noFill/>
            <a:prstDash val="solid"/>
          </a:ln>
        </p:spPr>
        <p:txBody>
          <a:bodyPr wrap="square" lIns="38100" tIns="19050" rIns="38100" bIns="19050" anchor="ctr">
            <a:normAutofit/>
          </a:bodyPr>
          <a:lstStyle/>
          <a:p>
            <a:pPr algn="l">
              <a:defRPr sz="1275" b="0">
                <a:solidFill>
                  <a:srgbClr val="1F2937"/>
                </a:solidFill>
              </a:defRPr>
            </a:pPr>
            <a:r>
              <a:rPr sz="1275" b="0">
                <a:solidFill>
                  <a:srgbClr val="1F2937"/>
                </a:solidFill>
                <a:latin typeface="Source Han Sans SC"/>
              </a:rPr>
              <a:t>&lt;BOS&gt;</a:t>
            </a:r>
            <a:endParaRPr sz="1275" b="0">
              <a:solidFill>
                <a:srgbClr val="1F2937"/>
              </a:solidFill>
            </a:endParaRPr>
          </a:p>
        </p:txBody>
      </p:sp>
      <p:sp>
        <p:nvSpPr>
          <p:cNvPr id="7" name="直接连接符 6"/>
          <p:cNvSpPr>
            <a:spLocks noGrp="1"/>
          </p:cNvSpPr>
          <p:nvPr/>
        </p:nvSpPr>
        <p:spPr>
          <a:xfrm>
            <a:off x="2428875" y="1752600"/>
            <a:ext cx="7477125" cy="0"/>
          </a:xfrm>
          <a:prstGeom prst="line">
            <a:avLst/>
          </a:prstGeom>
          <a:noFill/>
          <a:ln w="19050">
            <a:solidFill>
              <a:srgbClr val="660874"/>
            </a:solidFill>
            <a:prstDash val="solid"/>
          </a:ln>
        </p:spPr>
      </p:sp>
      <p:sp>
        <p:nvSpPr>
          <p:cNvPr id="8" name="任意多边形 7"/>
          <p:cNvSpPr>
            <a:spLocks noGrp="1"/>
          </p:cNvSpPr>
          <p:nvPr/>
        </p:nvSpPr>
        <p:spPr>
          <a:xfrm>
            <a:off x="9801225" y="1704975"/>
            <a:ext cx="104775" cy="95250"/>
          </a:xfrm>
          <a:custGeom>
            <a:avLst/>
            <a:gdLst/>
            <a:ahLst/>
            <a:cxnLst/>
            <a:pathLst>
              <a:path w="104775" h="95250">
                <a:moveTo>
                  <a:pt x="0" y="0"/>
                </a:moveTo>
                <a:lnTo>
                  <a:pt x="104775" y="47625"/>
                </a:lnTo>
                <a:lnTo>
                  <a:pt x="0" y="95250"/>
                </a:lnTo>
                <a:close/>
              </a:path>
            </a:pathLst>
          </a:custGeom>
          <a:solidFill>
            <a:srgbClr val="660874"/>
          </a:solidFill>
          <a:ln w="0">
            <a:solidFill>
              <a:srgbClr val="660874"/>
            </a:solidFill>
            <a:prstDash val="solid"/>
          </a:ln>
        </p:spPr>
      </p:sp>
      <p:sp>
        <p:nvSpPr>
          <p:cNvPr id="9" name="圆角矩形 8"/>
          <p:cNvSpPr>
            <a:spLocks noGrp="1"/>
          </p:cNvSpPr>
          <p:nvPr/>
        </p:nvSpPr>
        <p:spPr>
          <a:xfrm>
            <a:off x="10096500" y="1524000"/>
            <a:ext cx="952500" cy="457200"/>
          </a:xfrm>
          <a:prstGeom prst="roundRect">
            <a:avLst>
              <a:gd name="adj" fmla="val 16667"/>
            </a:avLst>
          </a:prstGeom>
          <a:solidFill>
            <a:srgbClr val="E9F4F4"/>
          </a:solidFill>
          <a:ln w="12383">
            <a:solidFill>
              <a:srgbClr val="1E8E94"/>
            </a:solidFill>
            <a:prstDash val="solid"/>
          </a:ln>
        </p:spPr>
      </p:sp>
      <p:sp>
        <p:nvSpPr>
          <p:cNvPr id="10" name="矩形 9"/>
          <p:cNvSpPr>
            <a:spLocks noGrp="1"/>
          </p:cNvSpPr>
          <p:nvPr/>
        </p:nvSpPr>
        <p:spPr>
          <a:xfrm>
            <a:off x="10210800" y="1600200"/>
            <a:ext cx="723900" cy="30480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春</a:t>
            </a:r>
            <a:endParaRPr sz="1500" b="0">
              <a:solidFill>
                <a:srgbClr val="1F2937"/>
              </a:solidFill>
            </a:endParaRPr>
          </a:p>
        </p:txBody>
      </p:sp>
      <p:sp>
        <p:nvSpPr>
          <p:cNvPr id="11" name="圆角矩形 10"/>
          <p:cNvSpPr>
            <a:spLocks noGrp="1"/>
          </p:cNvSpPr>
          <p:nvPr/>
        </p:nvSpPr>
        <p:spPr>
          <a:xfrm>
            <a:off x="523875" y="2314575"/>
            <a:ext cx="342900" cy="323850"/>
          </a:xfrm>
          <a:prstGeom prst="roundRect">
            <a:avLst>
              <a:gd name="adj" fmla="val 23529"/>
            </a:avLst>
          </a:prstGeom>
          <a:solidFill>
            <a:srgbClr val="660874"/>
          </a:solidFill>
          <a:ln w="12383">
            <a:solidFill>
              <a:srgbClr val="660874"/>
            </a:solidFill>
            <a:prstDash val="solid"/>
          </a:ln>
        </p:spPr>
      </p:sp>
      <p:sp>
        <p:nvSpPr>
          <p:cNvPr id="12" name="矩形 11"/>
          <p:cNvSpPr>
            <a:spLocks noGrp="1"/>
          </p:cNvSpPr>
          <p:nvPr/>
        </p:nvSpPr>
        <p:spPr>
          <a:xfrm>
            <a:off x="552450" y="2333625"/>
            <a:ext cx="285750" cy="285750"/>
          </a:xfrm>
          <a:prstGeom prst="rect">
            <a:avLst/>
          </a:prstGeom>
          <a:noFill/>
          <a:ln w="0">
            <a:noFill/>
            <a:prstDash val="solid"/>
          </a:ln>
        </p:spPr>
        <p:txBody>
          <a:bodyPr wrap="square" lIns="38100" tIns="19050" rIns="38100" bIns="19050" anchor="ctr">
            <a:normAutofit/>
          </a:bodyPr>
          <a:lstStyle/>
          <a:p>
            <a:pPr algn="ctr">
              <a:defRPr sz="1200" b="1">
                <a:solidFill>
                  <a:srgbClr val="FFFFFF"/>
                </a:solidFill>
              </a:defRPr>
            </a:pPr>
            <a:r>
              <a:rPr sz="1200" b="1">
                <a:solidFill>
                  <a:srgbClr val="FFFFFF"/>
                </a:solidFill>
                <a:latin typeface="Source Han Sans SC"/>
              </a:rPr>
              <a:t>2</a:t>
            </a:r>
            <a:endParaRPr sz="1200" b="1">
              <a:solidFill>
                <a:srgbClr val="FFFFFF"/>
              </a:solidFill>
            </a:endParaRPr>
          </a:p>
        </p:txBody>
      </p:sp>
      <p:sp>
        <p:nvSpPr>
          <p:cNvPr id="13" name="圆角矩形 12"/>
          <p:cNvSpPr>
            <a:spLocks noGrp="1"/>
          </p:cNvSpPr>
          <p:nvPr/>
        </p:nvSpPr>
        <p:spPr>
          <a:xfrm>
            <a:off x="1047750" y="2266950"/>
            <a:ext cx="2286000" cy="457200"/>
          </a:xfrm>
          <a:prstGeom prst="roundRect">
            <a:avLst>
              <a:gd name="adj" fmla="val 16667"/>
            </a:avLst>
          </a:prstGeom>
          <a:solidFill>
            <a:srgbClr val="EAF1FF"/>
          </a:solidFill>
          <a:ln w="12383">
            <a:solidFill>
              <a:srgbClr val="2F6BDA"/>
            </a:solidFill>
            <a:prstDash val="solid"/>
          </a:ln>
        </p:spPr>
      </p:sp>
      <p:sp>
        <p:nvSpPr>
          <p:cNvPr id="14" name="矩形 13"/>
          <p:cNvSpPr>
            <a:spLocks noGrp="1"/>
          </p:cNvSpPr>
          <p:nvPr/>
        </p:nvSpPr>
        <p:spPr>
          <a:xfrm>
            <a:off x="1162050" y="2343150"/>
            <a:ext cx="2057400" cy="304800"/>
          </a:xfrm>
          <a:prstGeom prst="rect">
            <a:avLst/>
          </a:prstGeom>
          <a:noFill/>
          <a:ln w="0">
            <a:noFill/>
            <a:prstDash val="solid"/>
          </a:ln>
        </p:spPr>
        <p:txBody>
          <a:bodyPr wrap="square" lIns="38100" tIns="19050" rIns="38100" bIns="19050" anchor="ctr">
            <a:normAutofit/>
          </a:bodyPr>
          <a:lstStyle/>
          <a:p>
            <a:pPr algn="l">
              <a:defRPr sz="1275" b="0">
                <a:solidFill>
                  <a:srgbClr val="1F2937"/>
                </a:solidFill>
              </a:defRPr>
            </a:pPr>
            <a:r>
              <a:rPr sz="1275" b="0">
                <a:solidFill>
                  <a:srgbClr val="1F2937"/>
                </a:solidFill>
                <a:latin typeface="Source Han Sans SC"/>
              </a:rPr>
              <a:t>&lt;BOS&gt; </a:t>
            </a:r>
            <a:r>
              <a:rPr lang="zh-CN" sz="1275" b="0">
                <a:solidFill>
                  <a:srgbClr val="1F2937"/>
                </a:solidFill>
                <a:latin typeface="Source Han Sans SC"/>
                <a:ea typeface="Source Han Sans SC"/>
              </a:rPr>
              <a:t>春</a:t>
            </a:r>
            <a:endParaRPr sz="1275" b="0">
              <a:solidFill>
                <a:srgbClr val="1F2937"/>
              </a:solidFill>
            </a:endParaRPr>
          </a:p>
        </p:txBody>
      </p:sp>
      <p:sp>
        <p:nvSpPr>
          <p:cNvPr id="15" name="直接连接符 14"/>
          <p:cNvSpPr>
            <a:spLocks noGrp="1"/>
          </p:cNvSpPr>
          <p:nvPr/>
        </p:nvSpPr>
        <p:spPr>
          <a:xfrm>
            <a:off x="3476625" y="2495550"/>
            <a:ext cx="6429375" cy="0"/>
          </a:xfrm>
          <a:prstGeom prst="line">
            <a:avLst/>
          </a:prstGeom>
          <a:noFill/>
          <a:ln w="19050">
            <a:solidFill>
              <a:srgbClr val="660874"/>
            </a:solidFill>
            <a:prstDash val="solid"/>
          </a:ln>
        </p:spPr>
      </p:sp>
      <p:sp>
        <p:nvSpPr>
          <p:cNvPr id="16" name="任意多边形 15"/>
          <p:cNvSpPr>
            <a:spLocks noGrp="1"/>
          </p:cNvSpPr>
          <p:nvPr/>
        </p:nvSpPr>
        <p:spPr>
          <a:xfrm>
            <a:off x="9801225" y="2447925"/>
            <a:ext cx="104775" cy="95250"/>
          </a:xfrm>
          <a:custGeom>
            <a:avLst/>
            <a:gdLst/>
            <a:ahLst/>
            <a:cxnLst/>
            <a:pathLst>
              <a:path w="104775" h="95250">
                <a:moveTo>
                  <a:pt x="0" y="0"/>
                </a:moveTo>
                <a:lnTo>
                  <a:pt x="104775" y="47625"/>
                </a:lnTo>
                <a:lnTo>
                  <a:pt x="0" y="95250"/>
                </a:lnTo>
                <a:close/>
              </a:path>
            </a:pathLst>
          </a:custGeom>
          <a:solidFill>
            <a:srgbClr val="660874"/>
          </a:solidFill>
          <a:ln w="0">
            <a:solidFill>
              <a:srgbClr val="660874"/>
            </a:solidFill>
            <a:prstDash val="solid"/>
          </a:ln>
        </p:spPr>
      </p:sp>
      <p:sp>
        <p:nvSpPr>
          <p:cNvPr id="17" name="圆角矩形 16"/>
          <p:cNvSpPr>
            <a:spLocks noGrp="1"/>
          </p:cNvSpPr>
          <p:nvPr/>
        </p:nvSpPr>
        <p:spPr>
          <a:xfrm>
            <a:off x="10096500" y="2266950"/>
            <a:ext cx="952500" cy="457200"/>
          </a:xfrm>
          <a:prstGeom prst="roundRect">
            <a:avLst>
              <a:gd name="adj" fmla="val 16667"/>
            </a:avLst>
          </a:prstGeom>
          <a:solidFill>
            <a:srgbClr val="E9F4F4"/>
          </a:solidFill>
          <a:ln w="12383">
            <a:solidFill>
              <a:srgbClr val="1E8E94"/>
            </a:solidFill>
            <a:prstDash val="solid"/>
          </a:ln>
        </p:spPr>
      </p:sp>
      <p:sp>
        <p:nvSpPr>
          <p:cNvPr id="18" name="矩形 17"/>
          <p:cNvSpPr>
            <a:spLocks noGrp="1"/>
          </p:cNvSpPr>
          <p:nvPr/>
        </p:nvSpPr>
        <p:spPr>
          <a:xfrm>
            <a:off x="10210800" y="2343150"/>
            <a:ext cx="723900" cy="30480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天</a:t>
            </a:r>
            <a:endParaRPr sz="1500" b="0">
              <a:solidFill>
                <a:srgbClr val="1F2937"/>
              </a:solidFill>
            </a:endParaRPr>
          </a:p>
        </p:txBody>
      </p:sp>
      <p:sp>
        <p:nvSpPr>
          <p:cNvPr id="19" name="圆角矩形 18"/>
          <p:cNvSpPr>
            <a:spLocks noGrp="1"/>
          </p:cNvSpPr>
          <p:nvPr/>
        </p:nvSpPr>
        <p:spPr>
          <a:xfrm>
            <a:off x="523875" y="3057525"/>
            <a:ext cx="342900" cy="323850"/>
          </a:xfrm>
          <a:prstGeom prst="roundRect">
            <a:avLst>
              <a:gd name="adj" fmla="val 23529"/>
            </a:avLst>
          </a:prstGeom>
          <a:solidFill>
            <a:srgbClr val="660874"/>
          </a:solidFill>
          <a:ln w="12383">
            <a:solidFill>
              <a:srgbClr val="660874"/>
            </a:solidFill>
            <a:prstDash val="solid"/>
          </a:ln>
        </p:spPr>
      </p:sp>
      <p:sp>
        <p:nvSpPr>
          <p:cNvPr id="20" name="矩形 19"/>
          <p:cNvSpPr>
            <a:spLocks noGrp="1"/>
          </p:cNvSpPr>
          <p:nvPr/>
        </p:nvSpPr>
        <p:spPr>
          <a:xfrm>
            <a:off x="552450" y="3076575"/>
            <a:ext cx="285750" cy="285750"/>
          </a:xfrm>
          <a:prstGeom prst="rect">
            <a:avLst/>
          </a:prstGeom>
          <a:noFill/>
          <a:ln w="0">
            <a:noFill/>
            <a:prstDash val="solid"/>
          </a:ln>
        </p:spPr>
        <p:txBody>
          <a:bodyPr wrap="square" lIns="38100" tIns="19050" rIns="38100" bIns="19050" anchor="ctr">
            <a:normAutofit/>
          </a:bodyPr>
          <a:lstStyle/>
          <a:p>
            <a:pPr algn="ctr">
              <a:defRPr sz="1200" b="1">
                <a:solidFill>
                  <a:srgbClr val="FFFFFF"/>
                </a:solidFill>
              </a:defRPr>
            </a:pPr>
            <a:r>
              <a:rPr sz="1200" b="1">
                <a:solidFill>
                  <a:srgbClr val="FFFFFF"/>
                </a:solidFill>
                <a:latin typeface="Source Han Sans SC"/>
              </a:rPr>
              <a:t>3</a:t>
            </a:r>
            <a:endParaRPr sz="1200" b="1">
              <a:solidFill>
                <a:srgbClr val="FFFFFF"/>
              </a:solidFill>
            </a:endParaRPr>
          </a:p>
        </p:txBody>
      </p:sp>
      <p:sp>
        <p:nvSpPr>
          <p:cNvPr id="21" name="圆角矩形 20"/>
          <p:cNvSpPr>
            <a:spLocks noGrp="1"/>
          </p:cNvSpPr>
          <p:nvPr/>
        </p:nvSpPr>
        <p:spPr>
          <a:xfrm>
            <a:off x="1047750" y="3009900"/>
            <a:ext cx="3333750" cy="457200"/>
          </a:xfrm>
          <a:prstGeom prst="roundRect">
            <a:avLst>
              <a:gd name="adj" fmla="val 16667"/>
            </a:avLst>
          </a:prstGeom>
          <a:solidFill>
            <a:srgbClr val="EAF1FF"/>
          </a:solidFill>
          <a:ln w="12383">
            <a:solidFill>
              <a:srgbClr val="2F6BDA"/>
            </a:solidFill>
            <a:prstDash val="solid"/>
          </a:ln>
        </p:spPr>
      </p:sp>
      <p:sp>
        <p:nvSpPr>
          <p:cNvPr id="22" name="矩形 21"/>
          <p:cNvSpPr>
            <a:spLocks noGrp="1"/>
          </p:cNvSpPr>
          <p:nvPr/>
        </p:nvSpPr>
        <p:spPr>
          <a:xfrm>
            <a:off x="1162050" y="3086100"/>
            <a:ext cx="3105150" cy="304800"/>
          </a:xfrm>
          <a:prstGeom prst="rect">
            <a:avLst/>
          </a:prstGeom>
          <a:noFill/>
          <a:ln w="0">
            <a:noFill/>
            <a:prstDash val="solid"/>
          </a:ln>
        </p:spPr>
        <p:txBody>
          <a:bodyPr wrap="square" lIns="38100" tIns="19050" rIns="38100" bIns="19050" anchor="ctr">
            <a:normAutofit/>
          </a:bodyPr>
          <a:lstStyle/>
          <a:p>
            <a:pPr algn="l">
              <a:defRPr sz="1275" b="0">
                <a:solidFill>
                  <a:srgbClr val="1F2937"/>
                </a:solidFill>
              </a:defRPr>
            </a:pPr>
            <a:r>
              <a:rPr sz="1275" b="0">
                <a:solidFill>
                  <a:srgbClr val="1F2937"/>
                </a:solidFill>
                <a:latin typeface="Source Han Sans SC"/>
              </a:rPr>
              <a:t>&lt;BOS&gt; </a:t>
            </a:r>
            <a:r>
              <a:rPr lang="zh-CN" sz="1275" b="0">
                <a:solidFill>
                  <a:srgbClr val="1F2937"/>
                </a:solidFill>
                <a:latin typeface="Source Han Sans SC"/>
                <a:ea typeface="Source Han Sans SC"/>
              </a:rPr>
              <a:t>春</a:t>
            </a:r>
            <a:r>
              <a:rPr sz="1275" b="0">
                <a:solidFill>
                  <a:srgbClr val="1F2937"/>
                </a:solidFill>
                <a:latin typeface="Source Han Sans SC"/>
              </a:rPr>
              <a:t> </a:t>
            </a:r>
            <a:r>
              <a:rPr lang="zh-CN" sz="1275" b="0">
                <a:solidFill>
                  <a:srgbClr val="1F2937"/>
                </a:solidFill>
                <a:latin typeface="Source Han Sans SC"/>
                <a:ea typeface="Source Han Sans SC"/>
              </a:rPr>
              <a:t>天</a:t>
            </a:r>
            <a:endParaRPr sz="1275" b="0">
              <a:solidFill>
                <a:srgbClr val="1F2937"/>
              </a:solidFill>
            </a:endParaRPr>
          </a:p>
        </p:txBody>
      </p:sp>
      <p:sp>
        <p:nvSpPr>
          <p:cNvPr id="23" name="直接连接符 22"/>
          <p:cNvSpPr>
            <a:spLocks noGrp="1"/>
          </p:cNvSpPr>
          <p:nvPr/>
        </p:nvSpPr>
        <p:spPr>
          <a:xfrm>
            <a:off x="4524375" y="3238500"/>
            <a:ext cx="5381625" cy="0"/>
          </a:xfrm>
          <a:prstGeom prst="line">
            <a:avLst/>
          </a:prstGeom>
          <a:noFill/>
          <a:ln w="19050">
            <a:solidFill>
              <a:srgbClr val="660874"/>
            </a:solidFill>
            <a:prstDash val="solid"/>
          </a:ln>
        </p:spPr>
      </p:sp>
      <p:sp>
        <p:nvSpPr>
          <p:cNvPr id="24" name="任意多边形 23"/>
          <p:cNvSpPr>
            <a:spLocks noGrp="1"/>
          </p:cNvSpPr>
          <p:nvPr/>
        </p:nvSpPr>
        <p:spPr>
          <a:xfrm>
            <a:off x="9801225" y="3190875"/>
            <a:ext cx="104775" cy="95250"/>
          </a:xfrm>
          <a:custGeom>
            <a:avLst/>
            <a:gdLst/>
            <a:ahLst/>
            <a:cxnLst/>
            <a:pathLst>
              <a:path w="104775" h="95250">
                <a:moveTo>
                  <a:pt x="0" y="0"/>
                </a:moveTo>
                <a:lnTo>
                  <a:pt x="104775" y="47625"/>
                </a:lnTo>
                <a:lnTo>
                  <a:pt x="0" y="95250"/>
                </a:lnTo>
                <a:close/>
              </a:path>
            </a:pathLst>
          </a:custGeom>
          <a:solidFill>
            <a:srgbClr val="660874"/>
          </a:solidFill>
          <a:ln w="0">
            <a:solidFill>
              <a:srgbClr val="660874"/>
            </a:solidFill>
            <a:prstDash val="solid"/>
          </a:ln>
        </p:spPr>
      </p:sp>
      <p:sp>
        <p:nvSpPr>
          <p:cNvPr id="25" name="圆角矩形 24"/>
          <p:cNvSpPr>
            <a:spLocks noGrp="1"/>
          </p:cNvSpPr>
          <p:nvPr/>
        </p:nvSpPr>
        <p:spPr>
          <a:xfrm>
            <a:off x="10096500" y="3009900"/>
            <a:ext cx="952500" cy="457200"/>
          </a:xfrm>
          <a:prstGeom prst="roundRect">
            <a:avLst>
              <a:gd name="adj" fmla="val 16667"/>
            </a:avLst>
          </a:prstGeom>
          <a:solidFill>
            <a:srgbClr val="E9F4F4"/>
          </a:solidFill>
          <a:ln w="12383">
            <a:solidFill>
              <a:srgbClr val="1E8E94"/>
            </a:solidFill>
            <a:prstDash val="solid"/>
          </a:ln>
        </p:spPr>
      </p:sp>
      <p:sp>
        <p:nvSpPr>
          <p:cNvPr id="26" name="矩形 25"/>
          <p:cNvSpPr>
            <a:spLocks noGrp="1"/>
          </p:cNvSpPr>
          <p:nvPr/>
        </p:nvSpPr>
        <p:spPr>
          <a:xfrm>
            <a:off x="10210800" y="3086100"/>
            <a:ext cx="723900" cy="30480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来</a:t>
            </a:r>
            <a:endParaRPr sz="1500" b="0">
              <a:solidFill>
                <a:srgbClr val="1F2937"/>
              </a:solidFill>
            </a:endParaRPr>
          </a:p>
        </p:txBody>
      </p:sp>
      <p:sp>
        <p:nvSpPr>
          <p:cNvPr id="27" name="圆角矩形 26"/>
          <p:cNvSpPr>
            <a:spLocks noGrp="1"/>
          </p:cNvSpPr>
          <p:nvPr/>
        </p:nvSpPr>
        <p:spPr>
          <a:xfrm>
            <a:off x="523875" y="3800475"/>
            <a:ext cx="342900" cy="323850"/>
          </a:xfrm>
          <a:prstGeom prst="roundRect">
            <a:avLst>
              <a:gd name="adj" fmla="val 23529"/>
            </a:avLst>
          </a:prstGeom>
          <a:solidFill>
            <a:srgbClr val="660874"/>
          </a:solidFill>
          <a:ln w="12383">
            <a:solidFill>
              <a:srgbClr val="660874"/>
            </a:solidFill>
            <a:prstDash val="solid"/>
          </a:ln>
        </p:spPr>
      </p:sp>
      <p:sp>
        <p:nvSpPr>
          <p:cNvPr id="28" name="矩形 27"/>
          <p:cNvSpPr>
            <a:spLocks noGrp="1"/>
          </p:cNvSpPr>
          <p:nvPr/>
        </p:nvSpPr>
        <p:spPr>
          <a:xfrm>
            <a:off x="552450" y="3819525"/>
            <a:ext cx="285750" cy="285750"/>
          </a:xfrm>
          <a:prstGeom prst="rect">
            <a:avLst/>
          </a:prstGeom>
          <a:noFill/>
          <a:ln w="0">
            <a:noFill/>
            <a:prstDash val="solid"/>
          </a:ln>
        </p:spPr>
        <p:txBody>
          <a:bodyPr wrap="square" lIns="38100" tIns="19050" rIns="38100" bIns="19050" anchor="ctr">
            <a:normAutofit/>
          </a:bodyPr>
          <a:lstStyle/>
          <a:p>
            <a:pPr algn="ctr">
              <a:defRPr sz="1200" b="1">
                <a:solidFill>
                  <a:srgbClr val="FFFFFF"/>
                </a:solidFill>
              </a:defRPr>
            </a:pPr>
            <a:r>
              <a:rPr sz="1200" b="1">
                <a:solidFill>
                  <a:srgbClr val="FFFFFF"/>
                </a:solidFill>
                <a:latin typeface="Source Han Sans SC"/>
              </a:rPr>
              <a:t>4</a:t>
            </a:r>
            <a:endParaRPr sz="1200" b="1">
              <a:solidFill>
                <a:srgbClr val="FFFFFF"/>
              </a:solidFill>
            </a:endParaRPr>
          </a:p>
        </p:txBody>
      </p:sp>
      <p:sp>
        <p:nvSpPr>
          <p:cNvPr id="29" name="圆角矩形 28"/>
          <p:cNvSpPr>
            <a:spLocks noGrp="1"/>
          </p:cNvSpPr>
          <p:nvPr/>
        </p:nvSpPr>
        <p:spPr>
          <a:xfrm>
            <a:off x="1047750" y="3752850"/>
            <a:ext cx="4381500" cy="457200"/>
          </a:xfrm>
          <a:prstGeom prst="roundRect">
            <a:avLst>
              <a:gd name="adj" fmla="val 16667"/>
            </a:avLst>
          </a:prstGeom>
          <a:solidFill>
            <a:srgbClr val="EAF1FF"/>
          </a:solidFill>
          <a:ln w="12383">
            <a:solidFill>
              <a:srgbClr val="2F6BDA"/>
            </a:solidFill>
            <a:prstDash val="solid"/>
          </a:ln>
        </p:spPr>
      </p:sp>
      <p:sp>
        <p:nvSpPr>
          <p:cNvPr id="30" name="矩形 29"/>
          <p:cNvSpPr>
            <a:spLocks noGrp="1"/>
          </p:cNvSpPr>
          <p:nvPr/>
        </p:nvSpPr>
        <p:spPr>
          <a:xfrm>
            <a:off x="1162050" y="3829050"/>
            <a:ext cx="4152900" cy="304800"/>
          </a:xfrm>
          <a:prstGeom prst="rect">
            <a:avLst/>
          </a:prstGeom>
          <a:noFill/>
          <a:ln w="0">
            <a:noFill/>
            <a:prstDash val="solid"/>
          </a:ln>
        </p:spPr>
        <p:txBody>
          <a:bodyPr wrap="square" lIns="38100" tIns="19050" rIns="38100" bIns="19050" anchor="ctr">
            <a:normAutofit/>
          </a:bodyPr>
          <a:lstStyle/>
          <a:p>
            <a:pPr algn="l">
              <a:defRPr sz="1275" b="0">
                <a:solidFill>
                  <a:srgbClr val="1F2937"/>
                </a:solidFill>
              </a:defRPr>
            </a:pPr>
            <a:r>
              <a:rPr sz="1275" b="0">
                <a:solidFill>
                  <a:srgbClr val="1F2937"/>
                </a:solidFill>
                <a:latin typeface="Source Han Sans SC"/>
              </a:rPr>
              <a:t>&lt;BOS&gt; </a:t>
            </a:r>
            <a:r>
              <a:rPr lang="zh-CN" sz="1275" b="0">
                <a:solidFill>
                  <a:srgbClr val="1F2937"/>
                </a:solidFill>
                <a:latin typeface="Source Han Sans SC"/>
                <a:ea typeface="Source Han Sans SC"/>
              </a:rPr>
              <a:t>春</a:t>
            </a:r>
            <a:r>
              <a:rPr sz="1275" b="0">
                <a:solidFill>
                  <a:srgbClr val="1F2937"/>
                </a:solidFill>
                <a:latin typeface="Source Han Sans SC"/>
              </a:rPr>
              <a:t> </a:t>
            </a:r>
            <a:r>
              <a:rPr lang="zh-CN" sz="1275" b="0">
                <a:solidFill>
                  <a:srgbClr val="1F2937"/>
                </a:solidFill>
                <a:latin typeface="Source Han Sans SC"/>
                <a:ea typeface="Source Han Sans SC"/>
              </a:rPr>
              <a:t>天</a:t>
            </a:r>
            <a:r>
              <a:rPr sz="1275" b="0">
                <a:solidFill>
                  <a:srgbClr val="1F2937"/>
                </a:solidFill>
                <a:latin typeface="Source Han Sans SC"/>
              </a:rPr>
              <a:t> </a:t>
            </a:r>
            <a:r>
              <a:rPr lang="zh-CN" sz="1275" b="0">
                <a:solidFill>
                  <a:srgbClr val="1F2937"/>
                </a:solidFill>
                <a:latin typeface="Source Han Sans SC"/>
                <a:ea typeface="Source Han Sans SC"/>
              </a:rPr>
              <a:t>来</a:t>
            </a:r>
            <a:endParaRPr sz="1275" b="0">
              <a:solidFill>
                <a:srgbClr val="1F2937"/>
              </a:solidFill>
            </a:endParaRPr>
          </a:p>
        </p:txBody>
      </p:sp>
      <p:sp>
        <p:nvSpPr>
          <p:cNvPr id="31" name="直接连接符 30"/>
          <p:cNvSpPr>
            <a:spLocks noGrp="1"/>
          </p:cNvSpPr>
          <p:nvPr/>
        </p:nvSpPr>
        <p:spPr>
          <a:xfrm>
            <a:off x="5572125" y="3981450"/>
            <a:ext cx="4333875" cy="0"/>
          </a:xfrm>
          <a:prstGeom prst="line">
            <a:avLst/>
          </a:prstGeom>
          <a:noFill/>
          <a:ln w="19050">
            <a:solidFill>
              <a:srgbClr val="660874"/>
            </a:solidFill>
            <a:prstDash val="solid"/>
          </a:ln>
        </p:spPr>
      </p:sp>
      <p:sp>
        <p:nvSpPr>
          <p:cNvPr id="32" name="任意多边形 31"/>
          <p:cNvSpPr>
            <a:spLocks noGrp="1"/>
          </p:cNvSpPr>
          <p:nvPr/>
        </p:nvSpPr>
        <p:spPr>
          <a:xfrm>
            <a:off x="9801225" y="3933825"/>
            <a:ext cx="104775" cy="95250"/>
          </a:xfrm>
          <a:custGeom>
            <a:avLst/>
            <a:gdLst/>
            <a:ahLst/>
            <a:cxnLst/>
            <a:pathLst>
              <a:path w="104775" h="95250">
                <a:moveTo>
                  <a:pt x="0" y="0"/>
                </a:moveTo>
                <a:lnTo>
                  <a:pt x="104775" y="47625"/>
                </a:lnTo>
                <a:lnTo>
                  <a:pt x="0" y="95250"/>
                </a:lnTo>
                <a:close/>
              </a:path>
            </a:pathLst>
          </a:custGeom>
          <a:solidFill>
            <a:srgbClr val="660874"/>
          </a:solidFill>
          <a:ln w="0">
            <a:solidFill>
              <a:srgbClr val="660874"/>
            </a:solidFill>
            <a:prstDash val="solid"/>
          </a:ln>
        </p:spPr>
      </p:sp>
      <p:sp>
        <p:nvSpPr>
          <p:cNvPr id="33" name="圆角矩形 32"/>
          <p:cNvSpPr>
            <a:spLocks noGrp="1"/>
          </p:cNvSpPr>
          <p:nvPr/>
        </p:nvSpPr>
        <p:spPr>
          <a:xfrm>
            <a:off x="10096500" y="3752850"/>
            <a:ext cx="952500" cy="457200"/>
          </a:xfrm>
          <a:prstGeom prst="roundRect">
            <a:avLst>
              <a:gd name="adj" fmla="val 16667"/>
            </a:avLst>
          </a:prstGeom>
          <a:solidFill>
            <a:srgbClr val="E9F4F4"/>
          </a:solidFill>
          <a:ln w="12383">
            <a:solidFill>
              <a:srgbClr val="1E8E94"/>
            </a:solidFill>
            <a:prstDash val="solid"/>
          </a:ln>
        </p:spPr>
      </p:sp>
      <p:sp>
        <p:nvSpPr>
          <p:cNvPr id="34" name="矩形 33"/>
          <p:cNvSpPr>
            <a:spLocks noGrp="1"/>
          </p:cNvSpPr>
          <p:nvPr/>
        </p:nvSpPr>
        <p:spPr>
          <a:xfrm>
            <a:off x="10210800" y="3829050"/>
            <a:ext cx="723900" cy="30480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lang="zh-CN" sz="1500" b="0">
                <a:solidFill>
                  <a:srgbClr val="1F2937"/>
                </a:solidFill>
                <a:latin typeface="Source Han Sans SC"/>
                <a:ea typeface="Source Han Sans SC"/>
              </a:rPr>
              <a:t>了</a:t>
            </a:r>
            <a:endParaRPr sz="1500" b="0">
              <a:solidFill>
                <a:srgbClr val="1F2937"/>
              </a:solidFill>
            </a:endParaRPr>
          </a:p>
        </p:txBody>
      </p:sp>
      <p:sp>
        <p:nvSpPr>
          <p:cNvPr id="35" name="圆角矩形 34"/>
          <p:cNvSpPr>
            <a:spLocks noGrp="1"/>
          </p:cNvSpPr>
          <p:nvPr/>
        </p:nvSpPr>
        <p:spPr>
          <a:xfrm>
            <a:off x="523875" y="4543425"/>
            <a:ext cx="342900" cy="323850"/>
          </a:xfrm>
          <a:prstGeom prst="roundRect">
            <a:avLst>
              <a:gd name="adj" fmla="val 23529"/>
            </a:avLst>
          </a:prstGeom>
          <a:solidFill>
            <a:srgbClr val="660874"/>
          </a:solidFill>
          <a:ln w="12383">
            <a:solidFill>
              <a:srgbClr val="660874"/>
            </a:solidFill>
            <a:prstDash val="solid"/>
          </a:ln>
        </p:spPr>
      </p:sp>
      <p:sp>
        <p:nvSpPr>
          <p:cNvPr id="36" name="矩形 35"/>
          <p:cNvSpPr>
            <a:spLocks noGrp="1"/>
          </p:cNvSpPr>
          <p:nvPr/>
        </p:nvSpPr>
        <p:spPr>
          <a:xfrm>
            <a:off x="552450" y="4562475"/>
            <a:ext cx="285750" cy="285750"/>
          </a:xfrm>
          <a:prstGeom prst="rect">
            <a:avLst/>
          </a:prstGeom>
          <a:noFill/>
          <a:ln w="0">
            <a:noFill/>
            <a:prstDash val="solid"/>
          </a:ln>
        </p:spPr>
        <p:txBody>
          <a:bodyPr wrap="square" lIns="38100" tIns="19050" rIns="38100" bIns="19050" anchor="ctr">
            <a:normAutofit/>
          </a:bodyPr>
          <a:lstStyle/>
          <a:p>
            <a:pPr algn="ctr">
              <a:defRPr sz="1200" b="1">
                <a:solidFill>
                  <a:srgbClr val="FFFFFF"/>
                </a:solidFill>
              </a:defRPr>
            </a:pPr>
            <a:r>
              <a:rPr sz="1200" b="1">
                <a:solidFill>
                  <a:srgbClr val="FFFFFF"/>
                </a:solidFill>
                <a:latin typeface="Source Han Sans SC"/>
              </a:rPr>
              <a:t>5</a:t>
            </a:r>
            <a:endParaRPr sz="1200" b="1">
              <a:solidFill>
                <a:srgbClr val="FFFFFF"/>
              </a:solidFill>
            </a:endParaRPr>
          </a:p>
        </p:txBody>
      </p:sp>
      <p:sp>
        <p:nvSpPr>
          <p:cNvPr id="37" name="圆角矩形 36"/>
          <p:cNvSpPr>
            <a:spLocks noGrp="1"/>
          </p:cNvSpPr>
          <p:nvPr/>
        </p:nvSpPr>
        <p:spPr>
          <a:xfrm>
            <a:off x="1047750" y="4495800"/>
            <a:ext cx="5429250" cy="457200"/>
          </a:xfrm>
          <a:prstGeom prst="roundRect">
            <a:avLst>
              <a:gd name="adj" fmla="val 16667"/>
            </a:avLst>
          </a:prstGeom>
          <a:solidFill>
            <a:srgbClr val="EAF1FF"/>
          </a:solidFill>
          <a:ln w="12383">
            <a:solidFill>
              <a:srgbClr val="2F6BDA"/>
            </a:solidFill>
            <a:prstDash val="solid"/>
          </a:ln>
        </p:spPr>
      </p:sp>
      <p:sp>
        <p:nvSpPr>
          <p:cNvPr id="38" name="矩形 37"/>
          <p:cNvSpPr>
            <a:spLocks noGrp="1"/>
          </p:cNvSpPr>
          <p:nvPr/>
        </p:nvSpPr>
        <p:spPr>
          <a:xfrm>
            <a:off x="1162050" y="4572000"/>
            <a:ext cx="5200650" cy="304800"/>
          </a:xfrm>
          <a:prstGeom prst="rect">
            <a:avLst/>
          </a:prstGeom>
          <a:noFill/>
          <a:ln w="0">
            <a:noFill/>
            <a:prstDash val="solid"/>
          </a:ln>
        </p:spPr>
        <p:txBody>
          <a:bodyPr wrap="square" lIns="38100" tIns="19050" rIns="38100" bIns="19050" anchor="ctr">
            <a:normAutofit/>
          </a:bodyPr>
          <a:lstStyle/>
          <a:p>
            <a:pPr algn="l">
              <a:defRPr sz="1275" b="0">
                <a:solidFill>
                  <a:srgbClr val="1F2937"/>
                </a:solidFill>
              </a:defRPr>
            </a:pPr>
            <a:r>
              <a:rPr sz="1275" b="0">
                <a:solidFill>
                  <a:srgbClr val="1F2937"/>
                </a:solidFill>
                <a:latin typeface="Source Han Sans SC"/>
              </a:rPr>
              <a:t>&lt;BOS&gt; </a:t>
            </a:r>
            <a:r>
              <a:rPr lang="zh-CN" sz="1275" b="0">
                <a:solidFill>
                  <a:srgbClr val="1F2937"/>
                </a:solidFill>
                <a:latin typeface="Source Han Sans SC"/>
                <a:ea typeface="Source Han Sans SC"/>
              </a:rPr>
              <a:t>春</a:t>
            </a:r>
            <a:r>
              <a:rPr sz="1275" b="0">
                <a:solidFill>
                  <a:srgbClr val="1F2937"/>
                </a:solidFill>
                <a:latin typeface="Source Han Sans SC"/>
              </a:rPr>
              <a:t> </a:t>
            </a:r>
            <a:r>
              <a:rPr lang="zh-CN" sz="1275" b="0">
                <a:solidFill>
                  <a:srgbClr val="1F2937"/>
                </a:solidFill>
                <a:latin typeface="Source Han Sans SC"/>
                <a:ea typeface="Source Han Sans SC"/>
              </a:rPr>
              <a:t>天</a:t>
            </a:r>
            <a:r>
              <a:rPr sz="1275" b="0">
                <a:solidFill>
                  <a:srgbClr val="1F2937"/>
                </a:solidFill>
                <a:latin typeface="Source Han Sans SC"/>
              </a:rPr>
              <a:t> </a:t>
            </a:r>
            <a:r>
              <a:rPr lang="zh-CN" sz="1275" b="0">
                <a:solidFill>
                  <a:srgbClr val="1F2937"/>
                </a:solidFill>
                <a:latin typeface="Source Han Sans SC"/>
                <a:ea typeface="Source Han Sans SC"/>
              </a:rPr>
              <a:t>来</a:t>
            </a:r>
            <a:r>
              <a:rPr sz="1275" b="0">
                <a:solidFill>
                  <a:srgbClr val="1F2937"/>
                </a:solidFill>
                <a:latin typeface="Source Han Sans SC"/>
              </a:rPr>
              <a:t> </a:t>
            </a:r>
            <a:r>
              <a:rPr lang="zh-CN" sz="1275" b="0">
                <a:solidFill>
                  <a:srgbClr val="1F2937"/>
                </a:solidFill>
                <a:latin typeface="Source Han Sans SC"/>
                <a:ea typeface="Source Han Sans SC"/>
              </a:rPr>
              <a:t>了</a:t>
            </a:r>
            <a:endParaRPr sz="1275" b="0">
              <a:solidFill>
                <a:srgbClr val="1F2937"/>
              </a:solidFill>
            </a:endParaRPr>
          </a:p>
        </p:txBody>
      </p:sp>
      <p:sp>
        <p:nvSpPr>
          <p:cNvPr id="39" name="直接连接符 38"/>
          <p:cNvSpPr>
            <a:spLocks noGrp="1"/>
          </p:cNvSpPr>
          <p:nvPr/>
        </p:nvSpPr>
        <p:spPr>
          <a:xfrm>
            <a:off x="6619875" y="4724400"/>
            <a:ext cx="3286125" cy="0"/>
          </a:xfrm>
          <a:prstGeom prst="line">
            <a:avLst/>
          </a:prstGeom>
          <a:noFill/>
          <a:ln w="19050">
            <a:solidFill>
              <a:srgbClr val="660874"/>
            </a:solidFill>
            <a:prstDash val="solid"/>
          </a:ln>
        </p:spPr>
      </p:sp>
      <p:sp>
        <p:nvSpPr>
          <p:cNvPr id="40" name="任意多边形 39"/>
          <p:cNvSpPr>
            <a:spLocks noGrp="1"/>
          </p:cNvSpPr>
          <p:nvPr/>
        </p:nvSpPr>
        <p:spPr>
          <a:xfrm>
            <a:off x="9801225" y="4676775"/>
            <a:ext cx="104775" cy="95250"/>
          </a:xfrm>
          <a:custGeom>
            <a:avLst/>
            <a:gdLst/>
            <a:ahLst/>
            <a:cxnLst/>
            <a:pathLst>
              <a:path w="104775" h="95250">
                <a:moveTo>
                  <a:pt x="0" y="0"/>
                </a:moveTo>
                <a:lnTo>
                  <a:pt x="104775" y="47625"/>
                </a:lnTo>
                <a:lnTo>
                  <a:pt x="0" y="95250"/>
                </a:lnTo>
                <a:close/>
              </a:path>
            </a:pathLst>
          </a:custGeom>
          <a:solidFill>
            <a:srgbClr val="660874"/>
          </a:solidFill>
          <a:ln w="0">
            <a:solidFill>
              <a:srgbClr val="660874"/>
            </a:solidFill>
            <a:prstDash val="solid"/>
          </a:ln>
        </p:spPr>
      </p:sp>
      <p:sp>
        <p:nvSpPr>
          <p:cNvPr id="41" name="圆角矩形 40"/>
          <p:cNvSpPr>
            <a:spLocks noGrp="1"/>
          </p:cNvSpPr>
          <p:nvPr/>
        </p:nvSpPr>
        <p:spPr>
          <a:xfrm>
            <a:off x="10096500" y="4495800"/>
            <a:ext cx="952500" cy="457200"/>
          </a:xfrm>
          <a:prstGeom prst="roundRect">
            <a:avLst>
              <a:gd name="adj" fmla="val 16667"/>
            </a:avLst>
          </a:prstGeom>
          <a:solidFill>
            <a:srgbClr val="E9F4F4"/>
          </a:solidFill>
          <a:ln w="12383">
            <a:solidFill>
              <a:srgbClr val="1E8E94"/>
            </a:solidFill>
            <a:prstDash val="solid"/>
          </a:ln>
        </p:spPr>
      </p:sp>
      <p:sp>
        <p:nvSpPr>
          <p:cNvPr id="42" name="矩形 41"/>
          <p:cNvSpPr>
            <a:spLocks noGrp="1"/>
          </p:cNvSpPr>
          <p:nvPr/>
        </p:nvSpPr>
        <p:spPr>
          <a:xfrm>
            <a:off x="10210800" y="4572000"/>
            <a:ext cx="723900" cy="304800"/>
          </a:xfrm>
          <a:prstGeom prst="rect">
            <a:avLst/>
          </a:prstGeom>
          <a:noFill/>
          <a:ln w="0">
            <a:noFill/>
            <a:prstDash val="solid"/>
          </a:ln>
        </p:spPr>
        <p:txBody>
          <a:bodyPr wrap="square" lIns="38100" tIns="19050" rIns="38100" bIns="19050" anchor="ctr">
            <a:normAutofit/>
          </a:bodyPr>
          <a:lstStyle/>
          <a:p>
            <a:pPr algn="ctr">
              <a:defRPr sz="1500" b="0">
                <a:solidFill>
                  <a:srgbClr val="1F2937"/>
                </a:solidFill>
              </a:defRPr>
            </a:pPr>
            <a:r>
              <a:rPr sz="1500" b="0">
                <a:solidFill>
                  <a:srgbClr val="1F2937"/>
                </a:solidFill>
              </a:rPr>
              <a:t>。</a:t>
            </a:r>
            <a:endParaRPr sz="1500" b="0">
              <a:solidFill>
                <a:srgbClr val="1F2937"/>
              </a:solidFill>
            </a:endParaRPr>
          </a:p>
        </p:txBody>
      </p:sp>
      <p:sp>
        <p:nvSpPr>
          <p:cNvPr id="43" name="矩形 42"/>
          <p:cNvSpPr>
            <a:spLocks noGrp="1"/>
          </p:cNvSpPr>
          <p:nvPr/>
        </p:nvSpPr>
        <p:spPr>
          <a:xfrm>
            <a:off x="7286625" y="1752600"/>
            <a:ext cx="2190750" cy="419100"/>
          </a:xfrm>
          <a:prstGeom prst="rect">
            <a:avLst/>
          </a:prstGeom>
          <a:noFill/>
          <a:ln w="0">
            <a:noFill/>
            <a:prstDash val="solid"/>
          </a:ln>
        </p:spPr>
        <p:txBody>
          <a:bodyPr wrap="square" lIns="38100" tIns="19050" rIns="38100" bIns="19050" anchor="ctr">
            <a:normAutofit/>
          </a:bodyPr>
          <a:lstStyle/>
          <a:p>
            <a:pPr algn="ctr">
              <a:defRPr sz="1650" b="1">
                <a:solidFill>
                  <a:srgbClr val="660874"/>
                </a:solidFill>
              </a:defRPr>
            </a:pPr>
            <a:r>
              <a:rPr lang="zh-CN" sz="1650" b="1">
                <a:solidFill>
                  <a:srgbClr val="660874"/>
                </a:solidFill>
                <a:latin typeface="Source Han Sans SC"/>
                <a:ea typeface="Source Han Sans SC"/>
              </a:rPr>
              <a:t>同一次</a:t>
            </a:r>
            <a:r>
              <a:rPr sz="1650" b="1">
                <a:solidFill>
                  <a:srgbClr val="660874"/>
                </a:solidFill>
                <a:latin typeface="Source Han Sans SC"/>
              </a:rPr>
              <a:t> Forward</a:t>
            </a:r>
            <a:endParaRPr sz="1650" b="1">
              <a:solidFill>
                <a:srgbClr val="660874"/>
              </a:solidFill>
            </a:endParaRPr>
          </a:p>
        </p:txBody>
      </p:sp>
      <p:sp>
        <p:nvSpPr>
          <p:cNvPr id="44" name="矩形 43"/>
          <p:cNvSpPr>
            <a:spLocks noGrp="1"/>
          </p:cNvSpPr>
          <p:nvPr/>
        </p:nvSpPr>
        <p:spPr>
          <a:xfrm>
            <a:off x="7286625" y="2076450"/>
            <a:ext cx="2190750" cy="342900"/>
          </a:xfrm>
          <a:prstGeom prst="rect">
            <a:avLst/>
          </a:prstGeom>
          <a:noFill/>
          <a:ln w="0">
            <a:noFill/>
            <a:prstDash val="solid"/>
          </a:ln>
        </p:spPr>
        <p:txBody>
          <a:bodyPr wrap="square" lIns="38100" tIns="19050" rIns="38100" bIns="19050" anchor="ctr">
            <a:normAutofit/>
          </a:bodyPr>
          <a:lstStyle/>
          <a:p>
            <a:pPr algn="ctr">
              <a:defRPr sz="1350" b="0">
                <a:solidFill>
                  <a:srgbClr val="5F6B7A"/>
                </a:solidFill>
              </a:defRPr>
            </a:pPr>
            <a:r>
              <a:rPr sz="1350" b="0">
                <a:solidFill>
                  <a:srgbClr val="5F6B7A"/>
                </a:solidFill>
                <a:latin typeface="Source Han Sans SC"/>
              </a:rPr>
              <a:t>Logits: (B,T,V)</a:t>
            </a:r>
            <a:endParaRPr sz="1350" b="0">
              <a:solidFill>
                <a:srgbClr val="5F6B7A"/>
              </a:solidFill>
            </a:endParaRPr>
          </a:p>
        </p:txBody>
      </p:sp>
      <p:sp>
        <p:nvSpPr>
          <p:cNvPr id="45" name="矩形 44"/>
          <p:cNvSpPr>
            <a:spLocks noGrp="1"/>
          </p:cNvSpPr>
          <p:nvPr/>
        </p:nvSpPr>
        <p:spPr>
          <a:xfrm>
            <a:off x="333375" y="5743575"/>
            <a:ext cx="11525250" cy="514350"/>
          </a:xfrm>
          <a:prstGeom prst="rect">
            <a:avLst/>
          </a:prstGeom>
          <a:solidFill>
            <a:srgbClr val="1E8E94"/>
          </a:solidFill>
          <a:ln w="0">
            <a:noFill/>
            <a:prstDash val="solid"/>
          </a:ln>
        </p:spPr>
      </p:sp>
      <p:sp>
        <p:nvSpPr>
          <p:cNvPr id="46" name="矩形 45"/>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defRPr sz="1425" b="1">
                <a:solidFill>
                  <a:srgbClr val="FFFFFF"/>
                </a:solidFill>
              </a:defRPr>
            </a:pPr>
            <a:r>
              <a:rPr lang="zh-CN" sz="1425" b="1">
                <a:solidFill>
                  <a:srgbClr val="FFFFFF"/>
                </a:solidFill>
                <a:latin typeface="Source Han Sans SC"/>
                <a:ea typeface="Source Han Sans SC"/>
              </a:rPr>
              <a:t>训练计算是并行的；因果差异来自每一行不同的可见范围。</a:t>
            </a:r>
            <a:endParaRPr sz="1425" b="1">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 name="title"/>
          <p:cNvSpPr>
            <a:spLocks noGrp="1"/>
          </p:cNvSpPr>
          <p:nvPr/>
        </p:nvSpPr>
        <p:spPr>
          <a:xfrm>
            <a:off x="333375" y="95250"/>
            <a:ext cx="10058400" cy="647700"/>
          </a:xfrm>
          <a:prstGeom prst="rect">
            <a:avLst/>
          </a:prstGeom>
          <a:noFill/>
          <a:ln w="0">
            <a:noFill/>
            <a:prstDash val="solid"/>
          </a:ln>
        </p:spPr>
        <p:txBody>
          <a:bodyPr wrap="square" lIns="38100" tIns="19050" rIns="38100" bIns="19050" anchor="ctr">
            <a:normAutofit/>
          </a:bodyPr>
          <a:lstStyle/>
          <a:p>
            <a:pPr algn="l">
              <a:defRPr sz="2700" b="1">
                <a:solidFill>
                  <a:srgbClr val="1F2937"/>
                </a:solidFill>
              </a:defRPr>
            </a:pPr>
            <a:r>
              <a:rPr sz="2700" b="1">
                <a:solidFill>
                  <a:srgbClr val="1F2937"/>
                </a:solidFill>
                <a:latin typeface="Source Han Sans SC"/>
              </a:rPr>
              <a:t>Cross-Entropy </a:t>
            </a:r>
            <a:r>
              <a:rPr lang="zh-CN" sz="2700" b="1">
                <a:solidFill>
                  <a:srgbClr val="1F2937"/>
                </a:solidFill>
                <a:latin typeface="Source Han Sans SC"/>
                <a:ea typeface="Source Han Sans SC"/>
              </a:rPr>
              <a:t>把正确</a:t>
            </a:r>
            <a:r>
              <a:rPr sz="2700" b="1">
                <a:solidFill>
                  <a:srgbClr val="1F2937"/>
                </a:solidFill>
                <a:latin typeface="Source Han Sans SC"/>
              </a:rPr>
              <a:t> Token </a:t>
            </a:r>
            <a:r>
              <a:rPr lang="zh-CN" sz="2700" b="1">
                <a:solidFill>
                  <a:srgbClr val="1F2937"/>
                </a:solidFill>
                <a:latin typeface="Source Han Sans SC"/>
                <a:ea typeface="Source Han Sans SC"/>
              </a:rPr>
              <a:t>的低概率变成较大</a:t>
            </a:r>
            <a:r>
              <a:rPr sz="2700" b="1">
                <a:solidFill>
                  <a:srgbClr val="1F2937"/>
                </a:solidFill>
                <a:latin typeface="Source Han Sans SC"/>
              </a:rPr>
              <a:t> Loss</a:t>
            </a:r>
            <a:endParaRPr sz="2700" b="1">
              <a:solidFill>
                <a:srgbClr val="1F2937"/>
              </a:solidFill>
            </a:endParaRPr>
          </a:p>
        </p:txBody>
      </p:sp>
      <p:sp>
        <p:nvSpPr>
          <p:cNvPr id="2" name="矩形 1"/>
          <p:cNvSpPr>
            <a:spLocks noGrp="1"/>
          </p:cNvSpPr>
          <p:nvPr/>
        </p:nvSpPr>
        <p:spPr>
          <a:xfrm>
            <a:off x="333375" y="971550"/>
            <a:ext cx="10001250" cy="228600"/>
          </a:xfrm>
          <a:prstGeom prst="rect">
            <a:avLst/>
          </a:prstGeom>
          <a:noFill/>
          <a:ln w="0">
            <a:noFill/>
            <a:prstDash val="solid"/>
          </a:ln>
        </p:spPr>
        <p:txBody>
          <a:bodyPr wrap="square" lIns="38100" tIns="19050" rIns="38100" bIns="19050" anchor="ctr">
            <a:normAutofit fontScale="92593"/>
          </a:bodyPr>
          <a:lstStyle/>
          <a:p>
            <a:pPr algn="l">
              <a:defRPr sz="1350" b="0">
                <a:solidFill>
                  <a:srgbClr val="5F6B7A"/>
                </a:solidFill>
              </a:defRPr>
            </a:pPr>
            <a:r>
              <a:rPr lang="zh-CN" sz="1350" b="0">
                <a:solidFill>
                  <a:srgbClr val="5F6B7A"/>
                </a:solidFill>
                <a:latin typeface="Source Han Sans SC"/>
                <a:ea typeface="Source Han Sans SC"/>
              </a:rPr>
              <a:t>示例：目标</a:t>
            </a:r>
            <a:r>
              <a:rPr sz="1350" b="0">
                <a:solidFill>
                  <a:srgbClr val="5F6B7A"/>
                </a:solidFill>
                <a:latin typeface="Source Han Sans SC"/>
              </a:rPr>
              <a:t> Token </a:t>
            </a:r>
            <a:r>
              <a:rPr lang="zh-CN" sz="1350" b="0">
                <a:solidFill>
                  <a:srgbClr val="5F6B7A"/>
                </a:solidFill>
                <a:latin typeface="Source Han Sans SC"/>
                <a:ea typeface="Source Han Sans SC"/>
              </a:rPr>
              <a:t>是</a:t>
            </a:r>
            <a:r>
              <a:rPr sz="1350" b="0">
                <a:solidFill>
                  <a:srgbClr val="5F6B7A"/>
                </a:solidFill>
                <a:latin typeface="Source Han Sans SC"/>
              </a:rPr>
              <a:t>“</a:t>
            </a:r>
            <a:r>
              <a:rPr lang="zh-CN" sz="1350" b="0">
                <a:solidFill>
                  <a:srgbClr val="5F6B7A"/>
                </a:solidFill>
                <a:latin typeface="Source Han Sans SC"/>
                <a:ea typeface="Source Han Sans SC"/>
              </a:rPr>
              <a:t>来</a:t>
            </a:r>
            <a:r>
              <a:rPr sz="1350" b="0">
                <a:solidFill>
                  <a:srgbClr val="5F6B7A"/>
                </a:solidFill>
                <a:latin typeface="Source Han Sans SC"/>
              </a:rPr>
              <a:t>”</a:t>
            </a:r>
            <a:r>
              <a:rPr lang="zh-CN" sz="1350" b="0">
                <a:solidFill>
                  <a:srgbClr val="5F6B7A"/>
                </a:solidFill>
                <a:latin typeface="Source Han Sans SC"/>
                <a:ea typeface="Source Han Sans SC"/>
              </a:rPr>
              <a:t>，模型对</a:t>
            </a:r>
            <a:r>
              <a:rPr sz="1350" b="0">
                <a:solidFill>
                  <a:srgbClr val="5F6B7A"/>
                </a:solidFill>
                <a:latin typeface="Source Han Sans SC"/>
              </a:rPr>
              <a:t> 4 </a:t>
            </a:r>
            <a:r>
              <a:rPr lang="zh-CN" sz="1350" b="0">
                <a:solidFill>
                  <a:srgbClr val="5F6B7A"/>
                </a:solidFill>
                <a:latin typeface="Source Han Sans SC"/>
                <a:ea typeface="Source Han Sans SC"/>
              </a:rPr>
              <a:t>个候选输出</a:t>
            </a:r>
            <a:r>
              <a:rPr sz="1350" b="0">
                <a:solidFill>
                  <a:srgbClr val="5F6B7A"/>
                </a:solidFill>
                <a:latin typeface="Source Han Sans SC"/>
              </a:rPr>
              <a:t> Logits</a:t>
            </a:r>
            <a:endParaRPr sz="1350" b="0">
              <a:solidFill>
                <a:srgbClr val="5F6B7A"/>
              </a:solidFill>
            </a:endParaRPr>
          </a:p>
        </p:txBody>
      </p:sp>
      <p:sp>
        <p:nvSpPr>
          <p:cNvPr id="3" name="圆角矩形 2"/>
          <p:cNvSpPr>
            <a:spLocks noGrp="1"/>
          </p:cNvSpPr>
          <p:nvPr/>
        </p:nvSpPr>
        <p:spPr>
          <a:xfrm>
            <a:off x="1524000" y="1571625"/>
            <a:ext cx="1714500" cy="571500"/>
          </a:xfrm>
          <a:prstGeom prst="roundRect">
            <a:avLst>
              <a:gd name="adj" fmla="val 13333"/>
            </a:avLst>
          </a:prstGeom>
          <a:solidFill>
            <a:srgbClr val="F5F7FA"/>
          </a:solidFill>
          <a:ln w="12383">
            <a:solidFill>
              <a:srgbClr val="E5E6E9"/>
            </a:solidFill>
            <a:prstDash val="solid"/>
          </a:ln>
        </p:spPr>
        <p:txBody>
          <a:bodyPr/>
          <a:p/>
        </p:txBody>
      </p:sp>
      <p:sp>
        <p:nvSpPr>
          <p:cNvPr id="4" name="矩形 3"/>
          <p:cNvSpPr>
            <a:spLocks noGrp="1"/>
          </p:cNvSpPr>
          <p:nvPr/>
        </p:nvSpPr>
        <p:spPr>
          <a:xfrm>
            <a:off x="1638300" y="1647825"/>
            <a:ext cx="1485900" cy="419100"/>
          </a:xfrm>
          <a:prstGeom prst="rect">
            <a:avLst/>
          </a:prstGeom>
          <a:noFill/>
          <a:ln w="0">
            <a:noFill/>
            <a:prstDash val="solid"/>
          </a:ln>
        </p:spPr>
        <p:txBody>
          <a:bodyPr wrap="square" lIns="38100" tIns="19050" rIns="38100" bIns="19050" anchor="ctr">
            <a:normAutofit/>
          </a:bodyPr>
          <a:lstStyle/>
          <a:p>
            <a:pPr algn="ctr">
              <a:defRPr sz="1575" b="0">
                <a:solidFill>
                  <a:srgbClr val="1F2937"/>
                </a:solidFill>
              </a:defRPr>
            </a:pPr>
            <a:r>
              <a:rPr lang="zh-CN" sz="1575" b="0">
                <a:solidFill>
                  <a:srgbClr val="1F2937"/>
                </a:solidFill>
                <a:latin typeface="Source Han Sans SC"/>
                <a:ea typeface="Source Han Sans SC"/>
              </a:rPr>
              <a:t>春</a:t>
            </a:r>
            <a:endParaRPr sz="1575" b="0">
              <a:solidFill>
                <a:srgbClr val="1F2937"/>
              </a:solidFill>
            </a:endParaRPr>
          </a:p>
        </p:txBody>
      </p:sp>
      <p:sp>
        <p:nvSpPr>
          <p:cNvPr id="5" name="圆角矩形 4"/>
          <p:cNvSpPr>
            <a:spLocks noGrp="1"/>
          </p:cNvSpPr>
          <p:nvPr/>
        </p:nvSpPr>
        <p:spPr>
          <a:xfrm>
            <a:off x="1524000" y="2381250"/>
            <a:ext cx="1714500" cy="495300"/>
          </a:xfrm>
          <a:prstGeom prst="roundRect">
            <a:avLst>
              <a:gd name="adj" fmla="val 15385"/>
            </a:avLst>
          </a:prstGeom>
          <a:solidFill>
            <a:srgbClr val="FFF7E8"/>
          </a:solidFill>
          <a:ln w="12383">
            <a:solidFill>
              <a:srgbClr val="C26700"/>
            </a:solidFill>
            <a:prstDash val="solid"/>
          </a:ln>
        </p:spPr>
        <p:txBody>
          <a:bodyPr/>
          <a:p/>
        </p:txBody>
      </p:sp>
      <p:sp>
        <p:nvSpPr>
          <p:cNvPr id="6" name="矩形 5"/>
          <p:cNvSpPr>
            <a:spLocks noGrp="1"/>
          </p:cNvSpPr>
          <p:nvPr/>
        </p:nvSpPr>
        <p:spPr>
          <a:xfrm>
            <a:off x="1638300" y="2457450"/>
            <a:ext cx="1485900" cy="342900"/>
          </a:xfrm>
          <a:prstGeom prst="rect">
            <a:avLst/>
          </a:prstGeom>
          <a:noFill/>
          <a:ln w="0">
            <a:noFill/>
            <a:prstDash val="solid"/>
          </a:ln>
        </p:spPr>
        <p:txBody>
          <a:bodyPr wrap="square" lIns="38100" tIns="19050" rIns="38100" bIns="19050" anchor="ctr">
            <a:normAutofit/>
          </a:bodyPr>
          <a:lstStyle/>
          <a:p>
            <a:pPr algn="ctr">
              <a:defRPr sz="1350" b="0">
                <a:solidFill>
                  <a:srgbClr val="1F2937"/>
                </a:solidFill>
              </a:defRPr>
            </a:pPr>
            <a:r>
              <a:rPr sz="1350" b="0">
                <a:solidFill>
                  <a:srgbClr val="1F2937"/>
                </a:solidFill>
                <a:latin typeface="Source Han Sans SC"/>
              </a:rPr>
              <a:t>Logit 1.0</a:t>
            </a:r>
            <a:endParaRPr sz="1350" b="0">
              <a:solidFill>
                <a:srgbClr val="1F2937"/>
              </a:solidFill>
            </a:endParaRPr>
          </a:p>
        </p:txBody>
      </p:sp>
      <p:sp>
        <p:nvSpPr>
          <p:cNvPr id="7" name="圆角矩形 6"/>
          <p:cNvSpPr>
            <a:spLocks noGrp="1"/>
          </p:cNvSpPr>
          <p:nvPr/>
        </p:nvSpPr>
        <p:spPr>
          <a:xfrm>
            <a:off x="1524000" y="3190875"/>
            <a:ext cx="1714500" cy="495300"/>
          </a:xfrm>
          <a:prstGeom prst="roundRect">
            <a:avLst>
              <a:gd name="adj" fmla="val 15385"/>
            </a:avLst>
          </a:prstGeom>
          <a:solidFill>
            <a:srgbClr val="E9F4F4"/>
          </a:solidFill>
          <a:ln w="12383">
            <a:solidFill>
              <a:srgbClr val="1E8E94"/>
            </a:solidFill>
            <a:prstDash val="solid"/>
          </a:ln>
        </p:spPr>
        <p:txBody>
          <a:bodyPr/>
          <a:p/>
        </p:txBody>
      </p:sp>
      <p:sp>
        <p:nvSpPr>
          <p:cNvPr id="8" name="矩形 7"/>
          <p:cNvSpPr>
            <a:spLocks noGrp="1"/>
          </p:cNvSpPr>
          <p:nvPr/>
        </p:nvSpPr>
        <p:spPr>
          <a:xfrm>
            <a:off x="1638300" y="3267075"/>
            <a:ext cx="1485900" cy="342900"/>
          </a:xfrm>
          <a:prstGeom prst="rect">
            <a:avLst/>
          </a:prstGeom>
          <a:noFill/>
          <a:ln w="0">
            <a:noFill/>
            <a:prstDash val="solid"/>
          </a:ln>
        </p:spPr>
        <p:txBody>
          <a:bodyPr wrap="square" lIns="38100" tIns="19050" rIns="38100" bIns="19050" anchor="ctr">
            <a:normAutofit/>
          </a:bodyPr>
          <a:lstStyle/>
          <a:p>
            <a:pPr algn="ctr">
              <a:defRPr sz="1350" b="0">
                <a:solidFill>
                  <a:srgbClr val="1F2937"/>
                </a:solidFill>
              </a:defRPr>
            </a:pPr>
            <a:r>
              <a:rPr sz="1350" b="0">
                <a:solidFill>
                  <a:srgbClr val="1F2937"/>
                </a:solidFill>
                <a:latin typeface="Source Han Sans SC"/>
              </a:rPr>
              <a:t>p = 0.229</a:t>
            </a:r>
            <a:endParaRPr sz="1350" b="0">
              <a:solidFill>
                <a:srgbClr val="1F2937"/>
              </a:solidFill>
            </a:endParaRPr>
          </a:p>
        </p:txBody>
      </p:sp>
      <p:sp>
        <p:nvSpPr>
          <p:cNvPr id="9" name="圆角矩形 8"/>
          <p:cNvSpPr>
            <a:spLocks noGrp="1"/>
          </p:cNvSpPr>
          <p:nvPr/>
        </p:nvSpPr>
        <p:spPr>
          <a:xfrm>
            <a:off x="3714750" y="1571625"/>
            <a:ext cx="1714500" cy="571500"/>
          </a:xfrm>
          <a:prstGeom prst="roundRect">
            <a:avLst>
              <a:gd name="adj" fmla="val 13333"/>
            </a:avLst>
          </a:prstGeom>
          <a:solidFill>
            <a:srgbClr val="F5F7FA"/>
          </a:solidFill>
          <a:ln w="12383">
            <a:solidFill>
              <a:srgbClr val="E5E6E9"/>
            </a:solidFill>
            <a:prstDash val="solid"/>
          </a:ln>
        </p:spPr>
        <p:txBody>
          <a:bodyPr/>
          <a:p/>
        </p:txBody>
      </p:sp>
      <p:sp>
        <p:nvSpPr>
          <p:cNvPr id="10" name="矩形 9"/>
          <p:cNvSpPr>
            <a:spLocks noGrp="1"/>
          </p:cNvSpPr>
          <p:nvPr/>
        </p:nvSpPr>
        <p:spPr>
          <a:xfrm>
            <a:off x="3829050" y="1647825"/>
            <a:ext cx="1485900" cy="419100"/>
          </a:xfrm>
          <a:prstGeom prst="rect">
            <a:avLst/>
          </a:prstGeom>
          <a:noFill/>
          <a:ln w="0">
            <a:noFill/>
            <a:prstDash val="solid"/>
          </a:ln>
        </p:spPr>
        <p:txBody>
          <a:bodyPr wrap="square" lIns="38100" tIns="19050" rIns="38100" bIns="19050" anchor="ctr">
            <a:normAutofit/>
          </a:bodyPr>
          <a:lstStyle/>
          <a:p>
            <a:pPr algn="ctr">
              <a:defRPr sz="1575" b="0">
                <a:solidFill>
                  <a:srgbClr val="1F2937"/>
                </a:solidFill>
              </a:defRPr>
            </a:pPr>
            <a:r>
              <a:rPr lang="zh-CN" sz="1575" b="0">
                <a:solidFill>
                  <a:srgbClr val="1F2937"/>
                </a:solidFill>
                <a:latin typeface="Source Han Sans SC"/>
                <a:ea typeface="Source Han Sans SC"/>
              </a:rPr>
              <a:t>天</a:t>
            </a:r>
            <a:endParaRPr sz="1575" b="0">
              <a:solidFill>
                <a:srgbClr val="1F2937"/>
              </a:solidFill>
            </a:endParaRPr>
          </a:p>
        </p:txBody>
      </p:sp>
      <p:sp>
        <p:nvSpPr>
          <p:cNvPr id="11" name="圆角矩形 10"/>
          <p:cNvSpPr>
            <a:spLocks noGrp="1"/>
          </p:cNvSpPr>
          <p:nvPr/>
        </p:nvSpPr>
        <p:spPr>
          <a:xfrm>
            <a:off x="3714750" y="2381250"/>
            <a:ext cx="1714500" cy="495300"/>
          </a:xfrm>
          <a:prstGeom prst="roundRect">
            <a:avLst>
              <a:gd name="adj" fmla="val 15385"/>
            </a:avLst>
          </a:prstGeom>
          <a:solidFill>
            <a:srgbClr val="FFF7E8"/>
          </a:solidFill>
          <a:ln w="12383">
            <a:solidFill>
              <a:srgbClr val="C26700"/>
            </a:solidFill>
            <a:prstDash val="solid"/>
          </a:ln>
        </p:spPr>
        <p:txBody>
          <a:bodyPr/>
          <a:p/>
        </p:txBody>
      </p:sp>
      <p:sp>
        <p:nvSpPr>
          <p:cNvPr id="12" name="矩形 11"/>
          <p:cNvSpPr>
            <a:spLocks noGrp="1"/>
          </p:cNvSpPr>
          <p:nvPr/>
        </p:nvSpPr>
        <p:spPr>
          <a:xfrm>
            <a:off x="3829050" y="2457450"/>
            <a:ext cx="1485900" cy="342900"/>
          </a:xfrm>
          <a:prstGeom prst="rect">
            <a:avLst/>
          </a:prstGeom>
          <a:noFill/>
          <a:ln w="0">
            <a:noFill/>
            <a:prstDash val="solid"/>
          </a:ln>
        </p:spPr>
        <p:txBody>
          <a:bodyPr wrap="square" lIns="38100" tIns="19050" rIns="38100" bIns="19050" anchor="ctr">
            <a:normAutofit/>
          </a:bodyPr>
          <a:lstStyle/>
          <a:p>
            <a:pPr algn="ctr">
              <a:defRPr sz="1350" b="0">
                <a:solidFill>
                  <a:srgbClr val="1F2937"/>
                </a:solidFill>
              </a:defRPr>
            </a:pPr>
            <a:r>
              <a:rPr sz="1350" b="0">
                <a:solidFill>
                  <a:srgbClr val="1F2937"/>
                </a:solidFill>
                <a:latin typeface="Source Han Sans SC"/>
              </a:rPr>
              <a:t>Logit 0.5</a:t>
            </a:r>
            <a:endParaRPr sz="1350" b="0">
              <a:solidFill>
                <a:srgbClr val="1F2937"/>
              </a:solidFill>
            </a:endParaRPr>
          </a:p>
        </p:txBody>
      </p:sp>
      <p:sp>
        <p:nvSpPr>
          <p:cNvPr id="13" name="圆角矩形 12"/>
          <p:cNvSpPr>
            <a:spLocks noGrp="1"/>
          </p:cNvSpPr>
          <p:nvPr/>
        </p:nvSpPr>
        <p:spPr>
          <a:xfrm>
            <a:off x="3714750" y="3190875"/>
            <a:ext cx="1714500" cy="495300"/>
          </a:xfrm>
          <a:prstGeom prst="roundRect">
            <a:avLst>
              <a:gd name="adj" fmla="val 15385"/>
            </a:avLst>
          </a:prstGeom>
          <a:solidFill>
            <a:srgbClr val="E9F4F4"/>
          </a:solidFill>
          <a:ln w="12383">
            <a:solidFill>
              <a:srgbClr val="1E8E94"/>
            </a:solidFill>
            <a:prstDash val="solid"/>
          </a:ln>
        </p:spPr>
        <p:txBody>
          <a:bodyPr/>
          <a:p/>
        </p:txBody>
      </p:sp>
      <p:sp>
        <p:nvSpPr>
          <p:cNvPr id="14" name="矩形 13"/>
          <p:cNvSpPr>
            <a:spLocks noGrp="1"/>
          </p:cNvSpPr>
          <p:nvPr/>
        </p:nvSpPr>
        <p:spPr>
          <a:xfrm>
            <a:off x="3829050" y="3267075"/>
            <a:ext cx="1485900" cy="342900"/>
          </a:xfrm>
          <a:prstGeom prst="rect">
            <a:avLst/>
          </a:prstGeom>
          <a:noFill/>
          <a:ln w="0">
            <a:noFill/>
            <a:prstDash val="solid"/>
          </a:ln>
        </p:spPr>
        <p:txBody>
          <a:bodyPr wrap="square" lIns="38100" tIns="19050" rIns="38100" bIns="19050" anchor="ctr">
            <a:normAutofit/>
          </a:bodyPr>
          <a:lstStyle/>
          <a:p>
            <a:pPr algn="ctr">
              <a:defRPr sz="1350" b="0">
                <a:solidFill>
                  <a:srgbClr val="1F2937"/>
                </a:solidFill>
              </a:defRPr>
            </a:pPr>
            <a:r>
              <a:rPr sz="1350" b="0">
                <a:solidFill>
                  <a:srgbClr val="1F2937"/>
                </a:solidFill>
                <a:latin typeface="Source Han Sans SC"/>
              </a:rPr>
              <a:t>p = 0.139</a:t>
            </a:r>
            <a:endParaRPr sz="1350" b="0">
              <a:solidFill>
                <a:srgbClr val="1F2937"/>
              </a:solidFill>
            </a:endParaRPr>
          </a:p>
        </p:txBody>
      </p:sp>
      <p:sp>
        <p:nvSpPr>
          <p:cNvPr id="15" name="圆角矩形 14"/>
          <p:cNvSpPr>
            <a:spLocks noGrp="1"/>
          </p:cNvSpPr>
          <p:nvPr/>
        </p:nvSpPr>
        <p:spPr>
          <a:xfrm>
            <a:off x="5905500" y="1571625"/>
            <a:ext cx="1714500" cy="571500"/>
          </a:xfrm>
          <a:prstGeom prst="roundRect">
            <a:avLst>
              <a:gd name="adj" fmla="val 13333"/>
            </a:avLst>
          </a:prstGeom>
          <a:solidFill>
            <a:srgbClr val="F3EEF5"/>
          </a:solidFill>
          <a:ln w="12383">
            <a:solidFill>
              <a:srgbClr val="660874"/>
            </a:solidFill>
            <a:prstDash val="solid"/>
          </a:ln>
        </p:spPr>
        <p:txBody>
          <a:bodyPr/>
          <a:p/>
        </p:txBody>
      </p:sp>
      <p:sp>
        <p:nvSpPr>
          <p:cNvPr id="16" name="矩形 15"/>
          <p:cNvSpPr>
            <a:spLocks noGrp="1"/>
          </p:cNvSpPr>
          <p:nvPr/>
        </p:nvSpPr>
        <p:spPr>
          <a:xfrm>
            <a:off x="6019800" y="1647825"/>
            <a:ext cx="1485900" cy="419100"/>
          </a:xfrm>
          <a:prstGeom prst="rect">
            <a:avLst/>
          </a:prstGeom>
          <a:noFill/>
          <a:ln w="0">
            <a:noFill/>
            <a:prstDash val="solid"/>
          </a:ln>
        </p:spPr>
        <p:txBody>
          <a:bodyPr wrap="square" lIns="38100" tIns="19050" rIns="38100" bIns="19050" anchor="ctr">
            <a:normAutofit/>
          </a:bodyPr>
          <a:lstStyle/>
          <a:p>
            <a:pPr algn="ctr">
              <a:defRPr sz="1575" b="0">
                <a:solidFill>
                  <a:srgbClr val="1F2937"/>
                </a:solidFill>
              </a:defRPr>
            </a:pPr>
            <a:r>
              <a:rPr lang="zh-CN" sz="1575" b="0">
                <a:solidFill>
                  <a:srgbClr val="1F2937"/>
                </a:solidFill>
                <a:latin typeface="Source Han Sans SC"/>
                <a:ea typeface="Source Han Sans SC"/>
              </a:rPr>
              <a:t>来</a:t>
            </a:r>
            <a:r>
              <a:rPr sz="1575" b="0">
                <a:solidFill>
                  <a:srgbClr val="1F2937"/>
                </a:solidFill>
                <a:latin typeface="Source Han Sans SC"/>
              </a:rPr>
              <a:t> ✓</a:t>
            </a:r>
            <a:endParaRPr sz="1575" b="0">
              <a:solidFill>
                <a:srgbClr val="1F2937"/>
              </a:solidFill>
            </a:endParaRPr>
          </a:p>
        </p:txBody>
      </p:sp>
      <p:sp>
        <p:nvSpPr>
          <p:cNvPr id="17" name="圆角矩形 16"/>
          <p:cNvSpPr>
            <a:spLocks noGrp="1"/>
          </p:cNvSpPr>
          <p:nvPr/>
        </p:nvSpPr>
        <p:spPr>
          <a:xfrm>
            <a:off x="5905500" y="2381250"/>
            <a:ext cx="1714500" cy="495300"/>
          </a:xfrm>
          <a:prstGeom prst="roundRect">
            <a:avLst>
              <a:gd name="adj" fmla="val 15385"/>
            </a:avLst>
          </a:prstGeom>
          <a:solidFill>
            <a:srgbClr val="FFF7E8"/>
          </a:solidFill>
          <a:ln w="12383">
            <a:solidFill>
              <a:srgbClr val="C26700"/>
            </a:solidFill>
            <a:prstDash val="solid"/>
          </a:ln>
        </p:spPr>
        <p:txBody>
          <a:bodyPr/>
          <a:p/>
        </p:txBody>
      </p:sp>
      <p:sp>
        <p:nvSpPr>
          <p:cNvPr id="18" name="矩形 17"/>
          <p:cNvSpPr>
            <a:spLocks noGrp="1"/>
          </p:cNvSpPr>
          <p:nvPr/>
        </p:nvSpPr>
        <p:spPr>
          <a:xfrm>
            <a:off x="6019800" y="2457450"/>
            <a:ext cx="1485900" cy="342900"/>
          </a:xfrm>
          <a:prstGeom prst="rect">
            <a:avLst/>
          </a:prstGeom>
          <a:noFill/>
          <a:ln w="0">
            <a:noFill/>
            <a:prstDash val="solid"/>
          </a:ln>
        </p:spPr>
        <p:txBody>
          <a:bodyPr wrap="square" lIns="38100" tIns="19050" rIns="38100" bIns="19050" anchor="ctr">
            <a:normAutofit/>
          </a:bodyPr>
          <a:lstStyle/>
          <a:p>
            <a:pPr algn="ctr">
              <a:defRPr sz="1350" b="0">
                <a:solidFill>
                  <a:srgbClr val="1F2937"/>
                </a:solidFill>
              </a:defRPr>
            </a:pPr>
            <a:r>
              <a:rPr sz="1350" b="0">
                <a:solidFill>
                  <a:srgbClr val="1F2937"/>
                </a:solidFill>
                <a:latin typeface="Source Han Sans SC"/>
              </a:rPr>
              <a:t>Logit 1.5</a:t>
            </a:r>
            <a:endParaRPr sz="1350" b="0">
              <a:solidFill>
                <a:srgbClr val="1F2937"/>
              </a:solidFill>
            </a:endParaRPr>
          </a:p>
        </p:txBody>
      </p:sp>
      <p:sp>
        <p:nvSpPr>
          <p:cNvPr id="19" name="圆角矩形 18"/>
          <p:cNvSpPr>
            <a:spLocks noGrp="1"/>
          </p:cNvSpPr>
          <p:nvPr/>
        </p:nvSpPr>
        <p:spPr>
          <a:xfrm>
            <a:off x="5905500" y="3190875"/>
            <a:ext cx="1714500" cy="495300"/>
          </a:xfrm>
          <a:prstGeom prst="roundRect">
            <a:avLst>
              <a:gd name="adj" fmla="val 15385"/>
            </a:avLst>
          </a:prstGeom>
          <a:solidFill>
            <a:srgbClr val="E9F4F4"/>
          </a:solidFill>
          <a:ln w="12383">
            <a:solidFill>
              <a:srgbClr val="1E8E94"/>
            </a:solidFill>
            <a:prstDash val="solid"/>
          </a:ln>
        </p:spPr>
        <p:txBody>
          <a:bodyPr/>
          <a:p/>
        </p:txBody>
      </p:sp>
      <p:sp>
        <p:nvSpPr>
          <p:cNvPr id="20" name="矩形 19"/>
          <p:cNvSpPr>
            <a:spLocks noGrp="1"/>
          </p:cNvSpPr>
          <p:nvPr/>
        </p:nvSpPr>
        <p:spPr>
          <a:xfrm>
            <a:off x="6019800" y="3267075"/>
            <a:ext cx="1485900" cy="342900"/>
          </a:xfrm>
          <a:prstGeom prst="rect">
            <a:avLst/>
          </a:prstGeom>
          <a:noFill/>
          <a:ln w="0">
            <a:noFill/>
            <a:prstDash val="solid"/>
          </a:ln>
        </p:spPr>
        <p:txBody>
          <a:bodyPr wrap="square" lIns="38100" tIns="19050" rIns="38100" bIns="19050" anchor="ctr">
            <a:normAutofit/>
          </a:bodyPr>
          <a:lstStyle/>
          <a:p>
            <a:pPr algn="ctr">
              <a:defRPr sz="1350" b="0">
                <a:solidFill>
                  <a:srgbClr val="1F2937"/>
                </a:solidFill>
              </a:defRPr>
            </a:pPr>
            <a:r>
              <a:rPr sz="1350" b="0">
                <a:solidFill>
                  <a:srgbClr val="1F2937"/>
                </a:solidFill>
                <a:latin typeface="Source Han Sans SC"/>
              </a:rPr>
              <a:t>p = 0.378</a:t>
            </a:r>
            <a:endParaRPr sz="1350" b="0">
              <a:solidFill>
                <a:srgbClr val="1F2937"/>
              </a:solidFill>
            </a:endParaRPr>
          </a:p>
        </p:txBody>
      </p:sp>
      <p:sp>
        <p:nvSpPr>
          <p:cNvPr id="21" name="圆角矩形 20"/>
          <p:cNvSpPr>
            <a:spLocks noGrp="1"/>
          </p:cNvSpPr>
          <p:nvPr/>
        </p:nvSpPr>
        <p:spPr>
          <a:xfrm>
            <a:off x="8096250" y="1571625"/>
            <a:ext cx="1714500" cy="571500"/>
          </a:xfrm>
          <a:prstGeom prst="roundRect">
            <a:avLst>
              <a:gd name="adj" fmla="val 13333"/>
            </a:avLst>
          </a:prstGeom>
          <a:solidFill>
            <a:srgbClr val="F5F7FA"/>
          </a:solidFill>
          <a:ln w="12383">
            <a:solidFill>
              <a:srgbClr val="E5E6E9"/>
            </a:solidFill>
            <a:prstDash val="solid"/>
          </a:ln>
        </p:spPr>
        <p:txBody>
          <a:bodyPr/>
          <a:p/>
        </p:txBody>
      </p:sp>
      <p:sp>
        <p:nvSpPr>
          <p:cNvPr id="22" name="矩形 21"/>
          <p:cNvSpPr>
            <a:spLocks noGrp="1"/>
          </p:cNvSpPr>
          <p:nvPr/>
        </p:nvSpPr>
        <p:spPr>
          <a:xfrm>
            <a:off x="8210550" y="1647825"/>
            <a:ext cx="1485900" cy="419100"/>
          </a:xfrm>
          <a:prstGeom prst="rect">
            <a:avLst/>
          </a:prstGeom>
          <a:noFill/>
          <a:ln w="0">
            <a:noFill/>
            <a:prstDash val="solid"/>
          </a:ln>
        </p:spPr>
        <p:txBody>
          <a:bodyPr wrap="square" lIns="38100" tIns="19050" rIns="38100" bIns="19050" anchor="ctr">
            <a:normAutofit/>
          </a:bodyPr>
          <a:lstStyle/>
          <a:p>
            <a:pPr algn="ctr">
              <a:defRPr sz="1575" b="0">
                <a:solidFill>
                  <a:srgbClr val="1F2937"/>
                </a:solidFill>
              </a:defRPr>
            </a:pPr>
            <a:r>
              <a:rPr lang="zh-CN" sz="1575" b="0">
                <a:solidFill>
                  <a:srgbClr val="1F2937"/>
                </a:solidFill>
                <a:latin typeface="Source Han Sans SC"/>
                <a:ea typeface="Source Han Sans SC"/>
              </a:rPr>
              <a:t>了</a:t>
            </a:r>
            <a:endParaRPr sz="1575" b="0">
              <a:solidFill>
                <a:srgbClr val="1F2937"/>
              </a:solidFill>
            </a:endParaRPr>
          </a:p>
        </p:txBody>
      </p:sp>
      <p:sp>
        <p:nvSpPr>
          <p:cNvPr id="23" name="圆角矩形 22"/>
          <p:cNvSpPr>
            <a:spLocks noGrp="1"/>
          </p:cNvSpPr>
          <p:nvPr/>
        </p:nvSpPr>
        <p:spPr>
          <a:xfrm>
            <a:off x="8096250" y="2381250"/>
            <a:ext cx="1714500" cy="495300"/>
          </a:xfrm>
          <a:prstGeom prst="roundRect">
            <a:avLst>
              <a:gd name="adj" fmla="val 15385"/>
            </a:avLst>
          </a:prstGeom>
          <a:solidFill>
            <a:srgbClr val="FFF7E8"/>
          </a:solidFill>
          <a:ln w="12383">
            <a:solidFill>
              <a:srgbClr val="C26700"/>
            </a:solidFill>
            <a:prstDash val="solid"/>
          </a:ln>
        </p:spPr>
        <p:txBody>
          <a:bodyPr/>
          <a:p/>
        </p:txBody>
      </p:sp>
      <p:sp>
        <p:nvSpPr>
          <p:cNvPr id="24" name="矩形 23"/>
          <p:cNvSpPr>
            <a:spLocks noGrp="1"/>
          </p:cNvSpPr>
          <p:nvPr/>
        </p:nvSpPr>
        <p:spPr>
          <a:xfrm>
            <a:off x="8210550" y="2457450"/>
            <a:ext cx="1485900" cy="342900"/>
          </a:xfrm>
          <a:prstGeom prst="rect">
            <a:avLst/>
          </a:prstGeom>
          <a:noFill/>
          <a:ln w="0">
            <a:noFill/>
            <a:prstDash val="solid"/>
          </a:ln>
        </p:spPr>
        <p:txBody>
          <a:bodyPr wrap="square" lIns="38100" tIns="19050" rIns="38100" bIns="19050" anchor="ctr">
            <a:normAutofit/>
          </a:bodyPr>
          <a:lstStyle/>
          <a:p>
            <a:pPr algn="ctr">
              <a:defRPr sz="1350" b="0">
                <a:solidFill>
                  <a:srgbClr val="1F2937"/>
                </a:solidFill>
              </a:defRPr>
            </a:pPr>
            <a:r>
              <a:rPr sz="1350" b="0">
                <a:solidFill>
                  <a:srgbClr val="1F2937"/>
                </a:solidFill>
                <a:latin typeface="Source Han Sans SC"/>
              </a:rPr>
              <a:t>Logit 0.7</a:t>
            </a:r>
            <a:endParaRPr sz="1350" b="0">
              <a:solidFill>
                <a:srgbClr val="1F2937"/>
              </a:solidFill>
            </a:endParaRPr>
          </a:p>
        </p:txBody>
      </p:sp>
      <p:sp>
        <p:nvSpPr>
          <p:cNvPr id="25" name="圆角矩形 24"/>
          <p:cNvSpPr>
            <a:spLocks noGrp="1"/>
          </p:cNvSpPr>
          <p:nvPr/>
        </p:nvSpPr>
        <p:spPr>
          <a:xfrm>
            <a:off x="8096250" y="3190875"/>
            <a:ext cx="1714500" cy="495300"/>
          </a:xfrm>
          <a:prstGeom prst="roundRect">
            <a:avLst>
              <a:gd name="adj" fmla="val 15385"/>
            </a:avLst>
          </a:prstGeom>
          <a:solidFill>
            <a:srgbClr val="E9F4F4"/>
          </a:solidFill>
          <a:ln w="12383">
            <a:solidFill>
              <a:srgbClr val="1E8E94"/>
            </a:solidFill>
            <a:prstDash val="solid"/>
          </a:ln>
        </p:spPr>
        <p:txBody>
          <a:bodyPr/>
          <a:p/>
        </p:txBody>
      </p:sp>
      <p:sp>
        <p:nvSpPr>
          <p:cNvPr id="26" name="矩形 25"/>
          <p:cNvSpPr>
            <a:spLocks noGrp="1"/>
          </p:cNvSpPr>
          <p:nvPr/>
        </p:nvSpPr>
        <p:spPr>
          <a:xfrm>
            <a:off x="8210550" y="3267075"/>
            <a:ext cx="1485900" cy="342900"/>
          </a:xfrm>
          <a:prstGeom prst="rect">
            <a:avLst/>
          </a:prstGeom>
          <a:noFill/>
          <a:ln w="0">
            <a:noFill/>
            <a:prstDash val="solid"/>
          </a:ln>
        </p:spPr>
        <p:txBody>
          <a:bodyPr wrap="square" lIns="38100" tIns="19050" rIns="38100" bIns="19050" anchor="ctr">
            <a:normAutofit/>
          </a:bodyPr>
          <a:lstStyle/>
          <a:p>
            <a:pPr algn="ctr">
              <a:defRPr sz="1350" b="0">
                <a:solidFill>
                  <a:srgbClr val="1F2937"/>
                </a:solidFill>
              </a:defRPr>
            </a:pPr>
            <a:r>
              <a:rPr sz="1350" b="0">
                <a:solidFill>
                  <a:srgbClr val="1F2937"/>
                </a:solidFill>
                <a:latin typeface="Source Han Sans SC"/>
              </a:rPr>
              <a:t>p = 0.254</a:t>
            </a:r>
            <a:endParaRPr sz="1350" b="0">
              <a:solidFill>
                <a:srgbClr val="1F2937"/>
              </a:solidFill>
            </a:endParaRPr>
          </a:p>
        </p:txBody>
      </p:sp>
      <p:sp>
        <p:nvSpPr>
          <p:cNvPr id="27" name="直接连接符 26"/>
          <p:cNvSpPr>
            <a:spLocks noGrp="1"/>
          </p:cNvSpPr>
          <p:nvPr/>
        </p:nvSpPr>
        <p:spPr>
          <a:xfrm>
            <a:off x="10287000" y="2628900"/>
            <a:ext cx="476250" cy="0"/>
          </a:xfrm>
          <a:prstGeom prst="line">
            <a:avLst/>
          </a:prstGeom>
          <a:noFill/>
          <a:ln w="19050">
            <a:solidFill>
              <a:srgbClr val="C26700"/>
            </a:solidFill>
            <a:prstDash val="solid"/>
          </a:ln>
        </p:spPr>
        <p:txBody>
          <a:bodyPr/>
          <a:p/>
        </p:txBody>
      </p:sp>
      <p:sp>
        <p:nvSpPr>
          <p:cNvPr id="28" name="任意多边形 27"/>
          <p:cNvSpPr>
            <a:spLocks noGrp="1"/>
          </p:cNvSpPr>
          <p:nvPr/>
        </p:nvSpPr>
        <p:spPr>
          <a:xfrm>
            <a:off x="10658475" y="2581275"/>
            <a:ext cx="104775" cy="95250"/>
          </a:xfrm>
          <a:custGeom>
            <a:avLst/>
            <a:gdLst/>
            <a:ahLst/>
            <a:cxnLst/>
            <a:pathLst>
              <a:path w="104775" h="95250">
                <a:moveTo>
                  <a:pt x="0" y="0"/>
                </a:moveTo>
                <a:lnTo>
                  <a:pt x="104775" y="47625"/>
                </a:lnTo>
                <a:lnTo>
                  <a:pt x="0" y="95250"/>
                </a:lnTo>
                <a:close/>
              </a:path>
            </a:pathLst>
          </a:custGeom>
          <a:solidFill>
            <a:srgbClr val="C26700"/>
          </a:solidFill>
          <a:ln w="0">
            <a:solidFill>
              <a:srgbClr val="C26700"/>
            </a:solidFill>
            <a:prstDash val="solid"/>
          </a:ln>
        </p:spPr>
        <p:txBody>
          <a:bodyPr/>
          <a:p/>
        </p:txBody>
      </p:sp>
      <p:sp>
        <p:nvSpPr>
          <p:cNvPr id="29" name="矩形 28"/>
          <p:cNvSpPr>
            <a:spLocks noGrp="1"/>
          </p:cNvSpPr>
          <p:nvPr/>
        </p:nvSpPr>
        <p:spPr>
          <a:xfrm>
            <a:off x="10096500" y="2238375"/>
            <a:ext cx="1428750" cy="228600"/>
          </a:xfrm>
          <a:prstGeom prst="rect">
            <a:avLst/>
          </a:prstGeom>
          <a:noFill/>
          <a:ln w="0">
            <a:noFill/>
            <a:prstDash val="solid"/>
          </a:ln>
        </p:spPr>
        <p:txBody>
          <a:bodyPr wrap="square" lIns="38100" tIns="19050" rIns="38100" bIns="19050" anchor="ctr">
            <a:normAutofit fontScale="98039"/>
          </a:bodyPr>
          <a:lstStyle/>
          <a:p>
            <a:pPr algn="l">
              <a:defRPr sz="1275" b="0">
                <a:solidFill>
                  <a:srgbClr val="C26700"/>
                </a:solidFill>
              </a:defRPr>
            </a:pPr>
            <a:r>
              <a:rPr sz="1275" b="0">
                <a:solidFill>
                  <a:srgbClr val="C26700"/>
                </a:solidFill>
                <a:latin typeface="Source Han Sans SC"/>
              </a:rPr>
              <a:t>Softmax</a:t>
            </a:r>
            <a:endParaRPr sz="1275" b="0">
              <a:solidFill>
                <a:srgbClr val="C26700"/>
              </a:solidFill>
            </a:endParaRPr>
          </a:p>
        </p:txBody>
      </p:sp>
      <p:sp>
        <p:nvSpPr>
          <p:cNvPr id="30" name="圆角矩形 29"/>
          <p:cNvSpPr>
            <a:spLocks noGrp="1"/>
          </p:cNvSpPr>
          <p:nvPr/>
        </p:nvSpPr>
        <p:spPr>
          <a:xfrm>
            <a:off x="2238375" y="4095750"/>
            <a:ext cx="7715250" cy="952500"/>
          </a:xfrm>
          <a:prstGeom prst="roundRect">
            <a:avLst>
              <a:gd name="adj" fmla="val 8000"/>
            </a:avLst>
          </a:prstGeom>
          <a:solidFill>
            <a:srgbClr val="F3EEF5"/>
          </a:solidFill>
          <a:ln w="12383">
            <a:solidFill>
              <a:srgbClr val="660874"/>
            </a:solidFill>
            <a:prstDash val="solid"/>
          </a:ln>
        </p:spPr>
        <p:txBody>
          <a:bodyPr/>
          <a:p/>
        </p:txBody>
      </p:sp>
      <p:sp>
        <p:nvSpPr>
          <p:cNvPr id="31" name="矩形 30"/>
          <p:cNvSpPr>
            <a:spLocks noGrp="1"/>
          </p:cNvSpPr>
          <p:nvPr/>
        </p:nvSpPr>
        <p:spPr>
          <a:xfrm>
            <a:off x="2352675" y="4171950"/>
            <a:ext cx="7486650" cy="285750"/>
          </a:xfrm>
          <a:prstGeom prst="rect">
            <a:avLst/>
          </a:prstGeom>
          <a:noFill/>
          <a:ln w="0">
            <a:noFill/>
            <a:prstDash val="solid"/>
          </a:ln>
        </p:spPr>
        <p:txBody>
          <a:bodyPr wrap="square" lIns="38100" tIns="19050" rIns="38100" bIns="19050" anchor="ctr">
            <a:normAutofit/>
          </a:bodyPr>
          <a:lstStyle/>
          <a:p>
            <a:pPr algn="ctr">
              <a:defRPr sz="1575" b="1">
                <a:solidFill>
                  <a:srgbClr val="660874"/>
                </a:solidFill>
              </a:defRPr>
            </a:pPr>
            <a:r>
              <a:rPr sz="1575" b="1">
                <a:solidFill>
                  <a:srgbClr val="660874"/>
                </a:solidFill>
                <a:latin typeface="Source Han Sans SC"/>
              </a:rPr>
              <a:t>Cross-Entropy</a:t>
            </a:r>
            <a:endParaRPr sz="1575" b="1">
              <a:solidFill>
                <a:srgbClr val="660874"/>
              </a:solidFill>
            </a:endParaRPr>
          </a:p>
        </p:txBody>
      </p:sp>
      <p:sp>
        <p:nvSpPr>
          <p:cNvPr id="32" name="矩形 31"/>
          <p:cNvSpPr>
            <a:spLocks noGrp="1"/>
          </p:cNvSpPr>
          <p:nvPr/>
        </p:nvSpPr>
        <p:spPr>
          <a:xfrm>
            <a:off x="2352675" y="4476750"/>
            <a:ext cx="7486650" cy="495300"/>
          </a:xfrm>
          <a:prstGeom prst="rect">
            <a:avLst/>
          </a:prstGeom>
          <a:noFill/>
          <a:ln w="0">
            <a:noFill/>
            <a:prstDash val="solid"/>
          </a:ln>
        </p:spPr>
        <p:txBody>
          <a:bodyPr wrap="square" lIns="38100" tIns="19050" rIns="38100" bIns="19050" anchor="ctr">
            <a:normAutofit/>
          </a:bodyPr>
          <a:lstStyle/>
          <a:p>
            <a:pPr algn="ctr">
              <a:defRPr sz="1875" b="0">
                <a:solidFill>
                  <a:srgbClr val="1F2937"/>
                </a:solidFill>
              </a:defRPr>
            </a:pPr>
            <a:r>
              <a:rPr lang="zh-CN" sz="1875" b="0">
                <a:solidFill>
                  <a:srgbClr val="1F2937"/>
                </a:solidFill>
                <a:latin typeface="Source Han Sans SC"/>
                <a:ea typeface="Source Han Sans SC"/>
              </a:rPr>
              <a:t>正确类别概率</a:t>
            </a:r>
            <a:r>
              <a:rPr sz="1875" b="0">
                <a:solidFill>
                  <a:srgbClr val="1F2937"/>
                </a:solidFill>
                <a:latin typeface="Source Han Sans SC"/>
              </a:rPr>
              <a:t> p(</a:t>
            </a:r>
            <a:r>
              <a:rPr lang="zh-CN" sz="1875" b="0">
                <a:solidFill>
                  <a:srgbClr val="1F2937"/>
                </a:solidFill>
                <a:latin typeface="Source Han Sans SC"/>
                <a:ea typeface="Source Han Sans SC"/>
              </a:rPr>
              <a:t>来</a:t>
            </a:r>
            <a:r>
              <a:rPr sz="1875" b="0">
                <a:solidFill>
                  <a:srgbClr val="1F2937"/>
                </a:solidFill>
                <a:latin typeface="Source Han Sans SC"/>
              </a:rPr>
              <a:t>)=0.378  →  Loss = −log(0.378) ≈ 0.973</a:t>
            </a:r>
            <a:endParaRPr sz="1875" b="0">
              <a:solidFill>
                <a:srgbClr val="1F2937"/>
              </a:solidFill>
            </a:endParaRPr>
          </a:p>
        </p:txBody>
      </p:sp>
      <p:sp>
        <p:nvSpPr>
          <p:cNvPr id="33" name="矩形 32"/>
          <p:cNvSpPr>
            <a:spLocks noGrp="1"/>
          </p:cNvSpPr>
          <p:nvPr/>
        </p:nvSpPr>
        <p:spPr>
          <a:xfrm>
            <a:off x="2238375" y="5219700"/>
            <a:ext cx="8096250" cy="228600"/>
          </a:xfrm>
          <a:prstGeom prst="rect">
            <a:avLst/>
          </a:prstGeom>
          <a:noFill/>
          <a:ln w="0">
            <a:noFill/>
            <a:prstDash val="solid"/>
          </a:ln>
        </p:spPr>
        <p:txBody>
          <a:bodyPr wrap="square" lIns="38100" tIns="19050" rIns="38100" bIns="19050" anchor="ctr">
            <a:normAutofit fontScale="98039"/>
          </a:bodyPr>
          <a:lstStyle/>
          <a:p>
            <a:pPr algn="l">
              <a:spcBef>
                <a:spcPts val="0"/>
              </a:spcBef>
              <a:spcAft>
                <a:spcPts val="0"/>
              </a:spcAft>
              <a:defRPr sz="1275" b="0">
                <a:solidFill>
                  <a:srgbClr val="5F6B7A"/>
                </a:solidFill>
              </a:defRPr>
            </a:pPr>
            <a:r>
              <a:rPr lang="zh-CN" sz="1125" b="0">
                <a:solidFill>
                  <a:srgbClr val="5F6B7A"/>
                </a:solidFill>
                <a:latin typeface="Source Han Sans SC"/>
                <a:ea typeface="Source Han Sans SC"/>
              </a:rPr>
              <a:t>序列</a:t>
            </a:r>
            <a:r>
              <a:rPr sz="1125" b="0">
                <a:solidFill>
                  <a:srgbClr val="5F6B7A"/>
                </a:solidFill>
                <a:latin typeface="Source Han Sans SC"/>
              </a:rPr>
              <a:t> Loss</a:t>
            </a:r>
            <a:r>
              <a:rPr lang="zh-CN" sz="1125" b="0">
                <a:solidFill>
                  <a:srgbClr val="5F6B7A"/>
                </a:solidFill>
                <a:latin typeface="Source Han Sans SC"/>
                <a:ea typeface="Source Han Sans SC"/>
              </a:rPr>
              <a:t>：对有效位置求平均。</a:t>
            </a:r>
            <a:r>
              <a:rPr sz="1125" b="0">
                <a:solidFill>
                  <a:srgbClr val="5F6B7A"/>
                </a:solidFill>
                <a:latin typeface="Source Han Sans SC"/>
              </a:rPr>
              <a:t>Padding </a:t>
            </a:r>
            <a:r>
              <a:rPr lang="zh-CN" sz="1125" b="0">
                <a:solidFill>
                  <a:srgbClr val="5F6B7A"/>
                </a:solidFill>
                <a:latin typeface="Source Han Sans SC"/>
                <a:ea typeface="Source Han Sans SC"/>
              </a:rPr>
              <a:t>是补齐序列的占位</a:t>
            </a:r>
            <a:r>
              <a:rPr sz="1125" b="0">
                <a:solidFill>
                  <a:srgbClr val="5F6B7A"/>
                </a:solidFill>
                <a:latin typeface="Source Han Sans SC"/>
              </a:rPr>
              <a:t> Token</a:t>
            </a:r>
            <a:r>
              <a:rPr sz="1125" b="0">
                <a:solidFill>
                  <a:srgbClr val="5F6B7A"/>
                </a:solidFill>
                <a:latin typeface="Source Han Sans SC"/>
              </a:rPr>
              <a:t>，</a:t>
            </a:r>
            <a:r>
              <a:rPr sz="1125" b="0">
                <a:solidFill>
                  <a:srgbClr val="5F6B7A"/>
                </a:solidFill>
                <a:latin typeface="Source Han Sans SC"/>
              </a:rPr>
              <a:t>ignore_index </a:t>
            </a:r>
            <a:r>
              <a:rPr lang="zh-CN" sz="1125" b="0">
                <a:solidFill>
                  <a:srgbClr val="5F6B7A"/>
                </a:solidFill>
                <a:latin typeface="Source Han Sans SC"/>
                <a:ea typeface="Source Han Sans SC"/>
              </a:rPr>
              <a:t>使其不参与计算。</a:t>
            </a:r>
            <a:endParaRPr sz="1125" b="0">
              <a:solidFill>
                <a:srgbClr val="5F6B7A"/>
              </a:solidFill>
            </a:endParaRPr>
          </a:p>
        </p:txBody>
      </p:sp>
      <p:sp>
        <p:nvSpPr>
          <p:cNvPr id="34" name="矩形 33"/>
          <p:cNvSpPr>
            <a:spLocks noGrp="1"/>
          </p:cNvSpPr>
          <p:nvPr/>
        </p:nvSpPr>
        <p:spPr>
          <a:xfrm>
            <a:off x="333375" y="5743575"/>
            <a:ext cx="11525250" cy="514350"/>
          </a:xfrm>
          <a:prstGeom prst="rect">
            <a:avLst/>
          </a:prstGeom>
          <a:solidFill>
            <a:srgbClr val="C26700"/>
          </a:solidFill>
          <a:ln w="0">
            <a:noFill/>
            <a:prstDash val="solid"/>
          </a:ln>
        </p:spPr>
      </p:sp>
      <p:sp>
        <p:nvSpPr>
          <p:cNvPr id="35" name="矩形 34"/>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defRPr sz="1425" b="1">
                <a:solidFill>
                  <a:srgbClr val="FFFFFF"/>
                </a:solidFill>
              </a:defRPr>
            </a:pPr>
            <a:r>
              <a:rPr lang="zh-CN" sz="1425" b="1">
                <a:solidFill>
                  <a:srgbClr val="FFFFFF"/>
                </a:solidFill>
                <a:latin typeface="Source Han Sans SC"/>
                <a:ea typeface="Source Han Sans SC"/>
              </a:rPr>
              <a:t>正确</a:t>
            </a:r>
            <a:r>
              <a:rPr sz="1425" b="1">
                <a:solidFill>
                  <a:srgbClr val="FFFFFF"/>
                </a:solidFill>
                <a:latin typeface="Source Han Sans SC"/>
              </a:rPr>
              <a:t> Token </a:t>
            </a:r>
            <a:r>
              <a:rPr lang="zh-CN" sz="1425" b="1">
                <a:solidFill>
                  <a:srgbClr val="FFFFFF"/>
                </a:solidFill>
                <a:latin typeface="Source Han Sans SC"/>
                <a:ea typeface="Source Han Sans SC"/>
              </a:rPr>
              <a:t>的概率越低，</a:t>
            </a:r>
            <a:r>
              <a:rPr sz="1425" b="1">
                <a:solidFill>
                  <a:srgbClr val="FFFFFF"/>
                </a:solidFill>
                <a:latin typeface="Source Han Sans SC"/>
              </a:rPr>
              <a:t>Loss </a:t>
            </a:r>
            <a:r>
              <a:rPr lang="zh-CN" sz="1425" b="1">
                <a:solidFill>
                  <a:srgbClr val="FFFFFF"/>
                </a:solidFill>
                <a:latin typeface="Source Han Sans SC"/>
                <a:ea typeface="Source Han Sans SC"/>
              </a:rPr>
              <a:t>越大；训练就是让正确答案的概率逐步提高。</a:t>
            </a:r>
            <a:endParaRPr sz="1425" b="1">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 name="title"/>
          <p:cNvSpPr>
            <a:spLocks noGrp="1"/>
          </p:cNvSpPr>
          <p:nvPr/>
        </p:nvSpPr>
        <p:spPr>
          <a:xfrm>
            <a:off x="333375" y="95250"/>
            <a:ext cx="10058400" cy="647700"/>
          </a:xfrm>
          <a:prstGeom prst="rect">
            <a:avLst/>
          </a:prstGeom>
          <a:noFill/>
          <a:ln w="0">
            <a:noFill/>
            <a:prstDash val="solid"/>
          </a:ln>
        </p:spPr>
        <p:txBody>
          <a:bodyPr wrap="square" lIns="38100" tIns="19050" rIns="38100" bIns="19050" anchor="ctr">
            <a:normAutofit/>
          </a:bodyPr>
          <a:lstStyle/>
          <a:p>
            <a:pPr algn="l">
              <a:defRPr sz="3200" b="1">
                <a:solidFill>
                  <a:srgbClr val="1F2937"/>
                </a:solidFill>
              </a:defRPr>
            </a:pPr>
            <a:r>
              <a:rPr lang="zh-CN" sz="3200" b="1">
                <a:solidFill>
                  <a:srgbClr val="1F2937"/>
                </a:solidFill>
                <a:latin typeface="Source Han Sans SC"/>
                <a:ea typeface="Source Han Sans SC"/>
              </a:rPr>
              <a:t>一次训练</a:t>
            </a:r>
            <a:r>
              <a:rPr sz="3200" b="1">
                <a:solidFill>
                  <a:srgbClr val="1F2937"/>
                </a:solidFill>
                <a:latin typeface="Source Han Sans SC"/>
              </a:rPr>
              <a:t> Step </a:t>
            </a:r>
            <a:r>
              <a:rPr lang="zh-CN" sz="3200" b="1">
                <a:solidFill>
                  <a:srgbClr val="1F2937"/>
                </a:solidFill>
                <a:latin typeface="Source Han Sans SC"/>
                <a:ea typeface="Source Han Sans SC"/>
              </a:rPr>
              <a:t>通过梯度把</a:t>
            </a:r>
            <a:r>
              <a:rPr sz="3200" b="1">
                <a:solidFill>
                  <a:srgbClr val="1F2937"/>
                </a:solidFill>
                <a:latin typeface="Source Han Sans SC"/>
              </a:rPr>
              <a:t> Loss </a:t>
            </a:r>
            <a:r>
              <a:rPr lang="zh-CN" sz="3200" b="1">
                <a:solidFill>
                  <a:srgbClr val="1F2937"/>
                </a:solidFill>
                <a:latin typeface="Source Han Sans SC"/>
                <a:ea typeface="Source Han Sans SC"/>
              </a:rPr>
              <a:t>反馈到全部参数</a:t>
            </a:r>
            <a:endParaRPr sz="3200" b="1">
              <a:solidFill>
                <a:srgbClr val="1F2937"/>
              </a:solidFill>
            </a:endParaRPr>
          </a:p>
        </p:txBody>
      </p:sp>
      <p:sp>
        <p:nvSpPr>
          <p:cNvPr id="2" name="矩形 1"/>
          <p:cNvSpPr>
            <a:spLocks noGrp="1"/>
          </p:cNvSpPr>
          <p:nvPr/>
        </p:nvSpPr>
        <p:spPr>
          <a:xfrm>
            <a:off x="333375" y="971550"/>
            <a:ext cx="10001250" cy="228600"/>
          </a:xfrm>
          <a:prstGeom prst="rect">
            <a:avLst/>
          </a:prstGeom>
          <a:noFill/>
          <a:ln w="0">
            <a:noFill/>
            <a:prstDash val="solid"/>
          </a:ln>
        </p:spPr>
        <p:txBody>
          <a:bodyPr wrap="square" lIns="38100" tIns="19050" rIns="38100" bIns="19050" anchor="ctr">
            <a:normAutofit fontScale="92593"/>
          </a:bodyPr>
          <a:lstStyle/>
          <a:p>
            <a:pPr algn="l">
              <a:defRPr sz="1350" b="0">
                <a:solidFill>
                  <a:srgbClr val="5F6B7A"/>
                </a:solidFill>
              </a:defRPr>
            </a:pPr>
            <a:r>
              <a:rPr lang="zh-CN" sz="1350" b="0">
                <a:solidFill>
                  <a:srgbClr val="5F6B7A"/>
                </a:solidFill>
                <a:latin typeface="Source Han Sans SC"/>
                <a:ea typeface="Source Han Sans SC"/>
              </a:rPr>
              <a:t>一次</a:t>
            </a:r>
            <a:r>
              <a:rPr sz="1350" b="0">
                <a:solidFill>
                  <a:srgbClr val="5F6B7A"/>
                </a:solidFill>
                <a:latin typeface="Source Han Sans SC"/>
              </a:rPr>
              <a:t> Step </a:t>
            </a:r>
            <a:r>
              <a:rPr lang="zh-CN" sz="1350" b="0">
                <a:solidFill>
                  <a:srgbClr val="5F6B7A"/>
                </a:solidFill>
                <a:latin typeface="Source Han Sans SC"/>
                <a:ea typeface="Source Han Sans SC"/>
              </a:rPr>
              <a:t>的完成标准：参数真正被</a:t>
            </a:r>
            <a:r>
              <a:rPr sz="1350" b="0">
                <a:solidFill>
                  <a:srgbClr val="5F6B7A"/>
                </a:solidFill>
                <a:latin typeface="Source Han Sans SC"/>
              </a:rPr>
              <a:t> optimizer.step() </a:t>
            </a:r>
            <a:r>
              <a:rPr lang="zh-CN" sz="1350" b="0">
                <a:solidFill>
                  <a:srgbClr val="5F6B7A"/>
                </a:solidFill>
                <a:latin typeface="Source Han Sans SC"/>
                <a:ea typeface="Source Han Sans SC"/>
              </a:rPr>
              <a:t>更新</a:t>
            </a:r>
            <a:endParaRPr sz="1350" b="0">
              <a:solidFill>
                <a:srgbClr val="5F6B7A"/>
              </a:solidFill>
            </a:endParaRPr>
          </a:p>
        </p:txBody>
      </p:sp>
      <p:sp>
        <p:nvSpPr>
          <p:cNvPr id="3" name="直接连接符 2"/>
          <p:cNvSpPr>
            <a:spLocks noGrp="1"/>
          </p:cNvSpPr>
          <p:nvPr/>
        </p:nvSpPr>
        <p:spPr>
          <a:xfrm>
            <a:off x="1905000" y="2952750"/>
            <a:ext cx="285750" cy="0"/>
          </a:xfrm>
          <a:prstGeom prst="line">
            <a:avLst/>
          </a:prstGeom>
          <a:noFill/>
          <a:ln w="19050">
            <a:solidFill>
              <a:srgbClr val="5F6B7A"/>
            </a:solidFill>
            <a:prstDash val="solid"/>
          </a:ln>
        </p:spPr>
      </p:sp>
      <p:sp>
        <p:nvSpPr>
          <p:cNvPr id="4" name="任意多边形 3"/>
          <p:cNvSpPr>
            <a:spLocks noGrp="1"/>
          </p:cNvSpPr>
          <p:nvPr/>
        </p:nvSpPr>
        <p:spPr>
          <a:xfrm>
            <a:off x="2085975" y="2905125"/>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sp>
      <p:sp>
        <p:nvSpPr>
          <p:cNvPr id="5" name="圆角矩形 4"/>
          <p:cNvSpPr>
            <a:spLocks noGrp="1"/>
          </p:cNvSpPr>
          <p:nvPr/>
        </p:nvSpPr>
        <p:spPr>
          <a:xfrm>
            <a:off x="428625" y="1952625"/>
            <a:ext cx="1476375" cy="2000250"/>
          </a:xfrm>
          <a:prstGeom prst="roundRect">
            <a:avLst>
              <a:gd name="adj" fmla="val 5161"/>
            </a:avLst>
          </a:prstGeom>
          <a:solidFill>
            <a:srgbClr val="EAF1FF"/>
          </a:solidFill>
          <a:ln w="12383">
            <a:solidFill>
              <a:srgbClr val="2F6BDA"/>
            </a:solidFill>
            <a:prstDash val="solid"/>
          </a:ln>
        </p:spPr>
      </p:sp>
      <p:sp>
        <p:nvSpPr>
          <p:cNvPr id="6" name="矩形 5"/>
          <p:cNvSpPr>
            <a:spLocks noGrp="1"/>
          </p:cNvSpPr>
          <p:nvPr/>
        </p:nvSpPr>
        <p:spPr>
          <a:xfrm>
            <a:off x="542925" y="2028825"/>
            <a:ext cx="1247775" cy="285750"/>
          </a:xfrm>
          <a:prstGeom prst="rect">
            <a:avLst/>
          </a:prstGeom>
          <a:noFill/>
          <a:ln w="0">
            <a:noFill/>
            <a:prstDash val="solid"/>
          </a:ln>
        </p:spPr>
        <p:txBody>
          <a:bodyPr wrap="square" lIns="38100" tIns="19050" rIns="38100" bIns="19050" anchor="ctr">
            <a:normAutofit/>
          </a:bodyPr>
          <a:lstStyle/>
          <a:p>
            <a:pPr algn="ctr">
              <a:defRPr sz="1425" b="1">
                <a:solidFill>
                  <a:srgbClr val="2F6BDA"/>
                </a:solidFill>
              </a:defRPr>
            </a:pPr>
            <a:r>
              <a:rPr sz="1425" b="1">
                <a:solidFill>
                  <a:srgbClr val="2F6BDA"/>
                </a:solidFill>
                <a:latin typeface="Source Han Sans SC"/>
              </a:rPr>
              <a:t>1 </a:t>
            </a:r>
            <a:r>
              <a:rPr lang="zh-CN" sz="1425" b="1">
                <a:solidFill>
                  <a:srgbClr val="2F6BDA"/>
                </a:solidFill>
                <a:latin typeface="Source Han Sans SC"/>
                <a:ea typeface="Source Han Sans SC"/>
              </a:rPr>
              <a:t>取</a:t>
            </a:r>
            <a:r>
              <a:rPr sz="1425" b="1">
                <a:solidFill>
                  <a:srgbClr val="2F6BDA"/>
                </a:solidFill>
                <a:latin typeface="Source Han Sans SC"/>
              </a:rPr>
              <a:t> Batch</a:t>
            </a:r>
            <a:endParaRPr sz="1425" b="1">
              <a:solidFill>
                <a:srgbClr val="2F6BDA"/>
              </a:solidFill>
            </a:endParaRPr>
          </a:p>
        </p:txBody>
      </p:sp>
      <p:sp>
        <p:nvSpPr>
          <p:cNvPr id="7" name="矩形 6"/>
          <p:cNvSpPr>
            <a:spLocks noGrp="1"/>
          </p:cNvSpPr>
          <p:nvPr/>
        </p:nvSpPr>
        <p:spPr>
          <a:xfrm>
            <a:off x="542925" y="2333625"/>
            <a:ext cx="1247775" cy="1543050"/>
          </a:xfrm>
          <a:prstGeom prst="rect">
            <a:avLst/>
          </a:prstGeom>
          <a:noFill/>
          <a:ln w="0">
            <a:noFill/>
            <a:prstDash val="solid"/>
          </a:ln>
        </p:spPr>
        <p:txBody>
          <a:bodyPr wrap="square" lIns="38100" tIns="19050" rIns="38100" bIns="19050" anchor="ctr">
            <a:normAutofit/>
          </a:bodyPr>
          <a:lstStyle/>
          <a:p>
            <a:pPr algn="ctr">
              <a:defRPr sz="1275" b="0">
                <a:solidFill>
                  <a:srgbClr val="1F2937"/>
                </a:solidFill>
              </a:defRPr>
            </a:pPr>
            <a:r>
              <a:rPr sz="1275" b="0">
                <a:solidFill>
                  <a:srgbClr val="1F2937"/>
                </a:solidFill>
                <a:latin typeface="Source Han Sans SC"/>
              </a:rPr>
              <a:t>inputs / targets</a:t>
            </a:r>
            <a:endParaRPr sz="1275" b="0">
              <a:solidFill>
                <a:srgbClr val="1F2937"/>
              </a:solidFill>
            </a:endParaRPr>
          </a:p>
          <a:p>
            <a:pPr algn="ctr">
              <a:defRPr sz="1275" b="0">
                <a:solidFill>
                  <a:srgbClr val="1F2937"/>
                </a:solidFill>
              </a:defRPr>
            </a:pPr>
            <a:r>
              <a:rPr sz="1275" b="0">
                <a:solidFill>
                  <a:srgbClr val="1F2937"/>
                </a:solidFill>
                <a:latin typeface="Source Han Sans SC"/>
              </a:rPr>
              <a:t>(B,T)</a:t>
            </a:r>
            <a:endParaRPr sz="1275" b="0">
              <a:solidFill>
                <a:srgbClr val="1F2937"/>
              </a:solidFill>
            </a:endParaRPr>
          </a:p>
        </p:txBody>
      </p:sp>
      <p:sp>
        <p:nvSpPr>
          <p:cNvPr id="8" name="直接连接符 7"/>
          <p:cNvSpPr>
            <a:spLocks noGrp="1"/>
          </p:cNvSpPr>
          <p:nvPr>
            <p:custDataLst>
              <p:tags r:id="rId1"/>
            </p:custDataLst>
          </p:nvPr>
        </p:nvSpPr>
        <p:spPr>
          <a:xfrm>
            <a:off x="3714750" y="2952750"/>
            <a:ext cx="285750" cy="0"/>
          </a:xfrm>
          <a:prstGeom prst="line">
            <a:avLst/>
          </a:prstGeom>
          <a:noFill/>
          <a:ln w="19050">
            <a:solidFill>
              <a:srgbClr val="5F6B7A"/>
            </a:solidFill>
            <a:prstDash val="solid"/>
          </a:ln>
        </p:spPr>
      </p:sp>
      <p:sp>
        <p:nvSpPr>
          <p:cNvPr id="9" name="任意多边形 8"/>
          <p:cNvSpPr>
            <a:spLocks noGrp="1"/>
          </p:cNvSpPr>
          <p:nvPr>
            <p:custDataLst>
              <p:tags r:id="rId2"/>
            </p:custDataLst>
          </p:nvPr>
        </p:nvSpPr>
        <p:spPr>
          <a:xfrm>
            <a:off x="3895725" y="2905125"/>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sp>
      <p:sp>
        <p:nvSpPr>
          <p:cNvPr id="10" name="圆角矩形 9"/>
          <p:cNvSpPr>
            <a:spLocks noGrp="1"/>
          </p:cNvSpPr>
          <p:nvPr/>
        </p:nvSpPr>
        <p:spPr>
          <a:xfrm>
            <a:off x="2238375" y="1952625"/>
            <a:ext cx="1476375" cy="2000250"/>
          </a:xfrm>
          <a:prstGeom prst="roundRect">
            <a:avLst>
              <a:gd name="adj" fmla="val 5161"/>
            </a:avLst>
          </a:prstGeom>
          <a:solidFill>
            <a:srgbClr val="E9F4F4"/>
          </a:solidFill>
          <a:ln w="12383">
            <a:solidFill>
              <a:srgbClr val="1E8E94"/>
            </a:solidFill>
            <a:prstDash val="solid"/>
          </a:ln>
        </p:spPr>
      </p:sp>
      <p:sp>
        <p:nvSpPr>
          <p:cNvPr id="11" name="矩形 10"/>
          <p:cNvSpPr>
            <a:spLocks noGrp="1"/>
          </p:cNvSpPr>
          <p:nvPr/>
        </p:nvSpPr>
        <p:spPr>
          <a:xfrm>
            <a:off x="2352675" y="2028825"/>
            <a:ext cx="1247775" cy="285750"/>
          </a:xfrm>
          <a:prstGeom prst="rect">
            <a:avLst/>
          </a:prstGeom>
          <a:noFill/>
          <a:ln w="0">
            <a:noFill/>
            <a:prstDash val="solid"/>
          </a:ln>
        </p:spPr>
        <p:txBody>
          <a:bodyPr wrap="square" lIns="38100" tIns="19050" rIns="38100" bIns="19050" anchor="ctr">
            <a:normAutofit/>
          </a:bodyPr>
          <a:lstStyle/>
          <a:p>
            <a:pPr algn="ctr">
              <a:defRPr sz="1425" b="1">
                <a:solidFill>
                  <a:srgbClr val="1E8E94"/>
                </a:solidFill>
              </a:defRPr>
            </a:pPr>
            <a:r>
              <a:rPr sz="1425" b="1">
                <a:solidFill>
                  <a:srgbClr val="1E8E94"/>
                </a:solidFill>
                <a:latin typeface="Source Han Sans SC"/>
              </a:rPr>
              <a:t>2 Forward</a:t>
            </a:r>
            <a:endParaRPr sz="1425" b="1">
              <a:solidFill>
                <a:srgbClr val="1E8E94"/>
              </a:solidFill>
            </a:endParaRPr>
          </a:p>
        </p:txBody>
      </p:sp>
      <p:sp>
        <p:nvSpPr>
          <p:cNvPr id="12" name="矩形 11"/>
          <p:cNvSpPr>
            <a:spLocks noGrp="1"/>
          </p:cNvSpPr>
          <p:nvPr/>
        </p:nvSpPr>
        <p:spPr>
          <a:xfrm>
            <a:off x="2352675" y="2333625"/>
            <a:ext cx="1247775" cy="1543050"/>
          </a:xfrm>
          <a:prstGeom prst="rect">
            <a:avLst/>
          </a:prstGeom>
          <a:noFill/>
          <a:ln w="0">
            <a:noFill/>
            <a:prstDash val="solid"/>
          </a:ln>
        </p:spPr>
        <p:txBody>
          <a:bodyPr wrap="square" lIns="38100" tIns="19050" rIns="38100" bIns="19050" anchor="ctr">
            <a:normAutofit/>
          </a:bodyPr>
          <a:lstStyle/>
          <a:p>
            <a:pPr algn="ctr">
              <a:defRPr sz="1275" b="0">
                <a:solidFill>
                  <a:srgbClr val="1F2937"/>
                </a:solidFill>
              </a:defRPr>
            </a:pPr>
            <a:r>
              <a:rPr sz="1275" b="0">
                <a:solidFill>
                  <a:srgbClr val="1F2937"/>
                </a:solidFill>
                <a:latin typeface="Source Han Sans SC"/>
              </a:rPr>
              <a:t>Logits → Loss</a:t>
            </a:r>
            <a:endParaRPr sz="1275" b="0">
              <a:solidFill>
                <a:srgbClr val="1F2937"/>
              </a:solidFill>
            </a:endParaRPr>
          </a:p>
        </p:txBody>
      </p:sp>
      <p:sp>
        <p:nvSpPr>
          <p:cNvPr id="13" name="直接连接符 12"/>
          <p:cNvSpPr>
            <a:spLocks noGrp="1"/>
          </p:cNvSpPr>
          <p:nvPr>
            <p:custDataLst>
              <p:tags r:id="rId3"/>
            </p:custDataLst>
          </p:nvPr>
        </p:nvSpPr>
        <p:spPr>
          <a:xfrm>
            <a:off x="5524500" y="2952750"/>
            <a:ext cx="285750" cy="0"/>
          </a:xfrm>
          <a:prstGeom prst="line">
            <a:avLst/>
          </a:prstGeom>
          <a:noFill/>
          <a:ln w="19050">
            <a:solidFill>
              <a:srgbClr val="5F6B7A"/>
            </a:solidFill>
            <a:prstDash val="solid"/>
          </a:ln>
        </p:spPr>
      </p:sp>
      <p:sp>
        <p:nvSpPr>
          <p:cNvPr id="14" name="任意多边形 13"/>
          <p:cNvSpPr>
            <a:spLocks noGrp="1"/>
          </p:cNvSpPr>
          <p:nvPr>
            <p:custDataLst>
              <p:tags r:id="rId4"/>
            </p:custDataLst>
          </p:nvPr>
        </p:nvSpPr>
        <p:spPr>
          <a:xfrm>
            <a:off x="5705475" y="2905125"/>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sp>
      <p:sp>
        <p:nvSpPr>
          <p:cNvPr id="15" name="圆角矩形 14"/>
          <p:cNvSpPr>
            <a:spLocks noGrp="1"/>
          </p:cNvSpPr>
          <p:nvPr>
            <p:custDataLst>
              <p:tags r:id="rId5"/>
            </p:custDataLst>
          </p:nvPr>
        </p:nvSpPr>
        <p:spPr>
          <a:xfrm>
            <a:off x="4048125" y="1952625"/>
            <a:ext cx="1476375" cy="2000250"/>
          </a:xfrm>
          <a:prstGeom prst="roundRect">
            <a:avLst>
              <a:gd name="adj" fmla="val 5161"/>
            </a:avLst>
          </a:prstGeom>
          <a:solidFill>
            <a:srgbClr val="F3EEF5"/>
          </a:solidFill>
          <a:ln w="12383">
            <a:solidFill>
              <a:srgbClr val="660874"/>
            </a:solidFill>
            <a:prstDash val="solid"/>
          </a:ln>
        </p:spPr>
      </p:sp>
      <p:sp>
        <p:nvSpPr>
          <p:cNvPr id="16" name="矩形 15"/>
          <p:cNvSpPr>
            <a:spLocks noGrp="1"/>
          </p:cNvSpPr>
          <p:nvPr>
            <p:custDataLst>
              <p:tags r:id="rId6"/>
            </p:custDataLst>
          </p:nvPr>
        </p:nvSpPr>
        <p:spPr>
          <a:xfrm>
            <a:off x="4162425" y="2028825"/>
            <a:ext cx="1247775" cy="285750"/>
          </a:xfrm>
          <a:prstGeom prst="rect">
            <a:avLst/>
          </a:prstGeom>
          <a:noFill/>
          <a:ln w="0">
            <a:noFill/>
            <a:prstDash val="solid"/>
          </a:ln>
        </p:spPr>
        <p:txBody>
          <a:bodyPr wrap="square" lIns="38100" tIns="19050" rIns="38100" bIns="19050" anchor="ctr">
            <a:normAutofit/>
          </a:bodyPr>
          <a:lstStyle/>
          <a:p>
            <a:pPr algn="ctr">
              <a:defRPr sz="1425" b="1">
                <a:solidFill>
                  <a:srgbClr val="660874"/>
                </a:solidFill>
              </a:defRPr>
            </a:pPr>
            <a:r>
              <a:rPr sz="1425" b="1">
                <a:solidFill>
                  <a:srgbClr val="660874"/>
                </a:solidFill>
                <a:latin typeface="Source Han Sans SC"/>
              </a:rPr>
              <a:t>3 Backward</a:t>
            </a:r>
            <a:endParaRPr sz="1425" b="1">
              <a:solidFill>
                <a:srgbClr val="660874"/>
              </a:solidFill>
            </a:endParaRPr>
          </a:p>
        </p:txBody>
      </p:sp>
      <p:sp>
        <p:nvSpPr>
          <p:cNvPr id="17" name="矩形 16"/>
          <p:cNvSpPr>
            <a:spLocks noGrp="1"/>
          </p:cNvSpPr>
          <p:nvPr>
            <p:custDataLst>
              <p:tags r:id="rId7"/>
            </p:custDataLst>
          </p:nvPr>
        </p:nvSpPr>
        <p:spPr>
          <a:xfrm>
            <a:off x="4162425" y="2333625"/>
            <a:ext cx="1247775" cy="1543050"/>
          </a:xfrm>
          <a:prstGeom prst="rect">
            <a:avLst/>
          </a:prstGeom>
          <a:noFill/>
          <a:ln w="0">
            <a:noFill/>
            <a:prstDash val="solid"/>
          </a:ln>
        </p:spPr>
        <p:txBody>
          <a:bodyPr wrap="square" lIns="38100" tIns="19050" rIns="38100" bIns="19050" anchor="ctr">
            <a:normAutofit/>
          </a:bodyPr>
          <a:lstStyle/>
          <a:p>
            <a:pPr algn="ctr">
              <a:defRPr sz="1275" b="0">
                <a:solidFill>
                  <a:srgbClr val="1F2937"/>
                </a:solidFill>
              </a:defRPr>
            </a:pPr>
            <a:r>
              <a:rPr lang="zh-CN" sz="1275" b="0">
                <a:solidFill>
                  <a:srgbClr val="1F2937"/>
                </a:solidFill>
                <a:latin typeface="Source Han Sans SC"/>
                <a:ea typeface="Source Han Sans SC"/>
              </a:rPr>
              <a:t>计算每个参数梯度</a:t>
            </a:r>
            <a:endParaRPr sz="1275" b="0">
              <a:solidFill>
                <a:srgbClr val="1F2937"/>
              </a:solidFill>
            </a:endParaRPr>
          </a:p>
        </p:txBody>
      </p:sp>
      <p:sp>
        <p:nvSpPr>
          <p:cNvPr id="18" name="直接连接符 17"/>
          <p:cNvSpPr>
            <a:spLocks noGrp="1"/>
          </p:cNvSpPr>
          <p:nvPr>
            <p:custDataLst>
              <p:tags r:id="rId8"/>
            </p:custDataLst>
          </p:nvPr>
        </p:nvSpPr>
        <p:spPr>
          <a:xfrm>
            <a:off x="7334250" y="2952750"/>
            <a:ext cx="285750" cy="0"/>
          </a:xfrm>
          <a:prstGeom prst="line">
            <a:avLst/>
          </a:prstGeom>
          <a:noFill/>
          <a:ln w="19050">
            <a:solidFill>
              <a:srgbClr val="5F6B7A"/>
            </a:solidFill>
            <a:prstDash val="solid"/>
          </a:ln>
        </p:spPr>
      </p:sp>
      <p:sp>
        <p:nvSpPr>
          <p:cNvPr id="19" name="任意多边形 18"/>
          <p:cNvSpPr>
            <a:spLocks noGrp="1"/>
          </p:cNvSpPr>
          <p:nvPr>
            <p:custDataLst>
              <p:tags r:id="rId9"/>
            </p:custDataLst>
          </p:nvPr>
        </p:nvSpPr>
        <p:spPr>
          <a:xfrm>
            <a:off x="7515225" y="2905125"/>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sp>
      <p:sp>
        <p:nvSpPr>
          <p:cNvPr id="20" name="圆角矩形 19"/>
          <p:cNvSpPr>
            <a:spLocks noGrp="1"/>
          </p:cNvSpPr>
          <p:nvPr>
            <p:custDataLst>
              <p:tags r:id="rId10"/>
            </p:custDataLst>
          </p:nvPr>
        </p:nvSpPr>
        <p:spPr>
          <a:xfrm>
            <a:off x="5857875" y="1952625"/>
            <a:ext cx="1476375" cy="2000250"/>
          </a:xfrm>
          <a:prstGeom prst="roundRect">
            <a:avLst>
              <a:gd name="adj" fmla="val 5161"/>
            </a:avLst>
          </a:prstGeom>
          <a:solidFill>
            <a:srgbClr val="FFF7E8"/>
          </a:solidFill>
          <a:ln w="12383">
            <a:solidFill>
              <a:srgbClr val="C26700"/>
            </a:solidFill>
            <a:prstDash val="solid"/>
          </a:ln>
        </p:spPr>
      </p:sp>
      <p:sp>
        <p:nvSpPr>
          <p:cNvPr id="21" name="矩形 20"/>
          <p:cNvSpPr>
            <a:spLocks noGrp="1"/>
          </p:cNvSpPr>
          <p:nvPr>
            <p:custDataLst>
              <p:tags r:id="rId11"/>
            </p:custDataLst>
          </p:nvPr>
        </p:nvSpPr>
        <p:spPr>
          <a:xfrm>
            <a:off x="5972175" y="2028825"/>
            <a:ext cx="1247775" cy="285750"/>
          </a:xfrm>
          <a:prstGeom prst="rect">
            <a:avLst/>
          </a:prstGeom>
          <a:noFill/>
          <a:ln w="0">
            <a:noFill/>
            <a:prstDash val="solid"/>
          </a:ln>
        </p:spPr>
        <p:txBody>
          <a:bodyPr wrap="square" lIns="38100" tIns="19050" rIns="38100" bIns="19050" anchor="ctr">
            <a:normAutofit/>
          </a:bodyPr>
          <a:lstStyle/>
          <a:p>
            <a:pPr algn="ctr">
              <a:defRPr sz="1425" b="1">
                <a:solidFill>
                  <a:srgbClr val="C26700"/>
                </a:solidFill>
              </a:defRPr>
            </a:pPr>
            <a:r>
              <a:rPr sz="1425" b="1">
                <a:solidFill>
                  <a:srgbClr val="C26700"/>
                </a:solidFill>
                <a:latin typeface="Source Han Sans SC"/>
              </a:rPr>
              <a:t>4 Clip Grad</a:t>
            </a:r>
            <a:endParaRPr sz="1425" b="1">
              <a:solidFill>
                <a:srgbClr val="C26700"/>
              </a:solidFill>
            </a:endParaRPr>
          </a:p>
        </p:txBody>
      </p:sp>
      <p:sp>
        <p:nvSpPr>
          <p:cNvPr id="22" name="矩形 21"/>
          <p:cNvSpPr>
            <a:spLocks noGrp="1"/>
          </p:cNvSpPr>
          <p:nvPr>
            <p:custDataLst>
              <p:tags r:id="rId12"/>
            </p:custDataLst>
          </p:nvPr>
        </p:nvSpPr>
        <p:spPr>
          <a:xfrm>
            <a:off x="5972175" y="2333625"/>
            <a:ext cx="1247775" cy="1543050"/>
          </a:xfrm>
          <a:prstGeom prst="rect">
            <a:avLst/>
          </a:prstGeom>
          <a:noFill/>
          <a:ln w="0">
            <a:noFill/>
            <a:prstDash val="solid"/>
          </a:ln>
        </p:spPr>
        <p:txBody>
          <a:bodyPr wrap="square" lIns="38100" tIns="19050" rIns="38100" bIns="19050" anchor="ctr">
            <a:normAutofit/>
          </a:bodyPr>
          <a:lstStyle/>
          <a:p>
            <a:pPr algn="ctr">
              <a:defRPr sz="1275" b="0">
                <a:solidFill>
                  <a:srgbClr val="1F2937"/>
                </a:solidFill>
              </a:defRPr>
            </a:pPr>
            <a:r>
              <a:rPr lang="zh-CN" sz="1275" b="0">
                <a:solidFill>
                  <a:srgbClr val="1F2937"/>
                </a:solidFill>
                <a:latin typeface="Source Han Sans SC"/>
                <a:ea typeface="Source Han Sans SC"/>
              </a:rPr>
              <a:t>限制异常梯度范数</a:t>
            </a:r>
            <a:endParaRPr sz="1275" b="0">
              <a:solidFill>
                <a:srgbClr val="1F2937"/>
              </a:solidFill>
            </a:endParaRPr>
          </a:p>
        </p:txBody>
      </p:sp>
      <p:sp>
        <p:nvSpPr>
          <p:cNvPr id="23" name="直接连接符 22"/>
          <p:cNvSpPr>
            <a:spLocks noGrp="1"/>
          </p:cNvSpPr>
          <p:nvPr>
            <p:custDataLst>
              <p:tags r:id="rId13"/>
            </p:custDataLst>
          </p:nvPr>
        </p:nvSpPr>
        <p:spPr>
          <a:xfrm>
            <a:off x="9144000" y="2952750"/>
            <a:ext cx="285750" cy="0"/>
          </a:xfrm>
          <a:prstGeom prst="line">
            <a:avLst/>
          </a:prstGeom>
          <a:noFill/>
          <a:ln w="19050">
            <a:solidFill>
              <a:srgbClr val="5F6B7A"/>
            </a:solidFill>
            <a:prstDash val="solid"/>
          </a:ln>
        </p:spPr>
      </p:sp>
      <p:sp>
        <p:nvSpPr>
          <p:cNvPr id="24" name="任意多边形 23"/>
          <p:cNvSpPr>
            <a:spLocks noGrp="1"/>
          </p:cNvSpPr>
          <p:nvPr>
            <p:custDataLst>
              <p:tags r:id="rId14"/>
            </p:custDataLst>
          </p:nvPr>
        </p:nvSpPr>
        <p:spPr>
          <a:xfrm>
            <a:off x="9324975" y="2905125"/>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sp>
      <p:sp>
        <p:nvSpPr>
          <p:cNvPr id="25" name="圆角矩形 24"/>
          <p:cNvSpPr>
            <a:spLocks noGrp="1"/>
          </p:cNvSpPr>
          <p:nvPr>
            <p:custDataLst>
              <p:tags r:id="rId15"/>
            </p:custDataLst>
          </p:nvPr>
        </p:nvSpPr>
        <p:spPr>
          <a:xfrm>
            <a:off x="7667625" y="1952625"/>
            <a:ext cx="1476375" cy="2000250"/>
          </a:xfrm>
          <a:prstGeom prst="roundRect">
            <a:avLst>
              <a:gd name="adj" fmla="val 5161"/>
            </a:avLst>
          </a:prstGeom>
          <a:solidFill>
            <a:srgbClr val="EEF8E9"/>
          </a:solidFill>
          <a:ln w="12383">
            <a:solidFill>
              <a:srgbClr val="48BB00"/>
            </a:solidFill>
            <a:prstDash val="solid"/>
          </a:ln>
        </p:spPr>
      </p:sp>
      <p:sp>
        <p:nvSpPr>
          <p:cNvPr id="26" name="矩形 25"/>
          <p:cNvSpPr>
            <a:spLocks noGrp="1"/>
          </p:cNvSpPr>
          <p:nvPr>
            <p:custDataLst>
              <p:tags r:id="rId16"/>
            </p:custDataLst>
          </p:nvPr>
        </p:nvSpPr>
        <p:spPr>
          <a:xfrm>
            <a:off x="7781925" y="2028825"/>
            <a:ext cx="1247775" cy="285750"/>
          </a:xfrm>
          <a:prstGeom prst="rect">
            <a:avLst/>
          </a:prstGeom>
          <a:noFill/>
          <a:ln w="0">
            <a:noFill/>
            <a:prstDash val="solid"/>
          </a:ln>
        </p:spPr>
        <p:txBody>
          <a:bodyPr wrap="square" lIns="38100" tIns="19050" rIns="38100" bIns="19050" anchor="ctr">
            <a:normAutofit/>
          </a:bodyPr>
          <a:lstStyle/>
          <a:p>
            <a:pPr algn="ctr">
              <a:defRPr sz="1425" b="1">
                <a:solidFill>
                  <a:srgbClr val="48BB00"/>
                </a:solidFill>
              </a:defRPr>
            </a:pPr>
            <a:r>
              <a:rPr sz="1425" b="1">
                <a:solidFill>
                  <a:srgbClr val="48BB00"/>
                </a:solidFill>
                <a:latin typeface="Source Han Sans SC"/>
              </a:rPr>
              <a:t>5 Optimizer</a:t>
            </a:r>
            <a:endParaRPr sz="1425" b="1">
              <a:solidFill>
                <a:srgbClr val="48BB00"/>
              </a:solidFill>
            </a:endParaRPr>
          </a:p>
        </p:txBody>
      </p:sp>
      <p:sp>
        <p:nvSpPr>
          <p:cNvPr id="27" name="矩形 26"/>
          <p:cNvSpPr>
            <a:spLocks noGrp="1"/>
          </p:cNvSpPr>
          <p:nvPr>
            <p:custDataLst>
              <p:tags r:id="rId17"/>
            </p:custDataLst>
          </p:nvPr>
        </p:nvSpPr>
        <p:spPr>
          <a:xfrm>
            <a:off x="7781925" y="2333625"/>
            <a:ext cx="1247775" cy="1543050"/>
          </a:xfrm>
          <a:prstGeom prst="rect">
            <a:avLst/>
          </a:prstGeom>
          <a:noFill/>
          <a:ln w="0">
            <a:noFill/>
            <a:prstDash val="solid"/>
          </a:ln>
        </p:spPr>
        <p:txBody>
          <a:bodyPr wrap="square" lIns="38100" tIns="19050" rIns="38100" bIns="19050" anchor="ctr">
            <a:normAutofit/>
          </a:bodyPr>
          <a:lstStyle/>
          <a:p>
            <a:pPr algn="ctr">
              <a:defRPr sz="1275" b="0">
                <a:solidFill>
                  <a:srgbClr val="1F2937"/>
                </a:solidFill>
              </a:defRPr>
            </a:pPr>
            <a:r>
              <a:rPr lang="zh-CN" sz="1275" b="0">
                <a:solidFill>
                  <a:srgbClr val="1F2937"/>
                </a:solidFill>
                <a:latin typeface="Source Han Sans SC"/>
                <a:ea typeface="Source Han Sans SC"/>
              </a:rPr>
              <a:t>根据梯度更新参数</a:t>
            </a:r>
            <a:endParaRPr sz="1275" b="0">
              <a:solidFill>
                <a:srgbClr val="1F2937"/>
              </a:solidFill>
            </a:endParaRPr>
          </a:p>
        </p:txBody>
      </p:sp>
      <p:sp>
        <p:nvSpPr>
          <p:cNvPr id="28" name="圆角矩形 27"/>
          <p:cNvSpPr>
            <a:spLocks noGrp="1"/>
          </p:cNvSpPr>
          <p:nvPr>
            <p:custDataLst>
              <p:tags r:id="rId18"/>
            </p:custDataLst>
          </p:nvPr>
        </p:nvSpPr>
        <p:spPr>
          <a:xfrm>
            <a:off x="9477375" y="1952625"/>
            <a:ext cx="1476375" cy="2000250"/>
          </a:xfrm>
          <a:prstGeom prst="roundRect">
            <a:avLst>
              <a:gd name="adj" fmla="val 5161"/>
            </a:avLst>
          </a:prstGeom>
          <a:solidFill>
            <a:srgbClr val="F5F7FA"/>
          </a:solidFill>
          <a:ln w="12383">
            <a:solidFill>
              <a:srgbClr val="5F6B7A"/>
            </a:solidFill>
            <a:prstDash val="solid"/>
          </a:ln>
        </p:spPr>
      </p:sp>
      <p:sp>
        <p:nvSpPr>
          <p:cNvPr id="29" name="矩形 28"/>
          <p:cNvSpPr>
            <a:spLocks noGrp="1"/>
          </p:cNvSpPr>
          <p:nvPr>
            <p:custDataLst>
              <p:tags r:id="rId19"/>
            </p:custDataLst>
          </p:nvPr>
        </p:nvSpPr>
        <p:spPr>
          <a:xfrm>
            <a:off x="9591675" y="2028825"/>
            <a:ext cx="1247775" cy="285750"/>
          </a:xfrm>
          <a:prstGeom prst="rect">
            <a:avLst/>
          </a:prstGeom>
          <a:noFill/>
          <a:ln w="0">
            <a:noFill/>
            <a:prstDash val="solid"/>
          </a:ln>
        </p:spPr>
        <p:txBody>
          <a:bodyPr wrap="square" lIns="38100" tIns="19050" rIns="38100" bIns="19050" anchor="ctr">
            <a:normAutofit/>
          </a:bodyPr>
          <a:lstStyle/>
          <a:p>
            <a:pPr algn="ctr">
              <a:defRPr sz="1425" b="1">
                <a:solidFill>
                  <a:srgbClr val="5F6B7A"/>
                </a:solidFill>
              </a:defRPr>
            </a:pPr>
            <a:r>
              <a:rPr sz="1425" b="1">
                <a:solidFill>
                  <a:srgbClr val="5F6B7A"/>
                </a:solidFill>
                <a:latin typeface="Source Han Sans SC"/>
              </a:rPr>
              <a:t>6 </a:t>
            </a:r>
            <a:r>
              <a:rPr lang="en-US" sz="1425" b="1">
                <a:solidFill>
                  <a:srgbClr val="5F6B7A"/>
                </a:solidFill>
                <a:latin typeface="Source Han Sans SC"/>
              </a:rPr>
              <a:t>Z</a:t>
            </a:r>
            <a:r>
              <a:rPr sz="1425" b="1">
                <a:solidFill>
                  <a:srgbClr val="5F6B7A"/>
                </a:solidFill>
                <a:latin typeface="Source Han Sans SC"/>
              </a:rPr>
              <a:t>ero</a:t>
            </a:r>
            <a:r>
              <a:rPr lang="en-US" sz="1425" b="1">
                <a:solidFill>
                  <a:srgbClr val="5F6B7A"/>
                </a:solidFill>
                <a:latin typeface="Source Han Sans SC"/>
              </a:rPr>
              <a:t> G</a:t>
            </a:r>
            <a:r>
              <a:rPr sz="1425" b="1">
                <a:solidFill>
                  <a:srgbClr val="5F6B7A"/>
                </a:solidFill>
                <a:latin typeface="Source Han Sans SC"/>
              </a:rPr>
              <a:t>rad</a:t>
            </a:r>
            <a:endParaRPr sz="1425" b="1">
              <a:solidFill>
                <a:srgbClr val="5F6B7A"/>
              </a:solidFill>
            </a:endParaRPr>
          </a:p>
        </p:txBody>
      </p:sp>
      <p:sp>
        <p:nvSpPr>
          <p:cNvPr id="30" name="矩形 29"/>
          <p:cNvSpPr>
            <a:spLocks noGrp="1"/>
          </p:cNvSpPr>
          <p:nvPr>
            <p:custDataLst>
              <p:tags r:id="rId20"/>
            </p:custDataLst>
          </p:nvPr>
        </p:nvSpPr>
        <p:spPr>
          <a:xfrm>
            <a:off x="9591675" y="2333625"/>
            <a:ext cx="1247775" cy="1543050"/>
          </a:xfrm>
          <a:prstGeom prst="rect">
            <a:avLst/>
          </a:prstGeom>
          <a:noFill/>
          <a:ln w="0">
            <a:noFill/>
            <a:prstDash val="solid"/>
          </a:ln>
        </p:spPr>
        <p:txBody>
          <a:bodyPr wrap="square" lIns="38100" tIns="19050" rIns="38100" bIns="19050" anchor="ctr">
            <a:normAutofit/>
          </a:bodyPr>
          <a:lstStyle/>
          <a:p>
            <a:pPr algn="ctr">
              <a:defRPr sz="1275" b="0">
                <a:solidFill>
                  <a:srgbClr val="1F2937"/>
                </a:solidFill>
              </a:defRPr>
            </a:pPr>
            <a:r>
              <a:rPr lang="zh-CN" sz="1275" b="0">
                <a:solidFill>
                  <a:srgbClr val="1F2937"/>
                </a:solidFill>
                <a:latin typeface="Source Han Sans SC"/>
                <a:ea typeface="Source Han Sans SC"/>
              </a:rPr>
              <a:t>清理旧梯度</a:t>
            </a:r>
            <a:endParaRPr sz="1275" b="0">
              <a:solidFill>
                <a:srgbClr val="1F2937"/>
              </a:solidFill>
            </a:endParaRPr>
          </a:p>
          <a:p>
            <a:pPr algn="ctr">
              <a:defRPr sz="1275" b="0">
                <a:solidFill>
                  <a:srgbClr val="1F2937"/>
                </a:solidFill>
              </a:defRPr>
            </a:pPr>
            <a:r>
              <a:rPr lang="zh-CN" sz="1275" b="0">
                <a:solidFill>
                  <a:srgbClr val="1F2937"/>
                </a:solidFill>
                <a:latin typeface="Source Han Sans SC"/>
                <a:ea typeface="Source Han Sans SC"/>
              </a:rPr>
              <a:t>进入下一</a:t>
            </a:r>
            <a:r>
              <a:rPr sz="1275" b="0">
                <a:solidFill>
                  <a:srgbClr val="1F2937"/>
                </a:solidFill>
                <a:latin typeface="Source Han Sans SC"/>
              </a:rPr>
              <a:t> Step</a:t>
            </a:r>
            <a:endParaRPr sz="1275" b="0">
              <a:solidFill>
                <a:srgbClr val="1F2937"/>
              </a:solidFill>
            </a:endParaRPr>
          </a:p>
        </p:txBody>
      </p:sp>
      <p:sp>
        <p:nvSpPr>
          <p:cNvPr id="31" name="直接连接符 30"/>
          <p:cNvSpPr>
            <a:spLocks noGrp="1"/>
          </p:cNvSpPr>
          <p:nvPr/>
        </p:nvSpPr>
        <p:spPr>
          <a:xfrm flipH="1">
            <a:off x="1162050" y="4238625"/>
            <a:ext cx="9124950" cy="0"/>
          </a:xfrm>
          <a:prstGeom prst="line">
            <a:avLst/>
          </a:prstGeom>
          <a:noFill/>
          <a:ln w="19050">
            <a:solidFill>
              <a:srgbClr val="660874"/>
            </a:solidFill>
            <a:prstDash val="solid"/>
          </a:ln>
        </p:spPr>
      </p:sp>
      <p:sp>
        <p:nvSpPr>
          <p:cNvPr id="32" name="任意多边形 31"/>
          <p:cNvSpPr>
            <a:spLocks noGrp="1"/>
          </p:cNvSpPr>
          <p:nvPr/>
        </p:nvSpPr>
        <p:spPr>
          <a:xfrm>
            <a:off x="1162050" y="4191000"/>
            <a:ext cx="104775" cy="95250"/>
          </a:xfrm>
          <a:custGeom>
            <a:avLst/>
            <a:gdLst/>
            <a:ahLst/>
            <a:cxnLst/>
            <a:pathLst>
              <a:path w="104775" h="95250">
                <a:moveTo>
                  <a:pt x="104775" y="0"/>
                </a:moveTo>
                <a:lnTo>
                  <a:pt x="0" y="47625"/>
                </a:lnTo>
                <a:lnTo>
                  <a:pt x="104775" y="95250"/>
                </a:lnTo>
                <a:close/>
              </a:path>
            </a:pathLst>
          </a:custGeom>
          <a:solidFill>
            <a:srgbClr val="660874"/>
          </a:solidFill>
          <a:ln w="0">
            <a:solidFill>
              <a:srgbClr val="660874"/>
            </a:solidFill>
            <a:prstDash val="solid"/>
          </a:ln>
        </p:spPr>
      </p:sp>
      <p:sp>
        <p:nvSpPr>
          <p:cNvPr id="33" name="矩形 32"/>
          <p:cNvSpPr>
            <a:spLocks noGrp="1"/>
          </p:cNvSpPr>
          <p:nvPr/>
        </p:nvSpPr>
        <p:spPr>
          <a:xfrm>
            <a:off x="5381625" y="4314825"/>
            <a:ext cx="1428750" cy="228600"/>
          </a:xfrm>
          <a:prstGeom prst="rect">
            <a:avLst/>
          </a:prstGeom>
          <a:noFill/>
          <a:ln w="0">
            <a:noFill/>
            <a:prstDash val="solid"/>
          </a:ln>
        </p:spPr>
        <p:txBody>
          <a:bodyPr wrap="square" lIns="38100" tIns="19050" rIns="38100" bIns="19050" anchor="ctr">
            <a:normAutofit fontScale="98039"/>
          </a:bodyPr>
          <a:lstStyle/>
          <a:p>
            <a:pPr algn="l">
              <a:defRPr sz="1275" b="0">
                <a:solidFill>
                  <a:srgbClr val="660874"/>
                </a:solidFill>
              </a:defRPr>
            </a:pPr>
            <a:r>
              <a:rPr lang="zh-CN" sz="1275" b="0">
                <a:solidFill>
                  <a:srgbClr val="660874"/>
                </a:solidFill>
                <a:latin typeface="Source Han Sans SC"/>
                <a:ea typeface="Source Han Sans SC"/>
              </a:rPr>
              <a:t>下一</a:t>
            </a:r>
            <a:r>
              <a:rPr sz="1275" b="0">
                <a:solidFill>
                  <a:srgbClr val="660874"/>
                </a:solidFill>
                <a:latin typeface="Source Han Sans SC"/>
              </a:rPr>
              <a:t> Step</a:t>
            </a:r>
            <a:endParaRPr sz="1275" b="0">
              <a:solidFill>
                <a:srgbClr val="660874"/>
              </a:solidFill>
            </a:endParaRPr>
          </a:p>
        </p:txBody>
      </p:sp>
      <p:sp>
        <p:nvSpPr>
          <p:cNvPr id="34" name="圆角矩形 33"/>
          <p:cNvSpPr>
            <a:spLocks noGrp="1"/>
          </p:cNvSpPr>
          <p:nvPr/>
        </p:nvSpPr>
        <p:spPr>
          <a:xfrm>
            <a:off x="2381250" y="4619625"/>
            <a:ext cx="7429500" cy="762000"/>
          </a:xfrm>
          <a:prstGeom prst="roundRect">
            <a:avLst>
              <a:gd name="adj" fmla="val 10000"/>
            </a:avLst>
          </a:prstGeom>
          <a:solidFill>
            <a:srgbClr val="F3EEF5"/>
          </a:solidFill>
          <a:ln w="12383">
            <a:solidFill>
              <a:srgbClr val="660874"/>
            </a:solidFill>
            <a:prstDash val="solid"/>
          </a:ln>
        </p:spPr>
      </p:sp>
      <p:sp>
        <p:nvSpPr>
          <p:cNvPr id="35" name="矩形 34"/>
          <p:cNvSpPr>
            <a:spLocks noGrp="1"/>
          </p:cNvSpPr>
          <p:nvPr/>
        </p:nvSpPr>
        <p:spPr>
          <a:xfrm>
            <a:off x="2495550" y="4695825"/>
            <a:ext cx="7200900" cy="609600"/>
          </a:xfrm>
          <a:prstGeom prst="rect">
            <a:avLst/>
          </a:prstGeom>
          <a:noFill/>
          <a:ln w="0">
            <a:noFill/>
            <a:prstDash val="solid"/>
          </a:ln>
        </p:spPr>
        <p:txBody>
          <a:bodyPr wrap="square" lIns="38100" tIns="19050" rIns="38100" bIns="19050" anchor="ctr">
            <a:normAutofit/>
          </a:bodyPr>
          <a:lstStyle/>
          <a:p>
            <a:pPr algn="ctr">
              <a:defRPr sz="1575" b="0">
                <a:solidFill>
                  <a:srgbClr val="1F2937"/>
                </a:solidFill>
              </a:defRPr>
            </a:pPr>
            <a:r>
              <a:rPr sz="1575" b="0">
                <a:solidFill>
                  <a:srgbClr val="1F2937"/>
                </a:solidFill>
                <a:latin typeface="Source Han Sans SC"/>
              </a:rPr>
              <a:t>Loss </a:t>
            </a:r>
            <a:r>
              <a:rPr lang="zh-CN" sz="1575" b="0">
                <a:solidFill>
                  <a:srgbClr val="1F2937"/>
                </a:solidFill>
                <a:latin typeface="Source Han Sans SC"/>
                <a:ea typeface="Source Han Sans SC"/>
              </a:rPr>
              <a:t>提供方向；</a:t>
            </a:r>
            <a:r>
              <a:rPr sz="1575" b="0">
                <a:solidFill>
                  <a:srgbClr val="1F2937"/>
                </a:solidFill>
                <a:latin typeface="Source Han Sans SC"/>
              </a:rPr>
              <a:t>Backward </a:t>
            </a:r>
            <a:r>
              <a:rPr lang="zh-CN" sz="1575" b="0">
                <a:solidFill>
                  <a:srgbClr val="1F2937"/>
                </a:solidFill>
                <a:latin typeface="Source Han Sans SC"/>
                <a:ea typeface="Source Han Sans SC"/>
              </a:rPr>
              <a:t>产生梯度；</a:t>
            </a:r>
            <a:r>
              <a:rPr sz="1575" b="0">
                <a:solidFill>
                  <a:srgbClr val="1F2937"/>
                </a:solidFill>
                <a:latin typeface="Source Han Sans SC"/>
              </a:rPr>
              <a:t>Optimizer </a:t>
            </a:r>
            <a:r>
              <a:rPr lang="zh-CN" sz="1575" b="0">
                <a:solidFill>
                  <a:srgbClr val="1F2937"/>
                </a:solidFill>
                <a:latin typeface="Source Han Sans SC"/>
                <a:ea typeface="Source Han Sans SC"/>
              </a:rPr>
              <a:t>才真正改变参数。</a:t>
            </a:r>
            <a:endParaRPr sz="1575" b="0">
              <a:solidFill>
                <a:srgbClr val="1F2937"/>
              </a:solidFill>
            </a:endParaRPr>
          </a:p>
        </p:txBody>
      </p:sp>
      <p:sp>
        <p:nvSpPr>
          <p:cNvPr id="36" name="矩形 35"/>
          <p:cNvSpPr>
            <a:spLocks noGrp="1"/>
          </p:cNvSpPr>
          <p:nvPr/>
        </p:nvSpPr>
        <p:spPr>
          <a:xfrm>
            <a:off x="333375" y="5743575"/>
            <a:ext cx="11525250" cy="514350"/>
          </a:xfrm>
          <a:prstGeom prst="rect">
            <a:avLst/>
          </a:prstGeom>
          <a:solidFill>
            <a:srgbClr val="660874"/>
          </a:solidFill>
          <a:ln w="0">
            <a:noFill/>
            <a:prstDash val="solid"/>
          </a:ln>
        </p:spPr>
      </p:sp>
      <p:sp>
        <p:nvSpPr>
          <p:cNvPr id="37" name="矩形 36"/>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defRPr sz="1425" b="1">
                <a:solidFill>
                  <a:srgbClr val="FFFFFF"/>
                </a:solidFill>
              </a:defRPr>
            </a:pPr>
            <a:r>
              <a:rPr lang="zh-CN" sz="1425" b="1">
                <a:solidFill>
                  <a:srgbClr val="FFFFFF"/>
                </a:solidFill>
                <a:latin typeface="Source Han Sans SC"/>
                <a:ea typeface="Source Han Sans SC"/>
              </a:rPr>
              <a:t>没有</a:t>
            </a:r>
            <a:r>
              <a:rPr sz="1425" b="1">
                <a:solidFill>
                  <a:srgbClr val="FFFFFF"/>
                </a:solidFill>
                <a:latin typeface="Source Han Sans SC"/>
              </a:rPr>
              <a:t> optimizer.step()</a:t>
            </a:r>
            <a:r>
              <a:rPr lang="zh-CN" sz="1425" b="1">
                <a:solidFill>
                  <a:srgbClr val="FFFFFF"/>
                </a:solidFill>
                <a:latin typeface="Source Han Sans SC"/>
                <a:ea typeface="Source Han Sans SC"/>
              </a:rPr>
              <a:t>，就只有</a:t>
            </a:r>
            <a:r>
              <a:rPr sz="1425" b="1">
                <a:solidFill>
                  <a:srgbClr val="FFFFFF"/>
                </a:solidFill>
                <a:latin typeface="Source Han Sans SC"/>
              </a:rPr>
              <a:t> Loss </a:t>
            </a:r>
            <a:r>
              <a:rPr lang="zh-CN" sz="1425" b="1">
                <a:solidFill>
                  <a:srgbClr val="FFFFFF"/>
                </a:solidFill>
                <a:latin typeface="Source Han Sans SC"/>
                <a:ea typeface="Source Han Sans SC"/>
              </a:rPr>
              <a:t>和梯度，没有完成参数学习。</a:t>
            </a:r>
            <a:endParaRPr sz="1425" b="1">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 name="title"/>
          <p:cNvSpPr>
            <a:spLocks noGrp="1"/>
          </p:cNvSpPr>
          <p:nvPr/>
        </p:nvSpPr>
        <p:spPr>
          <a:xfrm>
            <a:off x="333375" y="95250"/>
            <a:ext cx="10060940" cy="647700"/>
          </a:xfrm>
          <a:prstGeom prst="rect">
            <a:avLst/>
          </a:prstGeom>
          <a:noFill/>
          <a:ln w="0">
            <a:noFill/>
            <a:prstDash val="solid"/>
          </a:ln>
        </p:spPr>
        <p:txBody>
          <a:bodyPr wrap="square" lIns="38100" tIns="19050" rIns="38100" bIns="19050" anchor="ctr">
            <a:normAutofit fontScale="81986"/>
          </a:bodyPr>
          <a:lstStyle/>
          <a:p>
            <a:pPr algn="l">
              <a:defRPr sz="3200" b="1">
                <a:solidFill>
                  <a:srgbClr val="1F2937"/>
                </a:solidFill>
              </a:defRPr>
            </a:pPr>
            <a:r>
              <a:rPr sz="3200" b="1">
                <a:solidFill>
                  <a:srgbClr val="1F2937"/>
                </a:solidFill>
                <a:latin typeface="Source Han Sans SC"/>
              </a:rPr>
              <a:t>nanochat </a:t>
            </a:r>
            <a:r>
              <a:rPr lang="zh-CN" sz="3200" b="1">
                <a:solidFill>
                  <a:srgbClr val="1F2937"/>
                </a:solidFill>
                <a:latin typeface="Source Han Sans SC"/>
                <a:ea typeface="Source Han Sans SC"/>
              </a:rPr>
              <a:t>的训练调用链把数据、模型、优化和保存连接起来</a:t>
            </a:r>
            <a:endParaRPr sz="3200" b="1">
              <a:solidFill>
                <a:srgbClr val="1F2937"/>
              </a:solidFill>
            </a:endParaRPr>
          </a:p>
        </p:txBody>
      </p:sp>
      <p:sp>
        <p:nvSpPr>
          <p:cNvPr id="2" name="矩形 1"/>
          <p:cNvSpPr>
            <a:spLocks noGrp="1"/>
          </p:cNvSpPr>
          <p:nvPr/>
        </p:nvSpPr>
        <p:spPr>
          <a:xfrm>
            <a:off x="333375" y="971550"/>
            <a:ext cx="10001250" cy="228600"/>
          </a:xfrm>
          <a:prstGeom prst="rect">
            <a:avLst/>
          </a:prstGeom>
          <a:noFill/>
          <a:ln w="0">
            <a:noFill/>
            <a:prstDash val="solid"/>
          </a:ln>
        </p:spPr>
        <p:txBody>
          <a:bodyPr wrap="square" lIns="38100" tIns="19050" rIns="38100" bIns="19050" anchor="ctr">
            <a:normAutofit fontScale="92593"/>
          </a:bodyPr>
          <a:lstStyle/>
          <a:p>
            <a:pPr algn="l">
              <a:defRPr sz="1350" b="0">
                <a:solidFill>
                  <a:srgbClr val="5F6B7A"/>
                </a:solidFill>
              </a:defRPr>
            </a:pPr>
            <a:r>
              <a:rPr lang="zh-CN" sz="1350" b="0">
                <a:solidFill>
                  <a:srgbClr val="5F6B7A"/>
                </a:solidFill>
                <a:latin typeface="Source Han Sans SC"/>
                <a:ea typeface="Source Han Sans SC"/>
              </a:rPr>
              <a:t>把前面的理论映射到真实文件与函数</a:t>
            </a:r>
            <a:endParaRPr sz="1350" b="0">
              <a:solidFill>
                <a:srgbClr val="5F6B7A"/>
              </a:solidFill>
            </a:endParaRPr>
          </a:p>
        </p:txBody>
      </p:sp>
      <p:sp>
        <p:nvSpPr>
          <p:cNvPr id="3" name="直接连接符 2"/>
          <p:cNvSpPr>
            <a:spLocks noGrp="1"/>
          </p:cNvSpPr>
          <p:nvPr>
            <p:custDataLst>
              <p:tags r:id="rId1"/>
            </p:custDataLst>
          </p:nvPr>
        </p:nvSpPr>
        <p:spPr>
          <a:xfrm>
            <a:off x="6143625" y="2152650"/>
            <a:ext cx="0" cy="180975"/>
          </a:xfrm>
          <a:prstGeom prst="line">
            <a:avLst/>
          </a:prstGeom>
          <a:noFill/>
          <a:ln w="19050">
            <a:solidFill>
              <a:srgbClr val="5F6B7A"/>
            </a:solidFill>
            <a:prstDash val="solid"/>
          </a:ln>
        </p:spPr>
        <p:txBody>
          <a:bodyPr/>
          <a:p/>
        </p:txBody>
      </p:sp>
      <p:sp>
        <p:nvSpPr>
          <p:cNvPr id="4" name="任意多边形 3"/>
          <p:cNvSpPr>
            <a:spLocks noGrp="1"/>
          </p:cNvSpPr>
          <p:nvPr>
            <p:custDataLst>
              <p:tags r:id="rId2"/>
            </p:custDataLst>
          </p:nvPr>
        </p:nvSpPr>
        <p:spPr>
          <a:xfrm>
            <a:off x="6096000" y="2228850"/>
            <a:ext cx="95250" cy="104775"/>
          </a:xfrm>
          <a:custGeom>
            <a:avLst/>
            <a:gdLst/>
            <a:ahLst/>
            <a:cxnLst/>
            <a:pathLst>
              <a:path w="95250" h="104775">
                <a:moveTo>
                  <a:pt x="0" y="0"/>
                </a:moveTo>
                <a:lnTo>
                  <a:pt x="47625" y="104775"/>
                </a:lnTo>
                <a:lnTo>
                  <a:pt x="95250" y="0"/>
                </a:lnTo>
                <a:close/>
              </a:path>
            </a:pathLst>
          </a:custGeom>
          <a:solidFill>
            <a:srgbClr val="5F6B7A"/>
          </a:solidFill>
          <a:ln w="0">
            <a:solidFill>
              <a:srgbClr val="5F6B7A"/>
            </a:solidFill>
            <a:prstDash val="solid"/>
          </a:ln>
        </p:spPr>
        <p:txBody>
          <a:bodyPr/>
          <a:p/>
        </p:txBody>
      </p:sp>
      <p:sp>
        <p:nvSpPr>
          <p:cNvPr id="5" name="圆角矩形 4"/>
          <p:cNvSpPr>
            <a:spLocks noGrp="1"/>
          </p:cNvSpPr>
          <p:nvPr/>
        </p:nvSpPr>
        <p:spPr>
          <a:xfrm>
            <a:off x="619125" y="1428750"/>
            <a:ext cx="3381375" cy="723900"/>
          </a:xfrm>
          <a:prstGeom prst="roundRect">
            <a:avLst>
              <a:gd name="adj" fmla="val 10526"/>
            </a:avLst>
          </a:prstGeom>
          <a:solidFill>
            <a:srgbClr val="EAF1FF"/>
          </a:solidFill>
          <a:ln w="12383">
            <a:solidFill>
              <a:srgbClr val="2F6BDA"/>
            </a:solidFill>
            <a:prstDash val="solid"/>
          </a:ln>
        </p:spPr>
        <p:txBody>
          <a:bodyPr/>
          <a:p/>
        </p:txBody>
      </p:sp>
      <p:sp>
        <p:nvSpPr>
          <p:cNvPr id="6" name="矩形 5"/>
          <p:cNvSpPr>
            <a:spLocks noGrp="1"/>
          </p:cNvSpPr>
          <p:nvPr/>
        </p:nvSpPr>
        <p:spPr>
          <a:xfrm>
            <a:off x="733425" y="1504950"/>
            <a:ext cx="3152775" cy="285750"/>
          </a:xfrm>
          <a:prstGeom prst="rect">
            <a:avLst/>
          </a:prstGeom>
          <a:noFill/>
          <a:ln w="0">
            <a:noFill/>
            <a:prstDash val="solid"/>
          </a:ln>
        </p:spPr>
        <p:txBody>
          <a:bodyPr wrap="square" lIns="38100" tIns="19050" rIns="38100" bIns="19050" anchor="ctr">
            <a:normAutofit/>
          </a:bodyPr>
          <a:lstStyle/>
          <a:p>
            <a:pPr algn="l">
              <a:defRPr sz="1350" b="1">
                <a:solidFill>
                  <a:srgbClr val="2F6BDA"/>
                </a:solidFill>
              </a:defRPr>
            </a:pPr>
            <a:r>
              <a:rPr sz="1350" b="1">
                <a:solidFill>
                  <a:srgbClr val="2F6BDA"/>
                </a:solidFill>
                <a:latin typeface="Source Han Sans SC"/>
              </a:rPr>
              <a:t>nanochat/dataloader.py</a:t>
            </a:r>
            <a:endParaRPr sz="1350" b="1">
              <a:solidFill>
                <a:srgbClr val="2F6BDA"/>
              </a:solidFill>
            </a:endParaRPr>
          </a:p>
        </p:txBody>
      </p:sp>
      <p:sp>
        <p:nvSpPr>
          <p:cNvPr id="7" name="矩形 6"/>
          <p:cNvSpPr>
            <a:spLocks noGrp="1"/>
          </p:cNvSpPr>
          <p:nvPr/>
        </p:nvSpPr>
        <p:spPr>
          <a:xfrm>
            <a:off x="733425" y="1809750"/>
            <a:ext cx="3152775" cy="266700"/>
          </a:xfrm>
          <a:prstGeom prst="rect">
            <a:avLst/>
          </a:prstGeom>
          <a:noFill/>
          <a:ln w="0">
            <a:noFill/>
            <a:prstDash val="solid"/>
          </a:ln>
        </p:spPr>
        <p:txBody>
          <a:bodyPr wrap="square" lIns="38100" tIns="19050" rIns="38100" bIns="19050" anchor="t">
            <a:normAutofit/>
          </a:bodyPr>
          <a:lstStyle/>
          <a:p>
            <a:pPr algn="l">
              <a:defRPr sz="1125" b="0">
                <a:solidFill>
                  <a:srgbClr val="1F2937"/>
                </a:solidFill>
              </a:defRPr>
            </a:pPr>
            <a:r>
              <a:rPr sz="1125" b="0">
                <a:solidFill>
                  <a:srgbClr val="1F2937"/>
                </a:solidFill>
                <a:latin typeface="Source Han Sans SC"/>
              </a:rPr>
              <a:t>tokenizing_distributed_data_loader...</a:t>
            </a:r>
            <a:endParaRPr sz="1125" b="0">
              <a:solidFill>
                <a:srgbClr val="1F2937"/>
              </a:solidFill>
            </a:endParaRPr>
          </a:p>
        </p:txBody>
      </p:sp>
      <p:sp>
        <p:nvSpPr>
          <p:cNvPr id="8" name="圆角矩形 7"/>
          <p:cNvSpPr>
            <a:spLocks noGrp="1"/>
          </p:cNvSpPr>
          <p:nvPr>
            <p:custDataLst>
              <p:tags r:id="rId3"/>
            </p:custDataLst>
          </p:nvPr>
        </p:nvSpPr>
        <p:spPr>
          <a:xfrm>
            <a:off x="4667250" y="1428750"/>
            <a:ext cx="2952750" cy="723900"/>
          </a:xfrm>
          <a:prstGeom prst="roundRect">
            <a:avLst>
              <a:gd name="adj" fmla="val 10526"/>
            </a:avLst>
          </a:prstGeom>
          <a:solidFill>
            <a:srgbClr val="F5F7FA"/>
          </a:solidFill>
          <a:ln w="12383">
            <a:solidFill>
              <a:srgbClr val="E5E6E9"/>
            </a:solidFill>
            <a:prstDash val="solid"/>
          </a:ln>
        </p:spPr>
        <p:txBody>
          <a:bodyPr/>
          <a:p/>
        </p:txBody>
      </p:sp>
      <p:sp>
        <p:nvSpPr>
          <p:cNvPr id="9" name="矩形 8"/>
          <p:cNvSpPr>
            <a:spLocks noGrp="1"/>
          </p:cNvSpPr>
          <p:nvPr>
            <p:custDataLst>
              <p:tags r:id="rId4"/>
            </p:custDataLst>
          </p:nvPr>
        </p:nvSpPr>
        <p:spPr>
          <a:xfrm>
            <a:off x="4781550" y="1504950"/>
            <a:ext cx="2724150" cy="285750"/>
          </a:xfrm>
          <a:prstGeom prst="rect">
            <a:avLst/>
          </a:prstGeom>
          <a:noFill/>
          <a:ln w="0">
            <a:noFill/>
            <a:prstDash val="solid"/>
          </a:ln>
        </p:spPr>
        <p:txBody>
          <a:bodyPr wrap="square" lIns="38100" tIns="19050" rIns="38100" bIns="19050" anchor="ctr">
            <a:normAutofit/>
          </a:bodyPr>
          <a:lstStyle/>
          <a:p>
            <a:pPr algn="ctr">
              <a:defRPr sz="1200" b="1">
                <a:solidFill>
                  <a:srgbClr val="1F2937"/>
                </a:solidFill>
              </a:defRPr>
            </a:pPr>
            <a:r>
              <a:rPr lang="zh-CN" sz="1200" b="1">
                <a:solidFill>
                  <a:srgbClr val="1F2937"/>
                </a:solidFill>
                <a:latin typeface="Source Han Sans SC"/>
                <a:ea typeface="Source Han Sans SC"/>
              </a:rPr>
              <a:t>输出</a:t>
            </a:r>
            <a:endParaRPr sz="1200" b="1">
              <a:solidFill>
                <a:srgbClr val="1F2937"/>
              </a:solidFill>
            </a:endParaRPr>
          </a:p>
        </p:txBody>
      </p:sp>
      <p:sp>
        <p:nvSpPr>
          <p:cNvPr id="10" name="矩形 9"/>
          <p:cNvSpPr>
            <a:spLocks noGrp="1"/>
          </p:cNvSpPr>
          <p:nvPr>
            <p:custDataLst>
              <p:tags r:id="rId5"/>
            </p:custDataLst>
          </p:nvPr>
        </p:nvSpPr>
        <p:spPr>
          <a:xfrm>
            <a:off x="4781550" y="1809750"/>
            <a:ext cx="2724150" cy="266700"/>
          </a:xfrm>
          <a:prstGeom prst="rect">
            <a:avLst/>
          </a:prstGeom>
          <a:noFill/>
          <a:ln w="0">
            <a:noFill/>
            <a:prstDash val="solid"/>
          </a:ln>
        </p:spPr>
        <p:txBody>
          <a:bodyPr wrap="square" lIns="38100" tIns="19050" rIns="38100" bIns="19050" anchor="t">
            <a:normAutofit/>
          </a:bodyPr>
          <a:lstStyle/>
          <a:p>
            <a:pPr algn="ctr">
              <a:defRPr sz="1275" b="0">
                <a:solidFill>
                  <a:srgbClr val="1F2937"/>
                </a:solidFill>
              </a:defRPr>
            </a:pPr>
            <a:r>
              <a:rPr sz="1275" b="0">
                <a:solidFill>
                  <a:srgbClr val="1F2937"/>
                </a:solidFill>
                <a:latin typeface="Source Han Sans SC"/>
              </a:rPr>
              <a:t>inputs, targets, state</a:t>
            </a:r>
            <a:endParaRPr sz="1275" b="0">
              <a:solidFill>
                <a:srgbClr val="1F2937"/>
              </a:solidFill>
            </a:endParaRPr>
          </a:p>
        </p:txBody>
      </p:sp>
      <p:sp>
        <p:nvSpPr>
          <p:cNvPr id="11" name="圆角矩形 10"/>
          <p:cNvSpPr>
            <a:spLocks noGrp="1"/>
          </p:cNvSpPr>
          <p:nvPr>
            <p:custDataLst>
              <p:tags r:id="rId6"/>
            </p:custDataLst>
          </p:nvPr>
        </p:nvSpPr>
        <p:spPr>
          <a:xfrm>
            <a:off x="8286750" y="1428750"/>
            <a:ext cx="2857500" cy="723900"/>
          </a:xfrm>
          <a:prstGeom prst="roundRect">
            <a:avLst>
              <a:gd name="adj" fmla="val 10526"/>
            </a:avLst>
          </a:prstGeom>
          <a:solidFill>
            <a:srgbClr val="FFFFFF"/>
          </a:solidFill>
          <a:ln w="12383">
            <a:solidFill>
              <a:srgbClr val="2F6BDA"/>
            </a:solidFill>
            <a:prstDash val="solid"/>
          </a:ln>
        </p:spPr>
        <p:txBody>
          <a:bodyPr/>
          <a:p/>
        </p:txBody>
      </p:sp>
      <p:sp>
        <p:nvSpPr>
          <p:cNvPr id="12" name="矩形 11"/>
          <p:cNvSpPr>
            <a:spLocks noGrp="1"/>
          </p:cNvSpPr>
          <p:nvPr>
            <p:custDataLst>
              <p:tags r:id="rId7"/>
            </p:custDataLst>
          </p:nvPr>
        </p:nvSpPr>
        <p:spPr>
          <a:xfrm>
            <a:off x="8401050" y="1504950"/>
            <a:ext cx="2628900" cy="285750"/>
          </a:xfrm>
          <a:prstGeom prst="rect">
            <a:avLst/>
          </a:prstGeom>
          <a:noFill/>
          <a:ln w="0">
            <a:noFill/>
            <a:prstDash val="solid"/>
          </a:ln>
        </p:spPr>
        <p:txBody>
          <a:bodyPr wrap="square" lIns="38100" tIns="19050" rIns="38100" bIns="19050" anchor="ctr">
            <a:normAutofit/>
          </a:bodyPr>
          <a:lstStyle/>
          <a:p>
            <a:pPr algn="ctr">
              <a:defRPr sz="1200" b="1">
                <a:solidFill>
                  <a:srgbClr val="2F6BDA"/>
                </a:solidFill>
              </a:defRPr>
            </a:pPr>
            <a:r>
              <a:rPr lang="zh-CN" sz="1200" b="1">
                <a:solidFill>
                  <a:srgbClr val="2F6BDA"/>
                </a:solidFill>
                <a:latin typeface="Source Han Sans SC"/>
                <a:ea typeface="Source Han Sans SC"/>
              </a:rPr>
              <a:t>验证线索</a:t>
            </a:r>
            <a:endParaRPr sz="1200" b="1">
              <a:solidFill>
                <a:srgbClr val="2F6BDA"/>
              </a:solidFill>
            </a:endParaRPr>
          </a:p>
        </p:txBody>
      </p:sp>
      <p:sp>
        <p:nvSpPr>
          <p:cNvPr id="13" name="矩形 12"/>
          <p:cNvSpPr>
            <a:spLocks noGrp="1"/>
          </p:cNvSpPr>
          <p:nvPr>
            <p:custDataLst>
              <p:tags r:id="rId8"/>
            </p:custDataLst>
          </p:nvPr>
        </p:nvSpPr>
        <p:spPr>
          <a:xfrm>
            <a:off x="8401050" y="1809750"/>
            <a:ext cx="2628900" cy="266700"/>
          </a:xfrm>
          <a:prstGeom prst="rect">
            <a:avLst/>
          </a:prstGeom>
          <a:noFill/>
          <a:ln w="0">
            <a:noFill/>
            <a:prstDash val="solid"/>
          </a:ln>
        </p:spPr>
        <p:txBody>
          <a:bodyPr wrap="square" lIns="38100" tIns="19050" rIns="38100" bIns="19050" anchor="t">
            <a:normAutofit/>
          </a:bodyPr>
          <a:lstStyle/>
          <a:p>
            <a:pPr algn="ctr">
              <a:defRPr sz="1275" b="0">
                <a:solidFill>
                  <a:srgbClr val="1F2937"/>
                </a:solidFill>
              </a:defRPr>
            </a:pPr>
            <a:r>
              <a:rPr sz="1275" b="0">
                <a:solidFill>
                  <a:srgbClr val="1F2937"/>
                </a:solidFill>
                <a:latin typeface="Source Han Sans SC"/>
              </a:rPr>
              <a:t>shape=(B,T)</a:t>
            </a:r>
            <a:endParaRPr sz="1275" b="0">
              <a:solidFill>
                <a:srgbClr val="1F2937"/>
              </a:solidFill>
            </a:endParaRPr>
          </a:p>
        </p:txBody>
      </p:sp>
      <p:sp>
        <p:nvSpPr>
          <p:cNvPr id="14" name="直接连接符 13"/>
          <p:cNvSpPr>
            <a:spLocks noGrp="1"/>
          </p:cNvSpPr>
          <p:nvPr>
            <p:custDataLst>
              <p:tags r:id="rId9"/>
            </p:custDataLst>
          </p:nvPr>
        </p:nvSpPr>
        <p:spPr>
          <a:xfrm>
            <a:off x="6143625" y="3105150"/>
            <a:ext cx="0" cy="180975"/>
          </a:xfrm>
          <a:prstGeom prst="line">
            <a:avLst/>
          </a:prstGeom>
          <a:noFill/>
          <a:ln w="19050">
            <a:solidFill>
              <a:srgbClr val="5F6B7A"/>
            </a:solidFill>
            <a:prstDash val="solid"/>
          </a:ln>
        </p:spPr>
        <p:txBody>
          <a:bodyPr/>
          <a:p/>
        </p:txBody>
      </p:sp>
      <p:sp>
        <p:nvSpPr>
          <p:cNvPr id="15" name="任意多边形 14"/>
          <p:cNvSpPr>
            <a:spLocks noGrp="1"/>
          </p:cNvSpPr>
          <p:nvPr>
            <p:custDataLst>
              <p:tags r:id="rId10"/>
            </p:custDataLst>
          </p:nvPr>
        </p:nvSpPr>
        <p:spPr>
          <a:xfrm>
            <a:off x="6096000" y="3181350"/>
            <a:ext cx="95250" cy="104775"/>
          </a:xfrm>
          <a:custGeom>
            <a:avLst/>
            <a:gdLst/>
            <a:ahLst/>
            <a:cxnLst/>
            <a:pathLst>
              <a:path w="95250" h="104775">
                <a:moveTo>
                  <a:pt x="0" y="0"/>
                </a:moveTo>
                <a:lnTo>
                  <a:pt x="47625" y="104775"/>
                </a:lnTo>
                <a:lnTo>
                  <a:pt x="95250" y="0"/>
                </a:lnTo>
                <a:close/>
              </a:path>
            </a:pathLst>
          </a:custGeom>
          <a:solidFill>
            <a:srgbClr val="5F6B7A"/>
          </a:solidFill>
          <a:ln w="0">
            <a:solidFill>
              <a:srgbClr val="5F6B7A"/>
            </a:solidFill>
            <a:prstDash val="solid"/>
          </a:ln>
        </p:spPr>
        <p:txBody>
          <a:bodyPr/>
          <a:p/>
        </p:txBody>
      </p:sp>
      <p:sp>
        <p:nvSpPr>
          <p:cNvPr id="16" name="圆角矩形 15"/>
          <p:cNvSpPr>
            <a:spLocks noGrp="1"/>
          </p:cNvSpPr>
          <p:nvPr/>
        </p:nvSpPr>
        <p:spPr>
          <a:xfrm>
            <a:off x="619125" y="2381250"/>
            <a:ext cx="3381375" cy="723900"/>
          </a:xfrm>
          <a:prstGeom prst="roundRect">
            <a:avLst>
              <a:gd name="adj" fmla="val 10526"/>
            </a:avLst>
          </a:prstGeom>
          <a:solidFill>
            <a:srgbClr val="E9F4F4"/>
          </a:solidFill>
          <a:ln w="12383">
            <a:solidFill>
              <a:srgbClr val="1E8E94"/>
            </a:solidFill>
            <a:prstDash val="solid"/>
          </a:ln>
        </p:spPr>
        <p:txBody>
          <a:bodyPr/>
          <a:p/>
        </p:txBody>
      </p:sp>
      <p:sp>
        <p:nvSpPr>
          <p:cNvPr id="17" name="矩形 16"/>
          <p:cNvSpPr>
            <a:spLocks noGrp="1"/>
          </p:cNvSpPr>
          <p:nvPr/>
        </p:nvSpPr>
        <p:spPr>
          <a:xfrm>
            <a:off x="733425" y="2457450"/>
            <a:ext cx="3152775" cy="285750"/>
          </a:xfrm>
          <a:prstGeom prst="rect">
            <a:avLst/>
          </a:prstGeom>
          <a:noFill/>
          <a:ln w="0">
            <a:noFill/>
            <a:prstDash val="solid"/>
          </a:ln>
        </p:spPr>
        <p:txBody>
          <a:bodyPr wrap="square" lIns="38100" tIns="19050" rIns="38100" bIns="19050" anchor="ctr">
            <a:normAutofit/>
          </a:bodyPr>
          <a:lstStyle/>
          <a:p>
            <a:pPr algn="l">
              <a:defRPr sz="1350" b="1">
                <a:solidFill>
                  <a:srgbClr val="1E8E94"/>
                </a:solidFill>
              </a:defRPr>
            </a:pPr>
            <a:r>
              <a:rPr sz="1350" b="1">
                <a:solidFill>
                  <a:srgbClr val="1E8E94"/>
                </a:solidFill>
                <a:latin typeface="Source Han Sans SC"/>
              </a:rPr>
              <a:t>nanochat/gpt.py</a:t>
            </a:r>
            <a:endParaRPr sz="1350" b="1">
              <a:solidFill>
                <a:srgbClr val="1E8E94"/>
              </a:solidFill>
            </a:endParaRPr>
          </a:p>
        </p:txBody>
      </p:sp>
      <p:sp>
        <p:nvSpPr>
          <p:cNvPr id="18" name="矩形 17"/>
          <p:cNvSpPr>
            <a:spLocks noGrp="1"/>
          </p:cNvSpPr>
          <p:nvPr/>
        </p:nvSpPr>
        <p:spPr>
          <a:xfrm>
            <a:off x="733425" y="2762250"/>
            <a:ext cx="3152775" cy="266700"/>
          </a:xfrm>
          <a:prstGeom prst="rect">
            <a:avLst/>
          </a:prstGeom>
          <a:noFill/>
          <a:ln w="0">
            <a:noFill/>
            <a:prstDash val="solid"/>
          </a:ln>
        </p:spPr>
        <p:txBody>
          <a:bodyPr wrap="square" lIns="38100" tIns="19050" rIns="38100" bIns="19050" anchor="t">
            <a:normAutofit/>
          </a:bodyPr>
          <a:lstStyle/>
          <a:p>
            <a:pPr algn="l">
              <a:defRPr sz="1125" b="0">
                <a:solidFill>
                  <a:srgbClr val="1F2937"/>
                </a:solidFill>
              </a:defRPr>
            </a:pPr>
            <a:r>
              <a:rPr sz="1125" b="0">
                <a:solidFill>
                  <a:srgbClr val="1F2937"/>
                </a:solidFill>
                <a:latin typeface="Source Han Sans SC"/>
              </a:rPr>
              <a:t>GPT.forward(idx, targets)</a:t>
            </a:r>
            <a:endParaRPr sz="1125" b="0">
              <a:solidFill>
                <a:srgbClr val="1F2937"/>
              </a:solidFill>
            </a:endParaRPr>
          </a:p>
        </p:txBody>
      </p:sp>
      <p:sp>
        <p:nvSpPr>
          <p:cNvPr id="19" name="圆角矩形 18"/>
          <p:cNvSpPr>
            <a:spLocks noGrp="1"/>
          </p:cNvSpPr>
          <p:nvPr>
            <p:custDataLst>
              <p:tags r:id="rId11"/>
            </p:custDataLst>
          </p:nvPr>
        </p:nvSpPr>
        <p:spPr>
          <a:xfrm>
            <a:off x="4667250" y="2381250"/>
            <a:ext cx="2952750" cy="723900"/>
          </a:xfrm>
          <a:prstGeom prst="roundRect">
            <a:avLst>
              <a:gd name="adj" fmla="val 10526"/>
            </a:avLst>
          </a:prstGeom>
          <a:solidFill>
            <a:srgbClr val="F5F7FA"/>
          </a:solidFill>
          <a:ln w="12383">
            <a:solidFill>
              <a:srgbClr val="E5E6E9"/>
            </a:solidFill>
            <a:prstDash val="solid"/>
          </a:ln>
        </p:spPr>
        <p:txBody>
          <a:bodyPr/>
          <a:p/>
        </p:txBody>
      </p:sp>
      <p:sp>
        <p:nvSpPr>
          <p:cNvPr id="20" name="矩形 19"/>
          <p:cNvSpPr>
            <a:spLocks noGrp="1"/>
          </p:cNvSpPr>
          <p:nvPr>
            <p:custDataLst>
              <p:tags r:id="rId12"/>
            </p:custDataLst>
          </p:nvPr>
        </p:nvSpPr>
        <p:spPr>
          <a:xfrm>
            <a:off x="4781550" y="2457450"/>
            <a:ext cx="2724150" cy="285750"/>
          </a:xfrm>
          <a:prstGeom prst="rect">
            <a:avLst/>
          </a:prstGeom>
          <a:noFill/>
          <a:ln w="0">
            <a:noFill/>
            <a:prstDash val="solid"/>
          </a:ln>
        </p:spPr>
        <p:txBody>
          <a:bodyPr wrap="square" lIns="38100" tIns="19050" rIns="38100" bIns="19050" anchor="ctr">
            <a:normAutofit/>
          </a:bodyPr>
          <a:lstStyle/>
          <a:p>
            <a:pPr algn="ctr">
              <a:defRPr sz="1200" b="1">
                <a:solidFill>
                  <a:srgbClr val="1F2937"/>
                </a:solidFill>
              </a:defRPr>
            </a:pPr>
            <a:r>
              <a:rPr lang="zh-CN" sz="1200" b="1">
                <a:solidFill>
                  <a:srgbClr val="1F2937"/>
                </a:solidFill>
                <a:latin typeface="Source Han Sans SC"/>
                <a:ea typeface="Source Han Sans SC"/>
              </a:rPr>
              <a:t>输出</a:t>
            </a:r>
            <a:endParaRPr sz="1200" b="1">
              <a:solidFill>
                <a:srgbClr val="1F2937"/>
              </a:solidFill>
            </a:endParaRPr>
          </a:p>
        </p:txBody>
      </p:sp>
      <p:sp>
        <p:nvSpPr>
          <p:cNvPr id="21" name="矩形 20"/>
          <p:cNvSpPr>
            <a:spLocks noGrp="1"/>
          </p:cNvSpPr>
          <p:nvPr>
            <p:custDataLst>
              <p:tags r:id="rId13"/>
            </p:custDataLst>
          </p:nvPr>
        </p:nvSpPr>
        <p:spPr>
          <a:xfrm>
            <a:off x="4781550" y="2762250"/>
            <a:ext cx="2724150" cy="266700"/>
          </a:xfrm>
          <a:prstGeom prst="rect">
            <a:avLst/>
          </a:prstGeom>
          <a:noFill/>
          <a:ln w="0">
            <a:noFill/>
            <a:prstDash val="solid"/>
          </a:ln>
        </p:spPr>
        <p:txBody>
          <a:bodyPr wrap="square" lIns="38100" tIns="19050" rIns="38100" bIns="19050" anchor="t">
            <a:normAutofit/>
          </a:bodyPr>
          <a:lstStyle/>
          <a:p>
            <a:pPr algn="ctr">
              <a:defRPr sz="1275" b="0">
                <a:solidFill>
                  <a:srgbClr val="1F2937"/>
                </a:solidFill>
              </a:defRPr>
            </a:pPr>
            <a:r>
              <a:rPr sz="1275" b="0">
                <a:solidFill>
                  <a:srgbClr val="1F2937"/>
                </a:solidFill>
                <a:latin typeface="Source Han Sans SC"/>
              </a:rPr>
              <a:t>logits, loss</a:t>
            </a:r>
            <a:endParaRPr sz="1275" b="0">
              <a:solidFill>
                <a:srgbClr val="1F2937"/>
              </a:solidFill>
            </a:endParaRPr>
          </a:p>
        </p:txBody>
      </p:sp>
      <p:sp>
        <p:nvSpPr>
          <p:cNvPr id="22" name="圆角矩形 21"/>
          <p:cNvSpPr>
            <a:spLocks noGrp="1"/>
          </p:cNvSpPr>
          <p:nvPr>
            <p:custDataLst>
              <p:tags r:id="rId14"/>
            </p:custDataLst>
          </p:nvPr>
        </p:nvSpPr>
        <p:spPr>
          <a:xfrm>
            <a:off x="8286750" y="2381250"/>
            <a:ext cx="2857500" cy="723900"/>
          </a:xfrm>
          <a:prstGeom prst="roundRect">
            <a:avLst>
              <a:gd name="adj" fmla="val 10526"/>
            </a:avLst>
          </a:prstGeom>
          <a:solidFill>
            <a:srgbClr val="FFFFFF"/>
          </a:solidFill>
          <a:ln w="12383">
            <a:solidFill>
              <a:srgbClr val="1E8E94"/>
            </a:solidFill>
            <a:prstDash val="solid"/>
          </a:ln>
        </p:spPr>
        <p:txBody>
          <a:bodyPr/>
          <a:p/>
        </p:txBody>
      </p:sp>
      <p:sp>
        <p:nvSpPr>
          <p:cNvPr id="23" name="矩形 22"/>
          <p:cNvSpPr>
            <a:spLocks noGrp="1"/>
          </p:cNvSpPr>
          <p:nvPr>
            <p:custDataLst>
              <p:tags r:id="rId15"/>
            </p:custDataLst>
          </p:nvPr>
        </p:nvSpPr>
        <p:spPr>
          <a:xfrm>
            <a:off x="8401050" y="2457450"/>
            <a:ext cx="2628900" cy="285750"/>
          </a:xfrm>
          <a:prstGeom prst="rect">
            <a:avLst/>
          </a:prstGeom>
          <a:noFill/>
          <a:ln w="0">
            <a:noFill/>
            <a:prstDash val="solid"/>
          </a:ln>
        </p:spPr>
        <p:txBody>
          <a:bodyPr wrap="square" lIns="38100" tIns="19050" rIns="38100" bIns="19050" anchor="ctr">
            <a:normAutofit/>
          </a:bodyPr>
          <a:lstStyle/>
          <a:p>
            <a:pPr algn="ctr">
              <a:defRPr sz="1200" b="1">
                <a:solidFill>
                  <a:srgbClr val="1E8E94"/>
                </a:solidFill>
              </a:defRPr>
            </a:pPr>
            <a:r>
              <a:rPr lang="zh-CN" sz="1200" b="1">
                <a:solidFill>
                  <a:srgbClr val="1E8E94"/>
                </a:solidFill>
                <a:latin typeface="Source Han Sans SC"/>
                <a:ea typeface="Source Han Sans SC"/>
              </a:rPr>
              <a:t>验证线索</a:t>
            </a:r>
            <a:endParaRPr sz="1200" b="1">
              <a:solidFill>
                <a:srgbClr val="1E8E94"/>
              </a:solidFill>
            </a:endParaRPr>
          </a:p>
        </p:txBody>
      </p:sp>
      <p:sp>
        <p:nvSpPr>
          <p:cNvPr id="24" name="矩形 23"/>
          <p:cNvSpPr>
            <a:spLocks noGrp="1"/>
          </p:cNvSpPr>
          <p:nvPr>
            <p:custDataLst>
              <p:tags r:id="rId16"/>
            </p:custDataLst>
          </p:nvPr>
        </p:nvSpPr>
        <p:spPr>
          <a:xfrm>
            <a:off x="8401050" y="2762250"/>
            <a:ext cx="2628900" cy="266700"/>
          </a:xfrm>
          <a:prstGeom prst="rect">
            <a:avLst/>
          </a:prstGeom>
          <a:noFill/>
          <a:ln w="0">
            <a:noFill/>
            <a:prstDash val="solid"/>
          </a:ln>
        </p:spPr>
        <p:txBody>
          <a:bodyPr wrap="square" lIns="38100" tIns="19050" rIns="38100" bIns="19050" anchor="t">
            <a:normAutofit/>
          </a:bodyPr>
          <a:lstStyle/>
          <a:p>
            <a:pPr algn="ctr">
              <a:defRPr sz="1275" b="0">
                <a:solidFill>
                  <a:srgbClr val="1F2937"/>
                </a:solidFill>
              </a:defRPr>
            </a:pPr>
            <a:r>
              <a:rPr sz="1275" b="0">
                <a:solidFill>
                  <a:srgbClr val="1F2937"/>
                </a:solidFill>
                <a:latin typeface="Source Han Sans SC"/>
              </a:rPr>
              <a:t>loss </a:t>
            </a:r>
            <a:r>
              <a:rPr lang="zh-CN" sz="1275" b="0">
                <a:solidFill>
                  <a:srgbClr val="1F2937"/>
                </a:solidFill>
                <a:latin typeface="Source Han Sans SC"/>
                <a:ea typeface="Source Han Sans SC"/>
              </a:rPr>
              <a:t>为有限值</a:t>
            </a:r>
            <a:endParaRPr sz="1275" b="0">
              <a:solidFill>
                <a:srgbClr val="1F2937"/>
              </a:solidFill>
            </a:endParaRPr>
          </a:p>
        </p:txBody>
      </p:sp>
      <p:sp>
        <p:nvSpPr>
          <p:cNvPr id="25" name="直接连接符 24"/>
          <p:cNvSpPr>
            <a:spLocks noGrp="1"/>
          </p:cNvSpPr>
          <p:nvPr>
            <p:custDataLst>
              <p:tags r:id="rId17"/>
            </p:custDataLst>
          </p:nvPr>
        </p:nvSpPr>
        <p:spPr>
          <a:xfrm>
            <a:off x="6143625" y="4057650"/>
            <a:ext cx="0" cy="180975"/>
          </a:xfrm>
          <a:prstGeom prst="line">
            <a:avLst/>
          </a:prstGeom>
          <a:noFill/>
          <a:ln w="19050">
            <a:solidFill>
              <a:srgbClr val="5F6B7A"/>
            </a:solidFill>
            <a:prstDash val="solid"/>
          </a:ln>
        </p:spPr>
        <p:txBody>
          <a:bodyPr/>
          <a:p/>
        </p:txBody>
      </p:sp>
      <p:sp>
        <p:nvSpPr>
          <p:cNvPr id="26" name="任意多边形 25"/>
          <p:cNvSpPr>
            <a:spLocks noGrp="1"/>
          </p:cNvSpPr>
          <p:nvPr>
            <p:custDataLst>
              <p:tags r:id="rId18"/>
            </p:custDataLst>
          </p:nvPr>
        </p:nvSpPr>
        <p:spPr>
          <a:xfrm>
            <a:off x="6096000" y="4133850"/>
            <a:ext cx="95250" cy="104775"/>
          </a:xfrm>
          <a:custGeom>
            <a:avLst/>
            <a:gdLst/>
            <a:ahLst/>
            <a:cxnLst/>
            <a:pathLst>
              <a:path w="95250" h="104775">
                <a:moveTo>
                  <a:pt x="0" y="0"/>
                </a:moveTo>
                <a:lnTo>
                  <a:pt x="47625" y="104775"/>
                </a:lnTo>
                <a:lnTo>
                  <a:pt x="95250" y="0"/>
                </a:lnTo>
                <a:close/>
              </a:path>
            </a:pathLst>
          </a:custGeom>
          <a:solidFill>
            <a:srgbClr val="5F6B7A"/>
          </a:solidFill>
          <a:ln w="0">
            <a:solidFill>
              <a:srgbClr val="5F6B7A"/>
            </a:solidFill>
            <a:prstDash val="solid"/>
          </a:ln>
        </p:spPr>
        <p:txBody>
          <a:bodyPr/>
          <a:p/>
        </p:txBody>
      </p:sp>
      <p:sp>
        <p:nvSpPr>
          <p:cNvPr id="27" name="圆角矩形 26"/>
          <p:cNvSpPr>
            <a:spLocks noGrp="1"/>
          </p:cNvSpPr>
          <p:nvPr/>
        </p:nvSpPr>
        <p:spPr>
          <a:xfrm>
            <a:off x="619125" y="3333750"/>
            <a:ext cx="3381375" cy="723900"/>
          </a:xfrm>
          <a:prstGeom prst="roundRect">
            <a:avLst>
              <a:gd name="adj" fmla="val 10526"/>
            </a:avLst>
          </a:prstGeom>
          <a:solidFill>
            <a:srgbClr val="F3EEF5"/>
          </a:solidFill>
          <a:ln w="12383">
            <a:solidFill>
              <a:srgbClr val="660874"/>
            </a:solidFill>
            <a:prstDash val="solid"/>
          </a:ln>
        </p:spPr>
        <p:txBody>
          <a:bodyPr/>
          <a:p/>
        </p:txBody>
      </p:sp>
      <p:sp>
        <p:nvSpPr>
          <p:cNvPr id="28" name="矩形 27"/>
          <p:cNvSpPr>
            <a:spLocks noGrp="1"/>
          </p:cNvSpPr>
          <p:nvPr/>
        </p:nvSpPr>
        <p:spPr>
          <a:xfrm>
            <a:off x="733425" y="3409950"/>
            <a:ext cx="3152775" cy="285750"/>
          </a:xfrm>
          <a:prstGeom prst="rect">
            <a:avLst/>
          </a:prstGeom>
          <a:noFill/>
          <a:ln w="0">
            <a:noFill/>
            <a:prstDash val="solid"/>
          </a:ln>
        </p:spPr>
        <p:txBody>
          <a:bodyPr wrap="square" lIns="38100" tIns="19050" rIns="38100" bIns="19050" anchor="ctr">
            <a:normAutofit/>
          </a:bodyPr>
          <a:lstStyle/>
          <a:p>
            <a:pPr algn="l">
              <a:defRPr sz="1350" b="1">
                <a:solidFill>
                  <a:srgbClr val="660874"/>
                </a:solidFill>
              </a:defRPr>
            </a:pPr>
            <a:r>
              <a:rPr sz="1350" b="1">
                <a:solidFill>
                  <a:srgbClr val="660874"/>
                </a:solidFill>
                <a:latin typeface="Source Han Sans SC"/>
              </a:rPr>
              <a:t>scripts/base_train.py</a:t>
            </a:r>
            <a:endParaRPr sz="1350" b="1">
              <a:solidFill>
                <a:srgbClr val="660874"/>
              </a:solidFill>
            </a:endParaRPr>
          </a:p>
        </p:txBody>
      </p:sp>
      <p:sp>
        <p:nvSpPr>
          <p:cNvPr id="29" name="矩形 28"/>
          <p:cNvSpPr>
            <a:spLocks noGrp="1"/>
          </p:cNvSpPr>
          <p:nvPr/>
        </p:nvSpPr>
        <p:spPr>
          <a:xfrm>
            <a:off x="733425" y="3714750"/>
            <a:ext cx="3152775" cy="266700"/>
          </a:xfrm>
          <a:prstGeom prst="rect">
            <a:avLst/>
          </a:prstGeom>
          <a:noFill/>
          <a:ln w="0">
            <a:noFill/>
            <a:prstDash val="solid"/>
          </a:ln>
        </p:spPr>
        <p:txBody>
          <a:bodyPr wrap="square" lIns="38100" tIns="19050" rIns="38100" bIns="19050" anchor="t">
            <a:normAutofit/>
          </a:bodyPr>
          <a:lstStyle/>
          <a:p>
            <a:pPr algn="l">
              <a:defRPr sz="1125" b="0">
                <a:solidFill>
                  <a:srgbClr val="1F2937"/>
                </a:solidFill>
              </a:defRPr>
            </a:pPr>
            <a:r>
              <a:rPr lang="zh-CN" sz="1125" b="0">
                <a:solidFill>
                  <a:srgbClr val="1F2937"/>
                </a:solidFill>
                <a:latin typeface="Source Han Sans SC"/>
                <a:ea typeface="Source Han Sans SC"/>
              </a:rPr>
              <a:t>训练循环：</a:t>
            </a:r>
            <a:r>
              <a:rPr sz="1125" b="0">
                <a:solidFill>
                  <a:srgbClr val="1F2937"/>
                </a:solidFill>
                <a:latin typeface="Source Han Sans SC"/>
              </a:rPr>
              <a:t>backward / clip / step / eval</a:t>
            </a:r>
            <a:endParaRPr sz="1125" b="0">
              <a:solidFill>
                <a:srgbClr val="1F2937"/>
              </a:solidFill>
            </a:endParaRPr>
          </a:p>
        </p:txBody>
      </p:sp>
      <p:sp>
        <p:nvSpPr>
          <p:cNvPr id="30" name="圆角矩形 29"/>
          <p:cNvSpPr>
            <a:spLocks noGrp="1"/>
          </p:cNvSpPr>
          <p:nvPr>
            <p:custDataLst>
              <p:tags r:id="rId19"/>
            </p:custDataLst>
          </p:nvPr>
        </p:nvSpPr>
        <p:spPr>
          <a:xfrm>
            <a:off x="4667250" y="3333750"/>
            <a:ext cx="2952750" cy="723900"/>
          </a:xfrm>
          <a:prstGeom prst="roundRect">
            <a:avLst>
              <a:gd name="adj" fmla="val 10526"/>
            </a:avLst>
          </a:prstGeom>
          <a:solidFill>
            <a:srgbClr val="F5F7FA"/>
          </a:solidFill>
          <a:ln w="12383">
            <a:solidFill>
              <a:srgbClr val="E5E6E9"/>
            </a:solidFill>
            <a:prstDash val="solid"/>
          </a:ln>
        </p:spPr>
        <p:txBody>
          <a:bodyPr/>
          <a:p/>
        </p:txBody>
      </p:sp>
      <p:sp>
        <p:nvSpPr>
          <p:cNvPr id="31" name="矩形 30"/>
          <p:cNvSpPr>
            <a:spLocks noGrp="1"/>
          </p:cNvSpPr>
          <p:nvPr>
            <p:custDataLst>
              <p:tags r:id="rId20"/>
            </p:custDataLst>
          </p:nvPr>
        </p:nvSpPr>
        <p:spPr>
          <a:xfrm>
            <a:off x="4781550" y="3409950"/>
            <a:ext cx="2724150" cy="285750"/>
          </a:xfrm>
          <a:prstGeom prst="rect">
            <a:avLst/>
          </a:prstGeom>
          <a:noFill/>
          <a:ln w="0">
            <a:noFill/>
            <a:prstDash val="solid"/>
          </a:ln>
        </p:spPr>
        <p:txBody>
          <a:bodyPr wrap="square" lIns="38100" tIns="19050" rIns="38100" bIns="19050" anchor="ctr">
            <a:normAutofit/>
          </a:bodyPr>
          <a:lstStyle/>
          <a:p>
            <a:pPr algn="ctr">
              <a:defRPr sz="1200" b="1">
                <a:solidFill>
                  <a:srgbClr val="1F2937"/>
                </a:solidFill>
              </a:defRPr>
            </a:pPr>
            <a:r>
              <a:rPr lang="zh-CN" sz="1200" b="1">
                <a:solidFill>
                  <a:srgbClr val="1F2937"/>
                </a:solidFill>
                <a:latin typeface="Source Han Sans SC"/>
                <a:ea typeface="Source Han Sans SC"/>
              </a:rPr>
              <a:t>输出</a:t>
            </a:r>
            <a:endParaRPr sz="1200" b="1">
              <a:solidFill>
                <a:srgbClr val="1F2937"/>
              </a:solidFill>
            </a:endParaRPr>
          </a:p>
        </p:txBody>
      </p:sp>
      <p:sp>
        <p:nvSpPr>
          <p:cNvPr id="32" name="矩形 31"/>
          <p:cNvSpPr>
            <a:spLocks noGrp="1"/>
          </p:cNvSpPr>
          <p:nvPr>
            <p:custDataLst>
              <p:tags r:id="rId21"/>
            </p:custDataLst>
          </p:nvPr>
        </p:nvSpPr>
        <p:spPr>
          <a:xfrm>
            <a:off x="4781550" y="3661410"/>
            <a:ext cx="2724150" cy="266700"/>
          </a:xfrm>
          <a:prstGeom prst="rect">
            <a:avLst/>
          </a:prstGeom>
          <a:noFill/>
          <a:ln w="0">
            <a:noFill/>
            <a:prstDash val="solid"/>
          </a:ln>
        </p:spPr>
        <p:txBody>
          <a:bodyPr wrap="square" lIns="38100" tIns="19050" rIns="38100" bIns="19050" anchor="t">
            <a:normAutofit/>
          </a:bodyPr>
          <a:lstStyle/>
          <a:p>
            <a:pPr algn="ctr">
              <a:spcBef>
                <a:spcPts val="0"/>
              </a:spcBef>
              <a:spcAft>
                <a:spcPts val="0"/>
              </a:spcAft>
              <a:defRPr sz="1275" b="0">
                <a:solidFill>
                  <a:srgbClr val="1F2937"/>
                </a:solidFill>
              </a:defRPr>
            </a:pPr>
            <a:r>
              <a:rPr lang="zh-CN" sz="1000" b="0">
                <a:solidFill>
                  <a:srgbClr val="1F2937"/>
                </a:solidFill>
                <a:latin typeface="Source Han Sans SC"/>
                <a:ea typeface="Source Han Sans SC"/>
              </a:rPr>
              <a:t>参数更新</a:t>
            </a:r>
            <a:r>
              <a:rPr sz="1000" b="0">
                <a:solidFill>
                  <a:srgbClr val="1F2937"/>
                </a:solidFill>
                <a:latin typeface="Source Han Sans SC"/>
              </a:rPr>
              <a:t> + Validation BPB</a:t>
            </a:r>
            <a:endParaRPr sz="1000" b="0">
              <a:solidFill>
                <a:srgbClr val="1F2937"/>
              </a:solidFill>
            </a:endParaRPr>
          </a:p>
          <a:p>
            <a:pPr algn="ctr">
              <a:spcBef>
                <a:spcPts val="0"/>
              </a:spcBef>
              <a:spcAft>
                <a:spcPts val="0"/>
              </a:spcAft>
            </a:pPr>
            <a:r>
              <a:rPr sz="1000" b="0">
                <a:solidFill>
                  <a:srgbClr val="1F2937"/>
                </a:solidFill>
                <a:latin typeface="Source Han Sans SC"/>
              </a:rPr>
              <a:t>（Bits Per Byte）</a:t>
            </a:r>
            <a:endParaRPr sz="1000" b="0">
              <a:solidFill>
                <a:srgbClr val="1F2937"/>
              </a:solidFill>
            </a:endParaRPr>
          </a:p>
        </p:txBody>
      </p:sp>
      <p:sp>
        <p:nvSpPr>
          <p:cNvPr id="33" name="圆角矩形 32"/>
          <p:cNvSpPr>
            <a:spLocks noGrp="1"/>
          </p:cNvSpPr>
          <p:nvPr>
            <p:custDataLst>
              <p:tags r:id="rId22"/>
            </p:custDataLst>
          </p:nvPr>
        </p:nvSpPr>
        <p:spPr>
          <a:xfrm>
            <a:off x="8286750" y="3333750"/>
            <a:ext cx="2857500" cy="723900"/>
          </a:xfrm>
          <a:prstGeom prst="roundRect">
            <a:avLst>
              <a:gd name="adj" fmla="val 10526"/>
            </a:avLst>
          </a:prstGeom>
          <a:solidFill>
            <a:srgbClr val="FFFFFF"/>
          </a:solidFill>
          <a:ln w="12383">
            <a:solidFill>
              <a:srgbClr val="660874"/>
            </a:solidFill>
            <a:prstDash val="solid"/>
          </a:ln>
        </p:spPr>
        <p:txBody>
          <a:bodyPr/>
          <a:p/>
        </p:txBody>
      </p:sp>
      <p:sp>
        <p:nvSpPr>
          <p:cNvPr id="34" name="矩形 33"/>
          <p:cNvSpPr>
            <a:spLocks noGrp="1"/>
          </p:cNvSpPr>
          <p:nvPr>
            <p:custDataLst>
              <p:tags r:id="rId23"/>
            </p:custDataLst>
          </p:nvPr>
        </p:nvSpPr>
        <p:spPr>
          <a:xfrm>
            <a:off x="8401050" y="3409950"/>
            <a:ext cx="2628900" cy="285750"/>
          </a:xfrm>
          <a:prstGeom prst="rect">
            <a:avLst/>
          </a:prstGeom>
          <a:noFill/>
          <a:ln w="0">
            <a:noFill/>
            <a:prstDash val="solid"/>
          </a:ln>
        </p:spPr>
        <p:txBody>
          <a:bodyPr wrap="square" lIns="38100" tIns="19050" rIns="38100" bIns="19050" anchor="ctr">
            <a:normAutofit/>
          </a:bodyPr>
          <a:lstStyle/>
          <a:p>
            <a:pPr algn="ctr">
              <a:defRPr sz="1200" b="1">
                <a:solidFill>
                  <a:srgbClr val="660874"/>
                </a:solidFill>
              </a:defRPr>
            </a:pPr>
            <a:r>
              <a:rPr lang="zh-CN" sz="1200" b="1">
                <a:solidFill>
                  <a:srgbClr val="660874"/>
                </a:solidFill>
                <a:latin typeface="Source Han Sans SC"/>
                <a:ea typeface="Source Han Sans SC"/>
              </a:rPr>
              <a:t>验证线索</a:t>
            </a:r>
            <a:endParaRPr sz="1200" b="1">
              <a:solidFill>
                <a:srgbClr val="660874"/>
              </a:solidFill>
            </a:endParaRPr>
          </a:p>
        </p:txBody>
      </p:sp>
      <p:sp>
        <p:nvSpPr>
          <p:cNvPr id="35" name="矩形 34"/>
          <p:cNvSpPr>
            <a:spLocks noGrp="1"/>
          </p:cNvSpPr>
          <p:nvPr>
            <p:custDataLst>
              <p:tags r:id="rId24"/>
            </p:custDataLst>
          </p:nvPr>
        </p:nvSpPr>
        <p:spPr>
          <a:xfrm>
            <a:off x="8401050" y="3661410"/>
            <a:ext cx="2628900" cy="266700"/>
          </a:xfrm>
          <a:prstGeom prst="rect">
            <a:avLst/>
          </a:prstGeom>
          <a:noFill/>
          <a:ln w="0">
            <a:noFill/>
            <a:prstDash val="solid"/>
          </a:ln>
        </p:spPr>
        <p:txBody>
          <a:bodyPr wrap="square" lIns="38100" tIns="19050" rIns="38100" bIns="19050" anchor="t">
            <a:normAutofit/>
          </a:bodyPr>
          <a:lstStyle/>
          <a:p>
            <a:pPr algn="ctr">
              <a:spcBef>
                <a:spcPts val="0"/>
              </a:spcBef>
              <a:spcAft>
                <a:spcPts val="0"/>
              </a:spcAft>
              <a:defRPr sz="1275" b="0">
                <a:solidFill>
                  <a:srgbClr val="1F2937"/>
                </a:solidFill>
              </a:defRPr>
            </a:pPr>
            <a:r>
              <a:rPr sz="975" b="0">
                <a:solidFill>
                  <a:srgbClr val="1F2937"/>
                </a:solidFill>
                <a:latin typeface="Source Han Sans SC"/>
              </a:rPr>
              <a:t>Step </a:t>
            </a:r>
            <a:r>
              <a:rPr lang="zh-CN" sz="975" b="0">
                <a:solidFill>
                  <a:srgbClr val="1F2937"/>
                </a:solidFill>
                <a:latin typeface="Source Han Sans SC"/>
                <a:ea typeface="Source Han Sans SC"/>
              </a:rPr>
              <a:t>增长</a:t>
            </a:r>
            <a:r>
              <a:rPr sz="975" b="0">
                <a:solidFill>
                  <a:srgbClr val="1F2937"/>
                </a:solidFill>
                <a:latin typeface="Source Han Sans SC"/>
              </a:rPr>
              <a:t> / BPB </a:t>
            </a:r>
            <a:r>
              <a:rPr lang="zh-CN" sz="975" b="0">
                <a:solidFill>
                  <a:srgbClr val="1F2937"/>
                </a:solidFill>
                <a:latin typeface="Source Han Sans SC"/>
                <a:ea typeface="Source Han Sans SC"/>
              </a:rPr>
              <a:t>出现</a:t>
            </a:r>
            <a:endParaRPr sz="975" b="0">
              <a:solidFill>
                <a:srgbClr val="1F2937"/>
              </a:solidFill>
            </a:endParaRPr>
          </a:p>
          <a:p>
            <a:pPr algn="ctr">
              <a:spcBef>
                <a:spcPts val="0"/>
              </a:spcBef>
              <a:spcAft>
                <a:spcPts val="0"/>
              </a:spcAft>
            </a:pPr>
            <a:r>
              <a:rPr lang="zh-CN" sz="975" b="0">
                <a:solidFill>
                  <a:srgbClr val="1F2937"/>
                </a:solidFill>
                <a:latin typeface="Source Han Sans SC"/>
                <a:ea typeface="Source Han Sans SC"/>
              </a:rPr>
              <a:t>数值越低通常越好</a:t>
            </a:r>
            <a:endParaRPr sz="975" b="0">
              <a:solidFill>
                <a:srgbClr val="1F2937"/>
              </a:solidFill>
            </a:endParaRPr>
          </a:p>
        </p:txBody>
      </p:sp>
      <p:sp>
        <p:nvSpPr>
          <p:cNvPr id="36" name="圆角矩形 35"/>
          <p:cNvSpPr>
            <a:spLocks noGrp="1"/>
          </p:cNvSpPr>
          <p:nvPr/>
        </p:nvSpPr>
        <p:spPr>
          <a:xfrm>
            <a:off x="619125" y="4286250"/>
            <a:ext cx="3381375" cy="723900"/>
          </a:xfrm>
          <a:prstGeom prst="roundRect">
            <a:avLst>
              <a:gd name="adj" fmla="val 10526"/>
            </a:avLst>
          </a:prstGeom>
          <a:solidFill>
            <a:srgbClr val="EEF8E9"/>
          </a:solidFill>
          <a:ln w="12383">
            <a:solidFill>
              <a:srgbClr val="48BB00"/>
            </a:solidFill>
            <a:prstDash val="solid"/>
          </a:ln>
        </p:spPr>
        <p:txBody>
          <a:bodyPr/>
          <a:p/>
        </p:txBody>
      </p:sp>
      <p:sp>
        <p:nvSpPr>
          <p:cNvPr id="37" name="矩形 36"/>
          <p:cNvSpPr>
            <a:spLocks noGrp="1"/>
          </p:cNvSpPr>
          <p:nvPr/>
        </p:nvSpPr>
        <p:spPr>
          <a:xfrm>
            <a:off x="733425" y="4362450"/>
            <a:ext cx="3152775" cy="285750"/>
          </a:xfrm>
          <a:prstGeom prst="rect">
            <a:avLst/>
          </a:prstGeom>
          <a:noFill/>
          <a:ln w="0">
            <a:noFill/>
            <a:prstDash val="solid"/>
          </a:ln>
        </p:spPr>
        <p:txBody>
          <a:bodyPr wrap="square" lIns="38100" tIns="19050" rIns="38100" bIns="19050" anchor="ctr">
            <a:normAutofit/>
          </a:bodyPr>
          <a:lstStyle/>
          <a:p>
            <a:pPr algn="l">
              <a:defRPr sz="1350" b="1">
                <a:solidFill>
                  <a:srgbClr val="48BB00"/>
                </a:solidFill>
              </a:defRPr>
            </a:pPr>
            <a:r>
              <a:rPr sz="1350" b="1">
                <a:solidFill>
                  <a:srgbClr val="48BB00"/>
                </a:solidFill>
                <a:latin typeface="Source Han Sans SC"/>
              </a:rPr>
              <a:t>nanochat/checkpoint_manager.py</a:t>
            </a:r>
            <a:endParaRPr sz="1350" b="1">
              <a:solidFill>
                <a:srgbClr val="48BB00"/>
              </a:solidFill>
            </a:endParaRPr>
          </a:p>
        </p:txBody>
      </p:sp>
      <p:sp>
        <p:nvSpPr>
          <p:cNvPr id="38" name="矩形 37"/>
          <p:cNvSpPr>
            <a:spLocks noGrp="1"/>
          </p:cNvSpPr>
          <p:nvPr/>
        </p:nvSpPr>
        <p:spPr>
          <a:xfrm>
            <a:off x="733425" y="4667250"/>
            <a:ext cx="3152775" cy="266700"/>
          </a:xfrm>
          <a:prstGeom prst="rect">
            <a:avLst/>
          </a:prstGeom>
          <a:noFill/>
          <a:ln w="0">
            <a:noFill/>
            <a:prstDash val="solid"/>
          </a:ln>
        </p:spPr>
        <p:txBody>
          <a:bodyPr wrap="square" lIns="38100" tIns="19050" rIns="38100" bIns="19050" anchor="t">
            <a:normAutofit/>
          </a:bodyPr>
          <a:lstStyle/>
          <a:p>
            <a:pPr algn="l">
              <a:defRPr sz="1125" b="0">
                <a:solidFill>
                  <a:srgbClr val="1F2937"/>
                </a:solidFill>
              </a:defRPr>
            </a:pPr>
            <a:r>
              <a:rPr sz="1125" b="0">
                <a:solidFill>
                  <a:srgbClr val="1F2937"/>
                </a:solidFill>
                <a:latin typeface="Source Han Sans SC"/>
              </a:rPr>
              <a:t>save_checkpoint / load_checkpoint</a:t>
            </a:r>
            <a:endParaRPr sz="1125" b="0">
              <a:solidFill>
                <a:srgbClr val="1F2937"/>
              </a:solidFill>
            </a:endParaRPr>
          </a:p>
        </p:txBody>
      </p:sp>
      <p:sp>
        <p:nvSpPr>
          <p:cNvPr id="39" name="圆角矩形 38"/>
          <p:cNvSpPr>
            <a:spLocks noGrp="1"/>
          </p:cNvSpPr>
          <p:nvPr>
            <p:custDataLst>
              <p:tags r:id="rId25"/>
            </p:custDataLst>
          </p:nvPr>
        </p:nvSpPr>
        <p:spPr>
          <a:xfrm>
            <a:off x="4667250" y="4286250"/>
            <a:ext cx="2952750" cy="723900"/>
          </a:xfrm>
          <a:prstGeom prst="roundRect">
            <a:avLst>
              <a:gd name="adj" fmla="val 10526"/>
            </a:avLst>
          </a:prstGeom>
          <a:solidFill>
            <a:srgbClr val="F5F7FA"/>
          </a:solidFill>
          <a:ln w="12383">
            <a:solidFill>
              <a:srgbClr val="E5E6E9"/>
            </a:solidFill>
            <a:prstDash val="solid"/>
          </a:ln>
        </p:spPr>
        <p:txBody>
          <a:bodyPr/>
          <a:p/>
        </p:txBody>
      </p:sp>
      <p:sp>
        <p:nvSpPr>
          <p:cNvPr id="40" name="矩形 39"/>
          <p:cNvSpPr>
            <a:spLocks noGrp="1"/>
          </p:cNvSpPr>
          <p:nvPr>
            <p:custDataLst>
              <p:tags r:id="rId26"/>
            </p:custDataLst>
          </p:nvPr>
        </p:nvSpPr>
        <p:spPr>
          <a:xfrm>
            <a:off x="4781550" y="4362450"/>
            <a:ext cx="2724150" cy="285750"/>
          </a:xfrm>
          <a:prstGeom prst="rect">
            <a:avLst/>
          </a:prstGeom>
          <a:noFill/>
          <a:ln w="0">
            <a:noFill/>
            <a:prstDash val="solid"/>
          </a:ln>
        </p:spPr>
        <p:txBody>
          <a:bodyPr wrap="square" lIns="38100" tIns="19050" rIns="38100" bIns="19050" anchor="ctr">
            <a:normAutofit/>
          </a:bodyPr>
          <a:lstStyle/>
          <a:p>
            <a:pPr algn="ctr">
              <a:defRPr sz="1200" b="1">
                <a:solidFill>
                  <a:srgbClr val="1F2937"/>
                </a:solidFill>
              </a:defRPr>
            </a:pPr>
            <a:r>
              <a:rPr lang="zh-CN" sz="1200" b="1">
                <a:solidFill>
                  <a:srgbClr val="1F2937"/>
                </a:solidFill>
                <a:latin typeface="Source Han Sans SC"/>
                <a:ea typeface="Source Han Sans SC"/>
              </a:rPr>
              <a:t>输出</a:t>
            </a:r>
            <a:endParaRPr sz="1200" b="1">
              <a:solidFill>
                <a:srgbClr val="1F2937"/>
              </a:solidFill>
            </a:endParaRPr>
          </a:p>
        </p:txBody>
      </p:sp>
      <p:sp>
        <p:nvSpPr>
          <p:cNvPr id="41" name="矩形 40"/>
          <p:cNvSpPr>
            <a:spLocks noGrp="1"/>
          </p:cNvSpPr>
          <p:nvPr>
            <p:custDataLst>
              <p:tags r:id="rId27"/>
            </p:custDataLst>
          </p:nvPr>
        </p:nvSpPr>
        <p:spPr>
          <a:xfrm>
            <a:off x="4781550" y="4613910"/>
            <a:ext cx="2724150" cy="266700"/>
          </a:xfrm>
          <a:prstGeom prst="rect">
            <a:avLst/>
          </a:prstGeom>
          <a:noFill/>
          <a:ln w="0">
            <a:noFill/>
            <a:prstDash val="solid"/>
          </a:ln>
        </p:spPr>
        <p:txBody>
          <a:bodyPr wrap="square" lIns="38100" tIns="19050" rIns="38100" bIns="19050" anchor="t">
            <a:normAutofit/>
          </a:bodyPr>
          <a:lstStyle/>
          <a:p>
            <a:pPr algn="ctr">
              <a:spcBef>
                <a:spcPts val="0"/>
              </a:spcBef>
              <a:spcAft>
                <a:spcPts val="0"/>
              </a:spcAft>
              <a:defRPr sz="1275" b="0">
                <a:solidFill>
                  <a:srgbClr val="1F2937"/>
                </a:solidFill>
              </a:defRPr>
            </a:pPr>
            <a:r>
              <a:rPr sz="975" b="0">
                <a:solidFill>
                  <a:srgbClr val="1F2937"/>
                </a:solidFill>
                <a:latin typeface="Source Han Sans SC"/>
              </a:rPr>
              <a:t>model + optimizer + metadata</a:t>
            </a:r>
            <a:endParaRPr sz="975" b="0">
              <a:solidFill>
                <a:srgbClr val="1F2937"/>
              </a:solidFill>
            </a:endParaRPr>
          </a:p>
          <a:p>
            <a:pPr algn="ctr">
              <a:spcBef>
                <a:spcPts val="0"/>
              </a:spcBef>
              <a:spcAft>
                <a:spcPts val="0"/>
              </a:spcAft>
            </a:pPr>
            <a:r>
              <a:rPr lang="zh-CN" sz="975" b="0">
                <a:solidFill>
                  <a:srgbClr val="1F2937"/>
                </a:solidFill>
                <a:latin typeface="Source Han Sans SC"/>
                <a:ea typeface="Source Han Sans SC"/>
              </a:rPr>
              <a:t>（训练元数据）</a:t>
            </a:r>
            <a:endParaRPr sz="975" b="0">
              <a:solidFill>
                <a:srgbClr val="1F2937"/>
              </a:solidFill>
            </a:endParaRPr>
          </a:p>
        </p:txBody>
      </p:sp>
      <p:sp>
        <p:nvSpPr>
          <p:cNvPr id="42" name="圆角矩形 41"/>
          <p:cNvSpPr>
            <a:spLocks noGrp="1"/>
          </p:cNvSpPr>
          <p:nvPr>
            <p:custDataLst>
              <p:tags r:id="rId28"/>
            </p:custDataLst>
          </p:nvPr>
        </p:nvSpPr>
        <p:spPr>
          <a:xfrm>
            <a:off x="8286750" y="4286250"/>
            <a:ext cx="2857500" cy="723900"/>
          </a:xfrm>
          <a:prstGeom prst="roundRect">
            <a:avLst>
              <a:gd name="adj" fmla="val 10526"/>
            </a:avLst>
          </a:prstGeom>
          <a:solidFill>
            <a:srgbClr val="FFFFFF"/>
          </a:solidFill>
          <a:ln w="12383">
            <a:solidFill>
              <a:srgbClr val="48BB00"/>
            </a:solidFill>
            <a:prstDash val="solid"/>
          </a:ln>
        </p:spPr>
      </p:sp>
      <p:sp>
        <p:nvSpPr>
          <p:cNvPr id="43" name="矩形 42"/>
          <p:cNvSpPr>
            <a:spLocks noGrp="1"/>
          </p:cNvSpPr>
          <p:nvPr>
            <p:custDataLst>
              <p:tags r:id="rId29"/>
            </p:custDataLst>
          </p:nvPr>
        </p:nvSpPr>
        <p:spPr>
          <a:xfrm>
            <a:off x="8401050" y="4362450"/>
            <a:ext cx="2628900" cy="285750"/>
          </a:xfrm>
          <a:prstGeom prst="rect">
            <a:avLst/>
          </a:prstGeom>
          <a:noFill/>
          <a:ln w="0">
            <a:noFill/>
            <a:prstDash val="solid"/>
          </a:ln>
        </p:spPr>
        <p:txBody>
          <a:bodyPr wrap="square" lIns="38100" tIns="19050" rIns="38100" bIns="19050" anchor="ctr">
            <a:normAutofit/>
          </a:bodyPr>
          <a:lstStyle/>
          <a:p>
            <a:pPr algn="ctr">
              <a:defRPr sz="1200" b="1">
                <a:solidFill>
                  <a:srgbClr val="48BB00"/>
                </a:solidFill>
              </a:defRPr>
            </a:pPr>
            <a:r>
              <a:rPr lang="zh-CN" sz="1200" b="1">
                <a:solidFill>
                  <a:srgbClr val="48BB00"/>
                </a:solidFill>
                <a:latin typeface="Source Han Sans SC"/>
                <a:ea typeface="Source Han Sans SC"/>
              </a:rPr>
              <a:t>验证线索</a:t>
            </a:r>
            <a:endParaRPr sz="1200" b="1">
              <a:solidFill>
                <a:srgbClr val="48BB00"/>
              </a:solidFill>
            </a:endParaRPr>
          </a:p>
        </p:txBody>
      </p:sp>
      <p:sp>
        <p:nvSpPr>
          <p:cNvPr id="44" name="矩形 43"/>
          <p:cNvSpPr>
            <a:spLocks noGrp="1"/>
          </p:cNvSpPr>
          <p:nvPr>
            <p:custDataLst>
              <p:tags r:id="rId30"/>
            </p:custDataLst>
          </p:nvPr>
        </p:nvSpPr>
        <p:spPr>
          <a:xfrm>
            <a:off x="8401050" y="4667250"/>
            <a:ext cx="2628900" cy="266700"/>
          </a:xfrm>
          <a:prstGeom prst="rect">
            <a:avLst/>
          </a:prstGeom>
          <a:noFill/>
          <a:ln w="0">
            <a:noFill/>
            <a:prstDash val="solid"/>
          </a:ln>
        </p:spPr>
        <p:txBody>
          <a:bodyPr wrap="square" lIns="38100" tIns="19050" rIns="38100" bIns="19050" anchor="t">
            <a:normAutofit/>
          </a:bodyPr>
          <a:lstStyle/>
          <a:p>
            <a:pPr algn="ctr">
              <a:defRPr sz="1275" b="0">
                <a:solidFill>
                  <a:srgbClr val="1F2937"/>
                </a:solidFill>
              </a:defRPr>
            </a:pPr>
            <a:r>
              <a:rPr lang="zh-CN" sz="1275" b="0">
                <a:solidFill>
                  <a:srgbClr val="1F2937"/>
                </a:solidFill>
                <a:latin typeface="Source Han Sans SC"/>
                <a:ea typeface="Source Han Sans SC"/>
              </a:rPr>
              <a:t>保存路径和文件存在</a:t>
            </a:r>
            <a:endParaRPr sz="1275" b="0">
              <a:solidFill>
                <a:srgbClr val="1F2937"/>
              </a:solidFill>
            </a:endParaRPr>
          </a:p>
        </p:txBody>
      </p:sp>
      <p:sp>
        <p:nvSpPr>
          <p:cNvPr id="45" name="矩形 44"/>
          <p:cNvSpPr>
            <a:spLocks noGrp="1"/>
          </p:cNvSpPr>
          <p:nvPr/>
        </p:nvSpPr>
        <p:spPr>
          <a:xfrm>
            <a:off x="333375" y="5743575"/>
            <a:ext cx="11525250" cy="514350"/>
          </a:xfrm>
          <a:prstGeom prst="rect">
            <a:avLst/>
          </a:prstGeom>
          <a:solidFill>
            <a:srgbClr val="1E8E94"/>
          </a:solidFill>
          <a:ln w="0">
            <a:noFill/>
            <a:prstDash val="solid"/>
          </a:ln>
        </p:spPr>
      </p:sp>
      <p:sp>
        <p:nvSpPr>
          <p:cNvPr id="46" name="矩形 45"/>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defRPr sz="1425" b="1">
                <a:solidFill>
                  <a:srgbClr val="FFFFFF"/>
                </a:solidFill>
              </a:defRPr>
            </a:pPr>
            <a:r>
              <a:rPr lang="zh-CN" sz="1425" b="1">
                <a:solidFill>
                  <a:srgbClr val="FFFFFF"/>
                </a:solidFill>
                <a:latin typeface="Source Han Sans SC"/>
                <a:ea typeface="Source Han Sans SC"/>
              </a:rPr>
              <a:t>代码阅读顺序与训练执行顺序一致：数据</a:t>
            </a:r>
            <a:r>
              <a:rPr sz="1425" b="1">
                <a:solidFill>
                  <a:srgbClr val="FFFFFF"/>
                </a:solidFill>
                <a:latin typeface="Source Han Sans SC"/>
              </a:rPr>
              <a:t> → </a:t>
            </a:r>
            <a:r>
              <a:rPr lang="zh-CN" sz="1425" b="1">
                <a:solidFill>
                  <a:srgbClr val="FFFFFF"/>
                </a:solidFill>
                <a:latin typeface="Source Han Sans SC"/>
                <a:ea typeface="Source Han Sans SC"/>
              </a:rPr>
              <a:t>模型</a:t>
            </a:r>
            <a:r>
              <a:rPr sz="1425" b="1">
                <a:solidFill>
                  <a:srgbClr val="FFFFFF"/>
                </a:solidFill>
                <a:latin typeface="Source Han Sans SC"/>
              </a:rPr>
              <a:t> → </a:t>
            </a:r>
            <a:r>
              <a:rPr lang="zh-CN" sz="1425" b="1">
                <a:solidFill>
                  <a:srgbClr val="FFFFFF"/>
                </a:solidFill>
                <a:latin typeface="Source Han Sans SC"/>
                <a:ea typeface="Source Han Sans SC"/>
              </a:rPr>
              <a:t>优化与验证</a:t>
            </a:r>
            <a:r>
              <a:rPr sz="1425" b="1">
                <a:solidFill>
                  <a:srgbClr val="FFFFFF"/>
                </a:solidFill>
                <a:latin typeface="Source Han Sans SC"/>
              </a:rPr>
              <a:t> → </a:t>
            </a:r>
            <a:r>
              <a:rPr lang="zh-CN" sz="1425" b="1">
                <a:solidFill>
                  <a:srgbClr val="FFFFFF"/>
                </a:solidFill>
                <a:latin typeface="Source Han Sans SC"/>
                <a:ea typeface="Source Han Sans SC"/>
              </a:rPr>
              <a:t>保存。</a:t>
            </a:r>
            <a:endParaRPr sz="1425" b="1">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 name="title"/>
          <p:cNvSpPr>
            <a:spLocks noGrp="1"/>
          </p:cNvSpPr>
          <p:nvPr/>
        </p:nvSpPr>
        <p:spPr>
          <a:xfrm>
            <a:off x="333375" y="95250"/>
            <a:ext cx="10058400" cy="647700"/>
          </a:xfrm>
          <a:prstGeom prst="rect">
            <a:avLst/>
          </a:prstGeom>
          <a:noFill/>
          <a:ln w="0">
            <a:noFill/>
            <a:prstDash val="solid"/>
          </a:ln>
        </p:spPr>
        <p:txBody>
          <a:bodyPr wrap="square" lIns="38100" tIns="19050" rIns="38100" bIns="19050" anchor="ctr">
            <a:normAutofit/>
          </a:bodyPr>
          <a:lstStyle/>
          <a:p>
            <a:pPr algn="l">
              <a:defRPr sz="3200" b="1">
                <a:solidFill>
                  <a:srgbClr val="1F2937"/>
                </a:solidFill>
              </a:defRPr>
            </a:pPr>
            <a:r>
              <a:rPr lang="zh-CN" sz="3200" b="1">
                <a:solidFill>
                  <a:srgbClr val="1F2937"/>
                </a:solidFill>
                <a:latin typeface="Source Han Sans SC"/>
                <a:ea typeface="Source Han Sans SC"/>
              </a:rPr>
              <a:t>迁移到</a:t>
            </a:r>
            <a:r>
              <a:rPr sz="3200" b="1">
                <a:solidFill>
                  <a:srgbClr val="1F2937"/>
                </a:solidFill>
                <a:latin typeface="Source Han Sans SC"/>
              </a:rPr>
              <a:t> C500 </a:t>
            </a:r>
            <a:r>
              <a:rPr lang="zh-CN" sz="3200" b="1">
                <a:solidFill>
                  <a:srgbClr val="1F2937"/>
                </a:solidFill>
                <a:latin typeface="Source Han Sans SC"/>
                <a:ea typeface="Source Han Sans SC"/>
              </a:rPr>
              <a:t>时，训练数学不变，运行后端需要适配</a:t>
            </a:r>
            <a:endParaRPr sz="3200" b="1">
              <a:solidFill>
                <a:srgbClr val="1F2937"/>
              </a:solidFill>
            </a:endParaRPr>
          </a:p>
        </p:txBody>
      </p:sp>
      <p:sp>
        <p:nvSpPr>
          <p:cNvPr id="2" name="矩形 1"/>
          <p:cNvSpPr>
            <a:spLocks noGrp="1"/>
          </p:cNvSpPr>
          <p:nvPr/>
        </p:nvSpPr>
        <p:spPr>
          <a:xfrm>
            <a:off x="333375" y="971550"/>
            <a:ext cx="10001250" cy="228600"/>
          </a:xfrm>
          <a:prstGeom prst="rect">
            <a:avLst/>
          </a:prstGeom>
          <a:noFill/>
          <a:ln w="0">
            <a:noFill/>
            <a:prstDash val="solid"/>
          </a:ln>
        </p:spPr>
        <p:txBody>
          <a:bodyPr wrap="square" lIns="38100" tIns="19050" rIns="38100" bIns="19050" anchor="ctr">
            <a:normAutofit fontScale="92593"/>
          </a:bodyPr>
          <a:lstStyle/>
          <a:p>
            <a:pPr algn="l">
              <a:defRPr sz="1350" b="0">
                <a:solidFill>
                  <a:srgbClr val="5F6B7A"/>
                </a:solidFill>
              </a:defRPr>
            </a:pPr>
            <a:r>
              <a:rPr lang="zh-CN" sz="1350" b="0">
                <a:solidFill>
                  <a:srgbClr val="5F6B7A"/>
                </a:solidFill>
                <a:latin typeface="Source Han Sans SC"/>
                <a:ea typeface="Source Han Sans SC"/>
              </a:rPr>
              <a:t>迁移原则：保持学习目标不变，替换不兼容的执行路径</a:t>
            </a:r>
            <a:endParaRPr sz="1350" b="0">
              <a:solidFill>
                <a:srgbClr val="5F6B7A"/>
              </a:solidFill>
            </a:endParaRPr>
          </a:p>
        </p:txBody>
      </p:sp>
      <p:sp>
        <p:nvSpPr>
          <p:cNvPr id="3" name="矩形 2"/>
          <p:cNvSpPr>
            <a:spLocks noGrp="1"/>
          </p:cNvSpPr>
          <p:nvPr/>
        </p:nvSpPr>
        <p:spPr>
          <a:xfrm>
            <a:off x="619125" y="1428750"/>
            <a:ext cx="4572000" cy="381000"/>
          </a:xfrm>
          <a:prstGeom prst="rect">
            <a:avLst/>
          </a:prstGeom>
          <a:noFill/>
          <a:ln w="0">
            <a:noFill/>
            <a:prstDash val="solid"/>
          </a:ln>
        </p:spPr>
        <p:txBody>
          <a:bodyPr wrap="square" lIns="38100" tIns="19050" rIns="38100" bIns="19050" anchor="ctr">
            <a:normAutofit/>
          </a:bodyPr>
          <a:lstStyle/>
          <a:p>
            <a:pPr algn="ctr">
              <a:defRPr sz="1800" b="1">
                <a:solidFill>
                  <a:srgbClr val="1E8E94"/>
                </a:solidFill>
              </a:defRPr>
            </a:pPr>
            <a:r>
              <a:rPr lang="zh-CN" sz="1800" b="1">
                <a:solidFill>
                  <a:srgbClr val="1E8E94"/>
                </a:solidFill>
                <a:latin typeface="Source Han Sans SC"/>
                <a:ea typeface="Source Han Sans SC"/>
              </a:rPr>
              <a:t>必须保持不变：训练语义</a:t>
            </a:r>
            <a:endParaRPr sz="1800" b="1">
              <a:solidFill>
                <a:srgbClr val="1E8E94"/>
              </a:solidFill>
            </a:endParaRPr>
          </a:p>
        </p:txBody>
      </p:sp>
      <p:sp>
        <p:nvSpPr>
          <p:cNvPr id="4" name="矩形 3"/>
          <p:cNvSpPr>
            <a:spLocks noGrp="1"/>
          </p:cNvSpPr>
          <p:nvPr/>
        </p:nvSpPr>
        <p:spPr>
          <a:xfrm>
            <a:off x="6715125" y="1428750"/>
            <a:ext cx="4572000" cy="381000"/>
          </a:xfrm>
          <a:prstGeom prst="rect">
            <a:avLst/>
          </a:prstGeom>
          <a:noFill/>
          <a:ln w="0">
            <a:noFill/>
            <a:prstDash val="solid"/>
          </a:ln>
        </p:spPr>
        <p:txBody>
          <a:bodyPr wrap="square" lIns="38100" tIns="19050" rIns="38100" bIns="19050" anchor="ctr">
            <a:normAutofit/>
          </a:bodyPr>
          <a:lstStyle/>
          <a:p>
            <a:pPr algn="ctr">
              <a:defRPr sz="1800" b="1">
                <a:solidFill>
                  <a:srgbClr val="660874"/>
                </a:solidFill>
              </a:defRPr>
            </a:pPr>
            <a:r>
              <a:rPr lang="zh-CN" sz="1800" b="1">
                <a:solidFill>
                  <a:srgbClr val="660874"/>
                </a:solidFill>
                <a:latin typeface="Source Han Sans SC"/>
                <a:ea typeface="Source Han Sans SC"/>
              </a:rPr>
              <a:t>需要适配：</a:t>
            </a:r>
            <a:r>
              <a:rPr sz="1800" b="1">
                <a:solidFill>
                  <a:srgbClr val="660874"/>
                </a:solidFill>
                <a:latin typeface="Source Han Sans SC"/>
              </a:rPr>
              <a:t>C500 </a:t>
            </a:r>
            <a:r>
              <a:rPr lang="zh-CN" sz="1800" b="1">
                <a:solidFill>
                  <a:srgbClr val="660874"/>
                </a:solidFill>
                <a:latin typeface="Source Han Sans SC"/>
                <a:ea typeface="Source Han Sans SC"/>
              </a:rPr>
              <a:t>运行后端</a:t>
            </a:r>
            <a:endParaRPr sz="1800" b="1">
              <a:solidFill>
                <a:srgbClr val="660874"/>
              </a:solidFill>
            </a:endParaRPr>
          </a:p>
        </p:txBody>
      </p:sp>
      <p:sp>
        <p:nvSpPr>
          <p:cNvPr id="5" name="圆角矩形 4"/>
          <p:cNvSpPr>
            <a:spLocks noGrp="1"/>
          </p:cNvSpPr>
          <p:nvPr/>
        </p:nvSpPr>
        <p:spPr>
          <a:xfrm>
            <a:off x="714375" y="2047875"/>
            <a:ext cx="4095750" cy="438150"/>
          </a:xfrm>
          <a:prstGeom prst="roundRect">
            <a:avLst>
              <a:gd name="adj" fmla="val 17391"/>
            </a:avLst>
          </a:prstGeom>
          <a:solidFill>
            <a:srgbClr val="E9F4F4"/>
          </a:solidFill>
          <a:ln w="12383">
            <a:solidFill>
              <a:srgbClr val="1E8E94"/>
            </a:solidFill>
            <a:prstDash val="solid"/>
          </a:ln>
        </p:spPr>
        <p:txBody>
          <a:bodyPr/>
          <a:p/>
        </p:txBody>
      </p:sp>
      <p:sp>
        <p:nvSpPr>
          <p:cNvPr id="6" name="矩形 5"/>
          <p:cNvSpPr>
            <a:spLocks noGrp="1"/>
          </p:cNvSpPr>
          <p:nvPr/>
        </p:nvSpPr>
        <p:spPr>
          <a:xfrm>
            <a:off x="828675" y="2124075"/>
            <a:ext cx="3867150" cy="285750"/>
          </a:xfrm>
          <a:prstGeom prst="rect">
            <a:avLst/>
          </a:prstGeom>
          <a:noFill/>
          <a:ln w="0">
            <a:noFill/>
            <a:prstDash val="solid"/>
          </a:ln>
        </p:spPr>
        <p:txBody>
          <a:bodyPr wrap="square" lIns="38100" tIns="19050" rIns="38100" bIns="19050" anchor="ctr">
            <a:normAutofit/>
          </a:bodyPr>
          <a:lstStyle/>
          <a:p>
            <a:pPr algn="ctr">
              <a:defRPr sz="1350" b="0">
                <a:solidFill>
                  <a:srgbClr val="1F2937"/>
                </a:solidFill>
              </a:defRPr>
            </a:pPr>
            <a:r>
              <a:rPr sz="1350" b="0">
                <a:solidFill>
                  <a:srgbClr val="1F2937"/>
                </a:solidFill>
                <a:latin typeface="Source Han Sans SC"/>
              </a:rPr>
              <a:t>inputs / targets </a:t>
            </a:r>
            <a:r>
              <a:rPr lang="zh-CN" sz="1350" b="0">
                <a:solidFill>
                  <a:srgbClr val="1F2937"/>
                </a:solidFill>
                <a:latin typeface="Source Han Sans SC"/>
                <a:ea typeface="Source Han Sans SC"/>
              </a:rPr>
              <a:t>右移关系</a:t>
            </a:r>
            <a:endParaRPr sz="1350" b="0">
              <a:solidFill>
                <a:srgbClr val="1F2937"/>
              </a:solidFill>
            </a:endParaRPr>
          </a:p>
        </p:txBody>
      </p:sp>
      <p:sp>
        <p:nvSpPr>
          <p:cNvPr id="7" name="直接连接符 6"/>
          <p:cNvSpPr>
            <a:spLocks noGrp="1"/>
          </p:cNvSpPr>
          <p:nvPr/>
        </p:nvSpPr>
        <p:spPr>
          <a:xfrm>
            <a:off x="5000625" y="2266950"/>
            <a:ext cx="1524000" cy="0"/>
          </a:xfrm>
          <a:prstGeom prst="line">
            <a:avLst/>
          </a:prstGeom>
          <a:noFill/>
          <a:ln w="19050">
            <a:solidFill>
              <a:srgbClr val="5F6B7A"/>
            </a:solidFill>
            <a:prstDash val="solid"/>
          </a:ln>
        </p:spPr>
        <p:txBody>
          <a:bodyPr/>
          <a:p/>
        </p:txBody>
      </p:sp>
      <p:sp>
        <p:nvSpPr>
          <p:cNvPr id="8" name="任意多边形 7"/>
          <p:cNvSpPr>
            <a:spLocks noGrp="1"/>
          </p:cNvSpPr>
          <p:nvPr/>
        </p:nvSpPr>
        <p:spPr>
          <a:xfrm>
            <a:off x="6419850" y="2219325"/>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txBody>
          <a:bodyPr/>
          <a:p/>
        </p:txBody>
      </p:sp>
      <p:sp>
        <p:nvSpPr>
          <p:cNvPr id="9" name="圆角矩形 8"/>
          <p:cNvSpPr>
            <a:spLocks noGrp="1"/>
          </p:cNvSpPr>
          <p:nvPr/>
        </p:nvSpPr>
        <p:spPr>
          <a:xfrm>
            <a:off x="6715125" y="2047875"/>
            <a:ext cx="4381500" cy="438150"/>
          </a:xfrm>
          <a:prstGeom prst="roundRect">
            <a:avLst>
              <a:gd name="adj" fmla="val 17391"/>
            </a:avLst>
          </a:prstGeom>
          <a:solidFill>
            <a:srgbClr val="F3EEF5"/>
          </a:solidFill>
          <a:ln w="12383">
            <a:solidFill>
              <a:srgbClr val="660874"/>
            </a:solidFill>
            <a:prstDash val="solid"/>
          </a:ln>
        </p:spPr>
        <p:txBody>
          <a:bodyPr/>
          <a:p/>
        </p:txBody>
      </p:sp>
      <p:sp>
        <p:nvSpPr>
          <p:cNvPr id="10" name="矩形 9"/>
          <p:cNvSpPr>
            <a:spLocks noGrp="1"/>
          </p:cNvSpPr>
          <p:nvPr/>
        </p:nvSpPr>
        <p:spPr>
          <a:xfrm>
            <a:off x="6829425" y="2124075"/>
            <a:ext cx="4152900" cy="285750"/>
          </a:xfrm>
          <a:prstGeom prst="rect">
            <a:avLst/>
          </a:prstGeom>
          <a:noFill/>
          <a:ln w="0">
            <a:noFill/>
            <a:prstDash val="solid"/>
          </a:ln>
        </p:spPr>
        <p:txBody>
          <a:bodyPr wrap="square" lIns="38100" tIns="19050" rIns="38100" bIns="19050" anchor="ctr">
            <a:normAutofit/>
          </a:bodyPr>
          <a:lstStyle/>
          <a:p>
            <a:pPr algn="ctr">
              <a:defRPr sz="1350" b="0">
                <a:solidFill>
                  <a:srgbClr val="1F2937"/>
                </a:solidFill>
              </a:defRPr>
            </a:pPr>
            <a:r>
              <a:rPr lang="zh-CN" sz="1350" b="0">
                <a:solidFill>
                  <a:srgbClr val="1F2937"/>
                </a:solidFill>
                <a:latin typeface="Source Han Sans SC"/>
                <a:ea typeface="Source Han Sans SC"/>
              </a:rPr>
              <a:t>设备识别：</a:t>
            </a:r>
            <a:r>
              <a:rPr sz="1350" b="0">
                <a:solidFill>
                  <a:srgbClr val="1F2937"/>
                </a:solidFill>
                <a:latin typeface="Source Han Sans SC"/>
              </a:rPr>
              <a:t>MetaX C500</a:t>
            </a:r>
            <a:endParaRPr sz="1350" b="0">
              <a:solidFill>
                <a:srgbClr val="1F2937"/>
              </a:solidFill>
            </a:endParaRPr>
          </a:p>
        </p:txBody>
      </p:sp>
      <p:sp>
        <p:nvSpPr>
          <p:cNvPr id="11" name="圆角矩形 10"/>
          <p:cNvSpPr>
            <a:spLocks noGrp="1"/>
          </p:cNvSpPr>
          <p:nvPr/>
        </p:nvSpPr>
        <p:spPr>
          <a:xfrm>
            <a:off x="714375" y="2638425"/>
            <a:ext cx="4095750" cy="438150"/>
          </a:xfrm>
          <a:prstGeom prst="roundRect">
            <a:avLst>
              <a:gd name="adj" fmla="val 17391"/>
            </a:avLst>
          </a:prstGeom>
          <a:solidFill>
            <a:srgbClr val="E9F4F4"/>
          </a:solidFill>
          <a:ln w="12383">
            <a:solidFill>
              <a:srgbClr val="1E8E94"/>
            </a:solidFill>
            <a:prstDash val="solid"/>
          </a:ln>
        </p:spPr>
        <p:txBody>
          <a:bodyPr/>
          <a:p/>
        </p:txBody>
      </p:sp>
      <p:sp>
        <p:nvSpPr>
          <p:cNvPr id="12" name="矩形 11"/>
          <p:cNvSpPr>
            <a:spLocks noGrp="1"/>
          </p:cNvSpPr>
          <p:nvPr/>
        </p:nvSpPr>
        <p:spPr>
          <a:xfrm>
            <a:off x="828675" y="2714625"/>
            <a:ext cx="3867150" cy="285750"/>
          </a:xfrm>
          <a:prstGeom prst="rect">
            <a:avLst/>
          </a:prstGeom>
          <a:noFill/>
          <a:ln w="0">
            <a:noFill/>
            <a:prstDash val="solid"/>
          </a:ln>
        </p:spPr>
        <p:txBody>
          <a:bodyPr wrap="square" lIns="38100" tIns="19050" rIns="38100" bIns="19050" anchor="ctr">
            <a:normAutofit/>
          </a:bodyPr>
          <a:lstStyle/>
          <a:p>
            <a:pPr algn="ctr">
              <a:defRPr sz="1350" b="0">
                <a:solidFill>
                  <a:srgbClr val="1F2937"/>
                </a:solidFill>
              </a:defRPr>
            </a:pPr>
            <a:r>
              <a:rPr sz="1350" b="0">
                <a:solidFill>
                  <a:srgbClr val="1F2937"/>
                </a:solidFill>
                <a:latin typeface="Source Han Sans SC"/>
              </a:rPr>
              <a:t>Causal Attention </a:t>
            </a:r>
            <a:r>
              <a:rPr lang="zh-CN" sz="1350" b="0">
                <a:solidFill>
                  <a:srgbClr val="1F2937"/>
                </a:solidFill>
                <a:latin typeface="Source Han Sans SC"/>
                <a:ea typeface="Source Han Sans SC"/>
              </a:rPr>
              <a:t>因果约束</a:t>
            </a:r>
            <a:endParaRPr sz="1350" b="0">
              <a:solidFill>
                <a:srgbClr val="1F2937"/>
              </a:solidFill>
            </a:endParaRPr>
          </a:p>
        </p:txBody>
      </p:sp>
      <p:sp>
        <p:nvSpPr>
          <p:cNvPr id="13" name="直接连接符 12"/>
          <p:cNvSpPr>
            <a:spLocks noGrp="1"/>
          </p:cNvSpPr>
          <p:nvPr/>
        </p:nvSpPr>
        <p:spPr>
          <a:xfrm>
            <a:off x="5000625" y="2857500"/>
            <a:ext cx="1524000" cy="0"/>
          </a:xfrm>
          <a:prstGeom prst="line">
            <a:avLst/>
          </a:prstGeom>
          <a:noFill/>
          <a:ln w="19050">
            <a:solidFill>
              <a:srgbClr val="5F6B7A"/>
            </a:solidFill>
            <a:prstDash val="solid"/>
          </a:ln>
        </p:spPr>
        <p:txBody>
          <a:bodyPr/>
          <a:p/>
        </p:txBody>
      </p:sp>
      <p:sp>
        <p:nvSpPr>
          <p:cNvPr id="14" name="任意多边形 13"/>
          <p:cNvSpPr>
            <a:spLocks noGrp="1"/>
          </p:cNvSpPr>
          <p:nvPr/>
        </p:nvSpPr>
        <p:spPr>
          <a:xfrm>
            <a:off x="6419850" y="2809875"/>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txBody>
          <a:bodyPr/>
          <a:p/>
        </p:txBody>
      </p:sp>
      <p:sp>
        <p:nvSpPr>
          <p:cNvPr id="15" name="圆角矩形 14"/>
          <p:cNvSpPr>
            <a:spLocks noGrp="1"/>
          </p:cNvSpPr>
          <p:nvPr/>
        </p:nvSpPr>
        <p:spPr>
          <a:xfrm>
            <a:off x="6715125" y="2638425"/>
            <a:ext cx="4381500" cy="438150"/>
          </a:xfrm>
          <a:prstGeom prst="roundRect">
            <a:avLst>
              <a:gd name="adj" fmla="val 17391"/>
            </a:avLst>
          </a:prstGeom>
          <a:solidFill>
            <a:srgbClr val="F3EEF5"/>
          </a:solidFill>
          <a:ln w="12383">
            <a:solidFill>
              <a:srgbClr val="660874"/>
            </a:solidFill>
            <a:prstDash val="solid"/>
          </a:ln>
        </p:spPr>
        <p:txBody>
          <a:bodyPr/>
          <a:p/>
        </p:txBody>
      </p:sp>
      <p:sp>
        <p:nvSpPr>
          <p:cNvPr id="16" name="矩形 15"/>
          <p:cNvSpPr>
            <a:spLocks noGrp="1"/>
          </p:cNvSpPr>
          <p:nvPr/>
        </p:nvSpPr>
        <p:spPr>
          <a:xfrm>
            <a:off x="6829425" y="2714625"/>
            <a:ext cx="4152900" cy="285750"/>
          </a:xfrm>
          <a:prstGeom prst="rect">
            <a:avLst/>
          </a:prstGeom>
          <a:noFill/>
          <a:ln w="0">
            <a:noFill/>
            <a:prstDash val="solid"/>
          </a:ln>
        </p:spPr>
        <p:txBody>
          <a:bodyPr wrap="square" lIns="38100" tIns="19050" rIns="38100" bIns="19050" anchor="ctr">
            <a:normAutofit/>
          </a:bodyPr>
          <a:lstStyle/>
          <a:p>
            <a:pPr algn="ctr">
              <a:spcBef>
                <a:spcPts val="0"/>
              </a:spcBef>
              <a:spcAft>
                <a:spcPts val="0"/>
              </a:spcAft>
              <a:defRPr sz="1350" b="0">
                <a:solidFill>
                  <a:srgbClr val="1F2937"/>
                </a:solidFill>
              </a:defRPr>
            </a:pPr>
            <a:r>
              <a:rPr sz="1250" b="0">
                <a:solidFill>
                  <a:srgbClr val="1F2937"/>
                </a:solidFill>
                <a:latin typeface="Source Han Sans SC"/>
              </a:rPr>
              <a:t>BF16</a:t>
            </a:r>
            <a:r>
              <a:rPr sz="1250" b="0">
                <a:solidFill>
                  <a:srgbClr val="1F2937"/>
                </a:solidFill>
                <a:latin typeface="Source Han Sans SC"/>
              </a:rPr>
              <a:t>：</a:t>
            </a:r>
            <a:r>
              <a:rPr sz="1250" b="0">
                <a:solidFill>
                  <a:srgbClr val="1F2937"/>
                </a:solidFill>
                <a:latin typeface="Source Han Sans SC"/>
              </a:rPr>
              <a:t>16 </a:t>
            </a:r>
            <a:r>
              <a:rPr lang="zh-CN" sz="1250" b="0">
                <a:solidFill>
                  <a:srgbClr val="1F2937"/>
                </a:solidFill>
                <a:latin typeface="Source Han Sans SC"/>
                <a:ea typeface="Source Han Sans SC"/>
              </a:rPr>
              <a:t>位浮点训练精度</a:t>
            </a:r>
            <a:endParaRPr sz="1250" b="0">
              <a:solidFill>
                <a:srgbClr val="1F2937"/>
              </a:solidFill>
            </a:endParaRPr>
          </a:p>
        </p:txBody>
      </p:sp>
      <p:sp>
        <p:nvSpPr>
          <p:cNvPr id="17" name="圆角矩形 16"/>
          <p:cNvSpPr>
            <a:spLocks noGrp="1"/>
          </p:cNvSpPr>
          <p:nvPr/>
        </p:nvSpPr>
        <p:spPr>
          <a:xfrm>
            <a:off x="714375" y="3228975"/>
            <a:ext cx="4095750" cy="438150"/>
          </a:xfrm>
          <a:prstGeom prst="roundRect">
            <a:avLst>
              <a:gd name="adj" fmla="val 17391"/>
            </a:avLst>
          </a:prstGeom>
          <a:solidFill>
            <a:srgbClr val="E9F4F4"/>
          </a:solidFill>
          <a:ln w="12383">
            <a:solidFill>
              <a:srgbClr val="1E8E94"/>
            </a:solidFill>
            <a:prstDash val="solid"/>
          </a:ln>
        </p:spPr>
        <p:txBody>
          <a:bodyPr/>
          <a:p/>
        </p:txBody>
      </p:sp>
      <p:sp>
        <p:nvSpPr>
          <p:cNvPr id="18" name="矩形 17"/>
          <p:cNvSpPr>
            <a:spLocks noGrp="1"/>
          </p:cNvSpPr>
          <p:nvPr/>
        </p:nvSpPr>
        <p:spPr>
          <a:xfrm>
            <a:off x="828675" y="3305175"/>
            <a:ext cx="3867150" cy="285750"/>
          </a:xfrm>
          <a:prstGeom prst="rect">
            <a:avLst/>
          </a:prstGeom>
          <a:noFill/>
          <a:ln w="0">
            <a:noFill/>
            <a:prstDash val="solid"/>
          </a:ln>
        </p:spPr>
        <p:txBody>
          <a:bodyPr wrap="square" lIns="38100" tIns="19050" rIns="38100" bIns="19050" anchor="ctr">
            <a:normAutofit/>
          </a:bodyPr>
          <a:lstStyle/>
          <a:p>
            <a:pPr algn="ctr">
              <a:defRPr sz="1350" b="0">
                <a:solidFill>
                  <a:srgbClr val="1F2937"/>
                </a:solidFill>
              </a:defRPr>
            </a:pPr>
            <a:r>
              <a:rPr sz="1350" b="0">
                <a:solidFill>
                  <a:srgbClr val="1F2937"/>
                </a:solidFill>
                <a:latin typeface="Source Han Sans SC"/>
              </a:rPr>
              <a:t>Cross-Entropy Loss</a:t>
            </a:r>
            <a:endParaRPr sz="1350" b="0">
              <a:solidFill>
                <a:srgbClr val="1F2937"/>
              </a:solidFill>
            </a:endParaRPr>
          </a:p>
        </p:txBody>
      </p:sp>
      <p:sp>
        <p:nvSpPr>
          <p:cNvPr id="19" name="直接连接符 18"/>
          <p:cNvSpPr>
            <a:spLocks noGrp="1"/>
          </p:cNvSpPr>
          <p:nvPr/>
        </p:nvSpPr>
        <p:spPr>
          <a:xfrm>
            <a:off x="5000625" y="3448050"/>
            <a:ext cx="1524000" cy="0"/>
          </a:xfrm>
          <a:prstGeom prst="line">
            <a:avLst/>
          </a:prstGeom>
          <a:noFill/>
          <a:ln w="19050">
            <a:solidFill>
              <a:srgbClr val="5F6B7A"/>
            </a:solidFill>
            <a:prstDash val="solid"/>
          </a:ln>
        </p:spPr>
        <p:txBody>
          <a:bodyPr/>
          <a:p/>
        </p:txBody>
      </p:sp>
      <p:sp>
        <p:nvSpPr>
          <p:cNvPr id="20" name="任意多边形 19"/>
          <p:cNvSpPr>
            <a:spLocks noGrp="1"/>
          </p:cNvSpPr>
          <p:nvPr/>
        </p:nvSpPr>
        <p:spPr>
          <a:xfrm>
            <a:off x="6419850" y="3400425"/>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txBody>
          <a:bodyPr/>
          <a:p/>
        </p:txBody>
      </p:sp>
      <p:sp>
        <p:nvSpPr>
          <p:cNvPr id="21" name="圆角矩形 20"/>
          <p:cNvSpPr>
            <a:spLocks noGrp="1"/>
          </p:cNvSpPr>
          <p:nvPr/>
        </p:nvSpPr>
        <p:spPr>
          <a:xfrm>
            <a:off x="6715125" y="3228975"/>
            <a:ext cx="4381500" cy="438150"/>
          </a:xfrm>
          <a:prstGeom prst="roundRect">
            <a:avLst>
              <a:gd name="adj" fmla="val 17391"/>
            </a:avLst>
          </a:prstGeom>
          <a:solidFill>
            <a:srgbClr val="F3EEF5"/>
          </a:solidFill>
          <a:ln w="12383">
            <a:solidFill>
              <a:srgbClr val="660874"/>
            </a:solidFill>
            <a:prstDash val="solid"/>
          </a:ln>
        </p:spPr>
        <p:txBody>
          <a:bodyPr/>
          <a:p/>
        </p:txBody>
      </p:sp>
      <p:sp>
        <p:nvSpPr>
          <p:cNvPr id="22" name="矩形 21"/>
          <p:cNvSpPr>
            <a:spLocks noGrp="1"/>
          </p:cNvSpPr>
          <p:nvPr/>
        </p:nvSpPr>
        <p:spPr>
          <a:xfrm>
            <a:off x="6829425" y="3305175"/>
            <a:ext cx="4152900" cy="285750"/>
          </a:xfrm>
          <a:prstGeom prst="rect">
            <a:avLst/>
          </a:prstGeom>
          <a:noFill/>
          <a:ln w="0">
            <a:noFill/>
            <a:prstDash val="solid"/>
          </a:ln>
        </p:spPr>
        <p:txBody>
          <a:bodyPr wrap="square" lIns="38100" tIns="19050" rIns="38100" bIns="19050" anchor="ctr">
            <a:normAutofit/>
          </a:bodyPr>
          <a:lstStyle/>
          <a:p>
            <a:pPr algn="ctr">
              <a:spcBef>
                <a:spcPts val="0"/>
              </a:spcBef>
              <a:spcAft>
                <a:spcPts val="0"/>
              </a:spcAft>
              <a:defRPr sz="1350" b="0">
                <a:solidFill>
                  <a:srgbClr val="1F2937"/>
                </a:solidFill>
              </a:defRPr>
            </a:pPr>
            <a:r>
              <a:rPr sz="1050" b="0">
                <a:solidFill>
                  <a:srgbClr val="1F2937"/>
                </a:solidFill>
                <a:latin typeface="Source Han Sans SC"/>
              </a:rPr>
              <a:t>FA3</a:t>
            </a:r>
            <a:r>
              <a:rPr sz="1050" b="0">
                <a:solidFill>
                  <a:srgbClr val="1F2937"/>
                </a:solidFill>
                <a:latin typeface="Source Han Sans SC"/>
              </a:rPr>
              <a:t>（</a:t>
            </a:r>
            <a:r>
              <a:rPr sz="1050" b="0">
                <a:solidFill>
                  <a:srgbClr val="1F2937"/>
                </a:solidFill>
                <a:latin typeface="Source Han Sans SC"/>
              </a:rPr>
              <a:t>FlashAttention-3</a:t>
            </a:r>
            <a:r>
              <a:rPr lang="zh-CN" sz="1050" b="0">
                <a:solidFill>
                  <a:srgbClr val="1F2937"/>
                </a:solidFill>
                <a:latin typeface="Source Han Sans SC"/>
                <a:ea typeface="Source Han Sans SC"/>
              </a:rPr>
              <a:t>）不可用</a:t>
            </a:r>
            <a:endParaRPr sz="1050" b="0">
              <a:solidFill>
                <a:srgbClr val="1F2937"/>
              </a:solidFill>
            </a:endParaRPr>
          </a:p>
          <a:p>
            <a:pPr algn="ctr">
              <a:spcBef>
                <a:spcPts val="0"/>
              </a:spcBef>
              <a:spcAft>
                <a:spcPts val="0"/>
              </a:spcAft>
            </a:pPr>
            <a:r>
              <a:rPr sz="1050" b="0">
                <a:solidFill>
                  <a:srgbClr val="1F2937"/>
                </a:solidFill>
                <a:latin typeface="Source Han Sans SC"/>
              </a:rPr>
              <a:t>→ </a:t>
            </a:r>
            <a:r>
              <a:rPr lang="zh-CN" sz="1050" b="0">
                <a:solidFill>
                  <a:srgbClr val="1F2937"/>
                </a:solidFill>
                <a:latin typeface="Source Han Sans SC"/>
                <a:ea typeface="Source Han Sans SC"/>
              </a:rPr>
              <a:t>回退</a:t>
            </a:r>
            <a:r>
              <a:rPr sz="1050" b="0">
                <a:solidFill>
                  <a:srgbClr val="1F2937"/>
                </a:solidFill>
                <a:latin typeface="Source Han Sans SC"/>
              </a:rPr>
              <a:t> PyTorch SDPA</a:t>
            </a:r>
            <a:endParaRPr sz="1050" b="0">
              <a:solidFill>
                <a:srgbClr val="1F2937"/>
              </a:solidFill>
            </a:endParaRPr>
          </a:p>
        </p:txBody>
      </p:sp>
      <p:sp>
        <p:nvSpPr>
          <p:cNvPr id="23" name="圆角矩形 22"/>
          <p:cNvSpPr>
            <a:spLocks noGrp="1"/>
          </p:cNvSpPr>
          <p:nvPr/>
        </p:nvSpPr>
        <p:spPr>
          <a:xfrm>
            <a:off x="714375" y="3819525"/>
            <a:ext cx="4095750" cy="438150"/>
          </a:xfrm>
          <a:prstGeom prst="roundRect">
            <a:avLst>
              <a:gd name="adj" fmla="val 17391"/>
            </a:avLst>
          </a:prstGeom>
          <a:solidFill>
            <a:srgbClr val="E9F4F4"/>
          </a:solidFill>
          <a:ln w="12383">
            <a:solidFill>
              <a:srgbClr val="1E8E94"/>
            </a:solidFill>
            <a:prstDash val="solid"/>
          </a:ln>
        </p:spPr>
        <p:txBody>
          <a:bodyPr/>
          <a:p/>
        </p:txBody>
      </p:sp>
      <p:sp>
        <p:nvSpPr>
          <p:cNvPr id="24" name="矩形 23"/>
          <p:cNvSpPr>
            <a:spLocks noGrp="1"/>
          </p:cNvSpPr>
          <p:nvPr/>
        </p:nvSpPr>
        <p:spPr>
          <a:xfrm>
            <a:off x="828675" y="3895725"/>
            <a:ext cx="3867150" cy="285750"/>
          </a:xfrm>
          <a:prstGeom prst="rect">
            <a:avLst/>
          </a:prstGeom>
          <a:noFill/>
          <a:ln w="0">
            <a:noFill/>
            <a:prstDash val="solid"/>
          </a:ln>
        </p:spPr>
        <p:txBody>
          <a:bodyPr wrap="square" lIns="38100" tIns="19050" rIns="38100" bIns="19050" anchor="ctr">
            <a:normAutofit/>
          </a:bodyPr>
          <a:lstStyle/>
          <a:p>
            <a:pPr algn="ctr">
              <a:defRPr sz="1350" b="0">
                <a:solidFill>
                  <a:srgbClr val="1F2937"/>
                </a:solidFill>
              </a:defRPr>
            </a:pPr>
            <a:r>
              <a:rPr sz="1350" b="0">
                <a:solidFill>
                  <a:srgbClr val="1F2937"/>
                </a:solidFill>
                <a:latin typeface="Source Han Sans SC"/>
              </a:rPr>
              <a:t>Backward / Optimizer Step</a:t>
            </a:r>
            <a:endParaRPr sz="1350" b="0">
              <a:solidFill>
                <a:srgbClr val="1F2937"/>
              </a:solidFill>
            </a:endParaRPr>
          </a:p>
        </p:txBody>
      </p:sp>
      <p:sp>
        <p:nvSpPr>
          <p:cNvPr id="25" name="直接连接符 24"/>
          <p:cNvSpPr>
            <a:spLocks noGrp="1"/>
          </p:cNvSpPr>
          <p:nvPr/>
        </p:nvSpPr>
        <p:spPr>
          <a:xfrm>
            <a:off x="5000625" y="4038600"/>
            <a:ext cx="1524000" cy="0"/>
          </a:xfrm>
          <a:prstGeom prst="line">
            <a:avLst/>
          </a:prstGeom>
          <a:noFill/>
          <a:ln w="19050">
            <a:solidFill>
              <a:srgbClr val="5F6B7A"/>
            </a:solidFill>
            <a:prstDash val="solid"/>
          </a:ln>
        </p:spPr>
        <p:txBody>
          <a:bodyPr/>
          <a:p/>
        </p:txBody>
      </p:sp>
      <p:sp>
        <p:nvSpPr>
          <p:cNvPr id="26" name="任意多边形 25"/>
          <p:cNvSpPr>
            <a:spLocks noGrp="1"/>
          </p:cNvSpPr>
          <p:nvPr/>
        </p:nvSpPr>
        <p:spPr>
          <a:xfrm>
            <a:off x="6419850" y="3990975"/>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txBody>
          <a:bodyPr/>
          <a:p/>
        </p:txBody>
      </p:sp>
      <p:sp>
        <p:nvSpPr>
          <p:cNvPr id="27" name="圆角矩形 26"/>
          <p:cNvSpPr>
            <a:spLocks noGrp="1"/>
          </p:cNvSpPr>
          <p:nvPr/>
        </p:nvSpPr>
        <p:spPr>
          <a:xfrm>
            <a:off x="6715125" y="3819525"/>
            <a:ext cx="4381500" cy="438150"/>
          </a:xfrm>
          <a:prstGeom prst="roundRect">
            <a:avLst>
              <a:gd name="adj" fmla="val 17391"/>
            </a:avLst>
          </a:prstGeom>
          <a:solidFill>
            <a:srgbClr val="F3EEF5"/>
          </a:solidFill>
          <a:ln w="12383">
            <a:solidFill>
              <a:srgbClr val="660874"/>
            </a:solidFill>
            <a:prstDash val="solid"/>
          </a:ln>
        </p:spPr>
        <p:txBody>
          <a:bodyPr/>
          <a:p/>
        </p:txBody>
      </p:sp>
      <p:sp>
        <p:nvSpPr>
          <p:cNvPr id="28" name="矩形 27"/>
          <p:cNvSpPr>
            <a:spLocks noGrp="1"/>
          </p:cNvSpPr>
          <p:nvPr/>
        </p:nvSpPr>
        <p:spPr>
          <a:xfrm>
            <a:off x="6829425" y="3895725"/>
            <a:ext cx="4152900" cy="285750"/>
          </a:xfrm>
          <a:prstGeom prst="rect">
            <a:avLst/>
          </a:prstGeom>
          <a:noFill/>
          <a:ln w="0">
            <a:noFill/>
            <a:prstDash val="solid"/>
          </a:ln>
        </p:spPr>
        <p:txBody>
          <a:bodyPr wrap="square" lIns="38100" tIns="19050" rIns="38100" bIns="19050" anchor="ctr">
            <a:normAutofit/>
          </a:bodyPr>
          <a:lstStyle/>
          <a:p>
            <a:pPr algn="ctr">
              <a:spcBef>
                <a:spcPts val="0"/>
              </a:spcBef>
              <a:spcAft>
                <a:spcPts val="0"/>
              </a:spcAft>
              <a:defRPr sz="1350" b="0">
                <a:solidFill>
                  <a:srgbClr val="1F2937"/>
                </a:solidFill>
              </a:defRPr>
            </a:pPr>
            <a:r>
              <a:rPr lang="zh-CN" sz="1150" b="0">
                <a:solidFill>
                  <a:srgbClr val="1F2937"/>
                </a:solidFill>
                <a:latin typeface="Source Han Sans SC"/>
                <a:ea typeface="Source Han Sans SC"/>
              </a:rPr>
              <a:t>编译与优化器：关闭不稳定路径</a:t>
            </a:r>
            <a:endParaRPr sz="1150" b="0">
              <a:solidFill>
                <a:srgbClr val="1F2937"/>
              </a:solidFill>
            </a:endParaRPr>
          </a:p>
        </p:txBody>
      </p:sp>
      <p:sp>
        <p:nvSpPr>
          <p:cNvPr id="29" name="圆角矩形 28"/>
          <p:cNvSpPr>
            <a:spLocks noGrp="1"/>
          </p:cNvSpPr>
          <p:nvPr/>
        </p:nvSpPr>
        <p:spPr>
          <a:xfrm>
            <a:off x="714375" y="4410075"/>
            <a:ext cx="4095750" cy="438150"/>
          </a:xfrm>
          <a:prstGeom prst="roundRect">
            <a:avLst>
              <a:gd name="adj" fmla="val 17391"/>
            </a:avLst>
          </a:prstGeom>
          <a:solidFill>
            <a:srgbClr val="E9F4F4"/>
          </a:solidFill>
          <a:ln w="12383">
            <a:solidFill>
              <a:srgbClr val="1E8E94"/>
            </a:solidFill>
            <a:prstDash val="solid"/>
          </a:ln>
        </p:spPr>
        <p:txBody>
          <a:bodyPr/>
          <a:p/>
        </p:txBody>
      </p:sp>
      <p:sp>
        <p:nvSpPr>
          <p:cNvPr id="30" name="矩形 29"/>
          <p:cNvSpPr>
            <a:spLocks noGrp="1"/>
          </p:cNvSpPr>
          <p:nvPr/>
        </p:nvSpPr>
        <p:spPr>
          <a:xfrm>
            <a:off x="828675" y="4486275"/>
            <a:ext cx="3867150" cy="285750"/>
          </a:xfrm>
          <a:prstGeom prst="rect">
            <a:avLst/>
          </a:prstGeom>
          <a:noFill/>
          <a:ln w="0">
            <a:noFill/>
            <a:prstDash val="solid"/>
          </a:ln>
        </p:spPr>
        <p:txBody>
          <a:bodyPr wrap="square" lIns="38100" tIns="19050" rIns="38100" bIns="19050" anchor="ctr">
            <a:normAutofit/>
          </a:bodyPr>
          <a:lstStyle/>
          <a:p>
            <a:pPr algn="ctr">
              <a:defRPr sz="1350" b="0">
                <a:solidFill>
                  <a:srgbClr val="1F2937"/>
                </a:solidFill>
              </a:defRPr>
            </a:pPr>
            <a:r>
              <a:rPr sz="1350" b="0">
                <a:solidFill>
                  <a:srgbClr val="1F2937"/>
                </a:solidFill>
                <a:latin typeface="Source Han Sans SC"/>
              </a:rPr>
              <a:t>checkpoint </a:t>
            </a:r>
            <a:r>
              <a:rPr lang="zh-CN" sz="1350" b="0">
                <a:solidFill>
                  <a:srgbClr val="1F2937"/>
                </a:solidFill>
                <a:latin typeface="Source Han Sans SC"/>
                <a:ea typeface="Source Han Sans SC"/>
              </a:rPr>
              <a:t>恢复语义</a:t>
            </a:r>
            <a:endParaRPr sz="1350" b="0">
              <a:solidFill>
                <a:srgbClr val="1F2937"/>
              </a:solidFill>
            </a:endParaRPr>
          </a:p>
        </p:txBody>
      </p:sp>
      <p:sp>
        <p:nvSpPr>
          <p:cNvPr id="31" name="直接连接符 30"/>
          <p:cNvSpPr>
            <a:spLocks noGrp="1"/>
          </p:cNvSpPr>
          <p:nvPr/>
        </p:nvSpPr>
        <p:spPr>
          <a:xfrm>
            <a:off x="5000625" y="4629150"/>
            <a:ext cx="1524000" cy="0"/>
          </a:xfrm>
          <a:prstGeom prst="line">
            <a:avLst/>
          </a:prstGeom>
          <a:noFill/>
          <a:ln w="19050">
            <a:solidFill>
              <a:srgbClr val="5F6B7A"/>
            </a:solidFill>
            <a:prstDash val="solid"/>
          </a:ln>
        </p:spPr>
        <p:txBody>
          <a:bodyPr/>
          <a:p/>
        </p:txBody>
      </p:sp>
      <p:sp>
        <p:nvSpPr>
          <p:cNvPr id="32" name="任意多边形 31"/>
          <p:cNvSpPr>
            <a:spLocks noGrp="1"/>
          </p:cNvSpPr>
          <p:nvPr/>
        </p:nvSpPr>
        <p:spPr>
          <a:xfrm>
            <a:off x="6419850" y="4581525"/>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txBody>
          <a:bodyPr/>
          <a:p/>
        </p:txBody>
      </p:sp>
      <p:sp>
        <p:nvSpPr>
          <p:cNvPr id="33" name="圆角矩形 32"/>
          <p:cNvSpPr>
            <a:spLocks noGrp="1"/>
          </p:cNvSpPr>
          <p:nvPr/>
        </p:nvSpPr>
        <p:spPr>
          <a:xfrm>
            <a:off x="6715125" y="4410075"/>
            <a:ext cx="4381500" cy="438150"/>
          </a:xfrm>
          <a:prstGeom prst="roundRect">
            <a:avLst>
              <a:gd name="adj" fmla="val 17391"/>
            </a:avLst>
          </a:prstGeom>
          <a:solidFill>
            <a:srgbClr val="F3EEF5"/>
          </a:solidFill>
          <a:ln w="12383">
            <a:solidFill>
              <a:srgbClr val="660874"/>
            </a:solidFill>
            <a:prstDash val="solid"/>
          </a:ln>
        </p:spPr>
        <p:txBody>
          <a:bodyPr/>
          <a:p/>
        </p:txBody>
      </p:sp>
      <p:sp>
        <p:nvSpPr>
          <p:cNvPr id="34" name="矩形 33"/>
          <p:cNvSpPr>
            <a:spLocks noGrp="1"/>
          </p:cNvSpPr>
          <p:nvPr/>
        </p:nvSpPr>
        <p:spPr>
          <a:xfrm>
            <a:off x="6829425" y="4486275"/>
            <a:ext cx="4152900" cy="285750"/>
          </a:xfrm>
          <a:prstGeom prst="rect">
            <a:avLst/>
          </a:prstGeom>
          <a:noFill/>
          <a:ln w="0">
            <a:noFill/>
            <a:prstDash val="solid"/>
          </a:ln>
        </p:spPr>
        <p:txBody>
          <a:bodyPr wrap="square" lIns="38100" tIns="19050" rIns="38100" bIns="19050" anchor="ctr">
            <a:normAutofit/>
          </a:bodyPr>
          <a:lstStyle/>
          <a:p>
            <a:pPr algn="ctr">
              <a:spcBef>
                <a:spcPts val="0"/>
              </a:spcBef>
              <a:spcAft>
                <a:spcPts val="0"/>
              </a:spcAft>
              <a:defRPr sz="1350" b="0">
                <a:solidFill>
                  <a:srgbClr val="1F2937"/>
                </a:solidFill>
              </a:defRPr>
            </a:pPr>
            <a:r>
              <a:rPr lang="zh-CN" sz="1150" b="0">
                <a:solidFill>
                  <a:srgbClr val="1F2937"/>
                </a:solidFill>
                <a:latin typeface="Source Han Sans SC"/>
                <a:ea typeface="Source Han Sans SC"/>
              </a:rPr>
              <a:t>数据传输：</a:t>
            </a:r>
            <a:r>
              <a:rPr sz="1150" b="0">
                <a:solidFill>
                  <a:srgbClr val="1F2937"/>
                </a:solidFill>
                <a:latin typeface="Source Han Sans SC"/>
              </a:rPr>
              <a:t>Pinned Memory </a:t>
            </a:r>
            <a:r>
              <a:rPr lang="zh-CN" sz="1150" b="0">
                <a:solidFill>
                  <a:srgbClr val="1F2937"/>
                </a:solidFill>
                <a:latin typeface="Source Han Sans SC"/>
                <a:ea typeface="Source Han Sans SC"/>
              </a:rPr>
              <a:t>不可用时回退</a:t>
            </a:r>
            <a:endParaRPr sz="1150" b="0">
              <a:solidFill>
                <a:srgbClr val="1F2937"/>
              </a:solidFill>
            </a:endParaRPr>
          </a:p>
        </p:txBody>
      </p:sp>
      <p:sp>
        <p:nvSpPr>
          <p:cNvPr id="35" name="圆角矩形 34"/>
          <p:cNvSpPr>
            <a:spLocks noGrp="1"/>
          </p:cNvSpPr>
          <p:nvPr/>
        </p:nvSpPr>
        <p:spPr>
          <a:xfrm>
            <a:off x="2476500" y="5143500"/>
            <a:ext cx="7239000" cy="457200"/>
          </a:xfrm>
          <a:prstGeom prst="roundRect">
            <a:avLst>
              <a:gd name="adj" fmla="val 16667"/>
            </a:avLst>
          </a:prstGeom>
          <a:solidFill>
            <a:srgbClr val="111827"/>
          </a:solidFill>
          <a:ln w="12383">
            <a:solidFill>
              <a:srgbClr val="111827"/>
            </a:solidFill>
            <a:prstDash val="solid"/>
          </a:ln>
        </p:spPr>
        <p:txBody>
          <a:bodyPr/>
          <a:p/>
        </p:txBody>
      </p:sp>
      <p:sp>
        <p:nvSpPr>
          <p:cNvPr id="36" name="矩形 35"/>
          <p:cNvSpPr>
            <a:spLocks noGrp="1"/>
          </p:cNvSpPr>
          <p:nvPr/>
        </p:nvSpPr>
        <p:spPr>
          <a:xfrm>
            <a:off x="2590800" y="5219700"/>
            <a:ext cx="7010400" cy="304800"/>
          </a:xfrm>
          <a:prstGeom prst="rect">
            <a:avLst/>
          </a:prstGeom>
          <a:noFill/>
          <a:ln w="0">
            <a:noFill/>
            <a:prstDash val="solid"/>
          </a:ln>
        </p:spPr>
        <p:txBody>
          <a:bodyPr wrap="square" lIns="38100" tIns="19050" rIns="38100" bIns="19050" anchor="ctr">
            <a:normAutofit/>
          </a:bodyPr>
          <a:lstStyle/>
          <a:p>
            <a:pPr algn="ctr">
              <a:spcBef>
                <a:spcPts val="0"/>
              </a:spcBef>
              <a:spcAft>
                <a:spcPts val="0"/>
              </a:spcAft>
              <a:defRPr sz="1275" b="0">
                <a:solidFill>
                  <a:srgbClr val="FFFFFF"/>
                </a:solidFill>
              </a:defRPr>
            </a:pPr>
            <a:r>
              <a:rPr lang="zh-CN" sz="1075" b="0">
                <a:solidFill>
                  <a:srgbClr val="FFFFFF"/>
                </a:solidFill>
                <a:latin typeface="Source Han Sans SC"/>
                <a:ea typeface="Source Han Sans SC"/>
              </a:rPr>
              <a:t>本次稳定配置｜</a:t>
            </a:r>
            <a:r>
              <a:rPr sz="1075" b="0">
                <a:solidFill>
                  <a:srgbClr val="FFFFFF"/>
                </a:solidFill>
                <a:latin typeface="Source Han Sans SC"/>
              </a:rPr>
              <a:t>NANOCHAT_DTYPE=bfloat16   COMPILE=0   USE_MUON=0   OPTIM_COMPILE=0</a:t>
            </a:r>
            <a:endParaRPr sz="1075" b="0">
              <a:solidFill>
                <a:srgbClr val="FFFFFF"/>
              </a:solidFill>
            </a:endParaRPr>
          </a:p>
        </p:txBody>
      </p:sp>
      <p:sp>
        <p:nvSpPr>
          <p:cNvPr id="37" name="矩形 36"/>
          <p:cNvSpPr>
            <a:spLocks noGrp="1"/>
          </p:cNvSpPr>
          <p:nvPr/>
        </p:nvSpPr>
        <p:spPr>
          <a:xfrm>
            <a:off x="333375" y="5743575"/>
            <a:ext cx="11525250" cy="514350"/>
          </a:xfrm>
          <a:prstGeom prst="rect">
            <a:avLst/>
          </a:prstGeom>
          <a:solidFill>
            <a:srgbClr val="660874"/>
          </a:solidFill>
          <a:ln w="0">
            <a:noFill/>
            <a:prstDash val="solid"/>
          </a:ln>
        </p:spPr>
      </p:sp>
      <p:sp>
        <p:nvSpPr>
          <p:cNvPr id="38" name="矩形 37"/>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defRPr sz="1425" b="1">
                <a:solidFill>
                  <a:srgbClr val="FFFFFF"/>
                </a:solidFill>
              </a:defRPr>
            </a:pPr>
            <a:r>
              <a:rPr lang="zh-CN" sz="1425" b="1">
                <a:solidFill>
                  <a:srgbClr val="FFFFFF"/>
                </a:solidFill>
                <a:latin typeface="Source Han Sans SC"/>
                <a:ea typeface="Source Han Sans SC"/>
              </a:rPr>
              <a:t>先保证正确性与稳定性，再讨论性能优化；不要为了迁移改变训练数学。</a:t>
            </a:r>
            <a:endParaRPr sz="1425" b="1">
              <a:solidFill>
                <a:srgbClr val="FFFFFF"/>
              </a:solidFill>
            </a:endParaRPr>
          </a:p>
        </p:txBody>
      </p:sp>
      <p:sp>
        <p:nvSpPr>
          <p:cNvPr id="40" name="TextBox 39"/>
          <p:cNvSpPr txBox="1"/>
          <p:nvPr/>
        </p:nvSpPr>
        <p:spPr>
          <a:xfrm>
            <a:off x="2743200" y="4864608"/>
            <a:ext cx="6720840" cy="274320"/>
          </a:xfrm>
          <a:prstGeom prst="rect">
            <a:avLst/>
          </a:prstGeom>
          <a:noFill/>
        </p:spPr>
        <p:txBody>
          <a:bodyPr wrap="square" lIns="45720" tIns="18288" rIns="45720" bIns="18288" anchor="ctr">
            <a:spAutoFit/>
          </a:bodyPr>
          <a:lstStyle/>
          <a:p>
            <a:pPr algn="ctr">
              <a:spcBef>
                <a:spcPts val="0"/>
              </a:spcBef>
              <a:spcAft>
                <a:spcPts val="0"/>
              </a:spcAft>
            </a:pPr>
            <a:r>
              <a:rPr lang="zh-CN" sz="1125" b="0">
                <a:solidFill>
                  <a:srgbClr val="5F6B7A"/>
                </a:solidFill>
                <a:latin typeface="Source Han Sans SC" panose="020B0503020204020204" charset="-122"/>
                <a:ea typeface="微软雅黑" panose="020B0503020204020204" charset="-122"/>
              </a:rPr>
              <a:t>SDPA = Scaled Dot Product Attention</a:t>
            </a:r>
            <a:r>
              <a:rPr lang="zh-CN" sz="1125" b="0">
                <a:solidFill>
                  <a:srgbClr val="5F6B7A"/>
                </a:solidFill>
                <a:latin typeface="Source Han Sans SC" panose="020B0503020204020204" charset="-122"/>
                <a:ea typeface="Source Han Sans SC" panose="020B0503020204020204" charset="-122"/>
              </a:rPr>
              <a:t>（缩放点积注意力）</a:t>
            </a:r>
            <a:endParaRPr lang="zh-CN" sz="1125" b="0">
              <a:solidFill>
                <a:srgbClr val="5F6B7A"/>
              </a:solidFill>
              <a:latin typeface="微软雅黑" panose="020B0503020204020204" charset="-122"/>
              <a:ea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2" name="title"/>
          <p:cNvSpPr>
            <a:spLocks noGrp="1"/>
          </p:cNvSpPr>
          <p:nvPr/>
        </p:nvSpPr>
        <p:spPr>
          <a:xfrm>
            <a:off x="333375" y="95250"/>
            <a:ext cx="10058400" cy="647700"/>
          </a:xfrm>
          <a:prstGeom prst="rect">
            <a:avLst/>
          </a:prstGeom>
          <a:noFill/>
          <a:ln w="0">
            <a:noFill/>
            <a:prstDash val="solid"/>
          </a:ln>
        </p:spPr>
        <p:txBody>
          <a:bodyPr wrap="square" lIns="38100" tIns="19050" rIns="38100" bIns="19050" anchor="ctr">
            <a:normAutofit/>
          </a:bodyPr>
          <a:lstStyle/>
          <a:p>
            <a:pPr algn="l">
              <a:defRPr sz="3200" b="1">
                <a:solidFill>
                  <a:srgbClr val="1F2937"/>
                </a:solidFill>
              </a:defRPr>
            </a:pPr>
            <a:r>
              <a:rPr lang="zh-CN" sz="3200" b="1">
                <a:solidFill>
                  <a:srgbClr val="1F2937"/>
                </a:solidFill>
                <a:latin typeface="Source Han Sans SC"/>
                <a:ea typeface="Source Han Sans SC"/>
              </a:rPr>
              <a:t>正式实验使用</a:t>
            </a:r>
            <a:r>
              <a:rPr sz="3200" b="1">
                <a:solidFill>
                  <a:srgbClr val="1F2937"/>
                </a:solidFill>
                <a:latin typeface="Source Han Sans SC"/>
              </a:rPr>
              <a:t> 10 </a:t>
            </a:r>
            <a:r>
              <a:rPr lang="zh-CN" sz="3200" b="1">
                <a:solidFill>
                  <a:srgbClr val="1F2937"/>
                </a:solidFill>
                <a:latin typeface="Source Han Sans SC"/>
                <a:ea typeface="Source Han Sans SC"/>
              </a:rPr>
              <a:t>个训练分片和独立验证分片</a:t>
            </a:r>
            <a:endParaRPr sz="3200" b="1">
              <a:solidFill>
                <a:srgbClr val="1F2937"/>
              </a:solidFill>
            </a:endParaRPr>
          </a:p>
        </p:txBody>
      </p:sp>
      <p:sp>
        <p:nvSpPr>
          <p:cNvPr id="2" name="矩形 1"/>
          <p:cNvSpPr>
            <a:spLocks noGrp="1"/>
          </p:cNvSpPr>
          <p:nvPr/>
        </p:nvSpPr>
        <p:spPr>
          <a:xfrm>
            <a:off x="333375" y="971550"/>
            <a:ext cx="10001250" cy="228600"/>
          </a:xfrm>
          <a:prstGeom prst="rect">
            <a:avLst/>
          </a:prstGeom>
          <a:noFill/>
          <a:ln w="0">
            <a:noFill/>
            <a:prstDash val="solid"/>
          </a:ln>
        </p:spPr>
        <p:txBody>
          <a:bodyPr wrap="square" lIns="38100" tIns="19050" rIns="38100" bIns="19050" anchor="ctr">
            <a:normAutofit fontScale="92593"/>
          </a:bodyPr>
          <a:lstStyle/>
          <a:p>
            <a:pPr algn="l">
              <a:defRPr sz="1350" b="0">
                <a:solidFill>
                  <a:srgbClr val="5F6B7A"/>
                </a:solidFill>
              </a:defRPr>
            </a:pPr>
            <a:r>
              <a:rPr sz="1350" b="0">
                <a:solidFill>
                  <a:srgbClr val="5F6B7A"/>
                </a:solidFill>
                <a:latin typeface="Source Han Sans SC"/>
              </a:rPr>
              <a:t>ClimbMix10</a:t>
            </a:r>
            <a:r>
              <a:rPr sz="1350" b="0">
                <a:solidFill>
                  <a:srgbClr val="5F6B7A"/>
                </a:solidFill>
                <a:latin typeface="Source Han Sans SC"/>
              </a:rPr>
              <a:t>：</a:t>
            </a:r>
            <a:r>
              <a:rPr sz="1350" b="0">
                <a:solidFill>
                  <a:srgbClr val="5F6B7A"/>
                </a:solidFill>
                <a:latin typeface="Source Han Sans SC"/>
              </a:rPr>
              <a:t>00–09 </a:t>
            </a:r>
            <a:r>
              <a:rPr lang="zh-CN" sz="1350" b="0">
                <a:solidFill>
                  <a:srgbClr val="5F6B7A"/>
                </a:solidFill>
                <a:latin typeface="Source Han Sans SC"/>
                <a:ea typeface="Source Han Sans SC"/>
              </a:rPr>
              <a:t>参与梯度更新，</a:t>
            </a:r>
            <a:r>
              <a:rPr sz="1350" b="0">
                <a:solidFill>
                  <a:srgbClr val="5F6B7A"/>
                </a:solidFill>
                <a:latin typeface="Source Han Sans SC"/>
              </a:rPr>
              <a:t>6542 </a:t>
            </a:r>
            <a:r>
              <a:rPr lang="zh-CN" sz="1350" b="0">
                <a:solidFill>
                  <a:srgbClr val="5F6B7A"/>
                </a:solidFill>
                <a:latin typeface="Source Han Sans SC"/>
                <a:ea typeface="Source Han Sans SC"/>
              </a:rPr>
              <a:t>只用于独立评估</a:t>
            </a:r>
            <a:endParaRPr sz="1350" b="0">
              <a:solidFill>
                <a:srgbClr val="5F6B7A"/>
              </a:solidFill>
            </a:endParaRPr>
          </a:p>
        </p:txBody>
      </p:sp>
      <p:sp>
        <p:nvSpPr>
          <p:cNvPr id="3" name="矩形 2"/>
          <p:cNvSpPr>
            <a:spLocks noGrp="1"/>
          </p:cNvSpPr>
          <p:nvPr/>
        </p:nvSpPr>
        <p:spPr>
          <a:xfrm>
            <a:off x="619125" y="1476375"/>
            <a:ext cx="6572250" cy="342900"/>
          </a:xfrm>
          <a:prstGeom prst="rect">
            <a:avLst/>
          </a:prstGeom>
          <a:noFill/>
          <a:ln w="0">
            <a:noFill/>
            <a:prstDash val="solid"/>
          </a:ln>
        </p:spPr>
        <p:txBody>
          <a:bodyPr wrap="square" lIns="38100" tIns="19050" rIns="38100" bIns="19050" anchor="ctr">
            <a:normAutofit/>
          </a:bodyPr>
          <a:lstStyle/>
          <a:p>
            <a:pPr algn="l">
              <a:defRPr sz="1725" b="1">
                <a:solidFill>
                  <a:srgbClr val="2F6BDA"/>
                </a:solidFill>
              </a:defRPr>
            </a:pPr>
            <a:r>
              <a:rPr sz="1725" b="1">
                <a:solidFill>
                  <a:srgbClr val="2F6BDA"/>
                </a:solidFill>
                <a:latin typeface="Source Han Sans SC"/>
              </a:rPr>
              <a:t>Train Split</a:t>
            </a:r>
            <a:endParaRPr sz="1725" b="1">
              <a:solidFill>
                <a:srgbClr val="2F6BDA"/>
              </a:solidFill>
            </a:endParaRPr>
          </a:p>
        </p:txBody>
      </p:sp>
      <p:sp>
        <p:nvSpPr>
          <p:cNvPr id="4" name="矩形 3"/>
          <p:cNvSpPr>
            <a:spLocks noGrp="1"/>
          </p:cNvSpPr>
          <p:nvPr/>
        </p:nvSpPr>
        <p:spPr>
          <a:xfrm>
            <a:off x="8334375" y="1476375"/>
            <a:ext cx="2857500" cy="342900"/>
          </a:xfrm>
          <a:prstGeom prst="rect">
            <a:avLst/>
          </a:prstGeom>
          <a:noFill/>
          <a:ln w="0">
            <a:noFill/>
            <a:prstDash val="solid"/>
          </a:ln>
        </p:spPr>
        <p:txBody>
          <a:bodyPr wrap="square" lIns="38100" tIns="19050" rIns="38100" bIns="19050" anchor="ctr">
            <a:normAutofit/>
          </a:bodyPr>
          <a:lstStyle/>
          <a:p>
            <a:pPr algn="l">
              <a:defRPr sz="1725" b="1">
                <a:solidFill>
                  <a:srgbClr val="48BB00"/>
                </a:solidFill>
              </a:defRPr>
            </a:pPr>
            <a:r>
              <a:rPr sz="1725" b="1">
                <a:solidFill>
                  <a:srgbClr val="48BB00"/>
                </a:solidFill>
                <a:latin typeface="Source Han Sans SC"/>
              </a:rPr>
              <a:t>Validation Split</a:t>
            </a:r>
            <a:endParaRPr sz="1725" b="1">
              <a:solidFill>
                <a:srgbClr val="48BB00"/>
              </a:solidFill>
            </a:endParaRPr>
          </a:p>
        </p:txBody>
      </p:sp>
      <p:sp>
        <p:nvSpPr>
          <p:cNvPr id="5" name="圆角矩形 4"/>
          <p:cNvSpPr>
            <a:spLocks noGrp="1"/>
          </p:cNvSpPr>
          <p:nvPr/>
        </p:nvSpPr>
        <p:spPr>
          <a:xfrm>
            <a:off x="619125" y="2095500"/>
            <a:ext cx="514350" cy="323850"/>
          </a:xfrm>
          <a:prstGeom prst="roundRect">
            <a:avLst>
              <a:gd name="adj" fmla="val 23529"/>
            </a:avLst>
          </a:prstGeom>
          <a:solidFill>
            <a:srgbClr val="EAF1FF"/>
          </a:solidFill>
          <a:ln w="12383">
            <a:solidFill>
              <a:srgbClr val="EAF1FF"/>
            </a:solidFill>
            <a:prstDash val="solid"/>
          </a:ln>
        </p:spPr>
      </p:sp>
      <p:sp>
        <p:nvSpPr>
          <p:cNvPr id="6" name="矩形 5"/>
          <p:cNvSpPr>
            <a:spLocks noGrp="1"/>
          </p:cNvSpPr>
          <p:nvPr/>
        </p:nvSpPr>
        <p:spPr>
          <a:xfrm>
            <a:off x="647700" y="2114550"/>
            <a:ext cx="457200" cy="285750"/>
          </a:xfrm>
          <a:prstGeom prst="rect">
            <a:avLst/>
          </a:prstGeom>
          <a:noFill/>
          <a:ln w="0">
            <a:noFill/>
            <a:prstDash val="solid"/>
          </a:ln>
        </p:spPr>
        <p:txBody>
          <a:bodyPr wrap="square" lIns="38100" tIns="19050" rIns="38100" bIns="19050" anchor="ctr">
            <a:normAutofit/>
          </a:bodyPr>
          <a:lstStyle/>
          <a:p>
            <a:pPr algn="ctr">
              <a:defRPr sz="1200" b="1">
                <a:solidFill>
                  <a:srgbClr val="2F6BDA"/>
                </a:solidFill>
              </a:defRPr>
            </a:pPr>
            <a:r>
              <a:rPr sz="1200" b="1">
                <a:solidFill>
                  <a:srgbClr val="2F6BDA"/>
                </a:solidFill>
                <a:latin typeface="Source Han Sans SC"/>
              </a:rPr>
              <a:t>00</a:t>
            </a:r>
            <a:endParaRPr sz="1200" b="1">
              <a:solidFill>
                <a:srgbClr val="2F6BDA"/>
              </a:solidFill>
            </a:endParaRPr>
          </a:p>
        </p:txBody>
      </p:sp>
      <p:sp>
        <p:nvSpPr>
          <p:cNvPr id="7" name="圆角矩形 6"/>
          <p:cNvSpPr>
            <a:spLocks noGrp="1"/>
          </p:cNvSpPr>
          <p:nvPr/>
        </p:nvSpPr>
        <p:spPr>
          <a:xfrm>
            <a:off x="1266825" y="2095500"/>
            <a:ext cx="514350" cy="323850"/>
          </a:xfrm>
          <a:prstGeom prst="roundRect">
            <a:avLst>
              <a:gd name="adj" fmla="val 23529"/>
            </a:avLst>
          </a:prstGeom>
          <a:solidFill>
            <a:srgbClr val="EAF1FF"/>
          </a:solidFill>
          <a:ln w="12383">
            <a:solidFill>
              <a:srgbClr val="EAF1FF"/>
            </a:solidFill>
            <a:prstDash val="solid"/>
          </a:ln>
        </p:spPr>
      </p:sp>
      <p:sp>
        <p:nvSpPr>
          <p:cNvPr id="8" name="矩形 7"/>
          <p:cNvSpPr>
            <a:spLocks noGrp="1"/>
          </p:cNvSpPr>
          <p:nvPr/>
        </p:nvSpPr>
        <p:spPr>
          <a:xfrm>
            <a:off x="1295400" y="2114550"/>
            <a:ext cx="457200" cy="285750"/>
          </a:xfrm>
          <a:prstGeom prst="rect">
            <a:avLst/>
          </a:prstGeom>
          <a:noFill/>
          <a:ln w="0">
            <a:noFill/>
            <a:prstDash val="solid"/>
          </a:ln>
        </p:spPr>
        <p:txBody>
          <a:bodyPr wrap="square" lIns="38100" tIns="19050" rIns="38100" bIns="19050" anchor="ctr">
            <a:normAutofit/>
          </a:bodyPr>
          <a:lstStyle/>
          <a:p>
            <a:pPr algn="ctr">
              <a:defRPr sz="1200" b="1">
                <a:solidFill>
                  <a:srgbClr val="2F6BDA"/>
                </a:solidFill>
              </a:defRPr>
            </a:pPr>
            <a:r>
              <a:rPr sz="1200" b="1">
                <a:solidFill>
                  <a:srgbClr val="2F6BDA"/>
                </a:solidFill>
                <a:latin typeface="Source Han Sans SC"/>
              </a:rPr>
              <a:t>01</a:t>
            </a:r>
            <a:endParaRPr sz="1200" b="1">
              <a:solidFill>
                <a:srgbClr val="2F6BDA"/>
              </a:solidFill>
            </a:endParaRPr>
          </a:p>
        </p:txBody>
      </p:sp>
      <p:sp>
        <p:nvSpPr>
          <p:cNvPr id="9" name="圆角矩形 8"/>
          <p:cNvSpPr>
            <a:spLocks noGrp="1"/>
          </p:cNvSpPr>
          <p:nvPr/>
        </p:nvSpPr>
        <p:spPr>
          <a:xfrm>
            <a:off x="1914525" y="2095500"/>
            <a:ext cx="514350" cy="323850"/>
          </a:xfrm>
          <a:prstGeom prst="roundRect">
            <a:avLst>
              <a:gd name="adj" fmla="val 23529"/>
            </a:avLst>
          </a:prstGeom>
          <a:solidFill>
            <a:srgbClr val="EAF1FF"/>
          </a:solidFill>
          <a:ln w="12383">
            <a:solidFill>
              <a:srgbClr val="EAF1FF"/>
            </a:solidFill>
            <a:prstDash val="solid"/>
          </a:ln>
        </p:spPr>
      </p:sp>
      <p:sp>
        <p:nvSpPr>
          <p:cNvPr id="10" name="矩形 9"/>
          <p:cNvSpPr>
            <a:spLocks noGrp="1"/>
          </p:cNvSpPr>
          <p:nvPr/>
        </p:nvSpPr>
        <p:spPr>
          <a:xfrm>
            <a:off x="1943100" y="2114550"/>
            <a:ext cx="457200" cy="285750"/>
          </a:xfrm>
          <a:prstGeom prst="rect">
            <a:avLst/>
          </a:prstGeom>
          <a:noFill/>
          <a:ln w="0">
            <a:noFill/>
            <a:prstDash val="solid"/>
          </a:ln>
        </p:spPr>
        <p:txBody>
          <a:bodyPr wrap="square" lIns="38100" tIns="19050" rIns="38100" bIns="19050" anchor="ctr">
            <a:normAutofit/>
          </a:bodyPr>
          <a:lstStyle/>
          <a:p>
            <a:pPr algn="ctr">
              <a:defRPr sz="1200" b="1">
                <a:solidFill>
                  <a:srgbClr val="2F6BDA"/>
                </a:solidFill>
              </a:defRPr>
            </a:pPr>
            <a:r>
              <a:rPr sz="1200" b="1">
                <a:solidFill>
                  <a:srgbClr val="2F6BDA"/>
                </a:solidFill>
                <a:latin typeface="Source Han Sans SC"/>
              </a:rPr>
              <a:t>02</a:t>
            </a:r>
            <a:endParaRPr sz="1200" b="1">
              <a:solidFill>
                <a:srgbClr val="2F6BDA"/>
              </a:solidFill>
            </a:endParaRPr>
          </a:p>
        </p:txBody>
      </p:sp>
      <p:sp>
        <p:nvSpPr>
          <p:cNvPr id="11" name="圆角矩形 10"/>
          <p:cNvSpPr>
            <a:spLocks noGrp="1"/>
          </p:cNvSpPr>
          <p:nvPr/>
        </p:nvSpPr>
        <p:spPr>
          <a:xfrm>
            <a:off x="2562225" y="2095500"/>
            <a:ext cx="514350" cy="323850"/>
          </a:xfrm>
          <a:prstGeom prst="roundRect">
            <a:avLst>
              <a:gd name="adj" fmla="val 23529"/>
            </a:avLst>
          </a:prstGeom>
          <a:solidFill>
            <a:srgbClr val="EAF1FF"/>
          </a:solidFill>
          <a:ln w="12383">
            <a:solidFill>
              <a:srgbClr val="EAF1FF"/>
            </a:solidFill>
            <a:prstDash val="solid"/>
          </a:ln>
        </p:spPr>
      </p:sp>
      <p:sp>
        <p:nvSpPr>
          <p:cNvPr id="12" name="矩形 11"/>
          <p:cNvSpPr>
            <a:spLocks noGrp="1"/>
          </p:cNvSpPr>
          <p:nvPr/>
        </p:nvSpPr>
        <p:spPr>
          <a:xfrm>
            <a:off x="2590800" y="2114550"/>
            <a:ext cx="457200" cy="285750"/>
          </a:xfrm>
          <a:prstGeom prst="rect">
            <a:avLst/>
          </a:prstGeom>
          <a:noFill/>
          <a:ln w="0">
            <a:noFill/>
            <a:prstDash val="solid"/>
          </a:ln>
        </p:spPr>
        <p:txBody>
          <a:bodyPr wrap="square" lIns="38100" tIns="19050" rIns="38100" bIns="19050" anchor="ctr">
            <a:normAutofit/>
          </a:bodyPr>
          <a:lstStyle/>
          <a:p>
            <a:pPr algn="ctr">
              <a:defRPr sz="1200" b="1">
                <a:solidFill>
                  <a:srgbClr val="2F6BDA"/>
                </a:solidFill>
              </a:defRPr>
            </a:pPr>
            <a:r>
              <a:rPr sz="1200" b="1">
                <a:solidFill>
                  <a:srgbClr val="2F6BDA"/>
                </a:solidFill>
                <a:latin typeface="Source Han Sans SC"/>
              </a:rPr>
              <a:t>03</a:t>
            </a:r>
            <a:endParaRPr sz="1200" b="1">
              <a:solidFill>
                <a:srgbClr val="2F6BDA"/>
              </a:solidFill>
            </a:endParaRPr>
          </a:p>
        </p:txBody>
      </p:sp>
      <p:sp>
        <p:nvSpPr>
          <p:cNvPr id="13" name="圆角矩形 12"/>
          <p:cNvSpPr>
            <a:spLocks noGrp="1"/>
          </p:cNvSpPr>
          <p:nvPr/>
        </p:nvSpPr>
        <p:spPr>
          <a:xfrm>
            <a:off x="3209925" y="2095500"/>
            <a:ext cx="514350" cy="323850"/>
          </a:xfrm>
          <a:prstGeom prst="roundRect">
            <a:avLst>
              <a:gd name="adj" fmla="val 23529"/>
            </a:avLst>
          </a:prstGeom>
          <a:solidFill>
            <a:srgbClr val="EAF1FF"/>
          </a:solidFill>
          <a:ln w="12383">
            <a:solidFill>
              <a:srgbClr val="EAF1FF"/>
            </a:solidFill>
            <a:prstDash val="solid"/>
          </a:ln>
        </p:spPr>
      </p:sp>
      <p:sp>
        <p:nvSpPr>
          <p:cNvPr id="14" name="矩形 13"/>
          <p:cNvSpPr>
            <a:spLocks noGrp="1"/>
          </p:cNvSpPr>
          <p:nvPr/>
        </p:nvSpPr>
        <p:spPr>
          <a:xfrm>
            <a:off x="3238500" y="2114550"/>
            <a:ext cx="457200" cy="285750"/>
          </a:xfrm>
          <a:prstGeom prst="rect">
            <a:avLst/>
          </a:prstGeom>
          <a:noFill/>
          <a:ln w="0">
            <a:noFill/>
            <a:prstDash val="solid"/>
          </a:ln>
        </p:spPr>
        <p:txBody>
          <a:bodyPr wrap="square" lIns="38100" tIns="19050" rIns="38100" bIns="19050" anchor="ctr">
            <a:normAutofit/>
          </a:bodyPr>
          <a:lstStyle/>
          <a:p>
            <a:pPr algn="ctr">
              <a:defRPr sz="1200" b="1">
                <a:solidFill>
                  <a:srgbClr val="2F6BDA"/>
                </a:solidFill>
              </a:defRPr>
            </a:pPr>
            <a:r>
              <a:rPr sz="1200" b="1">
                <a:solidFill>
                  <a:srgbClr val="2F6BDA"/>
                </a:solidFill>
                <a:latin typeface="Source Han Sans SC"/>
              </a:rPr>
              <a:t>04</a:t>
            </a:r>
            <a:endParaRPr sz="1200" b="1">
              <a:solidFill>
                <a:srgbClr val="2F6BDA"/>
              </a:solidFill>
            </a:endParaRPr>
          </a:p>
        </p:txBody>
      </p:sp>
      <p:sp>
        <p:nvSpPr>
          <p:cNvPr id="15" name="圆角矩形 14"/>
          <p:cNvSpPr>
            <a:spLocks noGrp="1"/>
          </p:cNvSpPr>
          <p:nvPr/>
        </p:nvSpPr>
        <p:spPr>
          <a:xfrm>
            <a:off x="3857625" y="2095500"/>
            <a:ext cx="514350" cy="323850"/>
          </a:xfrm>
          <a:prstGeom prst="roundRect">
            <a:avLst>
              <a:gd name="adj" fmla="val 23529"/>
            </a:avLst>
          </a:prstGeom>
          <a:solidFill>
            <a:srgbClr val="EAF1FF"/>
          </a:solidFill>
          <a:ln w="12383">
            <a:solidFill>
              <a:srgbClr val="EAF1FF"/>
            </a:solidFill>
            <a:prstDash val="solid"/>
          </a:ln>
        </p:spPr>
      </p:sp>
      <p:sp>
        <p:nvSpPr>
          <p:cNvPr id="16" name="矩形 15"/>
          <p:cNvSpPr>
            <a:spLocks noGrp="1"/>
          </p:cNvSpPr>
          <p:nvPr/>
        </p:nvSpPr>
        <p:spPr>
          <a:xfrm>
            <a:off x="3886200" y="2114550"/>
            <a:ext cx="457200" cy="285750"/>
          </a:xfrm>
          <a:prstGeom prst="rect">
            <a:avLst/>
          </a:prstGeom>
          <a:noFill/>
          <a:ln w="0">
            <a:noFill/>
            <a:prstDash val="solid"/>
          </a:ln>
        </p:spPr>
        <p:txBody>
          <a:bodyPr wrap="square" lIns="38100" tIns="19050" rIns="38100" bIns="19050" anchor="ctr">
            <a:normAutofit/>
          </a:bodyPr>
          <a:lstStyle/>
          <a:p>
            <a:pPr algn="ctr">
              <a:defRPr sz="1200" b="1">
                <a:solidFill>
                  <a:srgbClr val="2F6BDA"/>
                </a:solidFill>
              </a:defRPr>
            </a:pPr>
            <a:r>
              <a:rPr sz="1200" b="1">
                <a:solidFill>
                  <a:srgbClr val="2F6BDA"/>
                </a:solidFill>
                <a:latin typeface="Source Han Sans SC"/>
              </a:rPr>
              <a:t>05</a:t>
            </a:r>
            <a:endParaRPr sz="1200" b="1">
              <a:solidFill>
                <a:srgbClr val="2F6BDA"/>
              </a:solidFill>
            </a:endParaRPr>
          </a:p>
        </p:txBody>
      </p:sp>
      <p:sp>
        <p:nvSpPr>
          <p:cNvPr id="17" name="圆角矩形 16"/>
          <p:cNvSpPr>
            <a:spLocks noGrp="1"/>
          </p:cNvSpPr>
          <p:nvPr/>
        </p:nvSpPr>
        <p:spPr>
          <a:xfrm>
            <a:off x="4505325" y="2095500"/>
            <a:ext cx="514350" cy="323850"/>
          </a:xfrm>
          <a:prstGeom prst="roundRect">
            <a:avLst>
              <a:gd name="adj" fmla="val 23529"/>
            </a:avLst>
          </a:prstGeom>
          <a:solidFill>
            <a:srgbClr val="EAF1FF"/>
          </a:solidFill>
          <a:ln w="12383">
            <a:solidFill>
              <a:srgbClr val="EAF1FF"/>
            </a:solidFill>
            <a:prstDash val="solid"/>
          </a:ln>
        </p:spPr>
      </p:sp>
      <p:sp>
        <p:nvSpPr>
          <p:cNvPr id="18" name="矩形 17"/>
          <p:cNvSpPr>
            <a:spLocks noGrp="1"/>
          </p:cNvSpPr>
          <p:nvPr/>
        </p:nvSpPr>
        <p:spPr>
          <a:xfrm>
            <a:off x="4533900" y="2114550"/>
            <a:ext cx="457200" cy="285750"/>
          </a:xfrm>
          <a:prstGeom prst="rect">
            <a:avLst/>
          </a:prstGeom>
          <a:noFill/>
          <a:ln w="0">
            <a:noFill/>
            <a:prstDash val="solid"/>
          </a:ln>
        </p:spPr>
        <p:txBody>
          <a:bodyPr wrap="square" lIns="38100" tIns="19050" rIns="38100" bIns="19050" anchor="ctr">
            <a:normAutofit/>
          </a:bodyPr>
          <a:lstStyle/>
          <a:p>
            <a:pPr algn="ctr">
              <a:defRPr sz="1200" b="1">
                <a:solidFill>
                  <a:srgbClr val="2F6BDA"/>
                </a:solidFill>
              </a:defRPr>
            </a:pPr>
            <a:r>
              <a:rPr sz="1200" b="1">
                <a:solidFill>
                  <a:srgbClr val="2F6BDA"/>
                </a:solidFill>
                <a:latin typeface="Source Han Sans SC"/>
              </a:rPr>
              <a:t>06</a:t>
            </a:r>
            <a:endParaRPr sz="1200" b="1">
              <a:solidFill>
                <a:srgbClr val="2F6BDA"/>
              </a:solidFill>
            </a:endParaRPr>
          </a:p>
        </p:txBody>
      </p:sp>
      <p:sp>
        <p:nvSpPr>
          <p:cNvPr id="19" name="圆角矩形 18"/>
          <p:cNvSpPr>
            <a:spLocks noGrp="1"/>
          </p:cNvSpPr>
          <p:nvPr/>
        </p:nvSpPr>
        <p:spPr>
          <a:xfrm>
            <a:off x="5153025" y="2095500"/>
            <a:ext cx="514350" cy="323850"/>
          </a:xfrm>
          <a:prstGeom prst="roundRect">
            <a:avLst>
              <a:gd name="adj" fmla="val 23529"/>
            </a:avLst>
          </a:prstGeom>
          <a:solidFill>
            <a:srgbClr val="EAF1FF"/>
          </a:solidFill>
          <a:ln w="12383">
            <a:solidFill>
              <a:srgbClr val="EAF1FF"/>
            </a:solidFill>
            <a:prstDash val="solid"/>
          </a:ln>
        </p:spPr>
      </p:sp>
      <p:sp>
        <p:nvSpPr>
          <p:cNvPr id="20" name="矩形 19"/>
          <p:cNvSpPr>
            <a:spLocks noGrp="1"/>
          </p:cNvSpPr>
          <p:nvPr/>
        </p:nvSpPr>
        <p:spPr>
          <a:xfrm>
            <a:off x="5181600" y="2114550"/>
            <a:ext cx="457200" cy="285750"/>
          </a:xfrm>
          <a:prstGeom prst="rect">
            <a:avLst/>
          </a:prstGeom>
          <a:noFill/>
          <a:ln w="0">
            <a:noFill/>
            <a:prstDash val="solid"/>
          </a:ln>
        </p:spPr>
        <p:txBody>
          <a:bodyPr wrap="square" lIns="38100" tIns="19050" rIns="38100" bIns="19050" anchor="ctr">
            <a:normAutofit/>
          </a:bodyPr>
          <a:lstStyle/>
          <a:p>
            <a:pPr algn="ctr">
              <a:defRPr sz="1200" b="1">
                <a:solidFill>
                  <a:srgbClr val="2F6BDA"/>
                </a:solidFill>
              </a:defRPr>
            </a:pPr>
            <a:r>
              <a:rPr sz="1200" b="1">
                <a:solidFill>
                  <a:srgbClr val="2F6BDA"/>
                </a:solidFill>
                <a:latin typeface="Source Han Sans SC"/>
              </a:rPr>
              <a:t>07</a:t>
            </a:r>
            <a:endParaRPr sz="1200" b="1">
              <a:solidFill>
                <a:srgbClr val="2F6BDA"/>
              </a:solidFill>
            </a:endParaRPr>
          </a:p>
        </p:txBody>
      </p:sp>
      <p:sp>
        <p:nvSpPr>
          <p:cNvPr id="21" name="圆角矩形 20"/>
          <p:cNvSpPr>
            <a:spLocks noGrp="1"/>
          </p:cNvSpPr>
          <p:nvPr/>
        </p:nvSpPr>
        <p:spPr>
          <a:xfrm>
            <a:off x="5800725" y="2095500"/>
            <a:ext cx="514350" cy="323850"/>
          </a:xfrm>
          <a:prstGeom prst="roundRect">
            <a:avLst>
              <a:gd name="adj" fmla="val 23529"/>
            </a:avLst>
          </a:prstGeom>
          <a:solidFill>
            <a:srgbClr val="EAF1FF"/>
          </a:solidFill>
          <a:ln w="12383">
            <a:solidFill>
              <a:srgbClr val="EAF1FF"/>
            </a:solidFill>
            <a:prstDash val="solid"/>
          </a:ln>
        </p:spPr>
      </p:sp>
      <p:sp>
        <p:nvSpPr>
          <p:cNvPr id="22" name="矩形 21"/>
          <p:cNvSpPr>
            <a:spLocks noGrp="1"/>
          </p:cNvSpPr>
          <p:nvPr/>
        </p:nvSpPr>
        <p:spPr>
          <a:xfrm>
            <a:off x="5829300" y="2114550"/>
            <a:ext cx="457200" cy="285750"/>
          </a:xfrm>
          <a:prstGeom prst="rect">
            <a:avLst/>
          </a:prstGeom>
          <a:noFill/>
          <a:ln w="0">
            <a:noFill/>
            <a:prstDash val="solid"/>
          </a:ln>
        </p:spPr>
        <p:txBody>
          <a:bodyPr wrap="square" lIns="38100" tIns="19050" rIns="38100" bIns="19050" anchor="ctr">
            <a:normAutofit/>
          </a:bodyPr>
          <a:lstStyle/>
          <a:p>
            <a:pPr algn="ctr">
              <a:defRPr sz="1200" b="1">
                <a:solidFill>
                  <a:srgbClr val="2F6BDA"/>
                </a:solidFill>
              </a:defRPr>
            </a:pPr>
            <a:r>
              <a:rPr sz="1200" b="1">
                <a:solidFill>
                  <a:srgbClr val="2F6BDA"/>
                </a:solidFill>
                <a:latin typeface="Source Han Sans SC"/>
              </a:rPr>
              <a:t>08</a:t>
            </a:r>
            <a:endParaRPr sz="1200" b="1">
              <a:solidFill>
                <a:srgbClr val="2F6BDA"/>
              </a:solidFill>
            </a:endParaRPr>
          </a:p>
        </p:txBody>
      </p:sp>
      <p:sp>
        <p:nvSpPr>
          <p:cNvPr id="23" name="圆角矩形 22"/>
          <p:cNvSpPr>
            <a:spLocks noGrp="1"/>
          </p:cNvSpPr>
          <p:nvPr/>
        </p:nvSpPr>
        <p:spPr>
          <a:xfrm>
            <a:off x="6448425" y="2095500"/>
            <a:ext cx="514350" cy="323850"/>
          </a:xfrm>
          <a:prstGeom prst="roundRect">
            <a:avLst>
              <a:gd name="adj" fmla="val 23529"/>
            </a:avLst>
          </a:prstGeom>
          <a:solidFill>
            <a:srgbClr val="EAF1FF"/>
          </a:solidFill>
          <a:ln w="12383">
            <a:solidFill>
              <a:srgbClr val="EAF1FF"/>
            </a:solidFill>
            <a:prstDash val="solid"/>
          </a:ln>
        </p:spPr>
      </p:sp>
      <p:sp>
        <p:nvSpPr>
          <p:cNvPr id="24" name="矩形 23"/>
          <p:cNvSpPr>
            <a:spLocks noGrp="1"/>
          </p:cNvSpPr>
          <p:nvPr/>
        </p:nvSpPr>
        <p:spPr>
          <a:xfrm>
            <a:off x="6477000" y="2114550"/>
            <a:ext cx="457200" cy="285750"/>
          </a:xfrm>
          <a:prstGeom prst="rect">
            <a:avLst/>
          </a:prstGeom>
          <a:noFill/>
          <a:ln w="0">
            <a:noFill/>
            <a:prstDash val="solid"/>
          </a:ln>
        </p:spPr>
        <p:txBody>
          <a:bodyPr wrap="square" lIns="38100" tIns="19050" rIns="38100" bIns="19050" anchor="ctr">
            <a:normAutofit/>
          </a:bodyPr>
          <a:lstStyle/>
          <a:p>
            <a:pPr algn="ctr">
              <a:defRPr sz="1200" b="1">
                <a:solidFill>
                  <a:srgbClr val="2F6BDA"/>
                </a:solidFill>
              </a:defRPr>
            </a:pPr>
            <a:r>
              <a:rPr sz="1200" b="1">
                <a:solidFill>
                  <a:srgbClr val="2F6BDA"/>
                </a:solidFill>
                <a:latin typeface="Source Han Sans SC"/>
              </a:rPr>
              <a:t>09</a:t>
            </a:r>
            <a:endParaRPr sz="1200" b="1">
              <a:solidFill>
                <a:srgbClr val="2F6BDA"/>
              </a:solidFill>
            </a:endParaRPr>
          </a:p>
        </p:txBody>
      </p:sp>
      <p:sp>
        <p:nvSpPr>
          <p:cNvPr id="25" name="直接连接符 24"/>
          <p:cNvSpPr>
            <a:spLocks noGrp="1"/>
          </p:cNvSpPr>
          <p:nvPr/>
        </p:nvSpPr>
        <p:spPr>
          <a:xfrm>
            <a:off x="3857625" y="2619375"/>
            <a:ext cx="0" cy="762000"/>
          </a:xfrm>
          <a:prstGeom prst="line">
            <a:avLst/>
          </a:prstGeom>
          <a:noFill/>
          <a:ln w="28575">
            <a:solidFill>
              <a:srgbClr val="2F6BDA"/>
            </a:solidFill>
            <a:prstDash val="solid"/>
          </a:ln>
        </p:spPr>
      </p:sp>
      <p:sp>
        <p:nvSpPr>
          <p:cNvPr id="26" name="任意多边形 25"/>
          <p:cNvSpPr>
            <a:spLocks noGrp="1"/>
          </p:cNvSpPr>
          <p:nvPr/>
        </p:nvSpPr>
        <p:spPr>
          <a:xfrm>
            <a:off x="3810000" y="3276600"/>
            <a:ext cx="95250" cy="104775"/>
          </a:xfrm>
          <a:custGeom>
            <a:avLst/>
            <a:gdLst/>
            <a:ahLst/>
            <a:cxnLst/>
            <a:pathLst>
              <a:path w="95250" h="104775">
                <a:moveTo>
                  <a:pt x="0" y="0"/>
                </a:moveTo>
                <a:lnTo>
                  <a:pt x="47625" y="104775"/>
                </a:lnTo>
                <a:lnTo>
                  <a:pt x="95250" y="0"/>
                </a:lnTo>
                <a:close/>
              </a:path>
            </a:pathLst>
          </a:custGeom>
          <a:solidFill>
            <a:srgbClr val="2F6BDA"/>
          </a:solidFill>
          <a:ln w="0">
            <a:solidFill>
              <a:srgbClr val="2F6BDA"/>
            </a:solidFill>
            <a:prstDash val="solid"/>
          </a:ln>
        </p:spPr>
      </p:sp>
      <p:sp>
        <p:nvSpPr>
          <p:cNvPr id="27" name="圆角矩形 26"/>
          <p:cNvSpPr>
            <a:spLocks noGrp="1"/>
          </p:cNvSpPr>
          <p:nvPr/>
        </p:nvSpPr>
        <p:spPr>
          <a:xfrm>
            <a:off x="2000250" y="3381375"/>
            <a:ext cx="3714750" cy="952500"/>
          </a:xfrm>
          <a:prstGeom prst="roundRect">
            <a:avLst>
              <a:gd name="adj" fmla="val 8000"/>
            </a:avLst>
          </a:prstGeom>
          <a:solidFill>
            <a:srgbClr val="EAF1FF"/>
          </a:solidFill>
          <a:ln w="12383">
            <a:solidFill>
              <a:srgbClr val="2F6BDA"/>
            </a:solidFill>
            <a:prstDash val="solid"/>
          </a:ln>
        </p:spPr>
      </p:sp>
      <p:sp>
        <p:nvSpPr>
          <p:cNvPr id="28" name="矩形 27"/>
          <p:cNvSpPr>
            <a:spLocks noGrp="1"/>
          </p:cNvSpPr>
          <p:nvPr/>
        </p:nvSpPr>
        <p:spPr>
          <a:xfrm>
            <a:off x="2114550" y="3457575"/>
            <a:ext cx="3486150" cy="285750"/>
          </a:xfrm>
          <a:prstGeom prst="rect">
            <a:avLst/>
          </a:prstGeom>
          <a:noFill/>
          <a:ln w="0">
            <a:noFill/>
            <a:prstDash val="solid"/>
          </a:ln>
        </p:spPr>
        <p:txBody>
          <a:bodyPr wrap="square" lIns="38100" tIns="19050" rIns="38100" bIns="19050" anchor="ctr">
            <a:normAutofit/>
          </a:bodyPr>
          <a:lstStyle/>
          <a:p>
            <a:pPr algn="ctr">
              <a:defRPr sz="1500" b="1">
                <a:solidFill>
                  <a:srgbClr val="1F2937"/>
                </a:solidFill>
              </a:defRPr>
            </a:pPr>
            <a:r>
              <a:rPr sz="1500" b="1">
                <a:solidFill>
                  <a:srgbClr val="1F2937"/>
                </a:solidFill>
                <a:latin typeface="Source Han Sans SC"/>
              </a:rPr>
              <a:t>Train Loader</a:t>
            </a:r>
            <a:endParaRPr sz="1500" b="1">
              <a:solidFill>
                <a:srgbClr val="1F2937"/>
              </a:solidFill>
            </a:endParaRPr>
          </a:p>
        </p:txBody>
      </p:sp>
      <p:sp>
        <p:nvSpPr>
          <p:cNvPr id="29" name="矩形 28"/>
          <p:cNvSpPr>
            <a:spLocks noGrp="1"/>
          </p:cNvSpPr>
          <p:nvPr/>
        </p:nvSpPr>
        <p:spPr>
          <a:xfrm>
            <a:off x="1999615" y="3824605"/>
            <a:ext cx="3695065" cy="528955"/>
          </a:xfrm>
          <a:prstGeom prst="rect">
            <a:avLst/>
          </a:prstGeom>
          <a:noFill/>
          <a:ln w="0">
            <a:noFill/>
            <a:prstDash val="solid"/>
          </a:ln>
        </p:spPr>
        <p:txBody>
          <a:bodyPr wrap="square" lIns="38100" tIns="19050" rIns="38100" bIns="19050" anchor="t">
            <a:normAutofit/>
          </a:bodyPr>
          <a:lstStyle/>
          <a:p>
            <a:pPr algn="ctr">
              <a:defRPr sz="1350" b="0">
                <a:solidFill>
                  <a:srgbClr val="1F2937"/>
                </a:solidFill>
              </a:defRPr>
            </a:pPr>
            <a:r>
              <a:rPr sz="1350" b="0">
                <a:solidFill>
                  <a:srgbClr val="1F2937"/>
                </a:solidFill>
                <a:latin typeface="Source Han Sans SC"/>
              </a:rPr>
              <a:t>Forward → Loss → Backward → </a:t>
            </a:r>
            <a:r>
              <a:rPr lang="zh-CN" sz="1350" b="0">
                <a:solidFill>
                  <a:srgbClr val="1F2937"/>
                </a:solidFill>
                <a:latin typeface="Source Han Sans SC"/>
                <a:ea typeface="Source Han Sans SC"/>
              </a:rPr>
              <a:t>参数更新</a:t>
            </a:r>
            <a:endParaRPr sz="1350" b="0">
              <a:solidFill>
                <a:srgbClr val="1F2937"/>
              </a:solidFill>
            </a:endParaRPr>
          </a:p>
        </p:txBody>
      </p:sp>
      <p:sp>
        <p:nvSpPr>
          <p:cNvPr id="30" name="圆角矩形 29"/>
          <p:cNvSpPr>
            <a:spLocks noGrp="1"/>
          </p:cNvSpPr>
          <p:nvPr/>
        </p:nvSpPr>
        <p:spPr>
          <a:xfrm>
            <a:off x="9239250" y="2095500"/>
            <a:ext cx="762000" cy="323850"/>
          </a:xfrm>
          <a:prstGeom prst="roundRect">
            <a:avLst>
              <a:gd name="adj" fmla="val 23529"/>
            </a:avLst>
          </a:prstGeom>
          <a:solidFill>
            <a:srgbClr val="EEF8E9"/>
          </a:solidFill>
          <a:ln w="12383">
            <a:solidFill>
              <a:srgbClr val="EEF8E9"/>
            </a:solidFill>
            <a:prstDash val="solid"/>
          </a:ln>
        </p:spPr>
      </p:sp>
      <p:sp>
        <p:nvSpPr>
          <p:cNvPr id="31" name="矩形 30"/>
          <p:cNvSpPr>
            <a:spLocks noGrp="1"/>
          </p:cNvSpPr>
          <p:nvPr/>
        </p:nvSpPr>
        <p:spPr>
          <a:xfrm>
            <a:off x="9267825" y="2114550"/>
            <a:ext cx="704850" cy="285750"/>
          </a:xfrm>
          <a:prstGeom prst="rect">
            <a:avLst/>
          </a:prstGeom>
          <a:noFill/>
          <a:ln w="0">
            <a:noFill/>
            <a:prstDash val="solid"/>
          </a:ln>
        </p:spPr>
        <p:txBody>
          <a:bodyPr wrap="square" lIns="38100" tIns="19050" rIns="38100" bIns="19050" anchor="ctr">
            <a:normAutofit/>
          </a:bodyPr>
          <a:lstStyle/>
          <a:p>
            <a:pPr algn="ctr">
              <a:defRPr sz="1200" b="1">
                <a:solidFill>
                  <a:srgbClr val="48BB00"/>
                </a:solidFill>
              </a:defRPr>
            </a:pPr>
            <a:r>
              <a:rPr sz="1200" b="1">
                <a:solidFill>
                  <a:srgbClr val="48BB00"/>
                </a:solidFill>
                <a:latin typeface="Source Han Sans SC"/>
              </a:rPr>
              <a:t>6542</a:t>
            </a:r>
            <a:endParaRPr sz="1200" b="1">
              <a:solidFill>
                <a:srgbClr val="48BB00"/>
              </a:solidFill>
            </a:endParaRPr>
          </a:p>
        </p:txBody>
      </p:sp>
      <p:sp>
        <p:nvSpPr>
          <p:cNvPr id="32" name="直接连接符 31"/>
          <p:cNvSpPr>
            <a:spLocks noGrp="1"/>
          </p:cNvSpPr>
          <p:nvPr/>
        </p:nvSpPr>
        <p:spPr>
          <a:xfrm>
            <a:off x="9620250" y="2619375"/>
            <a:ext cx="0" cy="762000"/>
          </a:xfrm>
          <a:prstGeom prst="line">
            <a:avLst/>
          </a:prstGeom>
          <a:noFill/>
          <a:ln w="28575">
            <a:solidFill>
              <a:srgbClr val="48BB00"/>
            </a:solidFill>
            <a:prstDash val="solid"/>
          </a:ln>
        </p:spPr>
      </p:sp>
      <p:sp>
        <p:nvSpPr>
          <p:cNvPr id="33" name="任意多边形 32"/>
          <p:cNvSpPr>
            <a:spLocks noGrp="1"/>
          </p:cNvSpPr>
          <p:nvPr/>
        </p:nvSpPr>
        <p:spPr>
          <a:xfrm>
            <a:off x="9572625" y="3276600"/>
            <a:ext cx="95250" cy="104775"/>
          </a:xfrm>
          <a:custGeom>
            <a:avLst/>
            <a:gdLst/>
            <a:ahLst/>
            <a:cxnLst/>
            <a:pathLst>
              <a:path w="95250" h="104775">
                <a:moveTo>
                  <a:pt x="0" y="0"/>
                </a:moveTo>
                <a:lnTo>
                  <a:pt x="47625" y="104775"/>
                </a:lnTo>
                <a:lnTo>
                  <a:pt x="95250" y="0"/>
                </a:lnTo>
                <a:close/>
              </a:path>
            </a:pathLst>
          </a:custGeom>
          <a:solidFill>
            <a:srgbClr val="48BB00"/>
          </a:solidFill>
          <a:ln w="0">
            <a:solidFill>
              <a:srgbClr val="48BB00"/>
            </a:solidFill>
            <a:prstDash val="solid"/>
          </a:ln>
        </p:spPr>
      </p:sp>
      <p:sp>
        <p:nvSpPr>
          <p:cNvPr id="34" name="圆角矩形 33"/>
          <p:cNvSpPr>
            <a:spLocks noGrp="1"/>
          </p:cNvSpPr>
          <p:nvPr/>
        </p:nvSpPr>
        <p:spPr>
          <a:xfrm>
            <a:off x="7953375" y="3381375"/>
            <a:ext cx="3333750" cy="952500"/>
          </a:xfrm>
          <a:prstGeom prst="roundRect">
            <a:avLst>
              <a:gd name="adj" fmla="val 8000"/>
            </a:avLst>
          </a:prstGeom>
          <a:solidFill>
            <a:srgbClr val="EEF8E9"/>
          </a:solidFill>
          <a:ln w="12383">
            <a:solidFill>
              <a:srgbClr val="48BB00"/>
            </a:solidFill>
            <a:prstDash val="solid"/>
          </a:ln>
        </p:spPr>
      </p:sp>
      <p:sp>
        <p:nvSpPr>
          <p:cNvPr id="35" name="矩形 34"/>
          <p:cNvSpPr>
            <a:spLocks noGrp="1"/>
          </p:cNvSpPr>
          <p:nvPr/>
        </p:nvSpPr>
        <p:spPr>
          <a:xfrm>
            <a:off x="8067675" y="3457575"/>
            <a:ext cx="3105150" cy="285750"/>
          </a:xfrm>
          <a:prstGeom prst="rect">
            <a:avLst/>
          </a:prstGeom>
          <a:noFill/>
          <a:ln w="0">
            <a:noFill/>
            <a:prstDash val="solid"/>
          </a:ln>
        </p:spPr>
        <p:txBody>
          <a:bodyPr wrap="square" lIns="38100" tIns="19050" rIns="38100" bIns="19050" anchor="ctr">
            <a:normAutofit/>
          </a:bodyPr>
          <a:lstStyle/>
          <a:p>
            <a:pPr algn="ctr">
              <a:defRPr sz="1500" b="1">
                <a:solidFill>
                  <a:srgbClr val="1F2937"/>
                </a:solidFill>
              </a:defRPr>
            </a:pPr>
            <a:r>
              <a:rPr sz="1500" b="1">
                <a:solidFill>
                  <a:srgbClr val="1F2937"/>
                </a:solidFill>
                <a:latin typeface="Source Han Sans SC"/>
              </a:rPr>
              <a:t>Val Loader</a:t>
            </a:r>
            <a:endParaRPr sz="1500" b="1">
              <a:solidFill>
                <a:srgbClr val="1F2937"/>
              </a:solidFill>
            </a:endParaRPr>
          </a:p>
        </p:txBody>
      </p:sp>
      <p:sp>
        <p:nvSpPr>
          <p:cNvPr id="36" name="矩形 35"/>
          <p:cNvSpPr>
            <a:spLocks noGrp="1"/>
          </p:cNvSpPr>
          <p:nvPr/>
        </p:nvSpPr>
        <p:spPr>
          <a:xfrm>
            <a:off x="8067675" y="3762375"/>
            <a:ext cx="3105150" cy="495300"/>
          </a:xfrm>
          <a:prstGeom prst="rect">
            <a:avLst/>
          </a:prstGeom>
          <a:noFill/>
          <a:ln w="0">
            <a:noFill/>
            <a:prstDash val="solid"/>
          </a:ln>
        </p:spPr>
        <p:txBody>
          <a:bodyPr wrap="square" lIns="38100" tIns="19050" rIns="38100" bIns="19050" anchor="t">
            <a:normAutofit/>
          </a:bodyPr>
          <a:lstStyle/>
          <a:p>
            <a:pPr algn="ctr">
              <a:defRPr sz="1350" b="0">
                <a:solidFill>
                  <a:srgbClr val="1F2937"/>
                </a:solidFill>
              </a:defRPr>
            </a:pPr>
            <a:r>
              <a:rPr sz="1350" b="0">
                <a:solidFill>
                  <a:srgbClr val="1F2937"/>
                </a:solidFill>
                <a:latin typeface="Source Han Sans SC"/>
              </a:rPr>
              <a:t>Forward → Validation BPB</a:t>
            </a:r>
            <a:endParaRPr sz="1350" b="0">
              <a:solidFill>
                <a:srgbClr val="1F2937"/>
              </a:solidFill>
            </a:endParaRPr>
          </a:p>
          <a:p>
            <a:pPr algn="ctr">
              <a:defRPr sz="1350" b="0">
                <a:solidFill>
                  <a:srgbClr val="1F2937"/>
                </a:solidFill>
              </a:defRPr>
            </a:pPr>
            <a:r>
              <a:rPr lang="zh-CN" sz="1350" b="0">
                <a:solidFill>
                  <a:srgbClr val="1F2937"/>
                </a:solidFill>
                <a:latin typeface="Source Han Sans SC"/>
                <a:ea typeface="Source Han Sans SC"/>
              </a:rPr>
              <a:t>不执行</a:t>
            </a:r>
            <a:r>
              <a:rPr sz="1350" b="0">
                <a:solidFill>
                  <a:srgbClr val="1F2937"/>
                </a:solidFill>
                <a:latin typeface="Source Han Sans SC"/>
              </a:rPr>
              <a:t> Backward</a:t>
            </a:r>
            <a:endParaRPr sz="1350" b="0">
              <a:solidFill>
                <a:srgbClr val="1F2937"/>
              </a:solidFill>
            </a:endParaRPr>
          </a:p>
        </p:txBody>
      </p:sp>
      <p:sp>
        <p:nvSpPr>
          <p:cNvPr id="37" name="圆角矩形 36"/>
          <p:cNvSpPr>
            <a:spLocks noGrp="1"/>
          </p:cNvSpPr>
          <p:nvPr/>
        </p:nvSpPr>
        <p:spPr>
          <a:xfrm>
            <a:off x="2143125" y="4619625"/>
            <a:ext cx="7429500" cy="742950"/>
          </a:xfrm>
          <a:prstGeom prst="roundRect">
            <a:avLst>
              <a:gd name="adj" fmla="val 10256"/>
            </a:avLst>
          </a:prstGeom>
          <a:solidFill>
            <a:srgbClr val="F5F7FA"/>
          </a:solidFill>
          <a:ln w="12383">
            <a:solidFill>
              <a:srgbClr val="E5E6E9"/>
            </a:solidFill>
            <a:prstDash val="solid"/>
          </a:ln>
        </p:spPr>
      </p:sp>
      <p:sp>
        <p:nvSpPr>
          <p:cNvPr id="38" name="矩形 37"/>
          <p:cNvSpPr>
            <a:spLocks noGrp="1"/>
          </p:cNvSpPr>
          <p:nvPr/>
        </p:nvSpPr>
        <p:spPr>
          <a:xfrm>
            <a:off x="2257425" y="4695825"/>
            <a:ext cx="7200900" cy="285750"/>
          </a:xfrm>
          <a:prstGeom prst="rect">
            <a:avLst/>
          </a:prstGeom>
          <a:noFill/>
          <a:ln w="0">
            <a:noFill/>
            <a:prstDash val="solid"/>
          </a:ln>
        </p:spPr>
        <p:txBody>
          <a:bodyPr wrap="square" lIns="38100" tIns="19050" rIns="38100" bIns="19050" anchor="ctr">
            <a:normAutofit/>
          </a:bodyPr>
          <a:lstStyle/>
          <a:p>
            <a:pPr algn="ctr">
              <a:defRPr sz="1350" b="1">
                <a:solidFill>
                  <a:srgbClr val="1F2937"/>
                </a:solidFill>
              </a:defRPr>
            </a:pPr>
            <a:r>
              <a:rPr lang="zh-CN" sz="1350" b="1">
                <a:solidFill>
                  <a:srgbClr val="1F2937"/>
                </a:solidFill>
                <a:latin typeface="Source Han Sans SC"/>
                <a:ea typeface="Source Han Sans SC"/>
              </a:rPr>
              <a:t>代码规则</a:t>
            </a:r>
            <a:endParaRPr sz="1350" b="1">
              <a:solidFill>
                <a:srgbClr val="1F2937"/>
              </a:solidFill>
            </a:endParaRPr>
          </a:p>
        </p:txBody>
      </p:sp>
      <p:sp>
        <p:nvSpPr>
          <p:cNvPr id="39" name="矩形 38"/>
          <p:cNvSpPr>
            <a:spLocks noGrp="1"/>
          </p:cNvSpPr>
          <p:nvPr/>
        </p:nvSpPr>
        <p:spPr>
          <a:xfrm>
            <a:off x="2257425" y="5000625"/>
            <a:ext cx="7200900" cy="285750"/>
          </a:xfrm>
          <a:prstGeom prst="rect">
            <a:avLst/>
          </a:prstGeom>
          <a:noFill/>
          <a:ln w="0">
            <a:noFill/>
            <a:prstDash val="solid"/>
          </a:ln>
        </p:spPr>
        <p:txBody>
          <a:bodyPr wrap="square" lIns="38100" tIns="19050" rIns="38100" bIns="19050" anchor="t">
            <a:normAutofit/>
          </a:bodyPr>
          <a:lstStyle/>
          <a:p>
            <a:pPr algn="ctr">
              <a:defRPr sz="1350" b="0">
                <a:solidFill>
                  <a:srgbClr val="1F2937"/>
                </a:solidFill>
              </a:defRPr>
            </a:pPr>
            <a:r>
              <a:rPr lang="zh-CN" sz="1350" b="0">
                <a:solidFill>
                  <a:srgbClr val="1F2937"/>
                </a:solidFill>
                <a:latin typeface="Source Han Sans SC"/>
                <a:ea typeface="Source Han Sans SC"/>
              </a:rPr>
              <a:t>文件名排序后，</a:t>
            </a:r>
            <a:r>
              <a:rPr sz="1350" b="0">
                <a:solidFill>
                  <a:srgbClr val="1F2937"/>
                </a:solidFill>
                <a:latin typeface="Source Han Sans SC"/>
              </a:rPr>
              <a:t>[:-1] </a:t>
            </a:r>
            <a:r>
              <a:rPr lang="zh-CN" sz="1350" b="0">
                <a:solidFill>
                  <a:srgbClr val="1F2937"/>
                </a:solidFill>
                <a:latin typeface="Source Han Sans SC"/>
                <a:ea typeface="Source Han Sans SC"/>
              </a:rPr>
              <a:t>作为训练，</a:t>
            </a:r>
            <a:r>
              <a:rPr sz="1350" b="0">
                <a:solidFill>
                  <a:srgbClr val="1F2937"/>
                </a:solidFill>
                <a:latin typeface="Source Han Sans SC"/>
              </a:rPr>
              <a:t>[-1:] </a:t>
            </a:r>
            <a:r>
              <a:rPr lang="zh-CN" sz="1350" b="0">
                <a:solidFill>
                  <a:srgbClr val="1F2937"/>
                </a:solidFill>
                <a:latin typeface="Source Han Sans SC"/>
                <a:ea typeface="Source Han Sans SC"/>
              </a:rPr>
              <a:t>作为验证；目录中必须只有预期的</a:t>
            </a:r>
            <a:r>
              <a:rPr sz="1350" b="0">
                <a:solidFill>
                  <a:srgbClr val="1F2937"/>
                </a:solidFill>
                <a:latin typeface="Source Han Sans SC"/>
              </a:rPr>
              <a:t> 11 </a:t>
            </a:r>
            <a:r>
              <a:rPr lang="zh-CN" sz="1350" b="0">
                <a:solidFill>
                  <a:srgbClr val="1F2937"/>
                </a:solidFill>
                <a:latin typeface="Source Han Sans SC"/>
                <a:ea typeface="Source Han Sans SC"/>
              </a:rPr>
              <a:t>个分片。</a:t>
            </a:r>
            <a:endParaRPr sz="1350" b="0">
              <a:solidFill>
                <a:srgbClr val="1F2937"/>
              </a:solidFill>
            </a:endParaRPr>
          </a:p>
        </p:txBody>
      </p:sp>
      <p:sp>
        <p:nvSpPr>
          <p:cNvPr id="40" name="矩形 39"/>
          <p:cNvSpPr>
            <a:spLocks noGrp="1"/>
          </p:cNvSpPr>
          <p:nvPr/>
        </p:nvSpPr>
        <p:spPr>
          <a:xfrm>
            <a:off x="333375" y="5743575"/>
            <a:ext cx="11525250" cy="514350"/>
          </a:xfrm>
          <a:prstGeom prst="rect">
            <a:avLst/>
          </a:prstGeom>
          <a:solidFill>
            <a:srgbClr val="48BB00"/>
          </a:solidFill>
          <a:ln w="0">
            <a:noFill/>
            <a:prstDash val="solid"/>
          </a:ln>
        </p:spPr>
      </p:sp>
      <p:sp>
        <p:nvSpPr>
          <p:cNvPr id="41" name="矩形 40"/>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defRPr sz="1425" b="1">
                <a:solidFill>
                  <a:srgbClr val="FFFFFF"/>
                </a:solidFill>
              </a:defRPr>
            </a:pPr>
            <a:r>
              <a:rPr lang="zh-CN" sz="1425" b="1">
                <a:solidFill>
                  <a:srgbClr val="FFFFFF"/>
                </a:solidFill>
                <a:latin typeface="Source Han Sans SC"/>
                <a:ea typeface="Source Han Sans SC"/>
              </a:rPr>
              <a:t>训练完成不能只看</a:t>
            </a:r>
            <a:r>
              <a:rPr sz="1425" b="1">
                <a:solidFill>
                  <a:srgbClr val="FFFFFF"/>
                </a:solidFill>
                <a:latin typeface="Source Han Sans SC"/>
              </a:rPr>
              <a:t> Training Loss</a:t>
            </a:r>
            <a:r>
              <a:rPr lang="zh-CN" sz="1425" b="1">
                <a:solidFill>
                  <a:srgbClr val="FFFFFF"/>
                </a:solidFill>
                <a:latin typeface="Source Han Sans SC"/>
                <a:ea typeface="Source Han Sans SC"/>
              </a:rPr>
              <a:t>；必须在独立的</a:t>
            </a:r>
            <a:r>
              <a:rPr sz="1425" b="1">
                <a:solidFill>
                  <a:srgbClr val="FFFFFF"/>
                </a:solidFill>
                <a:latin typeface="Source Han Sans SC"/>
              </a:rPr>
              <a:t> 6542 </a:t>
            </a:r>
            <a:r>
              <a:rPr lang="zh-CN" sz="1425" b="1">
                <a:solidFill>
                  <a:srgbClr val="FFFFFF"/>
                </a:solidFill>
                <a:latin typeface="Source Han Sans SC"/>
                <a:ea typeface="Source Han Sans SC"/>
              </a:rPr>
              <a:t>分片上计算</a:t>
            </a:r>
            <a:r>
              <a:rPr sz="1425" b="1">
                <a:solidFill>
                  <a:srgbClr val="FFFFFF"/>
                </a:solidFill>
                <a:latin typeface="Source Han Sans SC"/>
              </a:rPr>
              <a:t> Validation BPB</a:t>
            </a:r>
            <a:r>
              <a:rPr sz="1425" b="1">
                <a:solidFill>
                  <a:srgbClr val="FFFFFF"/>
                </a:solidFill>
                <a:latin typeface="Source Han Sans SC"/>
              </a:rPr>
              <a:t>。</a:t>
            </a:r>
            <a:endParaRPr sz="1425" b="1">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 name="title"/>
          <p:cNvSpPr>
            <a:spLocks noGrp="1"/>
          </p:cNvSpPr>
          <p:nvPr/>
        </p:nvSpPr>
        <p:spPr>
          <a:xfrm>
            <a:off x="333375" y="95250"/>
            <a:ext cx="10058400" cy="647700"/>
          </a:xfrm>
          <a:prstGeom prst="rect">
            <a:avLst/>
          </a:prstGeom>
          <a:noFill/>
          <a:ln w="0">
            <a:noFill/>
            <a:prstDash val="solid"/>
          </a:ln>
        </p:spPr>
        <p:txBody>
          <a:bodyPr wrap="square" lIns="38100" tIns="19050" rIns="38100" bIns="19050" anchor="ctr">
            <a:normAutofit fontScale="94330"/>
          </a:bodyPr>
          <a:lstStyle/>
          <a:p>
            <a:pPr algn="l">
              <a:spcBef>
                <a:spcPts val="0"/>
              </a:spcBef>
              <a:spcAft>
                <a:spcPts val="0"/>
              </a:spcAft>
              <a:defRPr sz="3200" b="1">
                <a:solidFill>
                  <a:srgbClr val="1F2937"/>
                </a:solidFill>
              </a:defRPr>
            </a:pPr>
            <a:r>
              <a:rPr sz="2700" b="1">
                <a:solidFill>
                  <a:srgbClr val="1F2937"/>
                </a:solidFill>
                <a:latin typeface="Source Han Sans SC"/>
              </a:rPr>
              <a:t>Task04</a:t>
            </a:r>
            <a:r>
              <a:rPr lang="zh-CN" sz="2700" b="1">
                <a:solidFill>
                  <a:srgbClr val="1F2937"/>
                </a:solidFill>
                <a:latin typeface="Source Han Sans SC"/>
                <a:ea typeface="Source Han Sans SC"/>
              </a:rPr>
              <a:t>：完成训练、独立验证并保存可恢复</a:t>
            </a:r>
            <a:r>
              <a:rPr sz="2700" b="1">
                <a:solidFill>
                  <a:srgbClr val="1F2937"/>
                </a:solidFill>
                <a:latin typeface="Source Han Sans SC"/>
              </a:rPr>
              <a:t> checkpoint</a:t>
            </a:r>
            <a:endParaRPr sz="2700" b="1">
              <a:solidFill>
                <a:srgbClr val="1F2937"/>
              </a:solidFill>
            </a:endParaRPr>
          </a:p>
        </p:txBody>
      </p:sp>
      <p:sp>
        <p:nvSpPr>
          <p:cNvPr id="2" name="矩形 1"/>
          <p:cNvSpPr>
            <a:spLocks noGrp="1"/>
          </p:cNvSpPr>
          <p:nvPr/>
        </p:nvSpPr>
        <p:spPr>
          <a:xfrm>
            <a:off x="333375" y="971550"/>
            <a:ext cx="8572500" cy="228600"/>
          </a:xfrm>
          <a:prstGeom prst="rect">
            <a:avLst/>
          </a:prstGeom>
          <a:noFill/>
          <a:ln w="0">
            <a:noFill/>
            <a:prstDash val="solid"/>
          </a:ln>
        </p:spPr>
        <p:txBody>
          <a:bodyPr wrap="square" lIns="38100" tIns="19050" rIns="38100" bIns="19050" anchor="ctr">
            <a:normAutofit fontScale="92593"/>
          </a:bodyPr>
          <a:lstStyle/>
          <a:p>
            <a:pPr algn="l">
              <a:spcBef>
                <a:spcPts val="0"/>
              </a:spcBef>
              <a:spcAft>
                <a:spcPts val="0"/>
              </a:spcAft>
              <a:defRPr sz="1350" b="0">
                <a:solidFill>
                  <a:srgbClr val="5F6B7A"/>
                </a:solidFill>
              </a:defRPr>
            </a:pPr>
            <a:r>
              <a:rPr lang="zh-CN" sz="1350" b="0">
                <a:solidFill>
                  <a:srgbClr val="5F6B7A"/>
                </a:solidFill>
                <a:latin typeface="Source Han Sans SC"/>
                <a:ea typeface="Source Han Sans SC"/>
              </a:rPr>
              <a:t>四项必做任务分别对应环境、训练、验证和保存证据</a:t>
            </a:r>
            <a:endParaRPr sz="1350" b="0">
              <a:solidFill>
                <a:srgbClr val="5F6B7A"/>
              </a:solidFill>
            </a:endParaRPr>
          </a:p>
        </p:txBody>
      </p:sp>
      <p:sp>
        <p:nvSpPr>
          <p:cNvPr id="51" name="Rounded Rectangle 50"/>
          <p:cNvSpPr/>
          <p:nvPr/>
        </p:nvSpPr>
        <p:spPr>
          <a:xfrm>
            <a:off x="429768" y="1444752"/>
            <a:ext cx="5477256" cy="1709928"/>
          </a:xfrm>
          <a:prstGeom prst="roundRect">
            <a:avLst/>
          </a:prstGeom>
          <a:solidFill>
            <a:srgbClr val="FFFFFF"/>
          </a:solidFill>
          <a:ln w="19050">
            <a:solidFill>
              <a:srgbClr val="2F6B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429768" y="1444752"/>
            <a:ext cx="5477256" cy="411480"/>
          </a:xfrm>
          <a:prstGeom prst="roundRect">
            <a:avLst/>
          </a:prstGeom>
          <a:solidFill>
            <a:srgbClr val="2F6BDA"/>
          </a:solidFill>
          <a:ln w="12700">
            <a:solidFill>
              <a:srgbClr val="2F6B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59" y="1481328"/>
            <a:ext cx="5148072" cy="310896"/>
          </a:xfrm>
          <a:prstGeom prst="rect">
            <a:avLst/>
          </a:prstGeom>
          <a:noFill/>
        </p:spPr>
        <p:txBody>
          <a:bodyPr wrap="square" lIns="45720" tIns="18288" rIns="45720" bIns="18288" anchor="ctr">
            <a:spAutoFit/>
          </a:bodyPr>
          <a:lstStyle/>
          <a:p>
            <a:pPr algn="l">
              <a:spcBef>
                <a:spcPts val="0"/>
              </a:spcBef>
              <a:spcAft>
                <a:spcPts val="0"/>
              </a:spcAft>
            </a:pPr>
            <a:r>
              <a:rPr lang="zh-CN" sz="1500" b="1">
                <a:solidFill>
                  <a:srgbClr val="FFFFFF"/>
                </a:solidFill>
                <a:latin typeface="Source Han Sans SC" panose="020B0503020204020204" charset="-122"/>
                <a:ea typeface="微软雅黑" panose="020B0503020204020204" charset="-122"/>
              </a:rPr>
              <a:t>1  </a:t>
            </a:r>
            <a:r>
              <a:rPr lang="zh-CN" sz="1500" b="1">
                <a:solidFill>
                  <a:srgbClr val="FFFFFF"/>
                </a:solidFill>
                <a:latin typeface="Source Han Sans SC" panose="020B0503020204020204" charset="-122"/>
                <a:ea typeface="Source Han Sans SC" panose="020B0503020204020204" charset="-122"/>
              </a:rPr>
              <a:t>数据与环境检查</a:t>
            </a:r>
            <a:endParaRPr lang="zh-CN" sz="1500" b="1">
              <a:solidFill>
                <a:srgbClr val="FFFFFF"/>
              </a:solidFill>
              <a:latin typeface="微软雅黑" panose="020B0503020204020204" charset="-122"/>
              <a:ea typeface="微软雅黑" panose="020B0503020204020204" charset="-122"/>
            </a:endParaRPr>
          </a:p>
        </p:txBody>
      </p:sp>
      <p:sp>
        <p:nvSpPr>
          <p:cNvPr id="54" name="TextBox 53"/>
          <p:cNvSpPr txBox="1"/>
          <p:nvPr/>
        </p:nvSpPr>
        <p:spPr>
          <a:xfrm>
            <a:off x="612647" y="1947672"/>
            <a:ext cx="5102352" cy="502920"/>
          </a:xfrm>
          <a:prstGeom prst="rect">
            <a:avLst/>
          </a:prstGeom>
          <a:noFill/>
        </p:spPr>
        <p:txBody>
          <a:bodyPr wrap="square" lIns="45720" tIns="18288" rIns="45720" bIns="18288" anchor="ctr">
            <a:spAutoFit/>
          </a:bodyPr>
          <a:lstStyle/>
          <a:p>
            <a:pPr algn="l">
              <a:spcBef>
                <a:spcPts val="0"/>
              </a:spcBef>
              <a:spcAft>
                <a:spcPts val="0"/>
              </a:spcAft>
            </a:pPr>
            <a:r>
              <a:rPr lang="zh-CN" sz="1150" b="0">
                <a:solidFill>
                  <a:srgbClr val="1F2937"/>
                </a:solidFill>
                <a:latin typeface="Source Han Sans SC" panose="020B0503020204020204" charset="-122"/>
                <a:ea typeface="Source Han Sans SC" panose="020B0503020204020204" charset="-122"/>
              </a:rPr>
              <a:t>任务说明</a:t>
            </a:r>
            <a:endParaRPr lang="zh-CN" sz="1150" b="0">
              <a:solidFill>
                <a:srgbClr val="1F2937"/>
              </a:solidFill>
              <a:latin typeface="微软雅黑" panose="020B0503020204020204" charset="-122"/>
              <a:ea typeface="微软雅黑" panose="020B0503020204020204" charset="-122"/>
            </a:endParaRPr>
          </a:p>
          <a:p>
            <a:pPr algn="l">
              <a:spcBef>
                <a:spcPts val="0"/>
              </a:spcBef>
              <a:spcAft>
                <a:spcPts val="0"/>
              </a:spcAft>
            </a:pPr>
            <a:r>
              <a:rPr lang="zh-CN" sz="1150" b="0">
                <a:solidFill>
                  <a:srgbClr val="1F2937"/>
                </a:solidFill>
                <a:latin typeface="Source Han Sans SC" panose="020B0503020204020204" charset="-122"/>
                <a:ea typeface="Source Han Sans SC" panose="020B0503020204020204" charset="-122"/>
              </a:rPr>
              <a:t>确认</a:t>
            </a:r>
            <a:r>
              <a:rPr lang="zh-CN" sz="1150" b="0">
                <a:solidFill>
                  <a:srgbClr val="1F2937"/>
                </a:solidFill>
                <a:latin typeface="Source Han Sans SC" panose="020B0503020204020204" charset="-122"/>
                <a:ea typeface="微软雅黑" panose="020B0503020204020204" charset="-122"/>
              </a:rPr>
              <a:t> Tokenizer</a:t>
            </a:r>
            <a:r>
              <a:rPr lang="zh-CN" sz="1150" b="0">
                <a:solidFill>
                  <a:srgbClr val="1F2937"/>
                </a:solidFill>
                <a:latin typeface="Source Han Sans SC" panose="020B0503020204020204" charset="-122"/>
                <a:ea typeface="微软雅黑" panose="020B0503020204020204" charset="-122"/>
              </a:rPr>
              <a:t>、</a:t>
            </a:r>
            <a:r>
              <a:rPr lang="zh-CN" sz="1150" b="0">
                <a:solidFill>
                  <a:srgbClr val="1F2937"/>
                </a:solidFill>
                <a:latin typeface="Source Han Sans SC" panose="020B0503020204020204" charset="-122"/>
                <a:ea typeface="微软雅黑" panose="020B0503020204020204" charset="-122"/>
              </a:rPr>
              <a:t>11 </a:t>
            </a:r>
            <a:r>
              <a:rPr lang="zh-CN" sz="1150" b="0">
                <a:solidFill>
                  <a:srgbClr val="1F2937"/>
                </a:solidFill>
                <a:latin typeface="Source Han Sans SC" panose="020B0503020204020204" charset="-122"/>
                <a:ea typeface="Source Han Sans SC" panose="020B0503020204020204" charset="-122"/>
              </a:rPr>
              <a:t>个数据分片、</a:t>
            </a:r>
            <a:r>
              <a:rPr lang="zh-CN" sz="1150" b="0">
                <a:solidFill>
                  <a:srgbClr val="1F2937"/>
                </a:solidFill>
                <a:latin typeface="Source Han Sans SC" panose="020B0503020204020204" charset="-122"/>
                <a:ea typeface="微软雅黑" panose="020B0503020204020204" charset="-122"/>
              </a:rPr>
              <a:t>MetaX C500</a:t>
            </a:r>
            <a:r>
              <a:rPr lang="zh-CN" sz="1150" b="0">
                <a:solidFill>
                  <a:srgbClr val="1F2937"/>
                </a:solidFill>
                <a:latin typeface="Source Han Sans SC" panose="020B0503020204020204" charset="-122"/>
                <a:ea typeface="微软雅黑" panose="020B0503020204020204" charset="-122"/>
              </a:rPr>
              <a:t>、</a:t>
            </a:r>
            <a:r>
              <a:rPr lang="zh-CN" sz="1150" b="0">
                <a:solidFill>
                  <a:srgbClr val="1F2937"/>
                </a:solidFill>
                <a:latin typeface="Source Han Sans SC" panose="020B0503020204020204" charset="-122"/>
                <a:ea typeface="微软雅黑" panose="020B0503020204020204" charset="-122"/>
              </a:rPr>
              <a:t>BF16 </a:t>
            </a:r>
            <a:r>
              <a:rPr lang="zh-CN" sz="1150" b="0">
                <a:solidFill>
                  <a:srgbClr val="1F2937"/>
                </a:solidFill>
                <a:latin typeface="Source Han Sans SC" panose="020B0503020204020204" charset="-122"/>
                <a:ea typeface="Source Han Sans SC" panose="020B0503020204020204" charset="-122"/>
              </a:rPr>
              <a:t>与</a:t>
            </a:r>
            <a:r>
              <a:rPr lang="zh-CN" sz="1150" b="0">
                <a:solidFill>
                  <a:srgbClr val="1F2937"/>
                </a:solidFill>
                <a:latin typeface="Source Han Sans SC" panose="020B0503020204020204" charset="-122"/>
                <a:ea typeface="微软雅黑" panose="020B0503020204020204" charset="-122"/>
              </a:rPr>
              <a:t> SDPA </a:t>
            </a:r>
            <a:r>
              <a:rPr lang="zh-CN" sz="1150" b="0">
                <a:solidFill>
                  <a:srgbClr val="1F2937"/>
                </a:solidFill>
                <a:latin typeface="Source Han Sans SC" panose="020B0503020204020204" charset="-122"/>
                <a:ea typeface="Source Han Sans SC" panose="020B0503020204020204" charset="-122"/>
              </a:rPr>
              <a:t>回退。</a:t>
            </a:r>
            <a:endParaRPr lang="zh-CN" sz="1150" b="0">
              <a:solidFill>
                <a:srgbClr val="1F2937"/>
              </a:solidFill>
              <a:latin typeface="微软雅黑" panose="020B0503020204020204" charset="-122"/>
              <a:ea typeface="微软雅黑" panose="020B0503020204020204" charset="-122"/>
            </a:endParaRPr>
          </a:p>
        </p:txBody>
      </p:sp>
      <p:sp>
        <p:nvSpPr>
          <p:cNvPr id="55" name="Rounded Rectangle 54"/>
          <p:cNvSpPr/>
          <p:nvPr/>
        </p:nvSpPr>
        <p:spPr>
          <a:xfrm>
            <a:off x="594359" y="2478024"/>
            <a:ext cx="5148072" cy="521207"/>
          </a:xfrm>
          <a:prstGeom prst="roundRect">
            <a:avLst/>
          </a:prstGeom>
          <a:solidFill>
            <a:srgbClr val="EDF3FF"/>
          </a:solidFill>
          <a:ln w="12700">
            <a:solidFill>
              <a:srgbClr val="EDF3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13232" y="2505456"/>
            <a:ext cx="4910328" cy="457200"/>
          </a:xfrm>
          <a:prstGeom prst="rect">
            <a:avLst/>
          </a:prstGeom>
          <a:noFill/>
        </p:spPr>
        <p:txBody>
          <a:bodyPr wrap="square" lIns="45720" tIns="18288" rIns="45720" bIns="18288" anchor="ctr">
            <a:spAutoFit/>
          </a:bodyPr>
          <a:lstStyle/>
          <a:p>
            <a:pPr algn="l">
              <a:spcBef>
                <a:spcPts val="0"/>
              </a:spcBef>
              <a:spcAft>
                <a:spcPts val="0"/>
              </a:spcAft>
            </a:pPr>
            <a:r>
              <a:rPr lang="zh-CN" sz="1050" b="1">
                <a:solidFill>
                  <a:srgbClr val="2F6BDA"/>
                </a:solidFill>
                <a:latin typeface="Source Han Sans SC" panose="020B0503020204020204" charset="-122"/>
                <a:ea typeface="Source Han Sans SC" panose="020B0503020204020204" charset="-122"/>
              </a:rPr>
              <a:t>验收标准</a:t>
            </a:r>
            <a:endParaRPr lang="zh-CN" sz="1050" b="1">
              <a:solidFill>
                <a:srgbClr val="2F6BDA"/>
              </a:solidFill>
              <a:latin typeface="微软雅黑" panose="020B0503020204020204" charset="-122"/>
              <a:ea typeface="微软雅黑" panose="020B0503020204020204" charset="-122"/>
            </a:endParaRPr>
          </a:p>
          <a:p>
            <a:pPr algn="l">
              <a:spcBef>
                <a:spcPts val="0"/>
              </a:spcBef>
              <a:spcAft>
                <a:spcPts val="0"/>
              </a:spcAft>
            </a:pPr>
            <a:r>
              <a:rPr lang="zh-CN" sz="1050" b="1">
                <a:solidFill>
                  <a:srgbClr val="2F6BDA"/>
                </a:solidFill>
                <a:latin typeface="Source Han Sans SC" panose="020B0503020204020204" charset="-122"/>
                <a:ea typeface="微软雅黑" panose="020B0503020204020204" charset="-122"/>
              </a:rPr>
              <a:t>vocab_size=32768｜Train/Val=10/1</a:t>
            </a:r>
            <a:endParaRPr lang="zh-CN" sz="1050" b="1">
              <a:solidFill>
                <a:srgbClr val="2F6BDA"/>
              </a:solidFill>
              <a:latin typeface="微软雅黑" panose="020B0503020204020204" charset="-122"/>
              <a:ea typeface="微软雅黑" panose="020B0503020204020204" charset="-122"/>
            </a:endParaRPr>
          </a:p>
          <a:p>
            <a:pPr algn="l">
              <a:spcBef>
                <a:spcPts val="0"/>
              </a:spcBef>
              <a:spcAft>
                <a:spcPts val="0"/>
              </a:spcAft>
            </a:pPr>
            <a:r>
              <a:rPr lang="zh-CN" sz="1050" b="1">
                <a:solidFill>
                  <a:srgbClr val="2F6BDA"/>
                </a:solidFill>
                <a:latin typeface="Source Han Sans SC" panose="020B0503020204020204" charset="-122"/>
                <a:ea typeface="微软雅黑" panose="020B0503020204020204" charset="-122"/>
              </a:rPr>
              <a:t>C500 </a:t>
            </a:r>
            <a:r>
              <a:rPr lang="zh-CN" sz="1050" b="1">
                <a:solidFill>
                  <a:srgbClr val="2F6BDA"/>
                </a:solidFill>
                <a:latin typeface="Source Han Sans SC" panose="020B0503020204020204" charset="-122"/>
                <a:ea typeface="Source Han Sans SC" panose="020B0503020204020204" charset="-122"/>
              </a:rPr>
              <a:t>与</a:t>
            </a:r>
            <a:r>
              <a:rPr lang="zh-CN" sz="1050" b="1">
                <a:solidFill>
                  <a:srgbClr val="2F6BDA"/>
                </a:solidFill>
                <a:latin typeface="Source Han Sans SC" panose="020B0503020204020204" charset="-122"/>
                <a:ea typeface="微软雅黑" panose="020B0503020204020204" charset="-122"/>
              </a:rPr>
              <a:t> BF16 </a:t>
            </a:r>
            <a:r>
              <a:rPr lang="zh-CN" sz="1050" b="1">
                <a:solidFill>
                  <a:srgbClr val="2F6BDA"/>
                </a:solidFill>
                <a:latin typeface="Source Han Sans SC" panose="020B0503020204020204" charset="-122"/>
                <a:ea typeface="Source Han Sans SC" panose="020B0503020204020204" charset="-122"/>
              </a:rPr>
              <a:t>检查通过</a:t>
            </a:r>
            <a:endParaRPr lang="zh-CN" sz="1050" b="1">
              <a:solidFill>
                <a:srgbClr val="2F6BDA"/>
              </a:solidFill>
              <a:latin typeface="微软雅黑" panose="020B0503020204020204" charset="-122"/>
              <a:ea typeface="微软雅黑" panose="020B0503020204020204" charset="-122"/>
            </a:endParaRPr>
          </a:p>
        </p:txBody>
      </p:sp>
      <p:sp>
        <p:nvSpPr>
          <p:cNvPr id="57" name="Rounded Rectangle 56"/>
          <p:cNvSpPr/>
          <p:nvPr/>
        </p:nvSpPr>
        <p:spPr>
          <a:xfrm>
            <a:off x="6291072" y="1444752"/>
            <a:ext cx="5477256" cy="1709928"/>
          </a:xfrm>
          <a:prstGeom prst="roundRect">
            <a:avLst/>
          </a:prstGeom>
          <a:solidFill>
            <a:srgbClr val="FFFFFF"/>
          </a:solidFill>
          <a:ln w="19050">
            <a:solidFill>
              <a:srgbClr val="C26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6291072" y="1444752"/>
            <a:ext cx="5477256" cy="411480"/>
          </a:xfrm>
          <a:prstGeom prst="roundRect">
            <a:avLst/>
          </a:prstGeom>
          <a:solidFill>
            <a:srgbClr val="C26700"/>
          </a:solidFill>
          <a:ln w="12700">
            <a:solidFill>
              <a:srgbClr val="C26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55664" y="1481328"/>
            <a:ext cx="5148072" cy="310896"/>
          </a:xfrm>
          <a:prstGeom prst="rect">
            <a:avLst/>
          </a:prstGeom>
          <a:noFill/>
        </p:spPr>
        <p:txBody>
          <a:bodyPr wrap="square" lIns="45720" tIns="18288" rIns="45720" bIns="18288" anchor="ctr">
            <a:spAutoFit/>
          </a:bodyPr>
          <a:lstStyle/>
          <a:p>
            <a:pPr algn="l">
              <a:spcBef>
                <a:spcPts val="0"/>
              </a:spcBef>
              <a:spcAft>
                <a:spcPts val="0"/>
              </a:spcAft>
            </a:pPr>
            <a:r>
              <a:rPr lang="zh-CN" sz="1500" b="1">
                <a:solidFill>
                  <a:srgbClr val="FFFFFF"/>
                </a:solidFill>
                <a:latin typeface="Source Han Sans SC" panose="020B0503020204020204" charset="-122"/>
                <a:ea typeface="微软雅黑" panose="020B0503020204020204" charset="-122"/>
              </a:rPr>
              <a:t>2  </a:t>
            </a:r>
            <a:r>
              <a:rPr lang="zh-CN" sz="1500" b="1">
                <a:solidFill>
                  <a:srgbClr val="FFFFFF"/>
                </a:solidFill>
                <a:latin typeface="Source Han Sans SC" panose="020B0503020204020204" charset="-122"/>
                <a:ea typeface="Source Han Sans SC" panose="020B0503020204020204" charset="-122"/>
              </a:rPr>
              <a:t>完成完整训练</a:t>
            </a:r>
            <a:endParaRPr lang="zh-CN" sz="1500" b="1">
              <a:solidFill>
                <a:srgbClr val="FFFFFF"/>
              </a:solidFill>
              <a:latin typeface="微软雅黑" panose="020B0503020204020204" charset="-122"/>
              <a:ea typeface="微软雅黑" panose="020B0503020204020204" charset="-122"/>
            </a:endParaRPr>
          </a:p>
        </p:txBody>
      </p:sp>
      <p:sp>
        <p:nvSpPr>
          <p:cNvPr id="60" name="TextBox 59"/>
          <p:cNvSpPr txBox="1"/>
          <p:nvPr/>
        </p:nvSpPr>
        <p:spPr>
          <a:xfrm>
            <a:off x="6473952" y="2093087"/>
            <a:ext cx="5102352" cy="212090"/>
          </a:xfrm>
          <a:prstGeom prst="rect">
            <a:avLst/>
          </a:prstGeom>
          <a:noFill/>
        </p:spPr>
        <p:txBody>
          <a:bodyPr wrap="square" lIns="45720" tIns="18288" rIns="45720" bIns="18288" anchor="ctr">
            <a:spAutoFit/>
          </a:bodyPr>
          <a:lstStyle/>
          <a:p>
            <a:pPr algn="l">
              <a:spcBef>
                <a:spcPts val="0"/>
              </a:spcBef>
              <a:spcAft>
                <a:spcPts val="0"/>
              </a:spcAft>
            </a:pPr>
            <a:r>
              <a:rPr lang="zh-CN" sz="1150" b="0">
                <a:solidFill>
                  <a:srgbClr val="1F2937"/>
                </a:solidFill>
                <a:latin typeface="Source Han Sans SC" panose="020B0503020204020204" charset="-122"/>
                <a:ea typeface="Source Han Sans SC"/>
              </a:rPr>
              <a:t>使用课程命令训练</a:t>
            </a:r>
            <a:r>
              <a:rPr sz="1150" b="0">
                <a:solidFill>
                  <a:srgbClr val="1F2937"/>
                </a:solidFill>
                <a:latin typeface="Source Han Sans SC" panose="020B0503020204020204" charset="-122"/>
              </a:rPr>
              <a:t> 2112 Step</a:t>
            </a:r>
            <a:r>
              <a:rPr lang="zh-CN" sz="1150" b="0">
                <a:solidFill>
                  <a:srgbClr val="1F2937"/>
                </a:solidFill>
                <a:latin typeface="Source Han Sans SC" panose="020B0503020204020204" charset="-122"/>
                <a:ea typeface="Source Han Sans SC"/>
              </a:rPr>
              <a:t>，持续记录</a:t>
            </a:r>
            <a:r>
              <a:rPr sz="1150" b="0">
                <a:solidFill>
                  <a:srgbClr val="1F2937"/>
                </a:solidFill>
                <a:latin typeface="Source Han Sans SC" panose="020B0503020204020204" charset="-122"/>
              </a:rPr>
              <a:t> Loss </a:t>
            </a:r>
            <a:r>
              <a:rPr lang="zh-CN" sz="1150" b="0">
                <a:solidFill>
                  <a:srgbClr val="1F2937"/>
                </a:solidFill>
                <a:latin typeface="Source Han Sans SC" panose="020B0503020204020204" charset="-122"/>
                <a:ea typeface="Source Han Sans SC"/>
              </a:rPr>
              <a:t>和运行状态。</a:t>
            </a:r>
            <a:endParaRPr lang="zh-CN" sz="1150" b="0">
              <a:solidFill>
                <a:srgbClr val="1F2937"/>
              </a:solidFill>
              <a:latin typeface="微软雅黑" panose="020B0503020204020204" charset="-122"/>
              <a:ea typeface="微软雅黑" panose="020B0503020204020204" charset="-122"/>
            </a:endParaRPr>
          </a:p>
        </p:txBody>
      </p:sp>
      <p:sp>
        <p:nvSpPr>
          <p:cNvPr id="61" name="Rounded Rectangle 60"/>
          <p:cNvSpPr/>
          <p:nvPr/>
        </p:nvSpPr>
        <p:spPr>
          <a:xfrm>
            <a:off x="6455664" y="2478024"/>
            <a:ext cx="5148072" cy="521207"/>
          </a:xfrm>
          <a:prstGeom prst="roundRect">
            <a:avLst/>
          </a:prstGeom>
          <a:solidFill>
            <a:srgbClr val="FFF5E8"/>
          </a:solidFill>
          <a:ln w="12700">
            <a:solidFill>
              <a:srgbClr val="FFF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74536" y="2505456"/>
            <a:ext cx="4910328" cy="457200"/>
          </a:xfrm>
          <a:prstGeom prst="rect">
            <a:avLst/>
          </a:prstGeom>
          <a:noFill/>
        </p:spPr>
        <p:txBody>
          <a:bodyPr wrap="square" lIns="45720" tIns="18288" rIns="45720" bIns="18288" anchor="ctr">
            <a:spAutoFit/>
          </a:bodyPr>
          <a:lstStyle/>
          <a:p>
            <a:pPr algn="l">
              <a:spcBef>
                <a:spcPts val="0"/>
              </a:spcBef>
              <a:spcAft>
                <a:spcPts val="0"/>
              </a:spcAft>
            </a:pPr>
            <a:r>
              <a:rPr lang="zh-CN" sz="1050" b="1">
                <a:solidFill>
                  <a:srgbClr val="C26700"/>
                </a:solidFill>
                <a:latin typeface="Source Han Sans SC" panose="020B0503020204020204" charset="-122"/>
                <a:ea typeface="Source Han Sans SC"/>
              </a:rPr>
              <a:t>无</a:t>
            </a:r>
            <a:r>
              <a:rPr sz="1050" b="1">
                <a:solidFill>
                  <a:srgbClr val="C26700"/>
                </a:solidFill>
                <a:latin typeface="Source Han Sans SC" panose="020B0503020204020204" charset="-122"/>
              </a:rPr>
              <a:t> NaN/Inf/OOM</a:t>
            </a:r>
            <a:r>
              <a:rPr sz="1050" b="1">
                <a:solidFill>
                  <a:srgbClr val="C26700"/>
                </a:solidFill>
                <a:latin typeface="Source Han Sans SC" panose="020B0503020204020204" charset="-122"/>
              </a:rPr>
              <a:t>｜</a:t>
            </a:r>
            <a:r>
              <a:rPr sz="1050" b="1">
                <a:solidFill>
                  <a:srgbClr val="C26700"/>
                </a:solidFill>
                <a:latin typeface="Source Han Sans SC" panose="020B0503020204020204" charset="-122"/>
              </a:rPr>
              <a:t>Loss </a:t>
            </a:r>
            <a:r>
              <a:rPr lang="zh-CN" sz="1050" b="1">
                <a:solidFill>
                  <a:srgbClr val="C26700"/>
                </a:solidFill>
                <a:latin typeface="Source Han Sans SC" panose="020B0503020204020204" charset="-122"/>
                <a:ea typeface="Source Han Sans SC"/>
              </a:rPr>
              <a:t>总体下降</a:t>
            </a:r>
            <a:endParaRPr lang="zh-CN" sz="1050" b="1">
              <a:solidFill>
                <a:srgbClr val="C26700"/>
              </a:solidFill>
              <a:latin typeface="微软雅黑" panose="020B0503020204020204" charset="-122"/>
              <a:ea typeface="微软雅黑" panose="020B0503020204020204" charset="-122"/>
            </a:endParaRPr>
          </a:p>
          <a:p>
            <a:pPr algn="l">
              <a:spcBef>
                <a:spcPts val="0"/>
              </a:spcBef>
              <a:spcAft>
                <a:spcPts val="0"/>
              </a:spcAft>
            </a:pPr>
            <a:r>
              <a:rPr sz="1050" b="1">
                <a:solidFill>
                  <a:srgbClr val="C26700"/>
                </a:solidFill>
                <a:latin typeface="Source Han Sans SC" panose="020B0503020204020204" charset="-122"/>
              </a:rPr>
              <a:t>Step </a:t>
            </a:r>
            <a:r>
              <a:rPr lang="zh-CN" sz="1050" b="1">
                <a:solidFill>
                  <a:srgbClr val="C26700"/>
                </a:solidFill>
                <a:latin typeface="Source Han Sans SC" panose="020B0503020204020204" charset="-122"/>
                <a:ea typeface="Source Han Sans SC"/>
              </a:rPr>
              <a:t>到达</a:t>
            </a:r>
            <a:r>
              <a:rPr sz="1050" b="1">
                <a:solidFill>
                  <a:srgbClr val="C26700"/>
                </a:solidFill>
                <a:latin typeface="Source Han Sans SC" panose="020B0503020204020204" charset="-122"/>
              </a:rPr>
              <a:t> 2112</a:t>
            </a:r>
            <a:endParaRPr sz="1050" b="1">
              <a:solidFill>
                <a:srgbClr val="C26700"/>
              </a:solidFill>
              <a:latin typeface="微软雅黑" panose="020B0503020204020204" charset="-122"/>
            </a:endParaRPr>
          </a:p>
        </p:txBody>
      </p:sp>
      <p:sp>
        <p:nvSpPr>
          <p:cNvPr id="63" name="Rounded Rectangle 62"/>
          <p:cNvSpPr/>
          <p:nvPr/>
        </p:nvSpPr>
        <p:spPr>
          <a:xfrm>
            <a:off x="429768" y="3493008"/>
            <a:ext cx="5477256" cy="1709928"/>
          </a:xfrm>
          <a:prstGeom prst="roundRect">
            <a:avLst/>
          </a:prstGeom>
          <a:solidFill>
            <a:srgbClr val="FFFFFF"/>
          </a:solidFill>
          <a:ln w="19050">
            <a:solidFill>
              <a:srgbClr val="1E8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429768" y="3493008"/>
            <a:ext cx="5477256" cy="411480"/>
          </a:xfrm>
          <a:prstGeom prst="roundRect">
            <a:avLst/>
          </a:prstGeom>
          <a:solidFill>
            <a:srgbClr val="1E8E94"/>
          </a:solidFill>
          <a:ln w="12700">
            <a:solidFill>
              <a:srgbClr val="1E8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4359" y="3529584"/>
            <a:ext cx="5148072" cy="310896"/>
          </a:xfrm>
          <a:prstGeom prst="rect">
            <a:avLst/>
          </a:prstGeom>
          <a:noFill/>
        </p:spPr>
        <p:txBody>
          <a:bodyPr wrap="square" lIns="45720" tIns="18288" rIns="45720" bIns="18288" anchor="ctr">
            <a:spAutoFit/>
          </a:bodyPr>
          <a:lstStyle/>
          <a:p>
            <a:pPr algn="l">
              <a:spcBef>
                <a:spcPts val="0"/>
              </a:spcBef>
              <a:spcAft>
                <a:spcPts val="0"/>
              </a:spcAft>
            </a:pPr>
            <a:r>
              <a:rPr lang="zh-CN" sz="1500" b="1">
                <a:solidFill>
                  <a:srgbClr val="FFFFFF"/>
                </a:solidFill>
                <a:latin typeface="Source Han Sans SC" panose="020B0503020204020204" charset="-122"/>
                <a:ea typeface="微软雅黑" panose="020B0503020204020204" charset="-122"/>
              </a:rPr>
              <a:t>3  </a:t>
            </a:r>
            <a:r>
              <a:rPr lang="zh-CN" sz="1500" b="1">
                <a:solidFill>
                  <a:srgbClr val="FFFFFF"/>
                </a:solidFill>
                <a:latin typeface="Source Han Sans SC" panose="020B0503020204020204" charset="-122"/>
                <a:ea typeface="Source Han Sans SC" panose="020B0503020204020204" charset="-122"/>
              </a:rPr>
              <a:t>执行独立验证</a:t>
            </a:r>
            <a:endParaRPr lang="zh-CN" sz="1500" b="1">
              <a:solidFill>
                <a:srgbClr val="FFFFFF"/>
              </a:solidFill>
              <a:latin typeface="微软雅黑" panose="020B0503020204020204" charset="-122"/>
              <a:ea typeface="微软雅黑" panose="020B0503020204020204" charset="-122"/>
            </a:endParaRPr>
          </a:p>
        </p:txBody>
      </p:sp>
      <p:sp>
        <p:nvSpPr>
          <p:cNvPr id="66" name="TextBox 65"/>
          <p:cNvSpPr txBox="1"/>
          <p:nvPr/>
        </p:nvSpPr>
        <p:spPr>
          <a:xfrm>
            <a:off x="612647" y="3995928"/>
            <a:ext cx="5102352" cy="502920"/>
          </a:xfrm>
          <a:prstGeom prst="rect">
            <a:avLst/>
          </a:prstGeom>
          <a:noFill/>
        </p:spPr>
        <p:txBody>
          <a:bodyPr wrap="square" lIns="45720" tIns="18288" rIns="45720" bIns="18288" anchor="ctr">
            <a:spAutoFit/>
          </a:bodyPr>
          <a:lstStyle/>
          <a:p>
            <a:pPr algn="l">
              <a:spcBef>
                <a:spcPts val="0"/>
              </a:spcBef>
              <a:spcAft>
                <a:spcPts val="0"/>
              </a:spcAft>
            </a:pPr>
            <a:r>
              <a:rPr lang="zh-CN" sz="1150" b="0">
                <a:solidFill>
                  <a:srgbClr val="1F2937"/>
                </a:solidFill>
                <a:latin typeface="Source Han Sans SC" panose="020B0503020204020204" charset="-122"/>
                <a:ea typeface="Source Han Sans SC" panose="020B0503020204020204" charset="-122"/>
              </a:rPr>
              <a:t>任务说明</a:t>
            </a:r>
            <a:endParaRPr lang="zh-CN" sz="1150" b="0">
              <a:solidFill>
                <a:srgbClr val="1F2937"/>
              </a:solidFill>
              <a:latin typeface="微软雅黑" panose="020B0503020204020204" charset="-122"/>
              <a:ea typeface="微软雅黑" panose="020B0503020204020204" charset="-122"/>
            </a:endParaRPr>
          </a:p>
          <a:p>
            <a:pPr algn="l">
              <a:spcBef>
                <a:spcPts val="0"/>
              </a:spcBef>
              <a:spcAft>
                <a:spcPts val="0"/>
              </a:spcAft>
            </a:pPr>
            <a:r>
              <a:rPr lang="zh-CN" sz="1150" b="0">
                <a:solidFill>
                  <a:srgbClr val="1F2937"/>
                </a:solidFill>
                <a:latin typeface="Source Han Sans SC" panose="020B0503020204020204" charset="-122"/>
                <a:ea typeface="Source Han Sans SC" panose="020B0503020204020204" charset="-122"/>
              </a:rPr>
              <a:t>只使用</a:t>
            </a:r>
            <a:r>
              <a:rPr lang="zh-CN" sz="1150" b="0">
                <a:solidFill>
                  <a:srgbClr val="1F2937"/>
                </a:solidFill>
                <a:latin typeface="Source Han Sans SC" panose="020B0503020204020204" charset="-122"/>
                <a:ea typeface="微软雅黑" panose="020B0503020204020204" charset="-122"/>
              </a:rPr>
              <a:t> shard_06542 </a:t>
            </a:r>
            <a:r>
              <a:rPr lang="zh-CN" sz="1150" b="0">
                <a:solidFill>
                  <a:srgbClr val="1F2937"/>
                </a:solidFill>
                <a:latin typeface="Source Han Sans SC" panose="020B0503020204020204" charset="-122"/>
                <a:ea typeface="Source Han Sans SC" panose="020B0503020204020204" charset="-122"/>
              </a:rPr>
              <a:t>计算</a:t>
            </a:r>
            <a:r>
              <a:rPr lang="zh-CN" sz="1150" b="0">
                <a:solidFill>
                  <a:srgbClr val="1F2937"/>
                </a:solidFill>
                <a:latin typeface="Source Han Sans SC" panose="020B0503020204020204" charset="-122"/>
                <a:ea typeface="微软雅黑" panose="020B0503020204020204" charset="-122"/>
              </a:rPr>
              <a:t> Validation BPB</a:t>
            </a:r>
            <a:r>
              <a:rPr lang="zh-CN" sz="1150" b="0">
                <a:solidFill>
                  <a:srgbClr val="1F2937"/>
                </a:solidFill>
                <a:latin typeface="Source Han Sans SC" panose="020B0503020204020204" charset="-122"/>
                <a:ea typeface="Source Han Sans SC" panose="020B0503020204020204" charset="-122"/>
              </a:rPr>
              <a:t>，不更新模型参数。</a:t>
            </a:r>
            <a:endParaRPr lang="zh-CN" sz="1150" b="0">
              <a:solidFill>
                <a:srgbClr val="1F2937"/>
              </a:solidFill>
              <a:latin typeface="微软雅黑" panose="020B0503020204020204" charset="-122"/>
              <a:ea typeface="微软雅黑" panose="020B0503020204020204" charset="-122"/>
            </a:endParaRPr>
          </a:p>
        </p:txBody>
      </p:sp>
      <p:sp>
        <p:nvSpPr>
          <p:cNvPr id="67" name="Rounded Rectangle 66"/>
          <p:cNvSpPr/>
          <p:nvPr/>
        </p:nvSpPr>
        <p:spPr>
          <a:xfrm>
            <a:off x="594359" y="4526279"/>
            <a:ext cx="5148072" cy="521207"/>
          </a:xfrm>
          <a:prstGeom prst="roundRect">
            <a:avLst/>
          </a:prstGeom>
          <a:solidFill>
            <a:srgbClr val="EAF6F7"/>
          </a:solidFill>
          <a:ln w="12700">
            <a:solidFill>
              <a:srgbClr val="EAF6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13232" y="4553712"/>
            <a:ext cx="4910328" cy="457200"/>
          </a:xfrm>
          <a:prstGeom prst="rect">
            <a:avLst/>
          </a:prstGeom>
          <a:noFill/>
        </p:spPr>
        <p:txBody>
          <a:bodyPr wrap="square" lIns="45720" tIns="18288" rIns="45720" bIns="18288" anchor="ctr">
            <a:spAutoFit/>
          </a:bodyPr>
          <a:lstStyle/>
          <a:p>
            <a:pPr algn="l">
              <a:spcBef>
                <a:spcPts val="0"/>
              </a:spcBef>
              <a:spcAft>
                <a:spcPts val="0"/>
              </a:spcAft>
            </a:pPr>
            <a:r>
              <a:rPr lang="zh-CN" sz="1050" b="1">
                <a:solidFill>
                  <a:srgbClr val="1E8E94"/>
                </a:solidFill>
                <a:latin typeface="Source Han Sans SC"/>
                <a:ea typeface="Source Han Sans SC"/>
              </a:rPr>
              <a:t>每</a:t>
            </a:r>
            <a:r>
              <a:rPr sz="1050" b="1">
                <a:solidFill>
                  <a:srgbClr val="1E8E94"/>
                </a:solidFill>
                <a:latin typeface="Source Han Sans SC"/>
              </a:rPr>
              <a:t> 500 Step </a:t>
            </a:r>
            <a:r>
              <a:rPr lang="zh-CN" sz="1050" b="1">
                <a:solidFill>
                  <a:srgbClr val="1E8E94"/>
                </a:solidFill>
                <a:latin typeface="Source Han Sans SC"/>
                <a:ea typeface="Source Han Sans SC"/>
              </a:rPr>
              <a:t>验证｜最终</a:t>
            </a:r>
            <a:r>
              <a:rPr sz="1050" b="1">
                <a:solidFill>
                  <a:srgbClr val="1E8E94"/>
                </a:solidFill>
                <a:latin typeface="Source Han Sans SC"/>
              </a:rPr>
              <a:t> BPB = 1.217318</a:t>
            </a:r>
            <a:endParaRPr lang="zh-CN" sz="1050" b="1">
              <a:solidFill>
                <a:srgbClr val="1E8E94"/>
              </a:solidFill>
              <a:latin typeface="微软雅黑" panose="020B0503020204020204" charset="-122"/>
              <a:ea typeface="微软雅黑" panose="020B0503020204020204" charset="-122"/>
            </a:endParaRPr>
          </a:p>
          <a:p>
            <a:pPr algn="l"/>
            <a:r>
              <a:rPr lang="zh-CN" sz="1050" b="1">
                <a:solidFill>
                  <a:srgbClr val="1E8E94"/>
                </a:solidFill>
                <a:latin typeface="Source Han Sans SC"/>
                <a:ea typeface="Source Han Sans SC"/>
              </a:rPr>
              <a:t>训练结束时直接得到有限值，独立验证通过</a:t>
            </a:r>
            <a:endParaRPr lang="zh-CN" sz="1050" b="1">
              <a:solidFill>
                <a:srgbClr val="1E8E94"/>
              </a:solidFill>
              <a:latin typeface="Source Han Sans SC"/>
              <a:ea typeface="Source Han Sans SC"/>
            </a:endParaRPr>
          </a:p>
        </p:txBody>
      </p:sp>
      <p:sp>
        <p:nvSpPr>
          <p:cNvPr id="69" name="Rounded Rectangle 68"/>
          <p:cNvSpPr/>
          <p:nvPr/>
        </p:nvSpPr>
        <p:spPr>
          <a:xfrm>
            <a:off x="6291072" y="3493008"/>
            <a:ext cx="5477256" cy="1709928"/>
          </a:xfrm>
          <a:prstGeom prst="roundRect">
            <a:avLst/>
          </a:prstGeom>
          <a:solidFill>
            <a:srgbClr val="FFFFFF"/>
          </a:solidFill>
          <a:ln w="19050">
            <a:solidFill>
              <a:srgbClr val="660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6291072" y="3493008"/>
            <a:ext cx="5477256" cy="411480"/>
          </a:xfrm>
          <a:prstGeom prst="roundRect">
            <a:avLst/>
          </a:prstGeom>
          <a:solidFill>
            <a:srgbClr val="660874"/>
          </a:solidFill>
          <a:ln w="12700">
            <a:solidFill>
              <a:srgbClr val="660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455664" y="3529584"/>
            <a:ext cx="5148072" cy="310896"/>
          </a:xfrm>
          <a:prstGeom prst="rect">
            <a:avLst/>
          </a:prstGeom>
          <a:noFill/>
        </p:spPr>
        <p:txBody>
          <a:bodyPr wrap="square" lIns="45720" tIns="18288" rIns="45720" bIns="18288" anchor="ctr">
            <a:spAutoFit/>
          </a:bodyPr>
          <a:lstStyle/>
          <a:p>
            <a:pPr algn="l">
              <a:spcBef>
                <a:spcPts val="0"/>
              </a:spcBef>
              <a:spcAft>
                <a:spcPts val="0"/>
              </a:spcAft>
            </a:pPr>
            <a:r>
              <a:rPr sz="1500" b="1">
                <a:solidFill>
                  <a:srgbClr val="FFFFFF"/>
                </a:solidFill>
                <a:latin typeface="Source Han Sans SC"/>
              </a:rPr>
              <a:t>4  </a:t>
            </a:r>
            <a:r>
              <a:rPr lang="zh-CN" sz="1500" b="1">
                <a:solidFill>
                  <a:srgbClr val="FFFFFF"/>
                </a:solidFill>
                <a:latin typeface="Source Han Sans SC"/>
                <a:ea typeface="Source Han Sans SC"/>
              </a:rPr>
              <a:t>保存训练状态</a:t>
            </a:r>
            <a:endParaRPr lang="zh-CN" sz="1500" b="1">
              <a:solidFill>
                <a:srgbClr val="FFFFFF"/>
              </a:solidFill>
              <a:latin typeface="微软雅黑" panose="020B0503020204020204" charset="-122"/>
              <a:ea typeface="微软雅黑" panose="020B0503020204020204" charset="-122"/>
            </a:endParaRPr>
          </a:p>
        </p:txBody>
      </p:sp>
      <p:sp>
        <p:nvSpPr>
          <p:cNvPr id="72" name="TextBox 71"/>
          <p:cNvSpPr txBox="1"/>
          <p:nvPr/>
        </p:nvSpPr>
        <p:spPr>
          <a:xfrm>
            <a:off x="6473952" y="3995928"/>
            <a:ext cx="5102352" cy="502920"/>
          </a:xfrm>
          <a:prstGeom prst="rect">
            <a:avLst/>
          </a:prstGeom>
          <a:noFill/>
        </p:spPr>
        <p:txBody>
          <a:bodyPr wrap="square" lIns="45720" tIns="18288" rIns="45720" bIns="18288" anchor="ctr">
            <a:spAutoFit/>
          </a:bodyPr>
          <a:lstStyle/>
          <a:p>
            <a:pPr algn="l">
              <a:spcBef>
                <a:spcPts val="0"/>
              </a:spcBef>
              <a:spcAft>
                <a:spcPts val="0"/>
              </a:spcAft>
            </a:pPr>
            <a:r>
              <a:rPr lang="zh-CN" sz="1150" b="0">
                <a:solidFill>
                  <a:srgbClr val="1F2937"/>
                </a:solidFill>
                <a:latin typeface="Source Han Sans SC"/>
                <a:ea typeface="Source Han Sans SC"/>
              </a:rPr>
              <a:t>任务说明</a:t>
            </a:r>
            <a:endParaRPr lang="zh-CN" sz="1150" b="0">
              <a:solidFill>
                <a:srgbClr val="1F2937"/>
              </a:solidFill>
              <a:latin typeface="微软雅黑" panose="020B0503020204020204" charset="-122"/>
              <a:ea typeface="微软雅黑" panose="020B0503020204020204" charset="-122"/>
            </a:endParaRPr>
          </a:p>
          <a:p>
            <a:pPr algn="l"/>
            <a:r>
              <a:rPr lang="zh-CN" sz="1150" b="0">
                <a:solidFill>
                  <a:srgbClr val="1F2937"/>
                </a:solidFill>
                <a:latin typeface="Source Han Sans SC"/>
                <a:ea typeface="Source Han Sans SC"/>
              </a:rPr>
              <a:t>训练结束时保存</a:t>
            </a:r>
            <a:r>
              <a:rPr sz="1150" b="0">
                <a:solidFill>
                  <a:srgbClr val="1F2937"/>
                </a:solidFill>
                <a:latin typeface="Source Han Sans SC"/>
              </a:rPr>
              <a:t> model</a:t>
            </a:r>
            <a:r>
              <a:rPr sz="1150" b="0">
                <a:solidFill>
                  <a:srgbClr val="1F2937"/>
                </a:solidFill>
                <a:latin typeface="Source Han Sans SC"/>
              </a:rPr>
              <a:t>、</a:t>
            </a:r>
            <a:r>
              <a:rPr sz="1150" b="0">
                <a:solidFill>
                  <a:srgbClr val="1F2937"/>
                </a:solidFill>
                <a:latin typeface="Source Han Sans SC"/>
              </a:rPr>
              <a:t>optimizer </a:t>
            </a:r>
            <a:r>
              <a:rPr lang="zh-CN" sz="1150" b="0">
                <a:solidFill>
                  <a:srgbClr val="1F2937"/>
                </a:solidFill>
                <a:latin typeface="Source Han Sans SC"/>
                <a:ea typeface="Source Han Sans SC"/>
              </a:rPr>
              <a:t>和</a:t>
            </a:r>
            <a:r>
              <a:rPr sz="1150" b="0">
                <a:solidFill>
                  <a:srgbClr val="1F2937"/>
                </a:solidFill>
                <a:latin typeface="Source Han Sans SC"/>
              </a:rPr>
              <a:t> metadata </a:t>
            </a:r>
            <a:r>
              <a:rPr lang="zh-CN" sz="1150" b="0">
                <a:solidFill>
                  <a:srgbClr val="1F2937"/>
                </a:solidFill>
                <a:latin typeface="Source Han Sans SC"/>
                <a:ea typeface="Source Han Sans SC"/>
              </a:rPr>
              <a:t>三类状态。</a:t>
            </a:r>
            <a:endParaRPr lang="zh-CN" sz="1150" b="0">
              <a:solidFill>
                <a:srgbClr val="1F2937"/>
              </a:solidFill>
              <a:latin typeface="Source Han Sans SC"/>
              <a:ea typeface="Source Han Sans SC"/>
            </a:endParaRPr>
          </a:p>
        </p:txBody>
      </p:sp>
      <p:sp>
        <p:nvSpPr>
          <p:cNvPr id="73" name="Rounded Rectangle 72"/>
          <p:cNvSpPr/>
          <p:nvPr/>
        </p:nvSpPr>
        <p:spPr>
          <a:xfrm>
            <a:off x="6455664" y="4526279"/>
            <a:ext cx="5148072" cy="521207"/>
          </a:xfrm>
          <a:prstGeom prst="roundRect">
            <a:avLst/>
          </a:prstGeom>
          <a:solidFill>
            <a:srgbClr val="F4EEF7"/>
          </a:solidFill>
          <a:ln w="12700">
            <a:solidFill>
              <a:srgbClr val="F4EE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574536" y="4553712"/>
            <a:ext cx="4910328" cy="457200"/>
          </a:xfrm>
          <a:prstGeom prst="rect">
            <a:avLst/>
          </a:prstGeom>
          <a:noFill/>
        </p:spPr>
        <p:txBody>
          <a:bodyPr wrap="square" lIns="45720" tIns="18288" rIns="45720" bIns="18288" anchor="ctr">
            <a:spAutoFit/>
          </a:bodyPr>
          <a:lstStyle/>
          <a:p>
            <a:pPr algn="l">
              <a:spcBef>
                <a:spcPts val="0"/>
              </a:spcBef>
              <a:spcAft>
                <a:spcPts val="0"/>
              </a:spcAft>
            </a:pPr>
            <a:r>
              <a:rPr lang="zh-CN" sz="1050" b="1">
                <a:solidFill>
                  <a:srgbClr val="660874"/>
                </a:solidFill>
                <a:latin typeface="Source Han Sans SC"/>
                <a:ea typeface="Source Han Sans SC"/>
              </a:rPr>
              <a:t>最终保存完成｜</a:t>
            </a:r>
            <a:r>
              <a:rPr sz="1050" b="1">
                <a:solidFill>
                  <a:srgbClr val="660874"/>
                </a:solidFill>
                <a:latin typeface="Source Han Sans SC"/>
              </a:rPr>
              <a:t>metadata.step=2112</a:t>
            </a:r>
            <a:endParaRPr lang="zh-CN" sz="1050" b="1">
              <a:solidFill>
                <a:srgbClr val="660874"/>
              </a:solidFill>
              <a:latin typeface="微软雅黑" panose="020B0503020204020204" charset="-122"/>
              <a:ea typeface="微软雅黑" panose="020B0503020204020204" charset="-122"/>
            </a:endParaRPr>
          </a:p>
          <a:p>
            <a:pPr algn="l"/>
            <a:r>
              <a:rPr lang="zh-CN" sz="1050" b="1">
                <a:solidFill>
                  <a:srgbClr val="660874"/>
                </a:solidFill>
                <a:latin typeface="Source Han Sans SC"/>
                <a:ea typeface="Source Han Sans SC"/>
              </a:rPr>
              <a:t>三类文件存在，最终</a:t>
            </a:r>
            <a:r>
              <a:rPr sz="1050" b="1">
                <a:solidFill>
                  <a:srgbClr val="660874"/>
                </a:solidFill>
                <a:latin typeface="Source Han Sans SC"/>
              </a:rPr>
              <a:t> Checkpoint </a:t>
            </a:r>
            <a:r>
              <a:rPr lang="zh-CN" sz="1050" b="1">
                <a:solidFill>
                  <a:srgbClr val="660874"/>
                </a:solidFill>
                <a:latin typeface="Source Han Sans SC"/>
                <a:ea typeface="Source Han Sans SC"/>
              </a:rPr>
              <a:t>路径已输出</a:t>
            </a:r>
            <a:endParaRPr lang="zh-CN" sz="1050" b="1">
              <a:solidFill>
                <a:srgbClr val="660874"/>
              </a:solidFill>
              <a:latin typeface="Source Han Sans SC"/>
              <a:ea typeface="Source Han Sans SC"/>
            </a:endParaRPr>
          </a:p>
        </p:txBody>
      </p:sp>
      <p:sp>
        <p:nvSpPr>
          <p:cNvPr id="75" name="Rectangle 74"/>
          <p:cNvSpPr/>
          <p:nvPr/>
        </p:nvSpPr>
        <p:spPr>
          <a:xfrm>
            <a:off x="329184" y="5742432"/>
            <a:ext cx="11521440" cy="512064"/>
          </a:xfrm>
          <a:prstGeom prst="rect">
            <a:avLst/>
          </a:prstGeom>
          <a:solidFill>
            <a:srgbClr val="660874"/>
          </a:solidFill>
          <a:ln w="12700">
            <a:solidFill>
              <a:srgbClr val="660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21207" y="5797296"/>
            <a:ext cx="11146536" cy="384048"/>
          </a:xfrm>
          <a:prstGeom prst="rect">
            <a:avLst/>
          </a:prstGeom>
          <a:noFill/>
        </p:spPr>
        <p:txBody>
          <a:bodyPr wrap="square" lIns="45720" tIns="18288" rIns="45720" bIns="18288" anchor="ctr">
            <a:spAutoFit/>
          </a:bodyPr>
          <a:lstStyle/>
          <a:p>
            <a:pPr algn="ctr">
              <a:spcBef>
                <a:spcPts val="0"/>
              </a:spcBef>
              <a:spcAft>
                <a:spcPts val="0"/>
              </a:spcAft>
            </a:pPr>
            <a:r>
              <a:rPr sz="1425" b="1">
                <a:solidFill>
                  <a:srgbClr val="FFFFFF"/>
                </a:solidFill>
                <a:latin typeface="Source Han Sans SC"/>
              </a:rPr>
              <a:t>Task04 </a:t>
            </a:r>
            <a:r>
              <a:rPr lang="zh-CN" sz="1425" b="1">
                <a:solidFill>
                  <a:srgbClr val="FFFFFF"/>
                </a:solidFill>
                <a:latin typeface="Source Han Sans SC"/>
                <a:ea typeface="Source Han Sans SC"/>
              </a:rPr>
              <a:t>只验收训练闭环：环境正确</a:t>
            </a:r>
            <a:r>
              <a:rPr sz="1425" b="1">
                <a:solidFill>
                  <a:srgbClr val="FFFFFF"/>
                </a:solidFill>
                <a:latin typeface="Source Han Sans SC"/>
              </a:rPr>
              <a:t> → </a:t>
            </a:r>
            <a:r>
              <a:rPr lang="zh-CN" sz="1425" b="1">
                <a:solidFill>
                  <a:srgbClr val="FFFFFF"/>
                </a:solidFill>
                <a:latin typeface="Source Han Sans SC"/>
                <a:ea typeface="Source Han Sans SC"/>
              </a:rPr>
              <a:t>完成训练</a:t>
            </a:r>
            <a:r>
              <a:rPr sz="1425" b="1">
                <a:solidFill>
                  <a:srgbClr val="FFFFFF"/>
                </a:solidFill>
                <a:latin typeface="Source Han Sans SC"/>
              </a:rPr>
              <a:t> → </a:t>
            </a:r>
            <a:r>
              <a:rPr lang="zh-CN" sz="1425" b="1">
                <a:solidFill>
                  <a:srgbClr val="FFFFFF"/>
                </a:solidFill>
                <a:latin typeface="Source Han Sans SC"/>
                <a:ea typeface="Source Han Sans SC"/>
              </a:rPr>
              <a:t>独立验证</a:t>
            </a:r>
            <a:r>
              <a:rPr sz="1425" b="1">
                <a:solidFill>
                  <a:srgbClr val="FFFFFF"/>
                </a:solidFill>
                <a:latin typeface="Source Han Sans SC"/>
              </a:rPr>
              <a:t> → </a:t>
            </a:r>
            <a:r>
              <a:rPr lang="zh-CN" sz="1425" b="1">
                <a:solidFill>
                  <a:srgbClr val="FFFFFF"/>
                </a:solidFill>
                <a:latin typeface="Source Han Sans SC"/>
                <a:ea typeface="Source Han Sans SC"/>
              </a:rPr>
              <a:t>保存完整</a:t>
            </a:r>
            <a:r>
              <a:rPr sz="1425" b="1">
                <a:solidFill>
                  <a:srgbClr val="FFFFFF"/>
                </a:solidFill>
                <a:latin typeface="Source Han Sans SC"/>
              </a:rPr>
              <a:t> checkpoint</a:t>
            </a:r>
            <a:r>
              <a:rPr sz="1425" b="1">
                <a:solidFill>
                  <a:srgbClr val="FFFFFF"/>
                </a:solidFill>
                <a:latin typeface="Source Han Sans SC"/>
              </a:rPr>
              <a:t>。</a:t>
            </a:r>
            <a:endParaRPr lang="zh-CN" sz="1425" b="1">
              <a:solidFill>
                <a:srgbClr val="FFFFFF"/>
              </a:solidFill>
              <a:latin typeface="微软雅黑" panose="020B0503020204020204" charset="-122"/>
              <a:ea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title"/>
          <p:cNvSpPr>
            <a:spLocks noGrp="1"/>
          </p:cNvSpPr>
          <p:nvPr/>
        </p:nvSpPr>
        <p:spPr>
          <a:xfrm>
            <a:off x="333375" y="95250"/>
            <a:ext cx="10058400" cy="647700"/>
          </a:xfrm>
          <a:prstGeom prst="rect">
            <a:avLst/>
          </a:prstGeom>
          <a:noFill/>
          <a:ln w="0">
            <a:noFill/>
            <a:prstDash val="solid"/>
          </a:ln>
        </p:spPr>
        <p:txBody>
          <a:bodyPr wrap="square" lIns="38100" tIns="19050" rIns="38100" bIns="19050" anchor="ctr">
            <a:normAutofit/>
          </a:bodyPr>
          <a:lstStyle/>
          <a:p>
            <a:pPr algn="l">
              <a:defRPr sz="3200" b="1">
                <a:solidFill>
                  <a:srgbClr val="1F2937"/>
                </a:solidFill>
              </a:defRPr>
            </a:pPr>
            <a:r>
              <a:rPr lang="zh-CN" sz="3200" b="1">
                <a:solidFill>
                  <a:srgbClr val="1F2937"/>
                </a:solidFill>
                <a:latin typeface="Source Han Sans SC"/>
                <a:ea typeface="Source Han Sans SC"/>
              </a:rPr>
              <a:t>训练前先验收</a:t>
            </a:r>
            <a:r>
              <a:rPr sz="3200" b="1">
                <a:solidFill>
                  <a:srgbClr val="1F2937"/>
                </a:solidFill>
                <a:latin typeface="Source Han Sans SC"/>
              </a:rPr>
              <a:t> Tokenizer</a:t>
            </a:r>
            <a:r>
              <a:rPr lang="zh-CN" sz="3200" b="1">
                <a:solidFill>
                  <a:srgbClr val="1F2937"/>
                </a:solidFill>
                <a:latin typeface="Source Han Sans SC"/>
                <a:ea typeface="Source Han Sans SC"/>
              </a:rPr>
              <a:t>、数据文件和</a:t>
            </a:r>
            <a:r>
              <a:rPr sz="3200" b="1">
                <a:solidFill>
                  <a:srgbClr val="1F2937"/>
                </a:solidFill>
                <a:latin typeface="Source Han Sans SC"/>
              </a:rPr>
              <a:t> C500 </a:t>
            </a:r>
            <a:r>
              <a:rPr lang="zh-CN" sz="3200" b="1">
                <a:solidFill>
                  <a:srgbClr val="1F2937"/>
                </a:solidFill>
                <a:latin typeface="Source Han Sans SC"/>
                <a:ea typeface="Source Han Sans SC"/>
              </a:rPr>
              <a:t>后端</a:t>
            </a:r>
            <a:endParaRPr sz="3200" b="1">
              <a:solidFill>
                <a:srgbClr val="1F2937"/>
              </a:solidFill>
            </a:endParaRPr>
          </a:p>
        </p:txBody>
      </p:sp>
      <p:sp>
        <p:nvSpPr>
          <p:cNvPr id="2" name="矩形 1"/>
          <p:cNvSpPr>
            <a:spLocks noGrp="1"/>
          </p:cNvSpPr>
          <p:nvPr/>
        </p:nvSpPr>
        <p:spPr>
          <a:xfrm>
            <a:off x="333375" y="971550"/>
            <a:ext cx="10001250" cy="228600"/>
          </a:xfrm>
          <a:prstGeom prst="rect">
            <a:avLst/>
          </a:prstGeom>
          <a:noFill/>
          <a:ln w="0">
            <a:noFill/>
            <a:prstDash val="solid"/>
          </a:ln>
        </p:spPr>
        <p:txBody>
          <a:bodyPr wrap="square" lIns="38100" tIns="19050" rIns="38100" bIns="19050" anchor="ctr">
            <a:normAutofit fontScale="92593"/>
          </a:bodyPr>
          <a:lstStyle/>
          <a:p>
            <a:pPr algn="l">
              <a:spcBef>
                <a:spcPts val="0"/>
              </a:spcBef>
              <a:spcAft>
                <a:spcPts val="0"/>
              </a:spcAft>
              <a:defRPr sz="1350" b="0">
                <a:solidFill>
                  <a:srgbClr val="5F6B7A"/>
                </a:solidFill>
              </a:defRPr>
            </a:pPr>
            <a:r>
              <a:rPr lang="zh-CN" sz="1350" b="0">
                <a:solidFill>
                  <a:srgbClr val="5F6B7A"/>
                </a:solidFill>
                <a:latin typeface="Source Han Sans SC"/>
                <a:ea typeface="Source Han Sans SC"/>
              </a:rPr>
              <a:t>环境检查通过后，使用下列命令开始</a:t>
            </a:r>
            <a:r>
              <a:rPr sz="1350" b="0">
                <a:solidFill>
                  <a:srgbClr val="5F6B7A"/>
                </a:solidFill>
                <a:latin typeface="Source Han Sans SC"/>
              </a:rPr>
              <a:t> 2112 Step </a:t>
            </a:r>
            <a:r>
              <a:rPr lang="zh-CN" sz="1350" b="0">
                <a:solidFill>
                  <a:srgbClr val="5F6B7A"/>
                </a:solidFill>
                <a:latin typeface="Source Han Sans SC"/>
                <a:ea typeface="Source Han Sans SC"/>
              </a:rPr>
              <a:t>正式训练</a:t>
            </a:r>
            <a:endParaRPr sz="1350" b="0">
              <a:solidFill>
                <a:srgbClr val="5F6B7A"/>
              </a:solidFill>
            </a:endParaRPr>
          </a:p>
        </p:txBody>
      </p:sp>
      <p:sp>
        <p:nvSpPr>
          <p:cNvPr id="6" name="圆角矩形 5"/>
          <p:cNvSpPr>
            <a:spLocks noGrp="1"/>
          </p:cNvSpPr>
          <p:nvPr/>
        </p:nvSpPr>
        <p:spPr>
          <a:xfrm>
            <a:off x="428625" y="3476625"/>
            <a:ext cx="3476625" cy="1524000"/>
          </a:xfrm>
          <a:prstGeom prst="roundRect">
            <a:avLst>
              <a:gd name="adj" fmla="val 5000"/>
            </a:avLst>
          </a:prstGeom>
          <a:solidFill>
            <a:srgbClr val="FFF7E8"/>
          </a:solidFill>
          <a:ln w="12383">
            <a:solidFill>
              <a:srgbClr val="C26700"/>
            </a:solidFill>
            <a:prstDash val="solid"/>
          </a:ln>
        </p:spPr>
        <p:txBody>
          <a:bodyPr/>
          <a:p/>
        </p:txBody>
      </p:sp>
      <p:sp>
        <p:nvSpPr>
          <p:cNvPr id="7" name="矩形 6"/>
          <p:cNvSpPr>
            <a:spLocks noGrp="1"/>
          </p:cNvSpPr>
          <p:nvPr/>
        </p:nvSpPr>
        <p:spPr>
          <a:xfrm>
            <a:off x="542925" y="3552825"/>
            <a:ext cx="3248025" cy="285750"/>
          </a:xfrm>
          <a:prstGeom prst="rect">
            <a:avLst/>
          </a:prstGeom>
          <a:noFill/>
          <a:ln w="0">
            <a:noFill/>
            <a:prstDash val="solid"/>
          </a:ln>
        </p:spPr>
        <p:txBody>
          <a:bodyPr wrap="square" lIns="38100" tIns="19050" rIns="38100" bIns="19050" anchor="ctr">
            <a:normAutofit/>
          </a:bodyPr>
          <a:lstStyle/>
          <a:p>
            <a:pPr algn="ctr">
              <a:defRPr sz="1500" b="1">
                <a:solidFill>
                  <a:srgbClr val="C26700"/>
                </a:solidFill>
              </a:defRPr>
            </a:pPr>
            <a:r>
              <a:rPr sz="1500" b="1">
                <a:solidFill>
                  <a:srgbClr val="C26700"/>
                </a:solidFill>
                <a:latin typeface="Source Han Sans SC"/>
              </a:rPr>
              <a:t>① Tokenizer</a:t>
            </a:r>
            <a:endParaRPr sz="1500" b="1">
              <a:solidFill>
                <a:srgbClr val="C26700"/>
              </a:solidFill>
            </a:endParaRPr>
          </a:p>
        </p:txBody>
      </p:sp>
      <p:sp>
        <p:nvSpPr>
          <p:cNvPr id="8" name="矩形 7"/>
          <p:cNvSpPr>
            <a:spLocks noGrp="1"/>
          </p:cNvSpPr>
          <p:nvPr/>
        </p:nvSpPr>
        <p:spPr>
          <a:xfrm>
            <a:off x="448310" y="3857625"/>
            <a:ext cx="3368040" cy="1066800"/>
          </a:xfrm>
          <a:prstGeom prst="rect">
            <a:avLst/>
          </a:prstGeom>
          <a:noFill/>
          <a:ln w="0">
            <a:noFill/>
            <a:prstDash val="solid"/>
          </a:ln>
        </p:spPr>
        <p:txBody>
          <a:bodyPr wrap="square" lIns="38100" tIns="19050" rIns="38100" bIns="19050" anchor="t">
            <a:normAutofit/>
          </a:bodyPr>
          <a:lstStyle/>
          <a:p>
            <a:pPr algn="ctr">
              <a:defRPr sz="1350" b="0">
                <a:solidFill>
                  <a:srgbClr val="1F2937"/>
                </a:solidFill>
              </a:defRPr>
            </a:pPr>
            <a:r>
              <a:rPr sz="1350" b="0">
                <a:solidFill>
                  <a:srgbClr val="1F2937"/>
                </a:solidFill>
                <a:latin typeface="Source Han Sans SC"/>
              </a:rPr>
              <a:t>tokenizer.pkl </a:t>
            </a:r>
            <a:r>
              <a:rPr lang="zh-CN" sz="1350" b="0">
                <a:solidFill>
                  <a:srgbClr val="1F2937"/>
                </a:solidFill>
                <a:latin typeface="Source Han Sans SC"/>
                <a:ea typeface="Source Han Sans SC"/>
              </a:rPr>
              <a:t>与</a:t>
            </a:r>
            <a:r>
              <a:rPr sz="1350" b="0">
                <a:solidFill>
                  <a:srgbClr val="1F2937"/>
                </a:solidFill>
                <a:latin typeface="Source Han Sans SC"/>
              </a:rPr>
              <a:t> token_bytes.pt </a:t>
            </a:r>
            <a:r>
              <a:rPr lang="zh-CN" sz="1350" b="0">
                <a:solidFill>
                  <a:srgbClr val="1F2937"/>
                </a:solidFill>
                <a:latin typeface="Source Han Sans SC"/>
                <a:ea typeface="Source Han Sans SC"/>
              </a:rPr>
              <a:t>已保存</a:t>
            </a:r>
            <a:endParaRPr sz="1350" b="0">
              <a:solidFill>
                <a:srgbClr val="1F2937"/>
              </a:solidFill>
            </a:endParaRPr>
          </a:p>
          <a:p>
            <a:pPr algn="ctr">
              <a:defRPr sz="1350" b="0">
                <a:solidFill>
                  <a:srgbClr val="1F2937"/>
                </a:solidFill>
              </a:defRPr>
            </a:pPr>
            <a:r>
              <a:rPr sz="1350" b="0">
                <a:solidFill>
                  <a:srgbClr val="1F2937"/>
                </a:solidFill>
                <a:latin typeface="Source Han Sans SC"/>
              </a:rPr>
              <a:t>vocab_size = 32768</a:t>
            </a:r>
            <a:endParaRPr sz="1350" b="0">
              <a:solidFill>
                <a:srgbClr val="1F2937"/>
              </a:solidFill>
            </a:endParaRPr>
          </a:p>
        </p:txBody>
      </p:sp>
      <p:sp>
        <p:nvSpPr>
          <p:cNvPr id="9" name="圆角矩形 8"/>
          <p:cNvSpPr>
            <a:spLocks noGrp="1"/>
          </p:cNvSpPr>
          <p:nvPr/>
        </p:nvSpPr>
        <p:spPr>
          <a:xfrm>
            <a:off x="4286250" y="3476625"/>
            <a:ext cx="3476625" cy="1524000"/>
          </a:xfrm>
          <a:prstGeom prst="roundRect">
            <a:avLst>
              <a:gd name="adj" fmla="val 5000"/>
            </a:avLst>
          </a:prstGeom>
          <a:solidFill>
            <a:srgbClr val="EAF1FF"/>
          </a:solidFill>
          <a:ln w="12383">
            <a:solidFill>
              <a:srgbClr val="2F6BDA"/>
            </a:solidFill>
            <a:prstDash val="solid"/>
          </a:ln>
        </p:spPr>
        <p:txBody>
          <a:bodyPr/>
          <a:p/>
        </p:txBody>
      </p:sp>
      <p:sp>
        <p:nvSpPr>
          <p:cNvPr id="10" name="矩形 9"/>
          <p:cNvSpPr>
            <a:spLocks noGrp="1"/>
          </p:cNvSpPr>
          <p:nvPr/>
        </p:nvSpPr>
        <p:spPr>
          <a:xfrm>
            <a:off x="4400550" y="3552825"/>
            <a:ext cx="3248025" cy="285750"/>
          </a:xfrm>
          <a:prstGeom prst="rect">
            <a:avLst/>
          </a:prstGeom>
          <a:noFill/>
          <a:ln w="0">
            <a:noFill/>
            <a:prstDash val="solid"/>
          </a:ln>
        </p:spPr>
        <p:txBody>
          <a:bodyPr wrap="square" lIns="38100" tIns="19050" rIns="38100" bIns="19050" anchor="ctr">
            <a:normAutofit/>
          </a:bodyPr>
          <a:lstStyle/>
          <a:p>
            <a:pPr algn="ctr">
              <a:defRPr sz="1500" b="1">
                <a:solidFill>
                  <a:srgbClr val="2F6BDA"/>
                </a:solidFill>
              </a:defRPr>
            </a:pPr>
            <a:r>
              <a:rPr sz="1500" b="1">
                <a:solidFill>
                  <a:srgbClr val="2F6BDA"/>
                </a:solidFill>
                <a:latin typeface="Source Han Sans SC"/>
              </a:rPr>
              <a:t>② </a:t>
            </a:r>
            <a:r>
              <a:rPr lang="zh-CN" sz="1500" b="1">
                <a:solidFill>
                  <a:srgbClr val="2F6BDA"/>
                </a:solidFill>
                <a:latin typeface="Source Han Sans SC"/>
                <a:ea typeface="Source Han Sans SC"/>
              </a:rPr>
              <a:t>数据</a:t>
            </a:r>
            <a:endParaRPr sz="1500" b="1">
              <a:solidFill>
                <a:srgbClr val="2F6BDA"/>
              </a:solidFill>
            </a:endParaRPr>
          </a:p>
        </p:txBody>
      </p:sp>
      <p:sp>
        <p:nvSpPr>
          <p:cNvPr id="11" name="矩形 10"/>
          <p:cNvSpPr>
            <a:spLocks noGrp="1"/>
          </p:cNvSpPr>
          <p:nvPr/>
        </p:nvSpPr>
        <p:spPr>
          <a:xfrm>
            <a:off x="4400550" y="3857625"/>
            <a:ext cx="3248025" cy="1066800"/>
          </a:xfrm>
          <a:prstGeom prst="rect">
            <a:avLst/>
          </a:prstGeom>
          <a:noFill/>
          <a:ln w="0">
            <a:noFill/>
            <a:prstDash val="solid"/>
          </a:ln>
        </p:spPr>
        <p:txBody>
          <a:bodyPr wrap="square" lIns="38100" tIns="19050" rIns="38100" bIns="19050" anchor="t">
            <a:normAutofit/>
          </a:bodyPr>
          <a:lstStyle/>
          <a:p>
            <a:pPr algn="ctr">
              <a:defRPr sz="1350" b="0">
                <a:solidFill>
                  <a:srgbClr val="1F2937"/>
                </a:solidFill>
              </a:defRPr>
            </a:pPr>
            <a:r>
              <a:rPr sz="1350" b="0">
                <a:solidFill>
                  <a:srgbClr val="1F2937"/>
                </a:solidFill>
                <a:latin typeface="Source Han Sans SC"/>
              </a:rPr>
              <a:t>shard_00000–00009 </a:t>
            </a:r>
            <a:r>
              <a:rPr lang="zh-CN" sz="1350" b="0">
                <a:solidFill>
                  <a:srgbClr val="1F2937"/>
                </a:solidFill>
                <a:latin typeface="Source Han Sans SC"/>
                <a:ea typeface="Source Han Sans SC"/>
              </a:rPr>
              <a:t>为训练</a:t>
            </a:r>
            <a:endParaRPr sz="1350" b="0">
              <a:solidFill>
                <a:srgbClr val="1F2937"/>
              </a:solidFill>
            </a:endParaRPr>
          </a:p>
          <a:p>
            <a:pPr algn="ctr">
              <a:defRPr sz="1350" b="0">
                <a:solidFill>
                  <a:srgbClr val="1F2937"/>
                </a:solidFill>
              </a:defRPr>
            </a:pPr>
            <a:r>
              <a:rPr sz="1350" b="0">
                <a:solidFill>
                  <a:srgbClr val="1F2937"/>
                </a:solidFill>
                <a:latin typeface="Source Han Sans SC"/>
              </a:rPr>
              <a:t>shard_06542 </a:t>
            </a:r>
            <a:r>
              <a:rPr lang="zh-CN" sz="1350" b="0">
                <a:solidFill>
                  <a:srgbClr val="1F2937"/>
                </a:solidFill>
                <a:latin typeface="Source Han Sans SC"/>
                <a:ea typeface="Source Han Sans SC"/>
              </a:rPr>
              <a:t>为验证</a:t>
            </a:r>
            <a:endParaRPr sz="1350" b="0">
              <a:solidFill>
                <a:srgbClr val="1F2937"/>
              </a:solidFill>
            </a:endParaRPr>
          </a:p>
          <a:p>
            <a:pPr algn="ctr">
              <a:defRPr sz="1350" b="0">
                <a:solidFill>
                  <a:srgbClr val="1F2937"/>
                </a:solidFill>
              </a:defRPr>
            </a:pPr>
            <a:r>
              <a:rPr sz="1350" b="0">
                <a:solidFill>
                  <a:srgbClr val="1F2937"/>
                </a:solidFill>
                <a:latin typeface="Source Han Sans SC"/>
              </a:rPr>
              <a:t>Train / Val = 10 / 1</a:t>
            </a:r>
            <a:endParaRPr sz="1350" b="0">
              <a:solidFill>
                <a:srgbClr val="1F2937"/>
              </a:solidFill>
            </a:endParaRPr>
          </a:p>
        </p:txBody>
      </p:sp>
      <p:sp>
        <p:nvSpPr>
          <p:cNvPr id="12" name="圆角矩形 11"/>
          <p:cNvSpPr>
            <a:spLocks noGrp="1"/>
          </p:cNvSpPr>
          <p:nvPr/>
        </p:nvSpPr>
        <p:spPr>
          <a:xfrm>
            <a:off x="8143875" y="3476625"/>
            <a:ext cx="3476625" cy="1524000"/>
          </a:xfrm>
          <a:prstGeom prst="roundRect">
            <a:avLst>
              <a:gd name="adj" fmla="val 5000"/>
            </a:avLst>
          </a:prstGeom>
          <a:solidFill>
            <a:srgbClr val="E9F4F4"/>
          </a:solidFill>
          <a:ln w="12383">
            <a:solidFill>
              <a:srgbClr val="1E8E94"/>
            </a:solidFill>
            <a:prstDash val="solid"/>
          </a:ln>
        </p:spPr>
        <p:txBody>
          <a:bodyPr/>
          <a:p/>
        </p:txBody>
      </p:sp>
      <p:sp>
        <p:nvSpPr>
          <p:cNvPr id="13" name="矩形 12"/>
          <p:cNvSpPr>
            <a:spLocks noGrp="1"/>
          </p:cNvSpPr>
          <p:nvPr/>
        </p:nvSpPr>
        <p:spPr>
          <a:xfrm>
            <a:off x="8258175" y="3552825"/>
            <a:ext cx="3248025" cy="285750"/>
          </a:xfrm>
          <a:prstGeom prst="rect">
            <a:avLst/>
          </a:prstGeom>
          <a:noFill/>
          <a:ln w="0">
            <a:noFill/>
            <a:prstDash val="solid"/>
          </a:ln>
        </p:spPr>
        <p:txBody>
          <a:bodyPr wrap="square" lIns="38100" tIns="19050" rIns="38100" bIns="19050" anchor="ctr">
            <a:normAutofit/>
          </a:bodyPr>
          <a:lstStyle/>
          <a:p>
            <a:pPr algn="ctr">
              <a:defRPr sz="1500" b="1">
                <a:solidFill>
                  <a:srgbClr val="1E8E94"/>
                </a:solidFill>
              </a:defRPr>
            </a:pPr>
            <a:r>
              <a:rPr sz="1500" b="1">
                <a:solidFill>
                  <a:srgbClr val="1E8E94"/>
                </a:solidFill>
                <a:latin typeface="Source Han Sans SC"/>
              </a:rPr>
              <a:t>③ </a:t>
            </a:r>
            <a:r>
              <a:rPr lang="zh-CN" sz="1500" b="1">
                <a:solidFill>
                  <a:srgbClr val="1E8E94"/>
                </a:solidFill>
                <a:latin typeface="Source Han Sans SC"/>
                <a:ea typeface="Source Han Sans SC"/>
              </a:rPr>
              <a:t>设备与后端</a:t>
            </a:r>
            <a:endParaRPr sz="1500" b="1">
              <a:solidFill>
                <a:srgbClr val="1E8E94"/>
              </a:solidFill>
            </a:endParaRPr>
          </a:p>
        </p:txBody>
      </p:sp>
      <p:sp>
        <p:nvSpPr>
          <p:cNvPr id="14" name="矩形 13"/>
          <p:cNvSpPr>
            <a:spLocks noGrp="1"/>
          </p:cNvSpPr>
          <p:nvPr/>
        </p:nvSpPr>
        <p:spPr>
          <a:xfrm>
            <a:off x="8258175" y="3857625"/>
            <a:ext cx="3248025" cy="1066800"/>
          </a:xfrm>
          <a:prstGeom prst="rect">
            <a:avLst/>
          </a:prstGeom>
          <a:noFill/>
          <a:ln w="0">
            <a:noFill/>
            <a:prstDash val="solid"/>
          </a:ln>
        </p:spPr>
        <p:txBody>
          <a:bodyPr wrap="square" lIns="38100" tIns="19050" rIns="38100" bIns="19050" anchor="t">
            <a:normAutofit/>
          </a:bodyPr>
          <a:lstStyle/>
          <a:p>
            <a:pPr algn="ctr">
              <a:defRPr sz="1350" b="0">
                <a:solidFill>
                  <a:srgbClr val="1F2937"/>
                </a:solidFill>
              </a:defRPr>
            </a:pPr>
            <a:r>
              <a:rPr sz="1350" b="0">
                <a:solidFill>
                  <a:srgbClr val="1F2937"/>
                </a:solidFill>
                <a:latin typeface="Source Han Sans SC"/>
              </a:rPr>
              <a:t>MetaX C500</a:t>
            </a:r>
            <a:endParaRPr sz="1350" b="0">
              <a:solidFill>
                <a:srgbClr val="1F2937"/>
              </a:solidFill>
            </a:endParaRPr>
          </a:p>
          <a:p>
            <a:pPr algn="ctr">
              <a:defRPr sz="1350" b="0">
                <a:solidFill>
                  <a:srgbClr val="1F2937"/>
                </a:solidFill>
              </a:defRPr>
            </a:pPr>
            <a:r>
              <a:rPr sz="1350" b="0">
                <a:solidFill>
                  <a:srgbClr val="1F2937"/>
                </a:solidFill>
                <a:latin typeface="Source Han Sans SC"/>
              </a:rPr>
              <a:t>torch.bfloat16</a:t>
            </a:r>
            <a:endParaRPr sz="1350" b="0">
              <a:solidFill>
                <a:srgbClr val="1F2937"/>
              </a:solidFill>
            </a:endParaRPr>
          </a:p>
          <a:p>
            <a:pPr algn="ctr">
              <a:defRPr sz="1350" b="0">
                <a:solidFill>
                  <a:srgbClr val="1F2937"/>
                </a:solidFill>
              </a:defRPr>
            </a:pPr>
            <a:r>
              <a:rPr sz="1350" b="0">
                <a:solidFill>
                  <a:srgbClr val="1F2937"/>
                </a:solidFill>
                <a:latin typeface="Source Han Sans SC"/>
              </a:rPr>
              <a:t>FA3 </a:t>
            </a:r>
            <a:r>
              <a:rPr lang="zh-CN" sz="1350" b="0">
                <a:solidFill>
                  <a:srgbClr val="1F2937"/>
                </a:solidFill>
                <a:latin typeface="Source Han Sans SC"/>
                <a:ea typeface="Source Han Sans SC"/>
              </a:rPr>
              <a:t>跳过，回退</a:t>
            </a:r>
            <a:r>
              <a:rPr sz="1350" b="0">
                <a:solidFill>
                  <a:srgbClr val="1F2937"/>
                </a:solidFill>
                <a:latin typeface="Source Han Sans SC"/>
              </a:rPr>
              <a:t> PyTorch SDPA</a:t>
            </a:r>
            <a:endParaRPr sz="1350" b="0">
              <a:solidFill>
                <a:srgbClr val="1F2937"/>
              </a:solidFill>
            </a:endParaRPr>
          </a:p>
        </p:txBody>
      </p:sp>
      <p:sp>
        <p:nvSpPr>
          <p:cNvPr id="15" name="矩形 14"/>
          <p:cNvSpPr>
            <a:spLocks noGrp="1"/>
          </p:cNvSpPr>
          <p:nvPr/>
        </p:nvSpPr>
        <p:spPr>
          <a:xfrm>
            <a:off x="333375" y="5743575"/>
            <a:ext cx="11525250" cy="514350"/>
          </a:xfrm>
          <a:prstGeom prst="rect">
            <a:avLst/>
          </a:prstGeom>
          <a:solidFill>
            <a:srgbClr val="C26700"/>
          </a:solidFill>
          <a:ln w="0">
            <a:noFill/>
            <a:prstDash val="solid"/>
          </a:ln>
        </p:spPr>
        <p:txBody>
          <a:bodyPr/>
          <a:p/>
        </p:txBody>
      </p:sp>
      <p:sp>
        <p:nvSpPr>
          <p:cNvPr id="16" name="矩形 15"/>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defRPr sz="1425" b="1">
                <a:solidFill>
                  <a:srgbClr val="FFFFFF"/>
                </a:solidFill>
              </a:defRPr>
            </a:pPr>
            <a:r>
              <a:rPr lang="zh-CN" sz="1425" b="1">
                <a:solidFill>
                  <a:srgbClr val="FFFFFF"/>
                </a:solidFill>
                <a:latin typeface="Source Han Sans SC"/>
                <a:ea typeface="Source Han Sans SC"/>
              </a:rPr>
              <a:t>训练前检查不能由后续</a:t>
            </a:r>
            <a:r>
              <a:rPr sz="1425" b="1">
                <a:solidFill>
                  <a:srgbClr val="FFFFFF"/>
                </a:solidFill>
                <a:latin typeface="Source Han Sans SC"/>
              </a:rPr>
              <a:t> Loss </a:t>
            </a:r>
            <a:r>
              <a:rPr lang="zh-CN" sz="1425" b="1">
                <a:solidFill>
                  <a:srgbClr val="FFFFFF"/>
                </a:solidFill>
                <a:latin typeface="Source Han Sans SC"/>
                <a:ea typeface="Source Han Sans SC"/>
              </a:rPr>
              <a:t>日志替代；它在排除三类根因。</a:t>
            </a:r>
            <a:endParaRPr sz="1425" b="1">
              <a:solidFill>
                <a:srgbClr val="FFFFFF"/>
              </a:solidFill>
            </a:endParaRPr>
          </a:p>
        </p:txBody>
      </p:sp>
      <p:pic>
        <p:nvPicPr>
          <p:cNvPr id="18" name="Picture 17" descr="272_0.png"/>
          <p:cNvPicPr>
            <a:picLocks noChangeAspect="1"/>
          </p:cNvPicPr>
          <p:nvPr/>
        </p:nvPicPr>
        <p:blipFill>
          <a:blip r:embed="rId1"/>
          <a:stretch>
            <a:fillRect/>
          </a:stretch>
        </p:blipFill>
        <p:spPr>
          <a:xfrm>
            <a:off x="8143875" y="1672291"/>
            <a:ext cx="3476625" cy="1417918"/>
          </a:xfrm>
          <a:prstGeom prst="rect">
            <a:avLst/>
          </a:prstGeom>
        </p:spPr>
      </p:pic>
      <p:sp>
        <p:nvSpPr>
          <p:cNvPr id="19" name="Rounded Rectangle 18"/>
          <p:cNvSpPr/>
          <p:nvPr/>
        </p:nvSpPr>
        <p:spPr>
          <a:xfrm>
            <a:off x="429768" y="1444752"/>
            <a:ext cx="7333488" cy="1627632"/>
          </a:xfrm>
          <a:prstGeom prst="roundRect">
            <a:avLst/>
          </a:prstGeom>
          <a:solidFill>
            <a:srgbClr val="121721"/>
          </a:solidFill>
          <a:ln w="15240">
            <a:solidFill>
              <a:srgbClr val="2F6B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072" y="1527048"/>
            <a:ext cx="7040880" cy="1463040"/>
          </a:xfrm>
          <a:prstGeom prst="rect">
            <a:avLst/>
          </a:prstGeom>
          <a:noFill/>
        </p:spPr>
        <p:txBody>
          <a:bodyPr wrap="none" lIns="0" tIns="0" rIns="0" bIns="0" anchor="ctr">
            <a:spAutoFit/>
          </a:bodyPr>
          <a:lstStyle/>
          <a:p>
            <a:pPr>
              <a:lnSpc>
                <a:spcPct val="90000"/>
              </a:lnSpc>
              <a:spcBef>
                <a:spcPts val="0"/>
              </a:spcBef>
              <a:spcAft>
                <a:spcPts val="0"/>
              </a:spcAft>
            </a:pPr>
            <a:r>
              <a:rPr sz="1000">
                <a:solidFill>
                  <a:srgbClr val="F4F7FA"/>
                </a:solidFill>
                <a:latin typeface="Source Han Sans SC"/>
              </a:rPr>
              <a:t>NANOCHAT_BASE_DIR="$PWD/training_outputs/nanochat_climbmix10_run" \</a:t>
            </a:r>
            <a:endParaRPr sz="1000">
              <a:solidFill>
                <a:srgbClr val="F4F7FA"/>
              </a:solidFill>
              <a:latin typeface="Cascadia Mono" panose="020B0609020000020004"/>
            </a:endParaRPr>
          </a:p>
          <a:p>
            <a:pPr>
              <a:lnSpc>
                <a:spcPct val="90000"/>
              </a:lnSpc>
              <a:spcBef>
                <a:spcPts val="0"/>
              </a:spcBef>
              <a:spcAft>
                <a:spcPts val="0"/>
              </a:spcAft>
            </a:pPr>
            <a:r>
              <a:rPr sz="1000">
                <a:solidFill>
                  <a:srgbClr val="F4F7FA"/>
                </a:solidFill>
                <a:latin typeface="Source Han Sans SC"/>
              </a:rPr>
              <a:t>NANOCHAT_COMPILE=0 \</a:t>
            </a:r>
            <a:endParaRPr sz="1000">
              <a:solidFill>
                <a:srgbClr val="F4F7FA"/>
              </a:solidFill>
              <a:latin typeface="Cascadia Mono" panose="020B0609020000020004"/>
            </a:endParaRPr>
          </a:p>
          <a:p>
            <a:pPr>
              <a:lnSpc>
                <a:spcPct val="90000"/>
              </a:lnSpc>
              <a:spcBef>
                <a:spcPts val="0"/>
              </a:spcBef>
              <a:spcAft>
                <a:spcPts val="0"/>
              </a:spcAft>
            </a:pPr>
            <a:r>
              <a:rPr sz="1000">
                <a:solidFill>
                  <a:srgbClr val="F4F7FA"/>
                </a:solidFill>
                <a:latin typeface="Source Han Sans SC"/>
              </a:rPr>
              <a:t>MODEL_TAG=d4-climbmix-ratio12-b128 \</a:t>
            </a:r>
            <a:endParaRPr sz="1000">
              <a:solidFill>
                <a:srgbClr val="F4F7FA"/>
              </a:solidFill>
              <a:latin typeface="Cascadia Mono" panose="020B0609020000020004"/>
            </a:endParaRPr>
          </a:p>
          <a:p>
            <a:pPr>
              <a:lnSpc>
                <a:spcPct val="90000"/>
              </a:lnSpc>
              <a:spcBef>
                <a:spcPts val="0"/>
              </a:spcBef>
              <a:spcAft>
                <a:spcPts val="0"/>
              </a:spcAft>
            </a:pPr>
            <a:r>
              <a:rPr sz="1000">
                <a:solidFill>
                  <a:srgbClr val="F4F7FA"/>
                </a:solidFill>
                <a:latin typeface="Source Han Sans SC"/>
              </a:rPr>
              <a:t>NUM_ITERATIONS=2112 \</a:t>
            </a:r>
            <a:endParaRPr sz="1000">
              <a:solidFill>
                <a:srgbClr val="F4F7FA"/>
              </a:solidFill>
              <a:latin typeface="Cascadia Mono" panose="020B0609020000020004"/>
            </a:endParaRPr>
          </a:p>
          <a:p>
            <a:pPr>
              <a:lnSpc>
                <a:spcPct val="90000"/>
              </a:lnSpc>
              <a:spcBef>
                <a:spcPts val="0"/>
              </a:spcBef>
              <a:spcAft>
                <a:spcPts val="0"/>
              </a:spcAft>
            </a:pPr>
            <a:r>
              <a:rPr sz="1000">
                <a:solidFill>
                  <a:srgbClr val="F4F7FA"/>
                </a:solidFill>
                <a:latin typeface="Source Han Sans SC"/>
              </a:rPr>
              <a:t>DEVICE_BATCH_SIZE=128 \</a:t>
            </a:r>
            <a:endParaRPr sz="1000">
              <a:solidFill>
                <a:srgbClr val="F4F7FA"/>
              </a:solidFill>
              <a:latin typeface="Cascadia Mono" panose="020B0609020000020004"/>
            </a:endParaRPr>
          </a:p>
          <a:p>
            <a:pPr>
              <a:lnSpc>
                <a:spcPct val="90000"/>
              </a:lnSpc>
              <a:spcBef>
                <a:spcPts val="0"/>
              </a:spcBef>
              <a:spcAft>
                <a:spcPts val="0"/>
              </a:spcAft>
            </a:pPr>
            <a:r>
              <a:rPr sz="1000">
                <a:solidFill>
                  <a:srgbClr val="F4F7FA"/>
                </a:solidFill>
                <a:latin typeface="Source Han Sans SC"/>
              </a:rPr>
              <a:t>TOTAL_BATCH_SIZE=65536 \</a:t>
            </a:r>
            <a:endParaRPr sz="1000">
              <a:solidFill>
                <a:srgbClr val="F4F7FA"/>
              </a:solidFill>
              <a:latin typeface="Cascadia Mono" panose="020B0609020000020004"/>
            </a:endParaRPr>
          </a:p>
          <a:p>
            <a:pPr>
              <a:lnSpc>
                <a:spcPct val="90000"/>
              </a:lnSpc>
              <a:spcBef>
                <a:spcPts val="0"/>
              </a:spcBef>
              <a:spcAft>
                <a:spcPts val="0"/>
              </a:spcAft>
            </a:pPr>
            <a:r>
              <a:rPr sz="1000">
                <a:solidFill>
                  <a:srgbClr val="F4F7FA"/>
                </a:solidFill>
                <a:latin typeface="Source Han Sans SC"/>
              </a:rPr>
              <a:t>SAVE_EVERY=500 \</a:t>
            </a:r>
            <a:endParaRPr sz="1000">
              <a:solidFill>
                <a:srgbClr val="F4F7FA"/>
              </a:solidFill>
              <a:latin typeface="Cascadia Mono" panose="020B0609020000020004"/>
            </a:endParaRPr>
          </a:p>
          <a:p>
            <a:pPr>
              <a:lnSpc>
                <a:spcPct val="90000"/>
              </a:lnSpc>
              <a:spcBef>
                <a:spcPts val="0"/>
              </a:spcBef>
              <a:spcAft>
                <a:spcPts val="0"/>
              </a:spcAft>
            </a:pPr>
            <a:r>
              <a:rPr sz="1000">
                <a:solidFill>
                  <a:srgbClr val="F4F7FA"/>
                </a:solidFill>
                <a:latin typeface="Source Han Sans SC"/>
              </a:rPr>
              <a:t>EVAL_EVERY=500 \</a:t>
            </a:r>
            <a:endParaRPr sz="1000">
              <a:solidFill>
                <a:srgbClr val="F4F7FA"/>
              </a:solidFill>
              <a:latin typeface="Cascadia Mono" panose="020B0609020000020004"/>
            </a:endParaRPr>
          </a:p>
          <a:p>
            <a:pPr>
              <a:lnSpc>
                <a:spcPct val="90000"/>
              </a:lnSpc>
              <a:spcBef>
                <a:spcPts val="0"/>
              </a:spcBef>
              <a:spcAft>
                <a:spcPts val="0"/>
              </a:spcAft>
            </a:pPr>
            <a:r>
              <a:rPr sz="1000">
                <a:solidFill>
                  <a:srgbClr val="F4F7FA"/>
                </a:solidFill>
                <a:latin typeface="Source Han Sans SC"/>
              </a:rPr>
              <a:t>EVAL_TOKENS=8192 \</a:t>
            </a:r>
            <a:endParaRPr sz="1000">
              <a:solidFill>
                <a:srgbClr val="F4F7FA"/>
              </a:solidFill>
              <a:latin typeface="Cascadia Mono" panose="020B0609020000020004"/>
            </a:endParaRPr>
          </a:p>
          <a:p>
            <a:pPr>
              <a:lnSpc>
                <a:spcPct val="90000"/>
              </a:lnSpc>
              <a:spcBef>
                <a:spcPts val="0"/>
              </a:spcBef>
              <a:spcAft>
                <a:spcPts val="0"/>
              </a:spcAft>
            </a:pPr>
            <a:r>
              <a:rPr sz="1000">
                <a:solidFill>
                  <a:srgbClr val="F4F7FA"/>
                </a:solidFill>
                <a:latin typeface="Source Han Sans SC"/>
              </a:rPr>
              <a:t>bash runs/c500_climbmix10_train.sh</a:t>
            </a:r>
            <a:endParaRPr sz="1000">
              <a:solidFill>
                <a:srgbClr val="F4F7FA"/>
              </a:solidFill>
              <a:latin typeface="Cascadia Mono" panose="020B06090200000200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title"/>
          <p:cNvSpPr>
            <a:spLocks noGrp="1"/>
          </p:cNvSpPr>
          <p:nvPr/>
        </p:nvSpPr>
        <p:spPr>
          <a:xfrm>
            <a:off x="333375" y="95250"/>
            <a:ext cx="10189210" cy="647700"/>
          </a:xfrm>
          <a:prstGeom prst="rect">
            <a:avLst/>
          </a:prstGeom>
          <a:noFill/>
          <a:ln w="0">
            <a:noFill/>
            <a:prstDash val="solid"/>
          </a:ln>
        </p:spPr>
        <p:txBody>
          <a:bodyPr wrap="square" lIns="38100" tIns="19050" rIns="38100" bIns="19050" anchor="ctr">
            <a:normAutofit fontScale="90000"/>
          </a:bodyPr>
          <a:lstStyle/>
          <a:p>
            <a:pPr algn="l">
              <a:spcBef>
                <a:spcPts val="0"/>
              </a:spcBef>
              <a:spcAft>
                <a:spcPts val="0"/>
              </a:spcAft>
              <a:defRPr sz="3200" b="1">
                <a:solidFill>
                  <a:srgbClr val="1F2937"/>
                </a:solidFill>
              </a:defRPr>
            </a:pPr>
            <a:r>
              <a:rPr sz="3200" b="1">
                <a:solidFill>
                  <a:srgbClr val="1F2937"/>
                </a:solidFill>
                <a:latin typeface="Source Han Sans SC"/>
              </a:rPr>
              <a:t>2112-Step </a:t>
            </a:r>
            <a:r>
              <a:rPr lang="zh-CN" sz="3200" b="1">
                <a:solidFill>
                  <a:srgbClr val="1F2937"/>
                </a:solidFill>
                <a:latin typeface="Source Han Sans SC"/>
                <a:ea typeface="Source Han Sans SC"/>
              </a:rPr>
              <a:t>训练结束时直接完成验证与</a:t>
            </a:r>
            <a:r>
              <a:rPr sz="3200" b="1">
                <a:solidFill>
                  <a:srgbClr val="1F2937"/>
                </a:solidFill>
                <a:latin typeface="Source Han Sans SC"/>
              </a:rPr>
              <a:t> checkpoint </a:t>
            </a:r>
            <a:r>
              <a:rPr lang="zh-CN" sz="3200" b="1">
                <a:solidFill>
                  <a:srgbClr val="1F2937"/>
                </a:solidFill>
                <a:latin typeface="Source Han Sans SC"/>
                <a:ea typeface="Source Han Sans SC"/>
              </a:rPr>
              <a:t>保存</a:t>
            </a:r>
            <a:endParaRPr sz="3200" b="1">
              <a:solidFill>
                <a:srgbClr val="1F2937"/>
              </a:solidFill>
            </a:endParaRPr>
          </a:p>
        </p:txBody>
      </p:sp>
      <p:sp>
        <p:nvSpPr>
          <p:cNvPr id="2" name="矩形 1"/>
          <p:cNvSpPr>
            <a:spLocks noGrp="1"/>
          </p:cNvSpPr>
          <p:nvPr/>
        </p:nvSpPr>
        <p:spPr>
          <a:xfrm>
            <a:off x="333375" y="971550"/>
            <a:ext cx="10477500" cy="228600"/>
          </a:xfrm>
          <a:prstGeom prst="rect">
            <a:avLst/>
          </a:prstGeom>
          <a:noFill/>
          <a:ln w="0">
            <a:noFill/>
            <a:prstDash val="solid"/>
          </a:ln>
        </p:spPr>
        <p:txBody>
          <a:bodyPr wrap="square" lIns="38100" tIns="19050" rIns="38100" bIns="19050" anchor="ctr">
            <a:normAutofit fontScale="92593"/>
          </a:bodyPr>
          <a:lstStyle/>
          <a:p>
            <a:pPr algn="l">
              <a:spcBef>
                <a:spcPts val="0"/>
              </a:spcBef>
              <a:spcAft>
                <a:spcPts val="0"/>
              </a:spcAft>
              <a:defRPr sz="1350" b="0">
                <a:solidFill>
                  <a:srgbClr val="5F6B7A"/>
                </a:solidFill>
              </a:defRPr>
            </a:pPr>
            <a:r>
              <a:rPr lang="zh-CN" sz="1350" b="0">
                <a:solidFill>
                  <a:srgbClr val="5F6B7A"/>
                </a:solidFill>
                <a:latin typeface="Source Han Sans SC"/>
                <a:ea typeface="Source Han Sans SC"/>
              </a:rPr>
              <a:t>同一次正式运行同时给出训练结果、有限</a:t>
            </a:r>
            <a:r>
              <a:rPr sz="1350" b="0">
                <a:solidFill>
                  <a:srgbClr val="5F6B7A"/>
                </a:solidFill>
                <a:latin typeface="Source Han Sans SC"/>
              </a:rPr>
              <a:t> Validation BPB </a:t>
            </a:r>
            <a:r>
              <a:rPr lang="zh-CN" sz="1350" b="0">
                <a:solidFill>
                  <a:srgbClr val="5F6B7A"/>
                </a:solidFill>
                <a:latin typeface="Source Han Sans SC"/>
                <a:ea typeface="Source Han Sans SC"/>
              </a:rPr>
              <a:t>和三类保存路径</a:t>
            </a:r>
            <a:endParaRPr sz="1350" b="0">
              <a:solidFill>
                <a:srgbClr val="5F6B7A"/>
              </a:solidFill>
            </a:endParaRPr>
          </a:p>
        </p:txBody>
      </p:sp>
      <p:sp>
        <p:nvSpPr>
          <p:cNvPr id="5" name="圆角矩形 4"/>
          <p:cNvSpPr>
            <a:spLocks noGrp="1"/>
          </p:cNvSpPr>
          <p:nvPr/>
        </p:nvSpPr>
        <p:spPr>
          <a:xfrm>
            <a:off x="428625" y="4619625"/>
            <a:ext cx="5476875" cy="838200"/>
          </a:xfrm>
          <a:prstGeom prst="roundRect">
            <a:avLst>
              <a:gd name="adj" fmla="val 9091"/>
            </a:avLst>
          </a:prstGeom>
          <a:solidFill>
            <a:srgbClr val="EAF1FF"/>
          </a:solidFill>
          <a:ln w="12383">
            <a:solidFill>
              <a:srgbClr val="2F6BDA"/>
            </a:solidFill>
            <a:prstDash val="solid"/>
          </a:ln>
        </p:spPr>
        <p:txBody>
          <a:bodyPr/>
          <a:p/>
        </p:txBody>
      </p:sp>
      <p:sp>
        <p:nvSpPr>
          <p:cNvPr id="6" name="矩形 5"/>
          <p:cNvSpPr>
            <a:spLocks noGrp="1"/>
          </p:cNvSpPr>
          <p:nvPr/>
        </p:nvSpPr>
        <p:spPr>
          <a:xfrm>
            <a:off x="542925" y="4695825"/>
            <a:ext cx="5248275" cy="285750"/>
          </a:xfrm>
          <a:prstGeom prst="rect">
            <a:avLst/>
          </a:prstGeom>
          <a:noFill/>
          <a:ln w="0">
            <a:noFill/>
            <a:prstDash val="solid"/>
          </a:ln>
        </p:spPr>
        <p:txBody>
          <a:bodyPr wrap="square" lIns="38100" tIns="19050" rIns="38100" bIns="19050" anchor="ctr">
            <a:normAutofit/>
          </a:bodyPr>
          <a:lstStyle/>
          <a:p>
            <a:pPr algn="ctr">
              <a:defRPr sz="1500" b="1">
                <a:solidFill>
                  <a:srgbClr val="2F6BDA"/>
                </a:solidFill>
              </a:defRPr>
            </a:pPr>
            <a:r>
              <a:rPr lang="zh-CN" sz="1500" b="1">
                <a:solidFill>
                  <a:srgbClr val="2F6BDA"/>
                </a:solidFill>
                <a:latin typeface="Source Han Sans SC"/>
                <a:ea typeface="Source Han Sans SC"/>
              </a:rPr>
              <a:t>训练与验证证据</a:t>
            </a:r>
            <a:endParaRPr sz="1500" b="1">
              <a:solidFill>
                <a:srgbClr val="2F6BDA"/>
              </a:solidFill>
            </a:endParaRPr>
          </a:p>
        </p:txBody>
      </p:sp>
      <p:sp>
        <p:nvSpPr>
          <p:cNvPr id="7" name="矩形 6"/>
          <p:cNvSpPr>
            <a:spLocks noGrp="1"/>
          </p:cNvSpPr>
          <p:nvPr/>
        </p:nvSpPr>
        <p:spPr>
          <a:xfrm>
            <a:off x="542925" y="5000625"/>
            <a:ext cx="5248275" cy="381000"/>
          </a:xfrm>
          <a:prstGeom prst="rect">
            <a:avLst/>
          </a:prstGeom>
          <a:noFill/>
          <a:ln w="0">
            <a:noFill/>
            <a:prstDash val="solid"/>
          </a:ln>
        </p:spPr>
        <p:txBody>
          <a:bodyPr wrap="square" lIns="38100" tIns="19050" rIns="38100" bIns="19050" anchor="t">
            <a:normAutofit/>
          </a:bodyPr>
          <a:lstStyle/>
          <a:p>
            <a:pPr algn="ctr">
              <a:defRPr sz="1350" b="0">
                <a:solidFill>
                  <a:srgbClr val="1F2937"/>
                </a:solidFill>
              </a:defRPr>
            </a:pPr>
            <a:r>
              <a:rPr sz="1350" b="0">
                <a:solidFill>
                  <a:srgbClr val="1F2937"/>
                </a:solidFill>
                <a:latin typeface="Source Han Sans SC"/>
              </a:rPr>
              <a:t>Step 02112｜Loss≈3.97｜BPB=1.217318｜8.94 min</a:t>
            </a:r>
            <a:endParaRPr sz="1350" b="0">
              <a:solidFill>
                <a:srgbClr val="1F2937"/>
              </a:solidFill>
            </a:endParaRPr>
          </a:p>
        </p:txBody>
      </p:sp>
      <p:sp>
        <p:nvSpPr>
          <p:cNvPr id="8" name="圆角矩形 7"/>
          <p:cNvSpPr>
            <a:spLocks noGrp="1"/>
          </p:cNvSpPr>
          <p:nvPr/>
        </p:nvSpPr>
        <p:spPr>
          <a:xfrm>
            <a:off x="6286500" y="4619625"/>
            <a:ext cx="5476875" cy="838200"/>
          </a:xfrm>
          <a:prstGeom prst="roundRect">
            <a:avLst>
              <a:gd name="adj" fmla="val 9091"/>
            </a:avLst>
          </a:prstGeom>
          <a:solidFill>
            <a:srgbClr val="EEF8E9"/>
          </a:solidFill>
          <a:ln w="12383">
            <a:solidFill>
              <a:srgbClr val="48BB00"/>
            </a:solidFill>
            <a:prstDash val="solid"/>
          </a:ln>
        </p:spPr>
        <p:txBody>
          <a:bodyPr/>
          <a:p/>
        </p:txBody>
      </p:sp>
      <p:sp>
        <p:nvSpPr>
          <p:cNvPr id="9" name="矩形 8"/>
          <p:cNvSpPr>
            <a:spLocks noGrp="1"/>
          </p:cNvSpPr>
          <p:nvPr/>
        </p:nvSpPr>
        <p:spPr>
          <a:xfrm>
            <a:off x="6400800" y="4695825"/>
            <a:ext cx="5248275" cy="285750"/>
          </a:xfrm>
          <a:prstGeom prst="rect">
            <a:avLst/>
          </a:prstGeom>
          <a:noFill/>
          <a:ln w="0">
            <a:noFill/>
            <a:prstDash val="solid"/>
          </a:ln>
        </p:spPr>
        <p:txBody>
          <a:bodyPr wrap="square" lIns="38100" tIns="19050" rIns="38100" bIns="19050" anchor="ctr">
            <a:normAutofit/>
          </a:bodyPr>
          <a:lstStyle/>
          <a:p>
            <a:pPr algn="ctr">
              <a:defRPr sz="1500" b="1">
                <a:solidFill>
                  <a:srgbClr val="48BB00"/>
                </a:solidFill>
              </a:defRPr>
            </a:pPr>
            <a:r>
              <a:rPr sz="1500" b="1">
                <a:solidFill>
                  <a:srgbClr val="48BB00"/>
                </a:solidFill>
                <a:latin typeface="Source Han Sans SC"/>
              </a:rPr>
              <a:t>Checkpoint </a:t>
            </a:r>
            <a:r>
              <a:rPr lang="zh-CN" sz="1500" b="1">
                <a:solidFill>
                  <a:srgbClr val="48BB00"/>
                </a:solidFill>
                <a:latin typeface="Source Han Sans SC"/>
                <a:ea typeface="Source Han Sans SC"/>
              </a:rPr>
              <a:t>保存证据</a:t>
            </a:r>
            <a:endParaRPr sz="1500" b="1">
              <a:solidFill>
                <a:srgbClr val="48BB00"/>
              </a:solidFill>
            </a:endParaRPr>
          </a:p>
        </p:txBody>
      </p:sp>
      <p:sp>
        <p:nvSpPr>
          <p:cNvPr id="10" name="矩形 9"/>
          <p:cNvSpPr>
            <a:spLocks noGrp="1"/>
          </p:cNvSpPr>
          <p:nvPr/>
        </p:nvSpPr>
        <p:spPr>
          <a:xfrm>
            <a:off x="6400800" y="5000625"/>
            <a:ext cx="5248275" cy="381000"/>
          </a:xfrm>
          <a:prstGeom prst="rect">
            <a:avLst/>
          </a:prstGeom>
          <a:noFill/>
          <a:ln w="0">
            <a:noFill/>
            <a:prstDash val="solid"/>
          </a:ln>
        </p:spPr>
        <p:txBody>
          <a:bodyPr wrap="square" lIns="38100" tIns="19050" rIns="38100" bIns="19050" anchor="t">
            <a:normAutofit/>
          </a:bodyPr>
          <a:lstStyle/>
          <a:p>
            <a:pPr algn="ctr">
              <a:spcBef>
                <a:spcPts val="0"/>
              </a:spcBef>
              <a:spcAft>
                <a:spcPts val="0"/>
              </a:spcAft>
              <a:defRPr sz="1350" b="0">
                <a:solidFill>
                  <a:srgbClr val="1F2937"/>
                </a:solidFill>
              </a:defRPr>
            </a:pPr>
            <a:r>
              <a:rPr sz="1350" b="0">
                <a:solidFill>
                  <a:srgbClr val="1F2937"/>
                </a:solidFill>
                <a:latin typeface="Source Han Sans SC"/>
              </a:rPr>
              <a:t>model / meta / optimizer </a:t>
            </a:r>
            <a:r>
              <a:rPr lang="zh-CN" sz="1350" b="0">
                <a:solidFill>
                  <a:srgbClr val="1F2937"/>
                </a:solidFill>
                <a:latin typeface="Source Han Sans SC"/>
                <a:ea typeface="Source Han Sans SC"/>
              </a:rPr>
              <a:t>已保存｜峰值显存</a:t>
            </a:r>
            <a:r>
              <a:rPr sz="1350" b="0">
                <a:solidFill>
                  <a:srgbClr val="1F2937"/>
                </a:solidFill>
                <a:latin typeface="Source Han Sans SC"/>
              </a:rPr>
              <a:t> 36416.76 MiB</a:t>
            </a:r>
            <a:endParaRPr sz="1350" b="0">
              <a:solidFill>
                <a:srgbClr val="1F2937"/>
              </a:solidFill>
            </a:endParaRPr>
          </a:p>
        </p:txBody>
      </p:sp>
      <p:sp>
        <p:nvSpPr>
          <p:cNvPr id="11" name="矩形 10"/>
          <p:cNvSpPr>
            <a:spLocks noGrp="1"/>
          </p:cNvSpPr>
          <p:nvPr/>
        </p:nvSpPr>
        <p:spPr>
          <a:xfrm>
            <a:off x="333375" y="5743575"/>
            <a:ext cx="11525250" cy="514350"/>
          </a:xfrm>
          <a:prstGeom prst="rect">
            <a:avLst/>
          </a:prstGeom>
          <a:solidFill>
            <a:srgbClr val="48BB00"/>
          </a:solidFill>
          <a:ln w="0">
            <a:noFill/>
            <a:prstDash val="solid"/>
          </a:ln>
        </p:spPr>
        <p:txBody>
          <a:bodyPr/>
          <a:p/>
        </p:txBody>
      </p:sp>
      <p:sp>
        <p:nvSpPr>
          <p:cNvPr id="12" name="矩形 11"/>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spcBef>
                <a:spcPts val="0"/>
              </a:spcBef>
              <a:spcAft>
                <a:spcPts val="0"/>
              </a:spcAft>
              <a:defRPr sz="1425" b="1">
                <a:solidFill>
                  <a:srgbClr val="FFFFFF"/>
                </a:solidFill>
              </a:defRPr>
            </a:pPr>
            <a:r>
              <a:rPr lang="zh-CN" sz="1425" b="1">
                <a:solidFill>
                  <a:srgbClr val="FFFFFF"/>
                </a:solidFill>
                <a:latin typeface="Source Han Sans SC"/>
                <a:ea typeface="Source Han Sans SC"/>
              </a:rPr>
              <a:t>同一次运行完成训练、独立验证和</a:t>
            </a:r>
            <a:r>
              <a:rPr sz="1425" b="1">
                <a:solidFill>
                  <a:srgbClr val="FFFFFF"/>
                </a:solidFill>
                <a:latin typeface="Source Han Sans SC"/>
              </a:rPr>
              <a:t> checkpoint </a:t>
            </a:r>
            <a:r>
              <a:rPr lang="zh-CN" sz="1425" b="1">
                <a:solidFill>
                  <a:srgbClr val="FFFFFF"/>
                </a:solidFill>
                <a:latin typeface="Source Han Sans SC"/>
                <a:ea typeface="Source Han Sans SC"/>
              </a:rPr>
              <a:t>保存，形成完整的</a:t>
            </a:r>
            <a:r>
              <a:rPr sz="1425" b="1">
                <a:solidFill>
                  <a:srgbClr val="FFFFFF"/>
                </a:solidFill>
                <a:latin typeface="Source Han Sans SC"/>
              </a:rPr>
              <a:t> Task04 </a:t>
            </a:r>
            <a:r>
              <a:rPr lang="zh-CN" sz="1425" b="1">
                <a:solidFill>
                  <a:srgbClr val="FFFFFF"/>
                </a:solidFill>
                <a:latin typeface="Source Han Sans SC"/>
                <a:ea typeface="Source Han Sans SC"/>
              </a:rPr>
              <a:t>验收证据。</a:t>
            </a:r>
            <a:endParaRPr sz="1425" b="1">
              <a:solidFill>
                <a:srgbClr val="FFFFFF"/>
              </a:solidFill>
            </a:endParaRPr>
          </a:p>
        </p:txBody>
      </p:sp>
      <p:pic>
        <p:nvPicPr>
          <p:cNvPr id="14" name="Picture 13" descr="2112-step-direct-validation.png"/>
          <p:cNvPicPr>
            <a:picLocks noChangeAspect="1"/>
          </p:cNvPicPr>
          <p:nvPr/>
        </p:nvPicPr>
        <p:blipFill>
          <a:blip r:embed="rId1"/>
          <a:stretch>
            <a:fillRect/>
          </a:stretch>
        </p:blipFill>
        <p:spPr>
          <a:xfrm>
            <a:off x="429768" y="1565367"/>
            <a:ext cx="11338560" cy="271228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 name="title"/>
          <p:cNvSpPr>
            <a:spLocks noGrp="1"/>
          </p:cNvSpPr>
          <p:nvPr/>
        </p:nvSpPr>
        <p:spPr>
          <a:xfrm>
            <a:off x="333375" y="95250"/>
            <a:ext cx="10058400" cy="647700"/>
          </a:xfrm>
          <a:prstGeom prst="rect">
            <a:avLst/>
          </a:prstGeom>
          <a:noFill/>
          <a:ln w="0">
            <a:noFill/>
            <a:prstDash val="solid"/>
          </a:ln>
        </p:spPr>
        <p:txBody>
          <a:bodyPr wrap="square" lIns="38100" tIns="19050" rIns="38100" bIns="19050" anchor="ctr">
            <a:normAutofit/>
          </a:bodyPr>
          <a:lstStyle/>
          <a:p>
            <a:pPr algn="l">
              <a:spcBef>
                <a:spcPts val="0"/>
              </a:spcBef>
              <a:spcAft>
                <a:spcPts val="0"/>
              </a:spcAft>
              <a:defRPr sz="2700" b="1">
                <a:solidFill>
                  <a:srgbClr val="1F2937"/>
                </a:solidFill>
              </a:defRPr>
            </a:pPr>
            <a:r>
              <a:rPr lang="zh-CN" sz="2700" b="1">
                <a:solidFill>
                  <a:srgbClr val="1F2937"/>
                </a:solidFill>
                <a:latin typeface="Source Han Sans SC"/>
                <a:ea typeface="Source Han Sans SC"/>
              </a:rPr>
              <a:t>训练结束时直接保存</a:t>
            </a:r>
            <a:r>
              <a:rPr sz="2700" b="1">
                <a:solidFill>
                  <a:srgbClr val="1F2937"/>
                </a:solidFill>
                <a:latin typeface="Source Han Sans SC"/>
              </a:rPr>
              <a:t> model</a:t>
            </a:r>
            <a:r>
              <a:rPr sz="2700" b="1">
                <a:solidFill>
                  <a:srgbClr val="1F2937"/>
                </a:solidFill>
                <a:latin typeface="Source Han Sans SC"/>
              </a:rPr>
              <a:t>、</a:t>
            </a:r>
            <a:r>
              <a:rPr sz="2700" b="1">
                <a:solidFill>
                  <a:srgbClr val="1F2937"/>
                </a:solidFill>
                <a:latin typeface="Source Han Sans SC"/>
              </a:rPr>
              <a:t>optimizer </a:t>
            </a:r>
            <a:r>
              <a:rPr lang="zh-CN" sz="2700" b="1">
                <a:solidFill>
                  <a:srgbClr val="1F2937"/>
                </a:solidFill>
                <a:latin typeface="Source Han Sans SC"/>
                <a:ea typeface="Source Han Sans SC"/>
              </a:rPr>
              <a:t>和</a:t>
            </a:r>
            <a:r>
              <a:rPr sz="2700" b="1">
                <a:solidFill>
                  <a:srgbClr val="1F2937"/>
                </a:solidFill>
                <a:latin typeface="Source Han Sans SC"/>
              </a:rPr>
              <a:t> metadata</a:t>
            </a:r>
            <a:endParaRPr sz="2700" b="1">
              <a:solidFill>
                <a:srgbClr val="1F2937"/>
              </a:solidFill>
            </a:endParaRPr>
          </a:p>
        </p:txBody>
      </p:sp>
      <p:sp>
        <p:nvSpPr>
          <p:cNvPr id="2" name="矩形 1"/>
          <p:cNvSpPr>
            <a:spLocks noGrp="1"/>
          </p:cNvSpPr>
          <p:nvPr/>
        </p:nvSpPr>
        <p:spPr>
          <a:xfrm>
            <a:off x="333375" y="971550"/>
            <a:ext cx="10001250" cy="228600"/>
          </a:xfrm>
          <a:prstGeom prst="rect">
            <a:avLst/>
          </a:prstGeom>
          <a:noFill/>
          <a:ln w="0">
            <a:noFill/>
            <a:prstDash val="solid"/>
          </a:ln>
        </p:spPr>
        <p:txBody>
          <a:bodyPr wrap="square" lIns="38100" tIns="19050" rIns="38100" bIns="19050" anchor="ctr">
            <a:normAutofit fontScale="92593"/>
          </a:bodyPr>
          <a:lstStyle/>
          <a:p>
            <a:pPr algn="l">
              <a:defRPr sz="1350" b="0">
                <a:solidFill>
                  <a:srgbClr val="5F6B7A"/>
                </a:solidFill>
              </a:defRPr>
            </a:pPr>
            <a:r>
              <a:rPr lang="zh-CN" sz="1350" b="0">
                <a:solidFill>
                  <a:srgbClr val="5F6B7A"/>
                </a:solidFill>
                <a:latin typeface="Source Han Sans SC"/>
                <a:ea typeface="Source Han Sans SC"/>
              </a:rPr>
              <a:t>三类状态在</a:t>
            </a:r>
            <a:r>
              <a:rPr sz="1350" b="0">
                <a:solidFill>
                  <a:srgbClr val="5F6B7A"/>
                </a:solidFill>
                <a:latin typeface="Source Han Sans SC"/>
              </a:rPr>
              <a:t> Step 2112 </a:t>
            </a:r>
            <a:r>
              <a:rPr lang="zh-CN" sz="1350" b="0">
                <a:solidFill>
                  <a:srgbClr val="5F6B7A"/>
                </a:solidFill>
                <a:latin typeface="Source Han Sans SC"/>
                <a:ea typeface="Source Han Sans SC"/>
              </a:rPr>
              <a:t>一次写出，形成完整的训练保存记录</a:t>
            </a:r>
            <a:endParaRPr sz="1350" b="0">
              <a:solidFill>
                <a:srgbClr val="5F6B7A"/>
              </a:solidFill>
            </a:endParaRPr>
          </a:p>
        </p:txBody>
      </p:sp>
      <p:sp>
        <p:nvSpPr>
          <p:cNvPr id="4" name="直接连接符 3"/>
          <p:cNvSpPr>
            <a:spLocks noGrp="1"/>
          </p:cNvSpPr>
          <p:nvPr/>
        </p:nvSpPr>
        <p:spPr>
          <a:xfrm>
            <a:off x="8382000" y="1971675"/>
            <a:ext cx="2000250" cy="0"/>
          </a:xfrm>
          <a:prstGeom prst="line">
            <a:avLst/>
          </a:prstGeom>
          <a:noFill/>
          <a:ln w="19050">
            <a:solidFill>
              <a:srgbClr val="5F6B7A"/>
            </a:solidFill>
            <a:prstDash val="solid"/>
          </a:ln>
        </p:spPr>
        <p:txBody>
          <a:bodyPr/>
          <a:p/>
        </p:txBody>
      </p:sp>
      <p:sp>
        <p:nvSpPr>
          <p:cNvPr id="5" name="任意多边形 4"/>
          <p:cNvSpPr>
            <a:spLocks noGrp="1"/>
          </p:cNvSpPr>
          <p:nvPr/>
        </p:nvSpPr>
        <p:spPr>
          <a:xfrm>
            <a:off x="10277475" y="1924050"/>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txBody>
          <a:bodyPr/>
          <a:p/>
        </p:txBody>
      </p:sp>
      <p:sp>
        <p:nvSpPr>
          <p:cNvPr id="6" name="圆角矩形 5"/>
          <p:cNvSpPr>
            <a:spLocks noGrp="1"/>
          </p:cNvSpPr>
          <p:nvPr/>
        </p:nvSpPr>
        <p:spPr>
          <a:xfrm>
            <a:off x="5095875" y="1476375"/>
            <a:ext cx="3286125" cy="1000125"/>
          </a:xfrm>
          <a:prstGeom prst="roundRect">
            <a:avLst>
              <a:gd name="adj" fmla="val 7619"/>
            </a:avLst>
          </a:prstGeom>
          <a:solidFill>
            <a:srgbClr val="F3EEF5"/>
          </a:solidFill>
          <a:ln w="12383">
            <a:solidFill>
              <a:srgbClr val="660874"/>
            </a:solidFill>
            <a:prstDash val="solid"/>
          </a:ln>
        </p:spPr>
        <p:txBody>
          <a:bodyPr/>
          <a:p/>
        </p:txBody>
      </p:sp>
      <p:sp>
        <p:nvSpPr>
          <p:cNvPr id="7" name="矩形 6"/>
          <p:cNvSpPr>
            <a:spLocks noGrp="1"/>
          </p:cNvSpPr>
          <p:nvPr/>
        </p:nvSpPr>
        <p:spPr>
          <a:xfrm>
            <a:off x="5210175" y="1552575"/>
            <a:ext cx="3057525" cy="285750"/>
          </a:xfrm>
          <a:prstGeom prst="rect">
            <a:avLst/>
          </a:prstGeom>
          <a:noFill/>
          <a:ln w="0">
            <a:noFill/>
            <a:prstDash val="solid"/>
          </a:ln>
        </p:spPr>
        <p:txBody>
          <a:bodyPr wrap="square" lIns="38100" tIns="19050" rIns="38100" bIns="19050" anchor="ctr">
            <a:normAutofit/>
          </a:bodyPr>
          <a:lstStyle/>
          <a:p>
            <a:pPr algn="l">
              <a:spcBef>
                <a:spcPts val="0"/>
              </a:spcBef>
              <a:spcAft>
                <a:spcPts val="0"/>
              </a:spcAft>
              <a:defRPr sz="1425" b="1">
                <a:solidFill>
                  <a:srgbClr val="660874"/>
                </a:solidFill>
              </a:defRPr>
            </a:pPr>
            <a:r>
              <a:rPr sz="1425" b="1">
                <a:solidFill>
                  <a:srgbClr val="660874"/>
                </a:solidFill>
                <a:latin typeface="Source Han Sans SC"/>
              </a:rPr>
              <a:t>model_002112.pt</a:t>
            </a:r>
            <a:endParaRPr sz="1425" b="1">
              <a:solidFill>
                <a:srgbClr val="660874"/>
              </a:solidFill>
            </a:endParaRPr>
          </a:p>
        </p:txBody>
      </p:sp>
      <p:sp>
        <p:nvSpPr>
          <p:cNvPr id="8" name="矩形 7"/>
          <p:cNvSpPr>
            <a:spLocks noGrp="1"/>
          </p:cNvSpPr>
          <p:nvPr/>
        </p:nvSpPr>
        <p:spPr>
          <a:xfrm>
            <a:off x="5210175" y="1857375"/>
            <a:ext cx="3057525" cy="542925"/>
          </a:xfrm>
          <a:prstGeom prst="rect">
            <a:avLst/>
          </a:prstGeom>
          <a:noFill/>
          <a:ln w="0">
            <a:noFill/>
            <a:prstDash val="solid"/>
          </a:ln>
        </p:spPr>
        <p:txBody>
          <a:bodyPr wrap="square" lIns="38100" tIns="19050" rIns="38100" bIns="19050" anchor="t">
            <a:normAutofit/>
          </a:bodyPr>
          <a:lstStyle/>
          <a:p>
            <a:pPr algn="l">
              <a:defRPr sz="1275" b="0">
                <a:solidFill>
                  <a:srgbClr val="1F2937"/>
                </a:solidFill>
              </a:defRPr>
            </a:pPr>
            <a:r>
              <a:rPr lang="zh-CN" sz="1275" b="0">
                <a:solidFill>
                  <a:srgbClr val="1F2937"/>
                </a:solidFill>
                <a:latin typeface="Source Han Sans SC"/>
                <a:ea typeface="Source Han Sans SC"/>
              </a:rPr>
              <a:t>模型</a:t>
            </a:r>
            <a:r>
              <a:rPr sz="1275" b="0">
                <a:solidFill>
                  <a:srgbClr val="1F2937"/>
                </a:solidFill>
                <a:latin typeface="Source Han Sans SC"/>
              </a:rPr>
              <a:t> state_dict</a:t>
            </a:r>
            <a:endParaRPr sz="1275" b="0">
              <a:solidFill>
                <a:srgbClr val="1F2937"/>
              </a:solidFill>
            </a:endParaRPr>
          </a:p>
          <a:p>
            <a:pPr algn="l">
              <a:defRPr sz="1275" b="0">
                <a:solidFill>
                  <a:srgbClr val="1F2937"/>
                </a:solidFill>
              </a:defRPr>
            </a:pPr>
            <a:r>
              <a:rPr lang="zh-CN" sz="1275" b="0">
                <a:solidFill>
                  <a:srgbClr val="1F2937"/>
                </a:solidFill>
                <a:latin typeface="Source Han Sans SC"/>
                <a:ea typeface="Source Han Sans SC"/>
              </a:rPr>
              <a:t>已经学到的参数</a:t>
            </a:r>
            <a:endParaRPr sz="1275" b="0">
              <a:solidFill>
                <a:srgbClr val="1F2937"/>
              </a:solidFill>
            </a:endParaRPr>
          </a:p>
        </p:txBody>
      </p:sp>
      <p:sp>
        <p:nvSpPr>
          <p:cNvPr id="9" name="直接连接符 8"/>
          <p:cNvSpPr>
            <a:spLocks noGrp="1"/>
          </p:cNvSpPr>
          <p:nvPr/>
        </p:nvSpPr>
        <p:spPr>
          <a:xfrm>
            <a:off x="8382000" y="3209925"/>
            <a:ext cx="2000250" cy="0"/>
          </a:xfrm>
          <a:prstGeom prst="line">
            <a:avLst/>
          </a:prstGeom>
          <a:noFill/>
          <a:ln w="19050">
            <a:solidFill>
              <a:srgbClr val="5F6B7A"/>
            </a:solidFill>
            <a:prstDash val="solid"/>
          </a:ln>
        </p:spPr>
        <p:txBody>
          <a:bodyPr/>
          <a:p/>
        </p:txBody>
      </p:sp>
      <p:sp>
        <p:nvSpPr>
          <p:cNvPr id="10" name="任意多边形 9"/>
          <p:cNvSpPr>
            <a:spLocks noGrp="1"/>
          </p:cNvSpPr>
          <p:nvPr/>
        </p:nvSpPr>
        <p:spPr>
          <a:xfrm>
            <a:off x="10277475" y="3162300"/>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txBody>
          <a:bodyPr/>
          <a:p/>
        </p:txBody>
      </p:sp>
      <p:sp>
        <p:nvSpPr>
          <p:cNvPr id="11" name="圆角矩形 10"/>
          <p:cNvSpPr>
            <a:spLocks noGrp="1"/>
          </p:cNvSpPr>
          <p:nvPr/>
        </p:nvSpPr>
        <p:spPr>
          <a:xfrm>
            <a:off x="5095875" y="2714625"/>
            <a:ext cx="3286125" cy="1000125"/>
          </a:xfrm>
          <a:prstGeom prst="roundRect">
            <a:avLst>
              <a:gd name="adj" fmla="val 7619"/>
            </a:avLst>
          </a:prstGeom>
          <a:solidFill>
            <a:srgbClr val="FFF7E8"/>
          </a:solidFill>
          <a:ln w="12383">
            <a:solidFill>
              <a:srgbClr val="C26700"/>
            </a:solidFill>
            <a:prstDash val="solid"/>
          </a:ln>
        </p:spPr>
        <p:txBody>
          <a:bodyPr/>
          <a:p/>
        </p:txBody>
      </p:sp>
      <p:sp>
        <p:nvSpPr>
          <p:cNvPr id="12" name="矩形 11"/>
          <p:cNvSpPr>
            <a:spLocks noGrp="1"/>
          </p:cNvSpPr>
          <p:nvPr/>
        </p:nvSpPr>
        <p:spPr>
          <a:xfrm>
            <a:off x="5210175" y="2790825"/>
            <a:ext cx="3057525" cy="285750"/>
          </a:xfrm>
          <a:prstGeom prst="rect">
            <a:avLst/>
          </a:prstGeom>
          <a:noFill/>
          <a:ln w="0">
            <a:noFill/>
            <a:prstDash val="solid"/>
          </a:ln>
        </p:spPr>
        <p:txBody>
          <a:bodyPr wrap="square" lIns="38100" tIns="19050" rIns="38100" bIns="19050" anchor="ctr">
            <a:normAutofit/>
          </a:bodyPr>
          <a:lstStyle/>
          <a:p>
            <a:pPr algn="l">
              <a:spcBef>
                <a:spcPts val="0"/>
              </a:spcBef>
              <a:spcAft>
                <a:spcPts val="0"/>
              </a:spcAft>
              <a:defRPr sz="1425" b="1">
                <a:solidFill>
                  <a:srgbClr val="C26700"/>
                </a:solidFill>
              </a:defRPr>
            </a:pPr>
            <a:r>
              <a:rPr sz="1425" b="1">
                <a:solidFill>
                  <a:srgbClr val="C26700"/>
                </a:solidFill>
                <a:latin typeface="Source Han Sans SC"/>
              </a:rPr>
              <a:t>optim_002112_rank0.pt</a:t>
            </a:r>
            <a:endParaRPr sz="1425" b="1">
              <a:solidFill>
                <a:srgbClr val="C26700"/>
              </a:solidFill>
            </a:endParaRPr>
          </a:p>
        </p:txBody>
      </p:sp>
      <p:sp>
        <p:nvSpPr>
          <p:cNvPr id="13" name="矩形 12"/>
          <p:cNvSpPr>
            <a:spLocks noGrp="1"/>
          </p:cNvSpPr>
          <p:nvPr/>
        </p:nvSpPr>
        <p:spPr>
          <a:xfrm>
            <a:off x="5210175" y="3095625"/>
            <a:ext cx="3057525" cy="542925"/>
          </a:xfrm>
          <a:prstGeom prst="rect">
            <a:avLst/>
          </a:prstGeom>
          <a:noFill/>
          <a:ln w="0">
            <a:noFill/>
            <a:prstDash val="solid"/>
          </a:ln>
        </p:spPr>
        <p:txBody>
          <a:bodyPr wrap="square" lIns="38100" tIns="19050" rIns="38100" bIns="19050" anchor="t">
            <a:normAutofit/>
          </a:bodyPr>
          <a:lstStyle/>
          <a:p>
            <a:pPr algn="l">
              <a:defRPr sz="1275" b="0">
                <a:solidFill>
                  <a:srgbClr val="1F2937"/>
                </a:solidFill>
              </a:defRPr>
            </a:pPr>
            <a:r>
              <a:rPr lang="zh-CN" sz="1275" b="0">
                <a:solidFill>
                  <a:srgbClr val="1F2937"/>
                </a:solidFill>
                <a:latin typeface="Source Han Sans SC"/>
                <a:ea typeface="Source Han Sans SC"/>
              </a:rPr>
              <a:t>优化器</a:t>
            </a:r>
            <a:r>
              <a:rPr sz="1275" b="0">
                <a:solidFill>
                  <a:srgbClr val="1F2937"/>
                </a:solidFill>
                <a:latin typeface="Source Han Sans SC"/>
              </a:rPr>
              <a:t> state_dict</a:t>
            </a:r>
            <a:endParaRPr sz="1275" b="0">
              <a:solidFill>
                <a:srgbClr val="1F2937"/>
              </a:solidFill>
            </a:endParaRPr>
          </a:p>
          <a:p>
            <a:pPr algn="l">
              <a:defRPr sz="1275" b="0">
                <a:solidFill>
                  <a:srgbClr val="1F2937"/>
                </a:solidFill>
              </a:defRPr>
            </a:pPr>
            <a:r>
              <a:rPr lang="zh-CN" sz="1275" b="0">
                <a:solidFill>
                  <a:srgbClr val="1F2937"/>
                </a:solidFill>
                <a:latin typeface="Source Han Sans SC"/>
                <a:ea typeface="Source Han Sans SC"/>
              </a:rPr>
              <a:t>动量与统计量</a:t>
            </a:r>
            <a:endParaRPr sz="1275" b="0">
              <a:solidFill>
                <a:srgbClr val="1F2937"/>
              </a:solidFill>
            </a:endParaRPr>
          </a:p>
        </p:txBody>
      </p:sp>
      <p:sp>
        <p:nvSpPr>
          <p:cNvPr id="14" name="直接连接符 13"/>
          <p:cNvSpPr>
            <a:spLocks noGrp="1"/>
          </p:cNvSpPr>
          <p:nvPr/>
        </p:nvSpPr>
        <p:spPr>
          <a:xfrm>
            <a:off x="8382000" y="4448175"/>
            <a:ext cx="2000250" cy="0"/>
          </a:xfrm>
          <a:prstGeom prst="line">
            <a:avLst/>
          </a:prstGeom>
          <a:noFill/>
          <a:ln w="19050">
            <a:solidFill>
              <a:srgbClr val="5F6B7A"/>
            </a:solidFill>
            <a:prstDash val="solid"/>
          </a:ln>
        </p:spPr>
        <p:txBody>
          <a:bodyPr/>
          <a:p/>
        </p:txBody>
      </p:sp>
      <p:sp>
        <p:nvSpPr>
          <p:cNvPr id="15" name="任意多边形 14"/>
          <p:cNvSpPr>
            <a:spLocks noGrp="1"/>
          </p:cNvSpPr>
          <p:nvPr/>
        </p:nvSpPr>
        <p:spPr>
          <a:xfrm>
            <a:off x="10277475" y="4400550"/>
            <a:ext cx="104775" cy="95250"/>
          </a:xfrm>
          <a:custGeom>
            <a:avLst/>
            <a:gdLst/>
            <a:ahLst/>
            <a:cxnLst/>
            <a:pathLst>
              <a:path w="104775" h="95250">
                <a:moveTo>
                  <a:pt x="0" y="0"/>
                </a:moveTo>
                <a:lnTo>
                  <a:pt x="104775" y="47625"/>
                </a:lnTo>
                <a:lnTo>
                  <a:pt x="0" y="95250"/>
                </a:lnTo>
                <a:close/>
              </a:path>
            </a:pathLst>
          </a:custGeom>
          <a:solidFill>
            <a:srgbClr val="5F6B7A"/>
          </a:solidFill>
          <a:ln w="0">
            <a:solidFill>
              <a:srgbClr val="5F6B7A"/>
            </a:solidFill>
            <a:prstDash val="solid"/>
          </a:ln>
        </p:spPr>
        <p:txBody>
          <a:bodyPr/>
          <a:p/>
        </p:txBody>
      </p:sp>
      <p:sp>
        <p:nvSpPr>
          <p:cNvPr id="16" name="圆角矩形 15"/>
          <p:cNvSpPr>
            <a:spLocks noGrp="1"/>
          </p:cNvSpPr>
          <p:nvPr/>
        </p:nvSpPr>
        <p:spPr>
          <a:xfrm>
            <a:off x="5095875" y="3952875"/>
            <a:ext cx="3286125" cy="1000125"/>
          </a:xfrm>
          <a:prstGeom prst="roundRect">
            <a:avLst>
              <a:gd name="adj" fmla="val 7619"/>
            </a:avLst>
          </a:prstGeom>
          <a:solidFill>
            <a:srgbClr val="E9F4F4"/>
          </a:solidFill>
          <a:ln w="12383">
            <a:solidFill>
              <a:srgbClr val="1E8E94"/>
            </a:solidFill>
            <a:prstDash val="solid"/>
          </a:ln>
        </p:spPr>
        <p:txBody>
          <a:bodyPr/>
          <a:p/>
        </p:txBody>
      </p:sp>
      <p:sp>
        <p:nvSpPr>
          <p:cNvPr id="17" name="矩形 16"/>
          <p:cNvSpPr>
            <a:spLocks noGrp="1"/>
          </p:cNvSpPr>
          <p:nvPr/>
        </p:nvSpPr>
        <p:spPr>
          <a:xfrm>
            <a:off x="5210175" y="4029075"/>
            <a:ext cx="3057525" cy="285750"/>
          </a:xfrm>
          <a:prstGeom prst="rect">
            <a:avLst/>
          </a:prstGeom>
          <a:noFill/>
          <a:ln w="0">
            <a:noFill/>
            <a:prstDash val="solid"/>
          </a:ln>
        </p:spPr>
        <p:txBody>
          <a:bodyPr wrap="square" lIns="38100" tIns="19050" rIns="38100" bIns="19050" anchor="ctr">
            <a:normAutofit/>
          </a:bodyPr>
          <a:lstStyle/>
          <a:p>
            <a:pPr algn="l">
              <a:spcBef>
                <a:spcPts val="0"/>
              </a:spcBef>
              <a:spcAft>
                <a:spcPts val="0"/>
              </a:spcAft>
              <a:defRPr sz="1425" b="1">
                <a:solidFill>
                  <a:srgbClr val="1E8E94"/>
                </a:solidFill>
              </a:defRPr>
            </a:pPr>
            <a:r>
              <a:rPr sz="1425" b="1">
                <a:solidFill>
                  <a:srgbClr val="1E8E94"/>
                </a:solidFill>
                <a:latin typeface="Source Han Sans SC"/>
              </a:rPr>
              <a:t>meta_002112.json</a:t>
            </a:r>
            <a:endParaRPr sz="1425" b="1">
              <a:solidFill>
                <a:srgbClr val="1E8E94"/>
              </a:solidFill>
            </a:endParaRPr>
          </a:p>
        </p:txBody>
      </p:sp>
      <p:sp>
        <p:nvSpPr>
          <p:cNvPr id="18" name="矩形 17"/>
          <p:cNvSpPr>
            <a:spLocks noGrp="1"/>
          </p:cNvSpPr>
          <p:nvPr/>
        </p:nvSpPr>
        <p:spPr>
          <a:xfrm>
            <a:off x="5210175" y="4333875"/>
            <a:ext cx="3057525" cy="542925"/>
          </a:xfrm>
          <a:prstGeom prst="rect">
            <a:avLst/>
          </a:prstGeom>
          <a:noFill/>
          <a:ln w="0">
            <a:noFill/>
            <a:prstDash val="solid"/>
          </a:ln>
        </p:spPr>
        <p:txBody>
          <a:bodyPr wrap="square" lIns="38100" tIns="19050" rIns="38100" bIns="19050" anchor="t">
            <a:normAutofit/>
          </a:bodyPr>
          <a:lstStyle/>
          <a:p>
            <a:pPr algn="l">
              <a:defRPr sz="1275" b="0">
                <a:solidFill>
                  <a:srgbClr val="1F2937"/>
                </a:solidFill>
              </a:defRPr>
            </a:pPr>
            <a:r>
              <a:rPr sz="1275" b="0">
                <a:solidFill>
                  <a:srgbClr val="1F2937"/>
                </a:solidFill>
                <a:latin typeface="Source Han Sans SC"/>
              </a:rPr>
              <a:t>step / val_bpb / model_config</a:t>
            </a:r>
            <a:endParaRPr sz="1275" b="0">
              <a:solidFill>
                <a:srgbClr val="1F2937"/>
              </a:solidFill>
            </a:endParaRPr>
          </a:p>
          <a:p>
            <a:pPr algn="l">
              <a:defRPr sz="1275" b="0">
                <a:solidFill>
                  <a:srgbClr val="1F2937"/>
                </a:solidFill>
              </a:defRPr>
            </a:pPr>
            <a:r>
              <a:rPr sz="1275" b="0">
                <a:solidFill>
                  <a:srgbClr val="1F2937"/>
                </a:solidFill>
                <a:latin typeface="Source Han Sans SC"/>
              </a:rPr>
              <a:t>dataloader_state / min_val_bpb</a:t>
            </a:r>
            <a:endParaRPr sz="1275" b="0">
              <a:solidFill>
                <a:srgbClr val="1F2937"/>
              </a:solidFill>
            </a:endParaRPr>
          </a:p>
        </p:txBody>
      </p:sp>
      <p:sp>
        <p:nvSpPr>
          <p:cNvPr id="19" name="圆角矩形 18"/>
          <p:cNvSpPr>
            <a:spLocks noGrp="1"/>
          </p:cNvSpPr>
          <p:nvPr/>
        </p:nvSpPr>
        <p:spPr>
          <a:xfrm>
            <a:off x="10382250" y="2571750"/>
            <a:ext cx="1381125" cy="1428750"/>
          </a:xfrm>
          <a:prstGeom prst="roundRect">
            <a:avLst>
              <a:gd name="adj" fmla="val 5517"/>
            </a:avLst>
          </a:prstGeom>
          <a:solidFill>
            <a:srgbClr val="EEF8E9"/>
          </a:solidFill>
          <a:ln w="12383">
            <a:solidFill>
              <a:srgbClr val="48BB00"/>
            </a:solidFill>
            <a:prstDash val="solid"/>
          </a:ln>
        </p:spPr>
        <p:txBody>
          <a:bodyPr/>
          <a:p/>
        </p:txBody>
      </p:sp>
      <p:sp>
        <p:nvSpPr>
          <p:cNvPr id="20" name="矩形 19"/>
          <p:cNvSpPr>
            <a:spLocks noGrp="1"/>
          </p:cNvSpPr>
          <p:nvPr/>
        </p:nvSpPr>
        <p:spPr>
          <a:xfrm>
            <a:off x="10496550" y="2647950"/>
            <a:ext cx="1152525" cy="285750"/>
          </a:xfrm>
          <a:prstGeom prst="rect">
            <a:avLst/>
          </a:prstGeom>
          <a:noFill/>
          <a:ln w="0">
            <a:noFill/>
            <a:prstDash val="solid"/>
          </a:ln>
        </p:spPr>
        <p:txBody>
          <a:bodyPr wrap="square" lIns="38100" tIns="19050" rIns="38100" bIns="19050" anchor="ctr">
            <a:normAutofit/>
          </a:bodyPr>
          <a:lstStyle/>
          <a:p>
            <a:pPr algn="ctr">
              <a:defRPr sz="1500" b="1">
                <a:solidFill>
                  <a:srgbClr val="48BB00"/>
                </a:solidFill>
              </a:defRPr>
            </a:pPr>
            <a:r>
              <a:rPr lang="zh-CN" sz="1500" b="1">
                <a:solidFill>
                  <a:srgbClr val="48BB00"/>
                </a:solidFill>
                <a:latin typeface="Source Han Sans SC"/>
                <a:ea typeface="Source Han Sans SC"/>
              </a:rPr>
              <a:t>保存完成</a:t>
            </a:r>
            <a:endParaRPr sz="1500" b="1">
              <a:solidFill>
                <a:srgbClr val="48BB00"/>
              </a:solidFill>
            </a:endParaRPr>
          </a:p>
        </p:txBody>
      </p:sp>
      <p:sp>
        <p:nvSpPr>
          <p:cNvPr id="21" name="矩形 20"/>
          <p:cNvSpPr>
            <a:spLocks noGrp="1"/>
          </p:cNvSpPr>
          <p:nvPr/>
        </p:nvSpPr>
        <p:spPr>
          <a:xfrm>
            <a:off x="10476230" y="2952750"/>
            <a:ext cx="1237615" cy="971550"/>
          </a:xfrm>
          <a:prstGeom prst="rect">
            <a:avLst/>
          </a:prstGeom>
          <a:noFill/>
          <a:ln w="0">
            <a:noFill/>
            <a:prstDash val="solid"/>
          </a:ln>
        </p:spPr>
        <p:txBody>
          <a:bodyPr wrap="square" lIns="38100" tIns="19050" rIns="38100" bIns="19050" anchor="t">
            <a:normAutofit fontScale="90000" lnSpcReduction="20000"/>
          </a:bodyPr>
          <a:lstStyle/>
          <a:p>
            <a:pPr algn="ctr">
              <a:spcBef>
                <a:spcPts val="0"/>
              </a:spcBef>
              <a:spcAft>
                <a:spcPts val="0"/>
              </a:spcAft>
              <a:defRPr sz="1275" b="0">
                <a:solidFill>
                  <a:srgbClr val="1F2937"/>
                </a:solidFill>
              </a:defRPr>
            </a:pPr>
            <a:r>
              <a:rPr sz="1275" b="0">
                <a:solidFill>
                  <a:srgbClr val="1F2937"/>
                </a:solidFill>
                <a:latin typeface="Source Han Sans SC"/>
              </a:rPr>
              <a:t>Step = 2112</a:t>
            </a:r>
            <a:endParaRPr sz="1275" b="0">
              <a:solidFill>
                <a:srgbClr val="1F2937"/>
              </a:solidFill>
              <a:latin typeface="Source Han Sans SC"/>
            </a:endParaRPr>
          </a:p>
          <a:p>
            <a:pPr algn="ctr">
              <a:spcBef>
                <a:spcPts val="0"/>
              </a:spcBef>
              <a:spcAft>
                <a:spcPts val="0"/>
              </a:spcAft>
              <a:defRPr sz="1275" b="0">
                <a:solidFill>
                  <a:srgbClr val="1F2937"/>
                </a:solidFill>
              </a:defRPr>
            </a:pPr>
            <a:endParaRPr sz="1275" b="0">
              <a:solidFill>
                <a:srgbClr val="1F2937"/>
              </a:solidFill>
            </a:endParaRPr>
          </a:p>
          <a:p>
            <a:pPr algn="ctr"/>
            <a:r>
              <a:rPr lang="zh-CN" sz="1275" b="0">
                <a:solidFill>
                  <a:srgbClr val="1F2937"/>
                </a:solidFill>
                <a:latin typeface="Source Han Sans SC"/>
                <a:ea typeface="Source Han Sans SC"/>
              </a:rPr>
              <a:t>三类文件已写出</a:t>
            </a:r>
            <a:endParaRPr lang="zh-CN" sz="1275" b="0">
              <a:solidFill>
                <a:srgbClr val="1F2937"/>
              </a:solidFill>
              <a:latin typeface="Source Han Sans SC"/>
              <a:ea typeface="Source Han Sans SC"/>
            </a:endParaRPr>
          </a:p>
          <a:p>
            <a:pPr algn="ctr"/>
            <a:endParaRPr lang="zh-CN" sz="1275" b="0">
              <a:solidFill>
                <a:srgbClr val="1F2937"/>
              </a:solidFill>
              <a:latin typeface="Source Han Sans SC"/>
              <a:ea typeface="Source Han Sans SC"/>
            </a:endParaRPr>
          </a:p>
          <a:p>
            <a:pPr algn="ctr"/>
            <a:r>
              <a:rPr sz="1275" b="0">
                <a:solidFill>
                  <a:srgbClr val="1F2937"/>
                </a:solidFill>
                <a:latin typeface="Source Han Sans SC"/>
              </a:rPr>
              <a:t>BPB = 1.217318</a:t>
            </a:r>
            <a:endParaRPr sz="1275" b="0">
              <a:solidFill>
                <a:srgbClr val="1F2937"/>
              </a:solidFill>
              <a:latin typeface="Source Han Sans SC"/>
            </a:endParaRPr>
          </a:p>
        </p:txBody>
      </p:sp>
      <p:sp>
        <p:nvSpPr>
          <p:cNvPr id="22" name="圆角矩形 21"/>
          <p:cNvSpPr>
            <a:spLocks noGrp="1"/>
          </p:cNvSpPr>
          <p:nvPr/>
        </p:nvSpPr>
        <p:spPr>
          <a:xfrm>
            <a:off x="428625" y="3714750"/>
            <a:ext cx="4000500" cy="1476375"/>
          </a:xfrm>
          <a:prstGeom prst="roundRect">
            <a:avLst>
              <a:gd name="adj" fmla="val 5161"/>
            </a:avLst>
          </a:prstGeom>
          <a:solidFill>
            <a:srgbClr val="F5F7FA"/>
          </a:solidFill>
          <a:ln w="12383">
            <a:solidFill>
              <a:srgbClr val="E5E6E9"/>
            </a:solidFill>
            <a:prstDash val="solid"/>
          </a:ln>
        </p:spPr>
        <p:txBody>
          <a:bodyPr/>
          <a:p/>
        </p:txBody>
      </p:sp>
      <p:sp>
        <p:nvSpPr>
          <p:cNvPr id="23" name="矩形 22"/>
          <p:cNvSpPr>
            <a:spLocks noGrp="1"/>
          </p:cNvSpPr>
          <p:nvPr/>
        </p:nvSpPr>
        <p:spPr>
          <a:xfrm>
            <a:off x="542925" y="3790950"/>
            <a:ext cx="3771900" cy="285750"/>
          </a:xfrm>
          <a:prstGeom prst="rect">
            <a:avLst/>
          </a:prstGeom>
          <a:noFill/>
          <a:ln w="0">
            <a:noFill/>
            <a:prstDash val="solid"/>
          </a:ln>
        </p:spPr>
        <p:txBody>
          <a:bodyPr wrap="square" lIns="38100" tIns="19050" rIns="38100" bIns="19050" anchor="ctr">
            <a:normAutofit/>
          </a:bodyPr>
          <a:lstStyle/>
          <a:p>
            <a:pPr algn="ctr">
              <a:defRPr sz="1500" b="1">
                <a:solidFill>
                  <a:srgbClr val="1F2937"/>
                </a:solidFill>
              </a:defRPr>
            </a:pPr>
            <a:r>
              <a:rPr lang="zh-CN" sz="1500" b="1">
                <a:solidFill>
                  <a:srgbClr val="1F2937"/>
                </a:solidFill>
                <a:latin typeface="Source Han Sans SC"/>
                <a:ea typeface="Source Han Sans SC"/>
              </a:rPr>
              <a:t>训练结束时直接保存</a:t>
            </a:r>
            <a:endParaRPr sz="1500" b="1">
              <a:solidFill>
                <a:srgbClr val="1F2937"/>
              </a:solidFill>
            </a:endParaRPr>
          </a:p>
        </p:txBody>
      </p:sp>
      <p:sp>
        <p:nvSpPr>
          <p:cNvPr id="24" name="矩形 23"/>
          <p:cNvSpPr>
            <a:spLocks noGrp="1"/>
          </p:cNvSpPr>
          <p:nvPr/>
        </p:nvSpPr>
        <p:spPr>
          <a:xfrm>
            <a:off x="542925" y="4095750"/>
            <a:ext cx="3771900" cy="1019175"/>
          </a:xfrm>
          <a:prstGeom prst="rect">
            <a:avLst/>
          </a:prstGeom>
          <a:noFill/>
          <a:ln w="0">
            <a:noFill/>
            <a:prstDash val="solid"/>
          </a:ln>
        </p:spPr>
        <p:txBody>
          <a:bodyPr wrap="square" lIns="38100" tIns="19050" rIns="38100" bIns="19050" anchor="t">
            <a:normAutofit/>
          </a:bodyPr>
          <a:lstStyle/>
          <a:p>
            <a:pPr algn="ctr">
              <a:spcBef>
                <a:spcPts val="0"/>
              </a:spcBef>
              <a:spcAft>
                <a:spcPts val="0"/>
              </a:spcAft>
              <a:defRPr sz="1275" b="0">
                <a:solidFill>
                  <a:srgbClr val="1F2937"/>
                </a:solidFill>
              </a:defRPr>
            </a:pPr>
            <a:r>
              <a:rPr sz="1275" b="0">
                <a:solidFill>
                  <a:srgbClr val="1F2937"/>
                </a:solidFill>
                <a:latin typeface="Source Han Sans SC"/>
              </a:rPr>
              <a:t>Checkpoint </a:t>
            </a:r>
            <a:r>
              <a:rPr lang="zh-CN" sz="1275" b="0">
                <a:solidFill>
                  <a:srgbClr val="1F2937"/>
                </a:solidFill>
                <a:latin typeface="Source Han Sans SC"/>
                <a:ea typeface="Source Han Sans SC"/>
              </a:rPr>
              <a:t>目录包含</a:t>
            </a:r>
            <a:r>
              <a:rPr sz="1275" b="0">
                <a:solidFill>
                  <a:srgbClr val="1F2937"/>
                </a:solidFill>
                <a:latin typeface="Source Han Sans SC"/>
              </a:rPr>
              <a:t> model</a:t>
            </a:r>
            <a:r>
              <a:rPr sz="1275" b="0">
                <a:solidFill>
                  <a:srgbClr val="1F2937"/>
                </a:solidFill>
                <a:latin typeface="Source Han Sans SC"/>
              </a:rPr>
              <a:t>、</a:t>
            </a:r>
            <a:r>
              <a:rPr sz="1275" b="0">
                <a:solidFill>
                  <a:srgbClr val="1F2937"/>
                </a:solidFill>
                <a:latin typeface="Source Han Sans SC"/>
              </a:rPr>
              <a:t>optimizer </a:t>
            </a:r>
            <a:r>
              <a:rPr lang="zh-CN" sz="1275" b="0">
                <a:solidFill>
                  <a:srgbClr val="1F2937"/>
                </a:solidFill>
                <a:latin typeface="Source Han Sans SC"/>
                <a:ea typeface="Source Han Sans SC"/>
              </a:rPr>
              <a:t>与</a:t>
            </a:r>
            <a:r>
              <a:rPr sz="1275" b="0">
                <a:solidFill>
                  <a:srgbClr val="1F2937"/>
                </a:solidFill>
                <a:latin typeface="Source Han Sans SC"/>
              </a:rPr>
              <a:t> metadata</a:t>
            </a:r>
            <a:endParaRPr sz="1275" b="0">
              <a:solidFill>
                <a:srgbClr val="1F2937"/>
              </a:solidFill>
            </a:endParaRPr>
          </a:p>
          <a:p>
            <a:pPr algn="ctr"/>
            <a:r>
              <a:rPr lang="zh-CN" sz="1275" b="0">
                <a:solidFill>
                  <a:srgbClr val="1F2937"/>
                </a:solidFill>
                <a:latin typeface="Source Han Sans SC"/>
                <a:ea typeface="Source Han Sans SC"/>
              </a:rPr>
              <a:t>最终路径已输出｜</a:t>
            </a:r>
            <a:r>
              <a:rPr sz="1275" b="0">
                <a:solidFill>
                  <a:srgbClr val="1F2937"/>
                </a:solidFill>
                <a:latin typeface="Source Han Sans SC"/>
              </a:rPr>
              <a:t>metadata.step=2112</a:t>
            </a:r>
            <a:endParaRPr sz="1275" b="0">
              <a:solidFill>
                <a:srgbClr val="1F2937"/>
              </a:solidFill>
              <a:latin typeface="Source Han Sans SC"/>
            </a:endParaRPr>
          </a:p>
        </p:txBody>
      </p:sp>
      <p:sp>
        <p:nvSpPr>
          <p:cNvPr id="25" name="矩形 24"/>
          <p:cNvSpPr>
            <a:spLocks noGrp="1"/>
          </p:cNvSpPr>
          <p:nvPr/>
        </p:nvSpPr>
        <p:spPr>
          <a:xfrm>
            <a:off x="333375" y="5743575"/>
            <a:ext cx="11525250" cy="514350"/>
          </a:xfrm>
          <a:prstGeom prst="rect">
            <a:avLst/>
          </a:prstGeom>
          <a:solidFill>
            <a:srgbClr val="1E8E94"/>
          </a:solidFill>
          <a:ln w="0">
            <a:noFill/>
            <a:prstDash val="solid"/>
          </a:ln>
        </p:spPr>
        <p:txBody>
          <a:bodyPr/>
          <a:p/>
        </p:txBody>
      </p:sp>
      <p:sp>
        <p:nvSpPr>
          <p:cNvPr id="26" name="矩形 25"/>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defRPr sz="1425" b="1">
                <a:solidFill>
                  <a:srgbClr val="FFFFFF"/>
                </a:solidFill>
              </a:defRPr>
            </a:pPr>
            <a:r>
              <a:rPr lang="zh-CN" sz="1425" b="1">
                <a:solidFill>
                  <a:srgbClr val="FFFFFF"/>
                </a:solidFill>
                <a:latin typeface="Source Han Sans SC"/>
                <a:ea typeface="Source Han Sans SC"/>
              </a:rPr>
              <a:t>模型权重保存学到的参数；优化器保存统计量；</a:t>
            </a:r>
            <a:r>
              <a:rPr sz="1425" b="1">
                <a:solidFill>
                  <a:srgbClr val="FFFFFF"/>
                </a:solidFill>
                <a:latin typeface="Source Han Sans SC"/>
              </a:rPr>
              <a:t>metadata </a:t>
            </a:r>
            <a:r>
              <a:rPr lang="zh-CN" sz="1425" b="1">
                <a:solidFill>
                  <a:srgbClr val="FFFFFF"/>
                </a:solidFill>
                <a:latin typeface="Source Han Sans SC"/>
                <a:ea typeface="Source Han Sans SC"/>
              </a:rPr>
              <a:t>记录</a:t>
            </a:r>
            <a:r>
              <a:rPr sz="1425" b="1">
                <a:solidFill>
                  <a:srgbClr val="FFFFFF"/>
                </a:solidFill>
                <a:latin typeface="Source Han Sans SC"/>
              </a:rPr>
              <a:t> Step</a:t>
            </a:r>
            <a:r>
              <a:rPr lang="zh-CN" sz="1425" b="1">
                <a:solidFill>
                  <a:srgbClr val="FFFFFF"/>
                </a:solidFill>
                <a:latin typeface="Source Han Sans SC"/>
                <a:ea typeface="Source Han Sans SC"/>
              </a:rPr>
              <a:t>、配置、数据位置与验证指标。</a:t>
            </a:r>
            <a:endParaRPr sz="1425" b="1">
              <a:solidFill>
                <a:srgbClr val="FFFFFF"/>
              </a:solidFill>
            </a:endParaRPr>
          </a:p>
        </p:txBody>
      </p:sp>
      <p:pic>
        <p:nvPicPr>
          <p:cNvPr id="28" name="Picture 27" descr="2112-step-direct-validation.png"/>
          <p:cNvPicPr>
            <a:picLocks noChangeAspect="1"/>
          </p:cNvPicPr>
          <p:nvPr/>
        </p:nvPicPr>
        <p:blipFill>
          <a:blip r:embed="rId1"/>
          <a:stretch>
            <a:fillRect/>
          </a:stretch>
        </p:blipFill>
        <p:spPr>
          <a:xfrm>
            <a:off x="429768" y="2021859"/>
            <a:ext cx="4005072" cy="95804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 name="title"/>
          <p:cNvSpPr>
            <a:spLocks noGrp="1"/>
          </p:cNvSpPr>
          <p:nvPr/>
        </p:nvSpPr>
        <p:spPr>
          <a:xfrm>
            <a:off x="333375" y="118110"/>
            <a:ext cx="10058400" cy="647700"/>
          </a:xfrm>
          <a:prstGeom prst="rect">
            <a:avLst/>
          </a:prstGeom>
          <a:noFill/>
          <a:ln w="0">
            <a:noFill/>
            <a:prstDash val="solid"/>
          </a:ln>
        </p:spPr>
        <p:txBody>
          <a:bodyPr wrap="square" lIns="38100" tIns="19050" rIns="38100" bIns="19050" anchor="ctr">
            <a:normAutofit fontScale="86252"/>
          </a:bodyPr>
          <a:lstStyle/>
          <a:p>
            <a:pPr algn="l">
              <a:spcBef>
                <a:spcPts val="0"/>
              </a:spcBef>
              <a:spcAft>
                <a:spcPts val="0"/>
              </a:spcAft>
              <a:defRPr sz="3200" b="1">
                <a:solidFill>
                  <a:srgbClr val="1F2937"/>
                </a:solidFill>
              </a:defRPr>
            </a:pPr>
            <a:r>
              <a:rPr sz="3200" b="1">
                <a:solidFill>
                  <a:srgbClr val="1F2937"/>
                </a:solidFill>
                <a:latin typeface="Source Han Sans SC"/>
              </a:rPr>
              <a:t>2112 Step </a:t>
            </a:r>
            <a:r>
              <a:rPr lang="zh-CN" sz="3200" b="1">
                <a:solidFill>
                  <a:srgbClr val="1F2937"/>
                </a:solidFill>
                <a:latin typeface="Source Han Sans SC"/>
                <a:ea typeface="Source Han Sans SC"/>
              </a:rPr>
              <a:t>训练、独立验证和</a:t>
            </a:r>
            <a:r>
              <a:rPr sz="3200" b="1">
                <a:solidFill>
                  <a:srgbClr val="1F2937"/>
                </a:solidFill>
                <a:latin typeface="Source Han Sans SC"/>
              </a:rPr>
              <a:t> checkpoint </a:t>
            </a:r>
            <a:r>
              <a:rPr lang="zh-CN" sz="3200" b="1">
                <a:solidFill>
                  <a:srgbClr val="1F2937"/>
                </a:solidFill>
                <a:latin typeface="Source Han Sans SC"/>
                <a:ea typeface="Source Han Sans SC"/>
              </a:rPr>
              <a:t>保存均已通过</a:t>
            </a:r>
            <a:endParaRPr sz="3200" b="1">
              <a:solidFill>
                <a:srgbClr val="1F2937"/>
              </a:solidFill>
            </a:endParaRPr>
          </a:p>
        </p:txBody>
      </p:sp>
      <p:sp>
        <p:nvSpPr>
          <p:cNvPr id="2" name="矩形 1"/>
          <p:cNvSpPr>
            <a:spLocks noGrp="1"/>
          </p:cNvSpPr>
          <p:nvPr/>
        </p:nvSpPr>
        <p:spPr>
          <a:xfrm>
            <a:off x="333375" y="971550"/>
            <a:ext cx="8572500" cy="228600"/>
          </a:xfrm>
          <a:prstGeom prst="rect">
            <a:avLst/>
          </a:prstGeom>
          <a:noFill/>
          <a:ln w="0">
            <a:noFill/>
            <a:prstDash val="solid"/>
          </a:ln>
        </p:spPr>
        <p:txBody>
          <a:bodyPr wrap="square" lIns="38100" tIns="19050" rIns="38100" bIns="19050" anchor="ctr">
            <a:normAutofit fontScale="92593" lnSpcReduction="10000"/>
          </a:bodyPr>
          <a:lstStyle/>
          <a:p>
            <a:pPr algn="l">
              <a:defRPr sz="1350" b="0">
                <a:solidFill>
                  <a:srgbClr val="5F6B7A"/>
                </a:solidFill>
              </a:defRPr>
            </a:pPr>
            <a:r>
              <a:rPr lang="zh-CN" sz="1350" b="0">
                <a:solidFill>
                  <a:srgbClr val="5F6B7A"/>
                </a:solidFill>
                <a:latin typeface="Source Han Sans SC"/>
                <a:ea typeface="Source Han Sans SC"/>
              </a:rPr>
              <a:t>用</a:t>
            </a:r>
            <a:r>
              <a:rPr sz="1350" b="0">
                <a:solidFill>
                  <a:srgbClr val="5F6B7A"/>
                </a:solidFill>
                <a:latin typeface="Source Han Sans SC"/>
              </a:rPr>
              <a:t> 6 </a:t>
            </a:r>
            <a:r>
              <a:rPr lang="zh-CN" sz="1350" b="0">
                <a:solidFill>
                  <a:srgbClr val="5F6B7A"/>
                </a:solidFill>
                <a:latin typeface="Source Han Sans SC"/>
                <a:ea typeface="Source Han Sans SC"/>
              </a:rPr>
              <a:t>个问题检查是否真正理解训练闭环</a:t>
            </a:r>
            <a:endParaRPr sz="1350" b="0">
              <a:solidFill>
                <a:srgbClr val="5F6B7A"/>
              </a:solidFill>
            </a:endParaRPr>
          </a:p>
        </p:txBody>
      </p:sp>
      <p:sp>
        <p:nvSpPr>
          <p:cNvPr id="3" name="圆角矩形 2"/>
          <p:cNvSpPr>
            <a:spLocks noGrp="1"/>
          </p:cNvSpPr>
          <p:nvPr/>
        </p:nvSpPr>
        <p:spPr>
          <a:xfrm>
            <a:off x="523875" y="1476375"/>
            <a:ext cx="5334000" cy="742950"/>
          </a:xfrm>
          <a:prstGeom prst="roundRect">
            <a:avLst>
              <a:gd name="adj" fmla="val 10256"/>
            </a:avLst>
          </a:prstGeom>
          <a:solidFill>
            <a:srgbClr val="F3EEF5"/>
          </a:solidFill>
          <a:ln w="12383">
            <a:solidFill>
              <a:srgbClr val="660874"/>
            </a:solidFill>
            <a:prstDash val="solid"/>
          </a:ln>
        </p:spPr>
        <p:txBody>
          <a:bodyPr/>
          <a:p/>
        </p:txBody>
      </p:sp>
      <p:sp>
        <p:nvSpPr>
          <p:cNvPr id="4" name="矩形 3"/>
          <p:cNvSpPr>
            <a:spLocks noGrp="1"/>
          </p:cNvSpPr>
          <p:nvPr/>
        </p:nvSpPr>
        <p:spPr>
          <a:xfrm>
            <a:off x="638175" y="1552575"/>
            <a:ext cx="5105400" cy="590550"/>
          </a:xfrm>
          <a:prstGeom prst="rect">
            <a:avLst/>
          </a:prstGeom>
          <a:noFill/>
          <a:ln w="0">
            <a:noFill/>
            <a:prstDash val="solid"/>
          </a:ln>
        </p:spPr>
        <p:txBody>
          <a:bodyPr wrap="square" lIns="38100" tIns="19050" rIns="38100" bIns="19050" anchor="ctr">
            <a:normAutofit/>
          </a:bodyPr>
          <a:lstStyle/>
          <a:p>
            <a:pPr algn="l">
              <a:defRPr sz="1350" b="0">
                <a:solidFill>
                  <a:srgbClr val="1F2937"/>
                </a:solidFill>
              </a:defRPr>
            </a:pPr>
            <a:r>
              <a:rPr sz="1350" b="0">
                <a:solidFill>
                  <a:srgbClr val="1F2937"/>
                </a:solidFill>
                <a:latin typeface="Source Han Sans SC"/>
              </a:rPr>
              <a:t>1  </a:t>
            </a:r>
            <a:r>
              <a:rPr lang="zh-CN" sz="1350" b="0">
                <a:solidFill>
                  <a:srgbClr val="1F2937"/>
                </a:solidFill>
                <a:latin typeface="Source Han Sans SC"/>
                <a:ea typeface="Source Han Sans SC"/>
              </a:rPr>
              <a:t>两类架构的信息流怎样不同？</a:t>
            </a:r>
            <a:endParaRPr sz="1350" b="0">
              <a:solidFill>
                <a:srgbClr val="1F2937"/>
              </a:solidFill>
            </a:endParaRPr>
          </a:p>
        </p:txBody>
      </p:sp>
      <p:sp>
        <p:nvSpPr>
          <p:cNvPr id="5" name="圆角矩形 4"/>
          <p:cNvSpPr>
            <a:spLocks noGrp="1"/>
          </p:cNvSpPr>
          <p:nvPr/>
        </p:nvSpPr>
        <p:spPr>
          <a:xfrm>
            <a:off x="6334125" y="1476375"/>
            <a:ext cx="5334000" cy="742950"/>
          </a:xfrm>
          <a:prstGeom prst="roundRect">
            <a:avLst>
              <a:gd name="adj" fmla="val 10256"/>
            </a:avLst>
          </a:prstGeom>
          <a:solidFill>
            <a:srgbClr val="E9F4F4"/>
          </a:solidFill>
          <a:ln w="12383">
            <a:solidFill>
              <a:srgbClr val="1E8E94"/>
            </a:solidFill>
            <a:prstDash val="solid"/>
          </a:ln>
        </p:spPr>
        <p:txBody>
          <a:bodyPr/>
          <a:p/>
        </p:txBody>
      </p:sp>
      <p:sp>
        <p:nvSpPr>
          <p:cNvPr id="6" name="矩形 5"/>
          <p:cNvSpPr>
            <a:spLocks noGrp="1"/>
          </p:cNvSpPr>
          <p:nvPr/>
        </p:nvSpPr>
        <p:spPr>
          <a:xfrm>
            <a:off x="6448425" y="1552575"/>
            <a:ext cx="5105400" cy="590550"/>
          </a:xfrm>
          <a:prstGeom prst="rect">
            <a:avLst/>
          </a:prstGeom>
          <a:noFill/>
          <a:ln w="0">
            <a:noFill/>
            <a:prstDash val="solid"/>
          </a:ln>
        </p:spPr>
        <p:txBody>
          <a:bodyPr wrap="square" lIns="38100" tIns="19050" rIns="38100" bIns="19050" anchor="ctr">
            <a:normAutofit/>
          </a:bodyPr>
          <a:lstStyle/>
          <a:p>
            <a:pPr algn="l">
              <a:defRPr sz="1350" b="0">
                <a:solidFill>
                  <a:srgbClr val="1F2937"/>
                </a:solidFill>
              </a:defRPr>
            </a:pPr>
            <a:r>
              <a:rPr sz="1350" b="0">
                <a:solidFill>
                  <a:srgbClr val="1F2937"/>
                </a:solidFill>
                <a:latin typeface="Source Han Sans SC"/>
              </a:rPr>
              <a:t>2  </a:t>
            </a:r>
            <a:r>
              <a:rPr lang="zh-CN" sz="1350" b="0">
                <a:solidFill>
                  <a:srgbClr val="1F2937"/>
                </a:solidFill>
                <a:latin typeface="Source Han Sans SC"/>
                <a:ea typeface="Source Han Sans SC"/>
              </a:rPr>
              <a:t>标签右移与</a:t>
            </a:r>
            <a:r>
              <a:rPr sz="1350" b="0">
                <a:solidFill>
                  <a:srgbClr val="1F2937"/>
                </a:solidFill>
                <a:latin typeface="Source Han Sans SC"/>
              </a:rPr>
              <a:t> Causal Mask </a:t>
            </a:r>
            <a:r>
              <a:rPr lang="zh-CN" sz="1350" b="0">
                <a:solidFill>
                  <a:srgbClr val="1F2937"/>
                </a:solidFill>
                <a:latin typeface="Source Han Sans SC"/>
                <a:ea typeface="Source Han Sans SC"/>
              </a:rPr>
              <a:t>分别解决什么？</a:t>
            </a:r>
            <a:endParaRPr sz="1350" b="0">
              <a:solidFill>
                <a:srgbClr val="1F2937"/>
              </a:solidFill>
            </a:endParaRPr>
          </a:p>
        </p:txBody>
      </p:sp>
      <p:sp>
        <p:nvSpPr>
          <p:cNvPr id="7" name="圆角矩形 6"/>
          <p:cNvSpPr>
            <a:spLocks noGrp="1"/>
          </p:cNvSpPr>
          <p:nvPr/>
        </p:nvSpPr>
        <p:spPr>
          <a:xfrm>
            <a:off x="523875" y="2476500"/>
            <a:ext cx="5334000" cy="742950"/>
          </a:xfrm>
          <a:prstGeom prst="roundRect">
            <a:avLst>
              <a:gd name="adj" fmla="val 10256"/>
            </a:avLst>
          </a:prstGeom>
          <a:solidFill>
            <a:srgbClr val="F3EEF5"/>
          </a:solidFill>
          <a:ln w="12383">
            <a:solidFill>
              <a:srgbClr val="660874"/>
            </a:solidFill>
            <a:prstDash val="solid"/>
          </a:ln>
        </p:spPr>
        <p:txBody>
          <a:bodyPr/>
          <a:p/>
        </p:txBody>
      </p:sp>
      <p:sp>
        <p:nvSpPr>
          <p:cNvPr id="8" name="矩形 7"/>
          <p:cNvSpPr>
            <a:spLocks noGrp="1"/>
          </p:cNvSpPr>
          <p:nvPr/>
        </p:nvSpPr>
        <p:spPr>
          <a:xfrm>
            <a:off x="638175" y="2552700"/>
            <a:ext cx="5105400" cy="590550"/>
          </a:xfrm>
          <a:prstGeom prst="rect">
            <a:avLst/>
          </a:prstGeom>
          <a:noFill/>
          <a:ln w="0">
            <a:noFill/>
            <a:prstDash val="solid"/>
          </a:ln>
        </p:spPr>
        <p:txBody>
          <a:bodyPr wrap="square" lIns="38100" tIns="19050" rIns="38100" bIns="19050" anchor="ctr">
            <a:normAutofit/>
          </a:bodyPr>
          <a:lstStyle/>
          <a:p>
            <a:pPr algn="l">
              <a:defRPr sz="1350" b="0">
                <a:solidFill>
                  <a:srgbClr val="1F2937"/>
                </a:solidFill>
              </a:defRPr>
            </a:pPr>
            <a:r>
              <a:rPr sz="1350" b="0">
                <a:solidFill>
                  <a:srgbClr val="1F2937"/>
                </a:solidFill>
                <a:latin typeface="Source Han Sans SC"/>
              </a:rPr>
              <a:t>3  Logits </a:t>
            </a:r>
            <a:r>
              <a:rPr lang="zh-CN" sz="1350" b="0">
                <a:solidFill>
                  <a:srgbClr val="1F2937"/>
                </a:solidFill>
                <a:latin typeface="Source Han Sans SC"/>
                <a:ea typeface="Source Han Sans SC"/>
              </a:rPr>
              <a:t>怎样经过</a:t>
            </a:r>
            <a:r>
              <a:rPr sz="1350" b="0">
                <a:solidFill>
                  <a:srgbClr val="1F2937"/>
                </a:solidFill>
                <a:latin typeface="Source Han Sans SC"/>
              </a:rPr>
              <a:t> Softmax </a:t>
            </a:r>
            <a:r>
              <a:rPr lang="zh-CN" sz="1350" b="0">
                <a:solidFill>
                  <a:srgbClr val="1F2937"/>
                </a:solidFill>
                <a:latin typeface="Source Han Sans SC"/>
                <a:ea typeface="Source Han Sans SC"/>
              </a:rPr>
              <a:t>与</a:t>
            </a:r>
            <a:r>
              <a:rPr sz="1350" b="0">
                <a:solidFill>
                  <a:srgbClr val="1F2937"/>
                </a:solidFill>
                <a:latin typeface="Source Han Sans SC"/>
              </a:rPr>
              <a:t> Cross-Entropy </a:t>
            </a:r>
            <a:r>
              <a:rPr lang="zh-CN" sz="1350" b="0">
                <a:solidFill>
                  <a:srgbClr val="1F2937"/>
                </a:solidFill>
                <a:latin typeface="Source Han Sans SC"/>
                <a:ea typeface="Source Han Sans SC"/>
              </a:rPr>
              <a:t>形成</a:t>
            </a:r>
            <a:r>
              <a:rPr sz="1350" b="0">
                <a:solidFill>
                  <a:srgbClr val="1F2937"/>
                </a:solidFill>
                <a:latin typeface="Source Han Sans SC"/>
              </a:rPr>
              <a:t> Loss</a:t>
            </a:r>
            <a:r>
              <a:rPr sz="1350" b="0">
                <a:solidFill>
                  <a:srgbClr val="1F2937"/>
                </a:solidFill>
                <a:latin typeface="Source Han Sans SC"/>
              </a:rPr>
              <a:t>？</a:t>
            </a:r>
            <a:endParaRPr sz="1350" b="0">
              <a:solidFill>
                <a:srgbClr val="1F2937"/>
              </a:solidFill>
            </a:endParaRPr>
          </a:p>
        </p:txBody>
      </p:sp>
      <p:sp>
        <p:nvSpPr>
          <p:cNvPr id="9" name="圆角矩形 8"/>
          <p:cNvSpPr>
            <a:spLocks noGrp="1"/>
          </p:cNvSpPr>
          <p:nvPr/>
        </p:nvSpPr>
        <p:spPr>
          <a:xfrm>
            <a:off x="6334125" y="2476500"/>
            <a:ext cx="5334000" cy="742950"/>
          </a:xfrm>
          <a:prstGeom prst="roundRect">
            <a:avLst>
              <a:gd name="adj" fmla="val 10256"/>
            </a:avLst>
          </a:prstGeom>
          <a:solidFill>
            <a:srgbClr val="E9F4F4"/>
          </a:solidFill>
          <a:ln w="12383">
            <a:solidFill>
              <a:srgbClr val="1E8E94"/>
            </a:solidFill>
            <a:prstDash val="solid"/>
          </a:ln>
        </p:spPr>
        <p:txBody>
          <a:bodyPr/>
          <a:p/>
        </p:txBody>
      </p:sp>
      <p:sp>
        <p:nvSpPr>
          <p:cNvPr id="10" name="矩形 9"/>
          <p:cNvSpPr>
            <a:spLocks noGrp="1"/>
          </p:cNvSpPr>
          <p:nvPr/>
        </p:nvSpPr>
        <p:spPr>
          <a:xfrm>
            <a:off x="6448425" y="2552700"/>
            <a:ext cx="5105400" cy="590550"/>
          </a:xfrm>
          <a:prstGeom prst="rect">
            <a:avLst/>
          </a:prstGeom>
          <a:noFill/>
          <a:ln w="0">
            <a:noFill/>
            <a:prstDash val="solid"/>
          </a:ln>
        </p:spPr>
        <p:txBody>
          <a:bodyPr wrap="square" lIns="38100" tIns="19050" rIns="38100" bIns="19050" anchor="ctr">
            <a:normAutofit/>
          </a:bodyPr>
          <a:lstStyle/>
          <a:p>
            <a:pPr algn="l">
              <a:defRPr sz="1350" b="0">
                <a:solidFill>
                  <a:srgbClr val="1F2937"/>
                </a:solidFill>
              </a:defRPr>
            </a:pPr>
            <a:r>
              <a:rPr sz="1350" b="0">
                <a:solidFill>
                  <a:srgbClr val="1F2937"/>
                </a:solidFill>
                <a:latin typeface="Source Han Sans SC"/>
              </a:rPr>
              <a:t>4  nanochat </a:t>
            </a:r>
            <a:r>
              <a:rPr lang="zh-CN" sz="1350" b="0">
                <a:solidFill>
                  <a:srgbClr val="1F2937"/>
                </a:solidFill>
                <a:latin typeface="Source Han Sans SC"/>
                <a:ea typeface="Source Han Sans SC"/>
              </a:rPr>
              <a:t>的一次</a:t>
            </a:r>
            <a:r>
              <a:rPr sz="1350" b="0">
                <a:solidFill>
                  <a:srgbClr val="1F2937"/>
                </a:solidFill>
                <a:latin typeface="Source Han Sans SC"/>
              </a:rPr>
              <a:t> Step </a:t>
            </a:r>
            <a:r>
              <a:rPr lang="zh-CN" sz="1350" b="0">
                <a:solidFill>
                  <a:srgbClr val="1F2937"/>
                </a:solidFill>
                <a:latin typeface="Source Han Sans SC"/>
                <a:ea typeface="Source Han Sans SC"/>
              </a:rPr>
              <a:t>在哪些文件中执行？</a:t>
            </a:r>
            <a:endParaRPr sz="1350" b="0">
              <a:solidFill>
                <a:srgbClr val="1F2937"/>
              </a:solidFill>
            </a:endParaRPr>
          </a:p>
        </p:txBody>
      </p:sp>
      <p:sp>
        <p:nvSpPr>
          <p:cNvPr id="11" name="圆角矩形 10"/>
          <p:cNvSpPr>
            <a:spLocks noGrp="1"/>
          </p:cNvSpPr>
          <p:nvPr/>
        </p:nvSpPr>
        <p:spPr>
          <a:xfrm>
            <a:off x="523875" y="3476625"/>
            <a:ext cx="5334000" cy="742950"/>
          </a:xfrm>
          <a:prstGeom prst="roundRect">
            <a:avLst>
              <a:gd name="adj" fmla="val 10256"/>
            </a:avLst>
          </a:prstGeom>
          <a:solidFill>
            <a:srgbClr val="F3EEF5"/>
          </a:solidFill>
          <a:ln w="12383">
            <a:solidFill>
              <a:srgbClr val="660874"/>
            </a:solidFill>
            <a:prstDash val="solid"/>
          </a:ln>
        </p:spPr>
        <p:txBody>
          <a:bodyPr/>
          <a:p/>
        </p:txBody>
      </p:sp>
      <p:sp>
        <p:nvSpPr>
          <p:cNvPr id="12" name="矩形 11"/>
          <p:cNvSpPr>
            <a:spLocks noGrp="1"/>
          </p:cNvSpPr>
          <p:nvPr/>
        </p:nvSpPr>
        <p:spPr>
          <a:xfrm>
            <a:off x="638175" y="3552825"/>
            <a:ext cx="5105400" cy="590550"/>
          </a:xfrm>
          <a:prstGeom prst="rect">
            <a:avLst/>
          </a:prstGeom>
          <a:noFill/>
          <a:ln w="0">
            <a:noFill/>
            <a:prstDash val="solid"/>
          </a:ln>
        </p:spPr>
        <p:txBody>
          <a:bodyPr wrap="square" lIns="38100" tIns="19050" rIns="38100" bIns="19050" anchor="ctr">
            <a:normAutofit/>
          </a:bodyPr>
          <a:lstStyle/>
          <a:p>
            <a:pPr algn="l">
              <a:defRPr sz="1350" b="0">
                <a:solidFill>
                  <a:srgbClr val="1F2937"/>
                </a:solidFill>
              </a:defRPr>
            </a:pPr>
            <a:r>
              <a:rPr sz="1350" b="0">
                <a:solidFill>
                  <a:srgbClr val="1F2937"/>
                </a:solidFill>
                <a:latin typeface="Source Han Sans SC"/>
              </a:rPr>
              <a:t>5  </a:t>
            </a:r>
            <a:r>
              <a:rPr lang="zh-CN" sz="1350" b="0">
                <a:solidFill>
                  <a:srgbClr val="1F2937"/>
                </a:solidFill>
                <a:latin typeface="Source Han Sans SC"/>
                <a:ea typeface="Source Han Sans SC"/>
              </a:rPr>
              <a:t>为什么必须使用独立验证分片？</a:t>
            </a:r>
            <a:endParaRPr sz="1350" b="0">
              <a:solidFill>
                <a:srgbClr val="1F2937"/>
              </a:solidFill>
            </a:endParaRPr>
          </a:p>
        </p:txBody>
      </p:sp>
      <p:sp>
        <p:nvSpPr>
          <p:cNvPr id="13" name="圆角矩形 12"/>
          <p:cNvSpPr>
            <a:spLocks noGrp="1"/>
          </p:cNvSpPr>
          <p:nvPr/>
        </p:nvSpPr>
        <p:spPr>
          <a:xfrm>
            <a:off x="6334125" y="3476625"/>
            <a:ext cx="5334000" cy="742950"/>
          </a:xfrm>
          <a:prstGeom prst="roundRect">
            <a:avLst>
              <a:gd name="adj" fmla="val 10256"/>
            </a:avLst>
          </a:prstGeom>
          <a:solidFill>
            <a:srgbClr val="E9F4F4"/>
          </a:solidFill>
          <a:ln w="12383">
            <a:solidFill>
              <a:srgbClr val="1E8E94"/>
            </a:solidFill>
            <a:prstDash val="solid"/>
          </a:ln>
        </p:spPr>
        <p:txBody>
          <a:bodyPr/>
          <a:p/>
        </p:txBody>
      </p:sp>
      <p:sp>
        <p:nvSpPr>
          <p:cNvPr id="14" name="矩形 13"/>
          <p:cNvSpPr>
            <a:spLocks noGrp="1"/>
          </p:cNvSpPr>
          <p:nvPr/>
        </p:nvSpPr>
        <p:spPr>
          <a:xfrm>
            <a:off x="6448425" y="3552825"/>
            <a:ext cx="5105400" cy="590550"/>
          </a:xfrm>
          <a:prstGeom prst="rect">
            <a:avLst/>
          </a:prstGeom>
          <a:noFill/>
          <a:ln w="0">
            <a:noFill/>
            <a:prstDash val="solid"/>
          </a:ln>
        </p:spPr>
        <p:txBody>
          <a:bodyPr wrap="square" lIns="38100" tIns="19050" rIns="38100" bIns="19050" anchor="ctr">
            <a:normAutofit/>
          </a:bodyPr>
          <a:lstStyle/>
          <a:p>
            <a:pPr algn="l">
              <a:defRPr sz="1350" b="0">
                <a:solidFill>
                  <a:srgbClr val="1F2937"/>
                </a:solidFill>
              </a:defRPr>
            </a:pPr>
            <a:r>
              <a:rPr sz="1350" b="0">
                <a:solidFill>
                  <a:srgbClr val="1F2937"/>
                </a:solidFill>
                <a:latin typeface="Source Han Sans SC"/>
              </a:rPr>
              <a:t>6  </a:t>
            </a:r>
            <a:r>
              <a:rPr lang="zh-CN" sz="1350" b="0">
                <a:solidFill>
                  <a:srgbClr val="1F2937"/>
                </a:solidFill>
                <a:latin typeface="Source Han Sans SC"/>
                <a:ea typeface="Source Han Sans SC"/>
              </a:rPr>
              <a:t>为什么</a:t>
            </a:r>
            <a:r>
              <a:rPr sz="1350" b="0">
                <a:solidFill>
                  <a:srgbClr val="1F2937"/>
                </a:solidFill>
                <a:latin typeface="Source Han Sans SC"/>
              </a:rPr>
              <a:t> checkpoint </a:t>
            </a:r>
            <a:r>
              <a:rPr lang="zh-CN" sz="1350" b="0">
                <a:solidFill>
                  <a:srgbClr val="1F2937"/>
                </a:solidFill>
                <a:latin typeface="Source Han Sans SC"/>
                <a:ea typeface="Source Han Sans SC"/>
              </a:rPr>
              <a:t>需要</a:t>
            </a:r>
            <a:r>
              <a:rPr sz="1350" b="0">
                <a:solidFill>
                  <a:srgbClr val="1F2937"/>
                </a:solidFill>
                <a:latin typeface="Source Han Sans SC"/>
              </a:rPr>
              <a:t> model + optimizer + metadata</a:t>
            </a:r>
            <a:r>
              <a:rPr sz="1350" b="0">
                <a:solidFill>
                  <a:srgbClr val="1F2937"/>
                </a:solidFill>
                <a:latin typeface="Source Han Sans SC"/>
              </a:rPr>
              <a:t>？</a:t>
            </a:r>
            <a:endParaRPr sz="1350" b="0">
              <a:solidFill>
                <a:srgbClr val="1F2937"/>
              </a:solidFill>
            </a:endParaRPr>
          </a:p>
        </p:txBody>
      </p:sp>
      <p:sp>
        <p:nvSpPr>
          <p:cNvPr id="15" name="圆角矩形 14"/>
          <p:cNvSpPr>
            <a:spLocks noGrp="1"/>
          </p:cNvSpPr>
          <p:nvPr/>
        </p:nvSpPr>
        <p:spPr>
          <a:xfrm>
            <a:off x="1524000" y="4667250"/>
            <a:ext cx="6858000" cy="742950"/>
          </a:xfrm>
          <a:prstGeom prst="roundRect">
            <a:avLst>
              <a:gd name="adj" fmla="val 10256"/>
            </a:avLst>
          </a:prstGeom>
          <a:solidFill>
            <a:srgbClr val="EEF8E9"/>
          </a:solidFill>
          <a:ln w="12383">
            <a:solidFill>
              <a:srgbClr val="48BB00"/>
            </a:solidFill>
            <a:prstDash val="solid"/>
          </a:ln>
        </p:spPr>
        <p:txBody>
          <a:bodyPr/>
          <a:p/>
        </p:txBody>
      </p:sp>
      <p:sp>
        <p:nvSpPr>
          <p:cNvPr id="16" name="矩形 15"/>
          <p:cNvSpPr>
            <a:spLocks noGrp="1"/>
          </p:cNvSpPr>
          <p:nvPr/>
        </p:nvSpPr>
        <p:spPr>
          <a:xfrm>
            <a:off x="1638300" y="4743450"/>
            <a:ext cx="6629400" cy="285750"/>
          </a:xfrm>
          <a:prstGeom prst="rect">
            <a:avLst/>
          </a:prstGeom>
          <a:noFill/>
          <a:ln w="0">
            <a:noFill/>
            <a:prstDash val="solid"/>
          </a:ln>
        </p:spPr>
        <p:txBody>
          <a:bodyPr wrap="square" lIns="38100" tIns="19050" rIns="38100" bIns="19050" anchor="ctr">
            <a:normAutofit/>
          </a:bodyPr>
          <a:lstStyle/>
          <a:p>
            <a:pPr algn="ctr">
              <a:defRPr sz="1350" b="1">
                <a:solidFill>
                  <a:srgbClr val="48BB00"/>
                </a:solidFill>
              </a:defRPr>
            </a:pPr>
            <a:r>
              <a:rPr lang="zh-CN" sz="1350" b="1">
                <a:solidFill>
                  <a:srgbClr val="48BB00"/>
                </a:solidFill>
                <a:latin typeface="Source Han Sans SC"/>
                <a:ea typeface="Source Han Sans SC"/>
              </a:rPr>
              <a:t>第四课交付</a:t>
            </a:r>
            <a:endParaRPr sz="1350" b="1">
              <a:solidFill>
                <a:srgbClr val="48BB00"/>
              </a:solidFill>
            </a:endParaRPr>
          </a:p>
        </p:txBody>
      </p:sp>
      <p:sp>
        <p:nvSpPr>
          <p:cNvPr id="17" name="矩形 16"/>
          <p:cNvSpPr>
            <a:spLocks noGrp="1"/>
          </p:cNvSpPr>
          <p:nvPr/>
        </p:nvSpPr>
        <p:spPr>
          <a:xfrm>
            <a:off x="1530350" y="5048250"/>
            <a:ext cx="6737985" cy="343535"/>
          </a:xfrm>
          <a:prstGeom prst="rect">
            <a:avLst/>
          </a:prstGeom>
          <a:noFill/>
          <a:ln w="0">
            <a:noFill/>
            <a:prstDash val="solid"/>
          </a:ln>
        </p:spPr>
        <p:txBody>
          <a:bodyPr wrap="square" lIns="38100" tIns="19050" rIns="38100" bIns="19050" anchor="t">
            <a:normAutofit fontScale="80000"/>
          </a:bodyPr>
          <a:lstStyle/>
          <a:p>
            <a:pPr algn="ctr">
              <a:spcBef>
                <a:spcPts val="0"/>
              </a:spcBef>
              <a:spcAft>
                <a:spcPts val="0"/>
              </a:spcAft>
              <a:defRPr sz="1350" b="0">
                <a:solidFill>
                  <a:srgbClr val="1F2937"/>
                </a:solidFill>
              </a:defRPr>
            </a:pPr>
            <a:r>
              <a:rPr sz="1350" b="0">
                <a:solidFill>
                  <a:srgbClr val="1F2937"/>
                </a:solidFill>
                <a:latin typeface="Source Han Sans SC"/>
              </a:rPr>
              <a:t>00–09 </a:t>
            </a:r>
            <a:r>
              <a:rPr lang="zh-CN" sz="1350" b="0">
                <a:solidFill>
                  <a:srgbClr val="1F2937"/>
                </a:solidFill>
                <a:latin typeface="Source Han Sans SC"/>
                <a:ea typeface="Source Han Sans SC"/>
              </a:rPr>
              <a:t>训练</a:t>
            </a:r>
            <a:r>
              <a:rPr sz="1350" b="0">
                <a:solidFill>
                  <a:srgbClr val="1F2937"/>
                </a:solidFill>
                <a:latin typeface="Source Han Sans SC"/>
              </a:rPr>
              <a:t> / 6542 </a:t>
            </a:r>
            <a:r>
              <a:rPr lang="zh-CN" sz="1350" b="0">
                <a:solidFill>
                  <a:srgbClr val="1F2937"/>
                </a:solidFill>
                <a:latin typeface="Source Han Sans SC"/>
                <a:ea typeface="Source Han Sans SC"/>
              </a:rPr>
              <a:t>验证</a:t>
            </a:r>
            <a:r>
              <a:rPr sz="1350" b="0">
                <a:solidFill>
                  <a:srgbClr val="1F2937"/>
                </a:solidFill>
                <a:latin typeface="Source Han Sans SC"/>
              </a:rPr>
              <a:t> → 2112 Step → Validation BPB=1.217318 → </a:t>
            </a:r>
            <a:r>
              <a:rPr lang="zh-CN" sz="1350" b="0">
                <a:solidFill>
                  <a:srgbClr val="1F2937"/>
                </a:solidFill>
                <a:latin typeface="Source Han Sans SC"/>
                <a:ea typeface="Source Han Sans SC"/>
              </a:rPr>
              <a:t>完整</a:t>
            </a:r>
            <a:r>
              <a:rPr sz="1350" b="0">
                <a:solidFill>
                  <a:srgbClr val="1F2937"/>
                </a:solidFill>
                <a:latin typeface="Source Han Sans SC"/>
              </a:rPr>
              <a:t> checkpoint</a:t>
            </a:r>
            <a:endParaRPr sz="1350" b="0">
              <a:solidFill>
                <a:srgbClr val="1F2937"/>
              </a:solidFill>
            </a:endParaRPr>
          </a:p>
        </p:txBody>
      </p:sp>
      <p:sp>
        <p:nvSpPr>
          <p:cNvPr id="18" name="直接连接符 17"/>
          <p:cNvSpPr>
            <a:spLocks noGrp="1"/>
          </p:cNvSpPr>
          <p:nvPr/>
        </p:nvSpPr>
        <p:spPr>
          <a:xfrm>
            <a:off x="8572500" y="5038725"/>
            <a:ext cx="1047750" cy="0"/>
          </a:xfrm>
          <a:prstGeom prst="line">
            <a:avLst/>
          </a:prstGeom>
          <a:noFill/>
          <a:ln w="28575">
            <a:solidFill>
              <a:srgbClr val="660874"/>
            </a:solidFill>
            <a:prstDash val="solid"/>
          </a:ln>
        </p:spPr>
        <p:txBody>
          <a:bodyPr/>
          <a:p/>
        </p:txBody>
      </p:sp>
      <p:sp>
        <p:nvSpPr>
          <p:cNvPr id="19" name="任意多边形 18"/>
          <p:cNvSpPr>
            <a:spLocks noGrp="1"/>
          </p:cNvSpPr>
          <p:nvPr/>
        </p:nvSpPr>
        <p:spPr>
          <a:xfrm>
            <a:off x="9515475" y="4991100"/>
            <a:ext cx="104775" cy="95250"/>
          </a:xfrm>
          <a:custGeom>
            <a:avLst/>
            <a:gdLst/>
            <a:ahLst/>
            <a:cxnLst/>
            <a:pathLst>
              <a:path w="104775" h="95250">
                <a:moveTo>
                  <a:pt x="0" y="0"/>
                </a:moveTo>
                <a:lnTo>
                  <a:pt x="104775" y="47625"/>
                </a:lnTo>
                <a:lnTo>
                  <a:pt x="0" y="95250"/>
                </a:lnTo>
                <a:close/>
              </a:path>
            </a:pathLst>
          </a:custGeom>
          <a:solidFill>
            <a:srgbClr val="660874"/>
          </a:solidFill>
          <a:ln w="0">
            <a:solidFill>
              <a:srgbClr val="660874"/>
            </a:solidFill>
            <a:prstDash val="solid"/>
          </a:ln>
        </p:spPr>
        <p:txBody>
          <a:bodyPr/>
          <a:p/>
        </p:txBody>
      </p:sp>
      <p:sp>
        <p:nvSpPr>
          <p:cNvPr id="20" name="圆角矩形 19"/>
          <p:cNvSpPr>
            <a:spLocks noGrp="1"/>
          </p:cNvSpPr>
          <p:nvPr/>
        </p:nvSpPr>
        <p:spPr>
          <a:xfrm>
            <a:off x="9620250" y="4619625"/>
            <a:ext cx="2000250" cy="838200"/>
          </a:xfrm>
          <a:prstGeom prst="roundRect">
            <a:avLst>
              <a:gd name="adj" fmla="val 9091"/>
            </a:avLst>
          </a:prstGeom>
          <a:solidFill>
            <a:srgbClr val="FFF7E8"/>
          </a:solidFill>
          <a:ln w="12383">
            <a:solidFill>
              <a:srgbClr val="C26700"/>
            </a:solidFill>
            <a:prstDash val="solid"/>
          </a:ln>
        </p:spPr>
        <p:txBody>
          <a:bodyPr/>
          <a:p/>
        </p:txBody>
      </p:sp>
      <p:sp>
        <p:nvSpPr>
          <p:cNvPr id="21" name="矩形 20"/>
          <p:cNvSpPr>
            <a:spLocks noGrp="1"/>
          </p:cNvSpPr>
          <p:nvPr/>
        </p:nvSpPr>
        <p:spPr>
          <a:xfrm>
            <a:off x="9734550" y="4695825"/>
            <a:ext cx="1771650" cy="285750"/>
          </a:xfrm>
          <a:prstGeom prst="rect">
            <a:avLst/>
          </a:prstGeom>
          <a:noFill/>
          <a:ln w="0">
            <a:noFill/>
            <a:prstDash val="solid"/>
          </a:ln>
        </p:spPr>
        <p:txBody>
          <a:bodyPr wrap="square" lIns="38100" tIns="19050" rIns="38100" bIns="19050" anchor="ctr">
            <a:normAutofit/>
          </a:bodyPr>
          <a:lstStyle/>
          <a:p>
            <a:pPr algn="ctr">
              <a:defRPr sz="1350" b="1">
                <a:solidFill>
                  <a:srgbClr val="C26700"/>
                </a:solidFill>
              </a:defRPr>
            </a:pPr>
            <a:r>
              <a:rPr lang="zh-CN" sz="1350" b="1">
                <a:solidFill>
                  <a:srgbClr val="C26700"/>
                </a:solidFill>
                <a:latin typeface="Source Han Sans SC"/>
                <a:ea typeface="Source Han Sans SC"/>
              </a:rPr>
              <a:t>第五课起点</a:t>
            </a:r>
            <a:endParaRPr sz="1350" b="1">
              <a:solidFill>
                <a:srgbClr val="C26700"/>
              </a:solidFill>
            </a:endParaRPr>
          </a:p>
        </p:txBody>
      </p:sp>
      <p:sp>
        <p:nvSpPr>
          <p:cNvPr id="22" name="矩形 21"/>
          <p:cNvSpPr>
            <a:spLocks noGrp="1"/>
          </p:cNvSpPr>
          <p:nvPr/>
        </p:nvSpPr>
        <p:spPr>
          <a:xfrm>
            <a:off x="9734550" y="4965192"/>
            <a:ext cx="1771650" cy="457200"/>
          </a:xfrm>
          <a:prstGeom prst="rect">
            <a:avLst/>
          </a:prstGeom>
          <a:noFill/>
          <a:ln w="0">
            <a:noFill/>
            <a:prstDash val="solid"/>
          </a:ln>
        </p:spPr>
        <p:txBody>
          <a:bodyPr wrap="square" lIns="38100" tIns="19050" rIns="38100" bIns="19050" anchor="t">
            <a:normAutofit fontScale="71891"/>
          </a:bodyPr>
          <a:lstStyle/>
          <a:p>
            <a:pPr algn="ctr">
              <a:defRPr sz="1200" b="0">
                <a:solidFill>
                  <a:srgbClr val="1F2937"/>
                </a:solidFill>
              </a:defRPr>
            </a:pPr>
            <a:r>
              <a:rPr lang="zh-CN" sz="1200" b="0">
                <a:solidFill>
                  <a:srgbClr val="1F2937"/>
                </a:solidFill>
                <a:latin typeface="Source Han Sans SC"/>
                <a:ea typeface="Source Han Sans SC"/>
              </a:rPr>
              <a:t>加载</a:t>
            </a:r>
            <a:r>
              <a:rPr sz="1200" b="0">
                <a:solidFill>
                  <a:srgbClr val="1F2937"/>
                </a:solidFill>
                <a:latin typeface="Source Han Sans SC"/>
              </a:rPr>
              <a:t> checkpoint</a:t>
            </a:r>
            <a:endParaRPr sz="1200" b="0">
              <a:solidFill>
                <a:srgbClr val="1F2937"/>
              </a:solidFill>
            </a:endParaRPr>
          </a:p>
          <a:p>
            <a:pPr algn="ctr">
              <a:defRPr sz="1200" b="0">
                <a:solidFill>
                  <a:srgbClr val="1F2937"/>
                </a:solidFill>
              </a:defRPr>
            </a:pPr>
            <a:r>
              <a:rPr sz="1200" b="0">
                <a:solidFill>
                  <a:srgbClr val="1F2937"/>
                </a:solidFill>
                <a:latin typeface="Source Han Sans SC"/>
              </a:rPr>
              <a:t>Prompt / Sampling / KV Cache</a:t>
            </a:r>
            <a:endParaRPr sz="1200" b="0">
              <a:solidFill>
                <a:srgbClr val="1F2937"/>
              </a:solidFill>
            </a:endParaRPr>
          </a:p>
        </p:txBody>
      </p:sp>
      <p:sp>
        <p:nvSpPr>
          <p:cNvPr id="23" name="矩形 22"/>
          <p:cNvSpPr>
            <a:spLocks noGrp="1"/>
          </p:cNvSpPr>
          <p:nvPr/>
        </p:nvSpPr>
        <p:spPr>
          <a:xfrm>
            <a:off x="333375" y="5743575"/>
            <a:ext cx="11525250" cy="514350"/>
          </a:xfrm>
          <a:prstGeom prst="rect">
            <a:avLst/>
          </a:prstGeom>
          <a:solidFill>
            <a:srgbClr val="660874"/>
          </a:solidFill>
          <a:ln w="0">
            <a:noFill/>
            <a:prstDash val="solid"/>
          </a:ln>
        </p:spPr>
        <p:txBody>
          <a:bodyPr/>
          <a:p/>
        </p:txBody>
      </p:sp>
      <p:sp>
        <p:nvSpPr>
          <p:cNvPr id="24" name="矩形 23"/>
          <p:cNvSpPr>
            <a:spLocks noGrp="1"/>
          </p:cNvSpPr>
          <p:nvPr/>
        </p:nvSpPr>
        <p:spPr>
          <a:xfrm>
            <a:off x="523875" y="5810250"/>
            <a:ext cx="11144250" cy="381000"/>
          </a:xfrm>
          <a:prstGeom prst="rect">
            <a:avLst/>
          </a:prstGeom>
          <a:noFill/>
          <a:ln w="0">
            <a:noFill/>
            <a:prstDash val="solid"/>
          </a:ln>
        </p:spPr>
        <p:txBody>
          <a:bodyPr wrap="square" lIns="38100" tIns="19050" rIns="38100" bIns="19050" anchor="ctr">
            <a:normAutofit/>
          </a:bodyPr>
          <a:lstStyle/>
          <a:p>
            <a:pPr algn="ctr">
              <a:spcBef>
                <a:spcPts val="0"/>
              </a:spcBef>
              <a:spcAft>
                <a:spcPts val="0"/>
              </a:spcAft>
              <a:defRPr sz="1425" b="1">
                <a:solidFill>
                  <a:srgbClr val="FFFFFF"/>
                </a:solidFill>
              </a:defRPr>
            </a:pPr>
            <a:r>
              <a:rPr lang="zh-CN" sz="1425" b="1">
                <a:solidFill>
                  <a:srgbClr val="FFFFFF"/>
                </a:solidFill>
                <a:latin typeface="Source Han Sans SC"/>
                <a:ea typeface="Source Han Sans SC"/>
              </a:rPr>
              <a:t>第四课已完成训练、独立验证与</a:t>
            </a:r>
            <a:r>
              <a:rPr sz="1425" b="1">
                <a:solidFill>
                  <a:srgbClr val="FFFFFF"/>
                </a:solidFill>
                <a:latin typeface="Source Han Sans SC"/>
              </a:rPr>
              <a:t> checkpoint </a:t>
            </a:r>
            <a:r>
              <a:rPr lang="zh-CN" sz="1425" b="1">
                <a:solidFill>
                  <a:srgbClr val="FFFFFF"/>
                </a:solidFill>
                <a:latin typeface="Source Han Sans SC"/>
                <a:ea typeface="Source Han Sans SC"/>
              </a:rPr>
              <a:t>保存；第五课从已保存权重进入推理闭环。</a:t>
            </a:r>
            <a:endParaRPr sz="1425" b="1">
              <a:solidFill>
                <a:srgbClr val="FFFFFF"/>
              </a:solidFill>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329184" y="101092"/>
            <a:ext cx="11064240" cy="649224"/>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2950" b="1">
                <a:solidFill>
                  <a:srgbClr val="1F2937"/>
                </a:solidFill>
                <a:latin typeface="Source Han Sans SC"/>
                <a:ea typeface="Source Han Sans SC"/>
              </a:rPr>
              <a:t>六个问题的答案</a:t>
            </a:r>
            <a:r>
              <a:rPr lang="zh-CN" altLang="en-US" sz="2950" b="1">
                <a:solidFill>
                  <a:srgbClr val="1F2937"/>
                </a:solidFill>
                <a:latin typeface="Source Han Sans SC"/>
                <a:ea typeface="Source Han Sans SC"/>
              </a:rPr>
              <a:t>：</a:t>
            </a:r>
            <a:r>
              <a:rPr lang="zh-CN" altLang="en-US" sz="2950" b="1">
                <a:solidFill>
                  <a:srgbClr val="1F2937"/>
                </a:solidFill>
                <a:latin typeface="Source Han Sans SC"/>
                <a:ea typeface="Source Han Sans SC"/>
              </a:rPr>
              <a:t>把</a:t>
            </a:r>
            <a:r>
              <a:rPr lang="zh-CN" altLang="en-US" sz="2950" b="1">
                <a:solidFill>
                  <a:srgbClr val="1F2937"/>
                </a:solidFill>
                <a:latin typeface="Source Han Sans SC"/>
                <a:ea typeface="Source Han Sans SC"/>
              </a:rPr>
              <a:t> Decoder-Only </a:t>
            </a:r>
            <a:r>
              <a:rPr lang="zh-CN" altLang="en-US" sz="2950" b="1">
                <a:solidFill>
                  <a:srgbClr val="1F2937"/>
                </a:solidFill>
                <a:latin typeface="Source Han Sans SC"/>
                <a:ea typeface="Source Han Sans SC"/>
              </a:rPr>
              <a:t>训练闭环串起来</a:t>
            </a:r>
            <a:endParaRPr lang="zh-CN" altLang="en-US" sz="2950" b="1">
              <a:solidFill>
                <a:srgbClr val="1F2937"/>
              </a:solidFill>
              <a:latin typeface="Source Han Sans SC"/>
              <a:ea typeface="Source Han Sans SC"/>
            </a:endParaRPr>
          </a:p>
        </p:txBody>
      </p:sp>
      <p:sp>
        <p:nvSpPr>
          <p:cNvPr id="4" name="TextBox 3"/>
          <p:cNvSpPr txBox="1"/>
          <p:nvPr/>
        </p:nvSpPr>
        <p:spPr>
          <a:xfrm>
            <a:off x="329184" y="932688"/>
            <a:ext cx="10607040" cy="25603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1200" b="0">
                <a:solidFill>
                  <a:srgbClr val="5F6B7A"/>
                </a:solidFill>
                <a:latin typeface="Source Han Sans SC"/>
                <a:ea typeface="Source Han Sans SC"/>
              </a:rPr>
              <a:t>每个答案同时给出机制结论与可复核线索</a:t>
            </a:r>
            <a:r>
              <a:rPr lang="zh-CN" altLang="en-US" sz="1200" b="0">
                <a:solidFill>
                  <a:srgbClr val="5F6B7A"/>
                </a:solidFill>
                <a:latin typeface="Source Han Sans SC"/>
                <a:ea typeface="Source Han Sans SC"/>
              </a:rPr>
              <a:t>，</a:t>
            </a:r>
            <a:r>
              <a:rPr lang="zh-CN" altLang="en-US" sz="1200" b="0">
                <a:solidFill>
                  <a:srgbClr val="5F6B7A"/>
                </a:solidFill>
                <a:latin typeface="Source Han Sans SC"/>
                <a:ea typeface="Source Han Sans SC"/>
              </a:rPr>
              <a:t>便于回看前面的架构</a:t>
            </a:r>
            <a:r>
              <a:rPr lang="zh-CN" altLang="en-US" sz="1200" b="0">
                <a:solidFill>
                  <a:srgbClr val="5F6B7A"/>
                </a:solidFill>
                <a:latin typeface="Source Han Sans SC"/>
                <a:ea typeface="Source Han Sans SC"/>
              </a:rPr>
              <a:t>、</a:t>
            </a:r>
            <a:r>
              <a:rPr lang="zh-CN" altLang="en-US" sz="1200" b="0">
                <a:solidFill>
                  <a:srgbClr val="5F6B7A"/>
                </a:solidFill>
                <a:latin typeface="Source Han Sans SC"/>
                <a:ea typeface="Source Han Sans SC"/>
              </a:rPr>
              <a:t>训练和验收页面</a:t>
            </a:r>
            <a:r>
              <a:rPr lang="zh-CN" altLang="en-US" sz="1200" b="0">
                <a:solidFill>
                  <a:srgbClr val="5F6B7A"/>
                </a:solidFill>
                <a:latin typeface="Source Han Sans SC"/>
                <a:ea typeface="Source Han Sans SC"/>
              </a:rPr>
              <a:t>。</a:t>
            </a:r>
            <a:endParaRPr lang="zh-CN" altLang="en-US" sz="1200" b="0">
              <a:solidFill>
                <a:srgbClr val="5F6B7A"/>
              </a:solidFill>
              <a:latin typeface="Source Han Sans SC"/>
              <a:ea typeface="Source Han Sans SC"/>
            </a:endParaRPr>
          </a:p>
        </p:txBody>
      </p:sp>
      <p:sp>
        <p:nvSpPr>
          <p:cNvPr id="5" name="Rounded Rectangle 4"/>
          <p:cNvSpPr/>
          <p:nvPr>
            <p:custDataLst>
              <p:tags r:id="rId1"/>
            </p:custDataLst>
          </p:nvPr>
        </p:nvSpPr>
        <p:spPr>
          <a:xfrm>
            <a:off x="521207" y="1307592"/>
            <a:ext cx="5330952" cy="1197864"/>
          </a:xfrm>
          <a:prstGeom prst="roundRect">
            <a:avLst/>
          </a:prstGeom>
          <a:solidFill>
            <a:srgbClr val="F3EEF5"/>
          </a:solidFill>
          <a:ln w="12700">
            <a:solidFill>
              <a:srgbClr val="660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custDataLst>
              <p:tags r:id="rId2"/>
            </p:custDataLst>
          </p:nvPr>
        </p:nvSpPr>
        <p:spPr>
          <a:xfrm>
            <a:off x="630936" y="1426464"/>
            <a:ext cx="347472" cy="347472"/>
          </a:xfrm>
          <a:prstGeom prst="ellipse">
            <a:avLst/>
          </a:prstGeom>
          <a:solidFill>
            <a:srgbClr val="660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custDataLst>
              <p:tags r:id="rId3"/>
            </p:custDataLst>
          </p:nvPr>
        </p:nvSpPr>
        <p:spPr>
          <a:xfrm>
            <a:off x="630936" y="1426464"/>
            <a:ext cx="347472" cy="347472"/>
          </a:xfrm>
          <a:prstGeom prst="rect">
            <a:avLst/>
          </a:prstGeom>
          <a:noFill/>
        </p:spPr>
        <p:txBody>
          <a:bodyPr wrap="square" lIns="0" tIns="0" rIns="0" bIns="0" anchor="ctr">
            <a:spAutoFit/>
          </a:bodyPr>
          <a:lstStyle/>
          <a:p>
            <a:pPr algn="ctr">
              <a:lnSpc>
                <a:spcPct val="100000"/>
              </a:lnSpc>
              <a:spcBef>
                <a:spcPts val="0"/>
              </a:spcBef>
              <a:spcAft>
                <a:spcPts val="0"/>
              </a:spcAft>
            </a:pPr>
            <a:r>
              <a:rPr lang="zh-CN" altLang="en-US" sz="1150" b="1">
                <a:solidFill>
                  <a:srgbClr val="FFFFFF"/>
                </a:solidFill>
                <a:latin typeface="Source Han Sans SC"/>
                <a:ea typeface="Source Han Sans SC"/>
              </a:rPr>
              <a:t>1</a:t>
            </a:r>
            <a:endParaRPr lang="zh-CN" altLang="en-US" sz="1150" b="1">
              <a:solidFill>
                <a:srgbClr val="FFFFFF"/>
              </a:solidFill>
              <a:latin typeface="Source Han Sans SC"/>
              <a:ea typeface="Source Han Sans SC"/>
            </a:endParaRPr>
          </a:p>
        </p:txBody>
      </p:sp>
      <p:sp>
        <p:nvSpPr>
          <p:cNvPr id="8" name="TextBox 7"/>
          <p:cNvSpPr txBox="1"/>
          <p:nvPr>
            <p:custDataLst>
              <p:tags r:id="rId4"/>
            </p:custDataLst>
          </p:nvPr>
        </p:nvSpPr>
        <p:spPr>
          <a:xfrm>
            <a:off x="1069848" y="1408176"/>
            <a:ext cx="4636008" cy="34747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1220" b="1">
                <a:solidFill>
                  <a:srgbClr val="660874"/>
                </a:solidFill>
                <a:latin typeface="Source Han Sans SC"/>
                <a:ea typeface="Source Han Sans SC"/>
              </a:rPr>
              <a:t>两类架构的信息流怎样不同</a:t>
            </a:r>
            <a:r>
              <a:rPr lang="zh-CN" altLang="en-US" sz="1220" b="1">
                <a:solidFill>
                  <a:srgbClr val="660874"/>
                </a:solidFill>
                <a:latin typeface="Source Han Sans SC"/>
                <a:ea typeface="Source Han Sans SC"/>
              </a:rPr>
              <a:t>？</a:t>
            </a:r>
            <a:endParaRPr lang="zh-CN" altLang="en-US" sz="1220" b="1">
              <a:solidFill>
                <a:srgbClr val="660874"/>
              </a:solidFill>
              <a:latin typeface="Source Han Sans SC"/>
              <a:ea typeface="Source Han Sans SC"/>
            </a:endParaRPr>
          </a:p>
        </p:txBody>
      </p:sp>
      <p:sp>
        <p:nvSpPr>
          <p:cNvPr id="9" name="TextBox 8"/>
          <p:cNvSpPr txBox="1"/>
          <p:nvPr>
            <p:custDataLst>
              <p:tags r:id="rId5"/>
            </p:custDataLst>
          </p:nvPr>
        </p:nvSpPr>
        <p:spPr>
          <a:xfrm>
            <a:off x="704088" y="1737360"/>
            <a:ext cx="4965192" cy="53035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1020" b="0">
                <a:solidFill>
                  <a:srgbClr val="1F2937"/>
                </a:solidFill>
                <a:latin typeface="Source Han Sans SC"/>
                <a:ea typeface="Source Han Sans SC"/>
              </a:rPr>
              <a:t>Encoder-Decoder：Encoder </a:t>
            </a:r>
            <a:r>
              <a:rPr lang="zh-CN" altLang="en-US" sz="1020" b="0">
                <a:solidFill>
                  <a:srgbClr val="1F2937"/>
                </a:solidFill>
                <a:latin typeface="Source Han Sans SC"/>
                <a:ea typeface="Source Han Sans SC"/>
              </a:rPr>
              <a:t>双向读取源序列</a:t>
            </a:r>
            <a:r>
              <a:rPr lang="zh-CN" altLang="en-US" sz="1020" b="0">
                <a:solidFill>
                  <a:srgbClr val="1F2937"/>
                </a:solidFill>
                <a:latin typeface="Source Han Sans SC"/>
                <a:ea typeface="Source Han Sans SC"/>
              </a:rPr>
              <a:t>；Decoder </a:t>
            </a:r>
            <a:r>
              <a:rPr lang="zh-CN" altLang="en-US" sz="1020" b="0">
                <a:solidFill>
                  <a:srgbClr val="1F2937"/>
                </a:solidFill>
                <a:latin typeface="Source Han Sans SC"/>
                <a:ea typeface="Source Han Sans SC"/>
              </a:rPr>
              <a:t>读取目标左侧</a:t>
            </a:r>
            <a:r>
              <a:rPr lang="zh-CN" altLang="en-US" sz="1020" b="0">
                <a:solidFill>
                  <a:srgbClr val="1F2937"/>
                </a:solidFill>
                <a:latin typeface="Source Han Sans SC"/>
                <a:ea typeface="Source Han Sans SC"/>
              </a:rPr>
              <a:t>，</a:t>
            </a:r>
            <a:r>
              <a:rPr lang="zh-CN" altLang="en-US" sz="1020" b="0">
                <a:solidFill>
                  <a:srgbClr val="1F2937"/>
                </a:solidFill>
                <a:latin typeface="Source Han Sans SC"/>
                <a:ea typeface="Source Han Sans SC"/>
              </a:rPr>
              <a:t>并用</a:t>
            </a:r>
            <a:r>
              <a:rPr lang="zh-CN" altLang="en-US" sz="1020" b="0">
                <a:solidFill>
                  <a:srgbClr val="1F2937"/>
                </a:solidFill>
                <a:latin typeface="Source Han Sans SC"/>
                <a:ea typeface="Source Han Sans SC"/>
              </a:rPr>
              <a:t> Cross-Attention </a:t>
            </a:r>
            <a:r>
              <a:rPr lang="zh-CN" altLang="en-US" sz="1020" b="0">
                <a:solidFill>
                  <a:srgbClr val="1F2937"/>
                </a:solidFill>
                <a:latin typeface="Source Han Sans SC"/>
                <a:ea typeface="Source Han Sans SC"/>
              </a:rPr>
              <a:t>读取</a:t>
            </a:r>
            <a:r>
              <a:rPr lang="zh-CN" altLang="en-US" sz="1020" b="0">
                <a:solidFill>
                  <a:srgbClr val="1F2937"/>
                </a:solidFill>
                <a:latin typeface="Source Han Sans SC"/>
                <a:ea typeface="Source Han Sans SC"/>
              </a:rPr>
              <a:t> Encoder </a:t>
            </a:r>
            <a:r>
              <a:rPr lang="zh-CN" altLang="en-US" sz="1020" b="0">
                <a:solidFill>
                  <a:srgbClr val="1F2937"/>
                </a:solidFill>
                <a:latin typeface="Source Han Sans SC"/>
                <a:ea typeface="Source Han Sans SC"/>
              </a:rPr>
              <a:t>输出</a:t>
            </a:r>
            <a:r>
              <a:rPr lang="zh-CN" altLang="en-US" sz="1020" b="0">
                <a:solidFill>
                  <a:srgbClr val="1F2937"/>
                </a:solidFill>
                <a:latin typeface="Source Han Sans SC"/>
                <a:ea typeface="Source Han Sans SC"/>
              </a:rPr>
              <a:t>。
Decoder-Only：</a:t>
            </a:r>
            <a:r>
              <a:rPr lang="zh-CN" altLang="en-US" sz="1020" b="0">
                <a:solidFill>
                  <a:srgbClr val="1F2937"/>
                </a:solidFill>
                <a:latin typeface="Source Han Sans SC"/>
                <a:ea typeface="Source Han Sans SC"/>
              </a:rPr>
              <a:t>条件与目标合并为单序列</a:t>
            </a:r>
            <a:r>
              <a:rPr lang="zh-CN" altLang="en-US" sz="1020" b="0">
                <a:solidFill>
                  <a:srgbClr val="1F2937"/>
                </a:solidFill>
                <a:latin typeface="Source Han Sans SC"/>
                <a:ea typeface="Source Han Sans SC"/>
              </a:rPr>
              <a:t>，</a:t>
            </a:r>
            <a:r>
              <a:rPr lang="zh-CN" altLang="en-US" sz="1020" b="0">
                <a:solidFill>
                  <a:srgbClr val="1F2937"/>
                </a:solidFill>
                <a:latin typeface="Source Han Sans SC"/>
                <a:ea typeface="Source Han Sans SC"/>
              </a:rPr>
              <a:t>只读取左侧上下文</a:t>
            </a:r>
            <a:r>
              <a:rPr lang="zh-CN" altLang="en-US" sz="1020" b="0">
                <a:solidFill>
                  <a:srgbClr val="1F2937"/>
                </a:solidFill>
                <a:latin typeface="Source Han Sans SC"/>
                <a:ea typeface="Source Han Sans SC"/>
              </a:rPr>
              <a:t>。</a:t>
            </a:r>
            <a:endParaRPr lang="zh-CN" altLang="en-US" sz="1020" b="0">
              <a:solidFill>
                <a:srgbClr val="1F2937"/>
              </a:solidFill>
              <a:latin typeface="Source Han Sans SC"/>
              <a:ea typeface="Source Han Sans SC"/>
            </a:endParaRPr>
          </a:p>
        </p:txBody>
      </p:sp>
      <p:sp>
        <p:nvSpPr>
          <p:cNvPr id="10" name="TextBox 9"/>
          <p:cNvSpPr txBox="1"/>
          <p:nvPr>
            <p:custDataLst>
              <p:tags r:id="rId6"/>
            </p:custDataLst>
          </p:nvPr>
        </p:nvSpPr>
        <p:spPr>
          <a:xfrm>
            <a:off x="704088" y="2322576"/>
            <a:ext cx="4965192" cy="11887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820" b="0">
                <a:solidFill>
                  <a:srgbClr val="5F6B7A"/>
                </a:solidFill>
                <a:latin typeface="Source Han Sans SC"/>
                <a:ea typeface="Source Han Sans SC"/>
              </a:rPr>
              <a:t>复核</a:t>
            </a:r>
            <a:r>
              <a:rPr lang="zh-CN" altLang="en-US" sz="820" b="0">
                <a:solidFill>
                  <a:srgbClr val="5F6B7A"/>
                </a:solidFill>
                <a:latin typeface="Source Han Sans SC"/>
                <a:ea typeface="Source Han Sans SC"/>
              </a:rPr>
              <a:t>：</a:t>
            </a:r>
            <a:r>
              <a:rPr lang="zh-CN" altLang="en-US" sz="820" b="0">
                <a:solidFill>
                  <a:srgbClr val="5F6B7A"/>
                </a:solidFill>
                <a:latin typeface="Source Han Sans SC"/>
                <a:ea typeface="Source Han Sans SC"/>
              </a:rPr>
              <a:t>谁读取谁</a:t>
            </a:r>
            <a:r>
              <a:rPr lang="zh-CN" altLang="en-US" sz="820" b="0">
                <a:solidFill>
                  <a:srgbClr val="5F6B7A"/>
                </a:solidFill>
                <a:latin typeface="Source Han Sans SC"/>
                <a:ea typeface="Source Han Sans SC"/>
              </a:rPr>
              <a:t>？</a:t>
            </a:r>
            <a:r>
              <a:rPr lang="zh-CN" altLang="en-US" sz="820" b="0">
                <a:solidFill>
                  <a:srgbClr val="5F6B7A"/>
                </a:solidFill>
                <a:latin typeface="Source Han Sans SC"/>
                <a:ea typeface="Source Han Sans SC"/>
              </a:rPr>
              <a:t>是否存在独立</a:t>
            </a:r>
            <a:r>
              <a:rPr lang="zh-CN" altLang="en-US" sz="820" b="0">
                <a:solidFill>
                  <a:srgbClr val="5F6B7A"/>
                </a:solidFill>
                <a:latin typeface="Source Han Sans SC"/>
                <a:ea typeface="Source Han Sans SC"/>
              </a:rPr>
              <a:t> Encoder </a:t>
            </a:r>
            <a:r>
              <a:rPr lang="zh-CN" altLang="en-US" sz="820" b="0">
                <a:solidFill>
                  <a:srgbClr val="5F6B7A"/>
                </a:solidFill>
                <a:latin typeface="Source Han Sans SC"/>
                <a:ea typeface="Source Han Sans SC"/>
              </a:rPr>
              <a:t>与</a:t>
            </a:r>
            <a:r>
              <a:rPr lang="zh-CN" altLang="en-US" sz="820" b="0">
                <a:solidFill>
                  <a:srgbClr val="5F6B7A"/>
                </a:solidFill>
                <a:latin typeface="Source Han Sans SC"/>
                <a:ea typeface="Source Han Sans SC"/>
              </a:rPr>
              <a:t> Cross-Attention？</a:t>
            </a:r>
            <a:endParaRPr lang="zh-CN" altLang="en-US" sz="820" b="0">
              <a:solidFill>
                <a:srgbClr val="5F6B7A"/>
              </a:solidFill>
              <a:latin typeface="Source Han Sans SC"/>
              <a:ea typeface="Source Han Sans SC"/>
            </a:endParaRPr>
          </a:p>
        </p:txBody>
      </p:sp>
      <p:sp>
        <p:nvSpPr>
          <p:cNvPr id="11" name="Rounded Rectangle 10"/>
          <p:cNvSpPr/>
          <p:nvPr>
            <p:custDataLst>
              <p:tags r:id="rId7"/>
            </p:custDataLst>
          </p:nvPr>
        </p:nvSpPr>
        <p:spPr>
          <a:xfrm>
            <a:off x="6336792" y="1307592"/>
            <a:ext cx="5330952" cy="1197864"/>
          </a:xfrm>
          <a:prstGeom prst="roundRect">
            <a:avLst/>
          </a:prstGeom>
          <a:solidFill>
            <a:srgbClr val="E9F4F4"/>
          </a:solidFill>
          <a:ln w="12700">
            <a:solidFill>
              <a:srgbClr val="1E8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custDataLst>
              <p:tags r:id="rId8"/>
            </p:custDataLst>
          </p:nvPr>
        </p:nvSpPr>
        <p:spPr>
          <a:xfrm>
            <a:off x="6446520" y="1426464"/>
            <a:ext cx="347472" cy="347472"/>
          </a:xfrm>
          <a:prstGeom prst="ellipse">
            <a:avLst/>
          </a:prstGeom>
          <a:solidFill>
            <a:srgbClr val="1E8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custDataLst>
              <p:tags r:id="rId9"/>
            </p:custDataLst>
          </p:nvPr>
        </p:nvSpPr>
        <p:spPr>
          <a:xfrm>
            <a:off x="6446520" y="1426464"/>
            <a:ext cx="347472" cy="347472"/>
          </a:xfrm>
          <a:prstGeom prst="rect">
            <a:avLst/>
          </a:prstGeom>
          <a:noFill/>
        </p:spPr>
        <p:txBody>
          <a:bodyPr wrap="square" lIns="0" tIns="0" rIns="0" bIns="0" anchor="ctr">
            <a:spAutoFit/>
          </a:bodyPr>
          <a:lstStyle/>
          <a:p>
            <a:pPr algn="ctr">
              <a:lnSpc>
                <a:spcPct val="100000"/>
              </a:lnSpc>
              <a:spcBef>
                <a:spcPts val="0"/>
              </a:spcBef>
              <a:spcAft>
                <a:spcPts val="0"/>
              </a:spcAft>
            </a:pPr>
            <a:r>
              <a:rPr lang="zh-CN" altLang="en-US" sz="1150" b="1">
                <a:solidFill>
                  <a:srgbClr val="FFFFFF"/>
                </a:solidFill>
                <a:latin typeface="Source Han Sans SC"/>
                <a:ea typeface="Source Han Sans SC"/>
              </a:rPr>
              <a:t>2</a:t>
            </a:r>
            <a:endParaRPr lang="zh-CN" altLang="en-US" sz="1150" b="1">
              <a:solidFill>
                <a:srgbClr val="FFFFFF"/>
              </a:solidFill>
              <a:latin typeface="Source Han Sans SC"/>
              <a:ea typeface="Source Han Sans SC"/>
            </a:endParaRPr>
          </a:p>
        </p:txBody>
      </p:sp>
      <p:sp>
        <p:nvSpPr>
          <p:cNvPr id="14" name="TextBox 13"/>
          <p:cNvSpPr txBox="1"/>
          <p:nvPr>
            <p:custDataLst>
              <p:tags r:id="rId10"/>
            </p:custDataLst>
          </p:nvPr>
        </p:nvSpPr>
        <p:spPr>
          <a:xfrm>
            <a:off x="6885431" y="1408176"/>
            <a:ext cx="4636008" cy="34747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1220" b="1">
                <a:solidFill>
                  <a:srgbClr val="1E8E94"/>
                </a:solidFill>
                <a:latin typeface="Source Han Sans SC"/>
                <a:ea typeface="Source Han Sans SC"/>
              </a:rPr>
              <a:t>标签右移与</a:t>
            </a:r>
            <a:r>
              <a:rPr lang="zh-CN" altLang="en-US" sz="1220" b="1">
                <a:solidFill>
                  <a:srgbClr val="1E8E94"/>
                </a:solidFill>
                <a:latin typeface="Source Han Sans SC"/>
                <a:ea typeface="Source Han Sans SC"/>
              </a:rPr>
              <a:t> Causal Mask </a:t>
            </a:r>
            <a:r>
              <a:rPr lang="zh-CN" altLang="en-US" sz="1220" b="1">
                <a:solidFill>
                  <a:srgbClr val="1E8E94"/>
                </a:solidFill>
                <a:latin typeface="Source Han Sans SC"/>
                <a:ea typeface="Source Han Sans SC"/>
              </a:rPr>
              <a:t>分别解决什么</a:t>
            </a:r>
            <a:r>
              <a:rPr lang="zh-CN" altLang="en-US" sz="1220" b="1">
                <a:solidFill>
                  <a:srgbClr val="1E8E94"/>
                </a:solidFill>
                <a:latin typeface="Source Han Sans SC"/>
                <a:ea typeface="Source Han Sans SC"/>
              </a:rPr>
              <a:t>？</a:t>
            </a:r>
            <a:endParaRPr lang="zh-CN" altLang="en-US" sz="1220" b="1">
              <a:solidFill>
                <a:srgbClr val="1E8E94"/>
              </a:solidFill>
              <a:latin typeface="Source Han Sans SC"/>
              <a:ea typeface="Source Han Sans SC"/>
            </a:endParaRPr>
          </a:p>
        </p:txBody>
      </p:sp>
      <p:sp>
        <p:nvSpPr>
          <p:cNvPr id="15" name="TextBox 14"/>
          <p:cNvSpPr txBox="1"/>
          <p:nvPr>
            <p:custDataLst>
              <p:tags r:id="rId11"/>
            </p:custDataLst>
          </p:nvPr>
        </p:nvSpPr>
        <p:spPr>
          <a:xfrm>
            <a:off x="6519672" y="1737360"/>
            <a:ext cx="4965192" cy="53035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1020" b="0">
                <a:solidFill>
                  <a:srgbClr val="1F2937"/>
                </a:solidFill>
                <a:latin typeface="Source Han Sans SC"/>
                <a:ea typeface="Source Han Sans SC"/>
              </a:rPr>
              <a:t>Label Shift：inputs </a:t>
            </a:r>
            <a:r>
              <a:rPr lang="zh-CN" altLang="en-US" sz="1020" b="0">
                <a:solidFill>
                  <a:srgbClr val="1F2937"/>
                </a:solidFill>
                <a:latin typeface="Source Han Sans SC"/>
                <a:ea typeface="Source Han Sans SC"/>
              </a:rPr>
              <a:t>与</a:t>
            </a:r>
            <a:r>
              <a:rPr lang="zh-CN" altLang="en-US" sz="1020" b="0">
                <a:solidFill>
                  <a:srgbClr val="1F2937"/>
                </a:solidFill>
                <a:latin typeface="Source Han Sans SC"/>
                <a:ea typeface="Source Han Sans SC"/>
              </a:rPr>
              <a:t> targets </a:t>
            </a:r>
            <a:r>
              <a:rPr lang="zh-CN" altLang="en-US" sz="1020" b="0">
                <a:solidFill>
                  <a:srgbClr val="1F2937"/>
                </a:solidFill>
                <a:latin typeface="Source Han Sans SC"/>
                <a:ea typeface="Source Han Sans SC"/>
              </a:rPr>
              <a:t>错开一位</a:t>
            </a:r>
            <a:r>
              <a:rPr lang="zh-CN" altLang="en-US" sz="1020" b="0">
                <a:solidFill>
                  <a:srgbClr val="1F2937"/>
                </a:solidFill>
                <a:latin typeface="Source Han Sans SC"/>
                <a:ea typeface="Source Han Sans SC"/>
              </a:rPr>
              <a:t>，</a:t>
            </a:r>
            <a:r>
              <a:rPr lang="zh-CN" altLang="en-US" sz="1020" b="0">
                <a:solidFill>
                  <a:srgbClr val="1F2937"/>
                </a:solidFill>
                <a:latin typeface="Source Han Sans SC"/>
                <a:ea typeface="Source Han Sans SC"/>
              </a:rPr>
              <a:t>定义每个位置的下一个</a:t>
            </a:r>
            <a:r>
              <a:rPr lang="zh-CN" altLang="en-US" sz="1020" b="0">
                <a:solidFill>
                  <a:srgbClr val="1F2937"/>
                </a:solidFill>
                <a:latin typeface="Source Han Sans SC"/>
                <a:ea typeface="Source Han Sans SC"/>
              </a:rPr>
              <a:t> Token。
Causal Mask：</a:t>
            </a:r>
            <a:r>
              <a:rPr lang="zh-CN" altLang="en-US" sz="1020" b="0">
                <a:solidFill>
                  <a:srgbClr val="1F2937"/>
                </a:solidFill>
                <a:latin typeface="Source Han Sans SC"/>
                <a:ea typeface="Source Han Sans SC"/>
              </a:rPr>
              <a:t>未来</a:t>
            </a:r>
            <a:r>
              <a:rPr lang="zh-CN" altLang="en-US" sz="1020" b="0">
                <a:solidFill>
                  <a:srgbClr val="1F2937"/>
                </a:solidFill>
                <a:latin typeface="Source Han Sans SC"/>
                <a:ea typeface="Source Han Sans SC"/>
              </a:rPr>
              <a:t> Attention Score </a:t>
            </a:r>
            <a:r>
              <a:rPr lang="zh-CN" altLang="en-US" sz="1020" b="0">
                <a:solidFill>
                  <a:srgbClr val="1F2937"/>
                </a:solidFill>
                <a:latin typeface="Source Han Sans SC"/>
                <a:ea typeface="Source Han Sans SC"/>
              </a:rPr>
              <a:t>设为</a:t>
            </a:r>
            <a:r>
              <a:rPr lang="zh-CN" altLang="en-US" sz="1020" b="0">
                <a:solidFill>
                  <a:srgbClr val="1F2937"/>
                </a:solidFill>
                <a:latin typeface="Source Han Sans SC"/>
                <a:ea typeface="Source Han Sans SC"/>
              </a:rPr>
              <a:t> −∞，</a:t>
            </a:r>
            <a:r>
              <a:rPr lang="zh-CN" altLang="en-US" sz="1020" b="0">
                <a:solidFill>
                  <a:srgbClr val="1F2937"/>
                </a:solidFill>
                <a:latin typeface="Source Han Sans SC"/>
                <a:ea typeface="Source Han Sans SC"/>
              </a:rPr>
              <a:t>只允许读取过去和当前</a:t>
            </a:r>
            <a:r>
              <a:rPr lang="zh-CN" altLang="en-US" sz="1020" b="0">
                <a:solidFill>
                  <a:srgbClr val="1F2937"/>
                </a:solidFill>
                <a:latin typeface="Source Han Sans SC"/>
                <a:ea typeface="Source Han Sans SC"/>
              </a:rPr>
              <a:t>。</a:t>
            </a:r>
            <a:endParaRPr lang="zh-CN" altLang="en-US" sz="1020" b="0">
              <a:solidFill>
                <a:srgbClr val="1F2937"/>
              </a:solidFill>
              <a:latin typeface="Source Han Sans SC"/>
              <a:ea typeface="Source Han Sans SC"/>
            </a:endParaRPr>
          </a:p>
        </p:txBody>
      </p:sp>
      <p:sp>
        <p:nvSpPr>
          <p:cNvPr id="16" name="TextBox 15"/>
          <p:cNvSpPr txBox="1"/>
          <p:nvPr>
            <p:custDataLst>
              <p:tags r:id="rId12"/>
            </p:custDataLst>
          </p:nvPr>
        </p:nvSpPr>
        <p:spPr>
          <a:xfrm>
            <a:off x="6519672" y="2322576"/>
            <a:ext cx="4965192" cy="11887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820" b="0">
                <a:solidFill>
                  <a:srgbClr val="5F6B7A"/>
                </a:solidFill>
                <a:latin typeface="Source Han Sans SC"/>
                <a:ea typeface="Source Han Sans SC"/>
              </a:rPr>
              <a:t>一句话</a:t>
            </a:r>
            <a:r>
              <a:rPr lang="zh-CN" altLang="en-US" sz="820" b="0">
                <a:solidFill>
                  <a:srgbClr val="5F6B7A"/>
                </a:solidFill>
                <a:latin typeface="Source Han Sans SC"/>
                <a:ea typeface="Source Han Sans SC"/>
              </a:rPr>
              <a:t>：</a:t>
            </a:r>
            <a:r>
              <a:rPr lang="zh-CN" altLang="en-US" sz="820" b="0">
                <a:solidFill>
                  <a:srgbClr val="5F6B7A"/>
                </a:solidFill>
                <a:latin typeface="Source Han Sans SC"/>
                <a:ea typeface="Source Han Sans SC"/>
              </a:rPr>
              <a:t>前者定义答案</a:t>
            </a:r>
            <a:r>
              <a:rPr lang="zh-CN" altLang="en-US" sz="820" b="0">
                <a:solidFill>
                  <a:srgbClr val="5F6B7A"/>
                </a:solidFill>
                <a:latin typeface="Source Han Sans SC"/>
                <a:ea typeface="Source Han Sans SC"/>
              </a:rPr>
              <a:t>，</a:t>
            </a:r>
            <a:r>
              <a:rPr lang="zh-CN" altLang="en-US" sz="820" b="0">
                <a:solidFill>
                  <a:srgbClr val="5F6B7A"/>
                </a:solidFill>
                <a:latin typeface="Source Han Sans SC"/>
                <a:ea typeface="Source Han Sans SC"/>
              </a:rPr>
              <a:t>后者限制可见范围</a:t>
            </a:r>
            <a:r>
              <a:rPr lang="zh-CN" altLang="en-US" sz="820" b="0">
                <a:solidFill>
                  <a:srgbClr val="5F6B7A"/>
                </a:solidFill>
                <a:latin typeface="Source Han Sans SC"/>
                <a:ea typeface="Source Han Sans SC"/>
              </a:rPr>
              <a:t>。</a:t>
            </a:r>
            <a:endParaRPr lang="zh-CN" altLang="en-US" sz="820" b="0">
              <a:solidFill>
                <a:srgbClr val="5F6B7A"/>
              </a:solidFill>
              <a:latin typeface="Source Han Sans SC"/>
              <a:ea typeface="Source Han Sans SC"/>
            </a:endParaRPr>
          </a:p>
        </p:txBody>
      </p:sp>
      <p:sp>
        <p:nvSpPr>
          <p:cNvPr id="17" name="Rounded Rectangle 16"/>
          <p:cNvSpPr/>
          <p:nvPr>
            <p:custDataLst>
              <p:tags r:id="rId13"/>
            </p:custDataLst>
          </p:nvPr>
        </p:nvSpPr>
        <p:spPr>
          <a:xfrm>
            <a:off x="521207" y="2660904"/>
            <a:ext cx="5330952" cy="1197864"/>
          </a:xfrm>
          <a:prstGeom prst="roundRect">
            <a:avLst/>
          </a:prstGeom>
          <a:solidFill>
            <a:srgbClr val="F3EEF5"/>
          </a:solidFill>
          <a:ln w="12700">
            <a:solidFill>
              <a:srgbClr val="660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custDataLst>
              <p:tags r:id="rId14"/>
            </p:custDataLst>
          </p:nvPr>
        </p:nvSpPr>
        <p:spPr>
          <a:xfrm>
            <a:off x="630936" y="2779776"/>
            <a:ext cx="347472" cy="347472"/>
          </a:xfrm>
          <a:prstGeom prst="ellipse">
            <a:avLst/>
          </a:prstGeom>
          <a:solidFill>
            <a:srgbClr val="660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custDataLst>
              <p:tags r:id="rId15"/>
            </p:custDataLst>
          </p:nvPr>
        </p:nvSpPr>
        <p:spPr>
          <a:xfrm>
            <a:off x="630936" y="2779776"/>
            <a:ext cx="347472" cy="347472"/>
          </a:xfrm>
          <a:prstGeom prst="rect">
            <a:avLst/>
          </a:prstGeom>
          <a:noFill/>
        </p:spPr>
        <p:txBody>
          <a:bodyPr wrap="square" lIns="0" tIns="0" rIns="0" bIns="0" anchor="ctr">
            <a:spAutoFit/>
          </a:bodyPr>
          <a:lstStyle/>
          <a:p>
            <a:pPr algn="ctr">
              <a:lnSpc>
                <a:spcPct val="100000"/>
              </a:lnSpc>
              <a:spcBef>
                <a:spcPts val="0"/>
              </a:spcBef>
              <a:spcAft>
                <a:spcPts val="0"/>
              </a:spcAft>
            </a:pPr>
            <a:r>
              <a:rPr lang="zh-CN" altLang="en-US" sz="1150" b="1">
                <a:solidFill>
                  <a:srgbClr val="FFFFFF"/>
                </a:solidFill>
                <a:latin typeface="Source Han Sans SC"/>
                <a:ea typeface="Source Han Sans SC"/>
              </a:rPr>
              <a:t>3</a:t>
            </a:r>
            <a:endParaRPr lang="zh-CN" altLang="en-US" sz="1150" b="1">
              <a:solidFill>
                <a:srgbClr val="FFFFFF"/>
              </a:solidFill>
              <a:latin typeface="Source Han Sans SC"/>
              <a:ea typeface="Source Han Sans SC"/>
            </a:endParaRPr>
          </a:p>
        </p:txBody>
      </p:sp>
      <p:sp>
        <p:nvSpPr>
          <p:cNvPr id="20" name="TextBox 19"/>
          <p:cNvSpPr txBox="1"/>
          <p:nvPr>
            <p:custDataLst>
              <p:tags r:id="rId16"/>
            </p:custDataLst>
          </p:nvPr>
        </p:nvSpPr>
        <p:spPr>
          <a:xfrm>
            <a:off x="1069848" y="2761488"/>
            <a:ext cx="4636008" cy="34747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1220" b="1">
                <a:solidFill>
                  <a:srgbClr val="660874"/>
                </a:solidFill>
                <a:latin typeface="Source Han Sans SC"/>
                <a:ea typeface="Source Han Sans SC"/>
              </a:rPr>
              <a:t>Logits </a:t>
            </a:r>
            <a:r>
              <a:rPr lang="zh-CN" altLang="en-US" sz="1220" b="1">
                <a:solidFill>
                  <a:srgbClr val="660874"/>
                </a:solidFill>
                <a:latin typeface="Source Han Sans SC"/>
                <a:ea typeface="Source Han Sans SC"/>
              </a:rPr>
              <a:t>怎样形成</a:t>
            </a:r>
            <a:r>
              <a:rPr lang="zh-CN" altLang="en-US" sz="1220" b="1">
                <a:solidFill>
                  <a:srgbClr val="660874"/>
                </a:solidFill>
                <a:latin typeface="Source Han Sans SC"/>
                <a:ea typeface="Source Han Sans SC"/>
              </a:rPr>
              <a:t> Loss？</a:t>
            </a:r>
            <a:endParaRPr lang="zh-CN" altLang="en-US" sz="1220" b="1">
              <a:solidFill>
                <a:srgbClr val="660874"/>
              </a:solidFill>
              <a:latin typeface="Source Han Sans SC"/>
              <a:ea typeface="Source Han Sans SC"/>
            </a:endParaRPr>
          </a:p>
        </p:txBody>
      </p:sp>
      <p:sp>
        <p:nvSpPr>
          <p:cNvPr id="21" name="TextBox 20"/>
          <p:cNvSpPr txBox="1"/>
          <p:nvPr>
            <p:custDataLst>
              <p:tags r:id="rId17"/>
            </p:custDataLst>
          </p:nvPr>
        </p:nvSpPr>
        <p:spPr>
          <a:xfrm>
            <a:off x="704088" y="3090672"/>
            <a:ext cx="4965192" cy="53035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1020" b="0">
                <a:solidFill>
                  <a:srgbClr val="1F2937"/>
                </a:solidFill>
                <a:latin typeface="Source Han Sans SC"/>
                <a:ea typeface="Source Han Sans SC"/>
              </a:rPr>
              <a:t>Softmax </a:t>
            </a:r>
            <a:r>
              <a:rPr lang="zh-CN" altLang="en-US" sz="1020" b="0">
                <a:solidFill>
                  <a:srgbClr val="1F2937"/>
                </a:solidFill>
                <a:latin typeface="Source Han Sans SC"/>
                <a:ea typeface="Source Han Sans SC"/>
              </a:rPr>
              <a:t>将</a:t>
            </a:r>
            <a:r>
              <a:rPr lang="zh-CN" altLang="en-US" sz="1020" b="0">
                <a:solidFill>
                  <a:srgbClr val="1F2937"/>
                </a:solidFill>
                <a:latin typeface="Source Han Sans SC"/>
                <a:ea typeface="Source Han Sans SC"/>
              </a:rPr>
              <a:t> Logits </a:t>
            </a:r>
            <a:r>
              <a:rPr lang="zh-CN" altLang="en-US" sz="1020" b="0">
                <a:solidFill>
                  <a:srgbClr val="1F2937"/>
                </a:solidFill>
                <a:latin typeface="Source Han Sans SC"/>
                <a:ea typeface="Source Han Sans SC"/>
              </a:rPr>
              <a:t>变为概率</a:t>
            </a:r>
            <a:r>
              <a:rPr lang="zh-CN" altLang="en-US" sz="1020" b="0">
                <a:solidFill>
                  <a:srgbClr val="1F2937"/>
                </a:solidFill>
                <a:latin typeface="Source Han Sans SC"/>
                <a:ea typeface="Source Han Sans SC"/>
              </a:rPr>
              <a:t> p；Cross-Entropy </a:t>
            </a:r>
            <a:r>
              <a:rPr lang="zh-CN" altLang="en-US" sz="1020" b="0">
                <a:solidFill>
                  <a:srgbClr val="1F2937"/>
                </a:solidFill>
                <a:latin typeface="Source Han Sans SC"/>
                <a:ea typeface="Source Han Sans SC"/>
              </a:rPr>
              <a:t>用目标</a:t>
            </a:r>
            <a:r>
              <a:rPr lang="zh-CN" altLang="en-US" sz="1020" b="0">
                <a:solidFill>
                  <a:srgbClr val="1F2937"/>
                </a:solidFill>
                <a:latin typeface="Source Han Sans SC"/>
                <a:ea typeface="Source Han Sans SC"/>
              </a:rPr>
              <a:t> Token </a:t>
            </a:r>
            <a:r>
              <a:rPr lang="zh-CN" altLang="en-US" sz="1020" b="0">
                <a:solidFill>
                  <a:srgbClr val="1F2937"/>
                </a:solidFill>
                <a:latin typeface="Source Han Sans SC"/>
                <a:ea typeface="Source Han Sans SC"/>
              </a:rPr>
              <a:t>的概率计算</a:t>
            </a:r>
            <a:r>
              <a:rPr lang="zh-CN" altLang="en-US" sz="1020" b="0">
                <a:solidFill>
                  <a:srgbClr val="1F2937"/>
                </a:solidFill>
                <a:latin typeface="Source Han Sans SC"/>
                <a:ea typeface="Source Han Sans SC"/>
              </a:rPr>
              <a:t> Loss = −log(p)。
</a:t>
            </a:r>
            <a:r>
              <a:rPr lang="zh-CN" altLang="en-US" sz="1020" b="0">
                <a:solidFill>
                  <a:srgbClr val="1F2937"/>
                </a:solidFill>
                <a:latin typeface="Source Han Sans SC"/>
                <a:ea typeface="Source Han Sans SC"/>
              </a:rPr>
              <a:t>目标概率越低</a:t>
            </a:r>
            <a:r>
              <a:rPr lang="zh-CN" altLang="en-US" sz="1020" b="0">
                <a:solidFill>
                  <a:srgbClr val="1F2937"/>
                </a:solidFill>
                <a:latin typeface="Source Han Sans SC"/>
                <a:ea typeface="Source Han Sans SC"/>
              </a:rPr>
              <a:t>，Loss </a:t>
            </a:r>
            <a:r>
              <a:rPr lang="zh-CN" altLang="en-US" sz="1020" b="0">
                <a:solidFill>
                  <a:srgbClr val="1F2937"/>
                </a:solidFill>
                <a:latin typeface="Source Han Sans SC"/>
                <a:ea typeface="Source Han Sans SC"/>
              </a:rPr>
              <a:t>越大</a:t>
            </a:r>
            <a:r>
              <a:rPr lang="zh-CN" altLang="en-US" sz="1020" b="0">
                <a:solidFill>
                  <a:srgbClr val="1F2937"/>
                </a:solidFill>
                <a:latin typeface="Source Han Sans SC"/>
                <a:ea typeface="Source Han Sans SC"/>
              </a:rPr>
              <a:t>。</a:t>
            </a:r>
            <a:endParaRPr lang="zh-CN" altLang="en-US" sz="1020" b="0">
              <a:solidFill>
                <a:srgbClr val="1F2937"/>
              </a:solidFill>
              <a:latin typeface="Source Han Sans SC"/>
              <a:ea typeface="Source Han Sans SC"/>
            </a:endParaRPr>
          </a:p>
        </p:txBody>
      </p:sp>
      <p:sp>
        <p:nvSpPr>
          <p:cNvPr id="22" name="TextBox 21"/>
          <p:cNvSpPr txBox="1"/>
          <p:nvPr>
            <p:custDataLst>
              <p:tags r:id="rId18"/>
            </p:custDataLst>
          </p:nvPr>
        </p:nvSpPr>
        <p:spPr>
          <a:xfrm>
            <a:off x="704088" y="3675888"/>
            <a:ext cx="4965192" cy="11887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820" b="0">
                <a:solidFill>
                  <a:srgbClr val="5F6B7A"/>
                </a:solidFill>
                <a:latin typeface="Source Han Sans SC"/>
                <a:ea typeface="Source Han Sans SC"/>
              </a:rPr>
              <a:t>复核</a:t>
            </a:r>
            <a:r>
              <a:rPr lang="zh-CN" altLang="en-US" sz="820" b="0">
                <a:solidFill>
                  <a:srgbClr val="5F6B7A"/>
                </a:solidFill>
                <a:latin typeface="Source Han Sans SC"/>
                <a:ea typeface="Source Han Sans SC"/>
              </a:rPr>
              <a:t>：</a:t>
            </a:r>
            <a:r>
              <a:rPr lang="zh-CN" altLang="en-US" sz="820" b="0">
                <a:solidFill>
                  <a:srgbClr val="5F6B7A"/>
                </a:solidFill>
                <a:latin typeface="Source Han Sans SC"/>
                <a:ea typeface="Source Han Sans SC"/>
              </a:rPr>
              <a:t>目标</a:t>
            </a:r>
            <a:r>
              <a:rPr lang="zh-CN" altLang="en-US" sz="820" b="0">
                <a:solidFill>
                  <a:srgbClr val="5F6B7A"/>
                </a:solidFill>
                <a:latin typeface="Source Han Sans SC"/>
                <a:ea typeface="Source Han Sans SC"/>
              </a:rPr>
              <a:t>“</a:t>
            </a:r>
            <a:r>
              <a:rPr lang="zh-CN" altLang="en-US" sz="820" b="0">
                <a:solidFill>
                  <a:srgbClr val="5F6B7A"/>
                </a:solidFill>
                <a:latin typeface="Source Han Sans SC"/>
                <a:ea typeface="Source Han Sans SC"/>
              </a:rPr>
              <a:t>来</a:t>
            </a:r>
            <a:r>
              <a:rPr lang="zh-CN" altLang="en-US" sz="820" b="0">
                <a:solidFill>
                  <a:srgbClr val="5F6B7A"/>
                </a:solidFill>
                <a:latin typeface="Source Han Sans SC"/>
                <a:ea typeface="Source Han Sans SC"/>
              </a:rPr>
              <a:t>”</a:t>
            </a:r>
            <a:r>
              <a:rPr lang="zh-CN" altLang="en-US" sz="820" b="0">
                <a:solidFill>
                  <a:srgbClr val="5F6B7A"/>
                </a:solidFill>
                <a:latin typeface="Source Han Sans SC"/>
                <a:ea typeface="Source Han Sans SC"/>
              </a:rPr>
              <a:t>的</a:t>
            </a:r>
            <a:r>
              <a:rPr lang="zh-CN" altLang="en-US" sz="820" b="0">
                <a:solidFill>
                  <a:srgbClr val="5F6B7A"/>
                </a:solidFill>
                <a:latin typeface="Source Han Sans SC"/>
                <a:ea typeface="Source Han Sans SC"/>
              </a:rPr>
              <a:t> p=0.378 </a:t>
            </a:r>
            <a:r>
              <a:rPr lang="zh-CN" altLang="en-US" sz="820" b="0">
                <a:solidFill>
                  <a:srgbClr val="5F6B7A"/>
                </a:solidFill>
                <a:latin typeface="Source Han Sans SC"/>
                <a:ea typeface="Source Han Sans SC"/>
              </a:rPr>
              <a:t>时</a:t>
            </a:r>
            <a:r>
              <a:rPr lang="zh-CN" altLang="en-US" sz="820" b="0">
                <a:solidFill>
                  <a:srgbClr val="5F6B7A"/>
                </a:solidFill>
                <a:latin typeface="Source Han Sans SC"/>
                <a:ea typeface="Source Han Sans SC"/>
              </a:rPr>
              <a:t>，Loss≈0.973。</a:t>
            </a:r>
            <a:endParaRPr lang="zh-CN" altLang="en-US" sz="820" b="0">
              <a:solidFill>
                <a:srgbClr val="5F6B7A"/>
              </a:solidFill>
              <a:latin typeface="Source Han Sans SC"/>
              <a:ea typeface="Source Han Sans SC"/>
            </a:endParaRPr>
          </a:p>
        </p:txBody>
      </p:sp>
      <p:sp>
        <p:nvSpPr>
          <p:cNvPr id="23" name="Rounded Rectangle 22"/>
          <p:cNvSpPr/>
          <p:nvPr>
            <p:custDataLst>
              <p:tags r:id="rId19"/>
            </p:custDataLst>
          </p:nvPr>
        </p:nvSpPr>
        <p:spPr>
          <a:xfrm>
            <a:off x="6336792" y="2660904"/>
            <a:ext cx="5330952" cy="1197864"/>
          </a:xfrm>
          <a:prstGeom prst="roundRect">
            <a:avLst/>
          </a:prstGeom>
          <a:solidFill>
            <a:srgbClr val="E9F4F4"/>
          </a:solidFill>
          <a:ln w="12700">
            <a:solidFill>
              <a:srgbClr val="1E8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custDataLst>
              <p:tags r:id="rId20"/>
            </p:custDataLst>
          </p:nvPr>
        </p:nvSpPr>
        <p:spPr>
          <a:xfrm>
            <a:off x="6446520" y="2779776"/>
            <a:ext cx="347472" cy="347472"/>
          </a:xfrm>
          <a:prstGeom prst="ellipse">
            <a:avLst/>
          </a:prstGeom>
          <a:solidFill>
            <a:srgbClr val="1E8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custDataLst>
              <p:tags r:id="rId21"/>
            </p:custDataLst>
          </p:nvPr>
        </p:nvSpPr>
        <p:spPr>
          <a:xfrm>
            <a:off x="6446520" y="2779776"/>
            <a:ext cx="347472" cy="347472"/>
          </a:xfrm>
          <a:prstGeom prst="rect">
            <a:avLst/>
          </a:prstGeom>
          <a:noFill/>
        </p:spPr>
        <p:txBody>
          <a:bodyPr wrap="square" lIns="0" tIns="0" rIns="0" bIns="0" anchor="ctr">
            <a:spAutoFit/>
          </a:bodyPr>
          <a:lstStyle/>
          <a:p>
            <a:pPr algn="ctr">
              <a:lnSpc>
                <a:spcPct val="100000"/>
              </a:lnSpc>
              <a:spcBef>
                <a:spcPts val="0"/>
              </a:spcBef>
              <a:spcAft>
                <a:spcPts val="0"/>
              </a:spcAft>
            </a:pPr>
            <a:r>
              <a:rPr lang="zh-CN" altLang="en-US" sz="1150" b="1">
                <a:solidFill>
                  <a:srgbClr val="FFFFFF"/>
                </a:solidFill>
                <a:latin typeface="Source Han Sans SC"/>
                <a:ea typeface="Source Han Sans SC"/>
              </a:rPr>
              <a:t>4</a:t>
            </a:r>
            <a:endParaRPr lang="zh-CN" altLang="en-US" sz="1150" b="1">
              <a:solidFill>
                <a:srgbClr val="FFFFFF"/>
              </a:solidFill>
              <a:latin typeface="Source Han Sans SC"/>
              <a:ea typeface="Source Han Sans SC"/>
            </a:endParaRPr>
          </a:p>
        </p:txBody>
      </p:sp>
      <p:sp>
        <p:nvSpPr>
          <p:cNvPr id="26" name="TextBox 25"/>
          <p:cNvSpPr txBox="1"/>
          <p:nvPr>
            <p:custDataLst>
              <p:tags r:id="rId22"/>
            </p:custDataLst>
          </p:nvPr>
        </p:nvSpPr>
        <p:spPr>
          <a:xfrm>
            <a:off x="6885431" y="2761488"/>
            <a:ext cx="4636008" cy="34747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1220" b="1">
                <a:solidFill>
                  <a:srgbClr val="1E8E94"/>
                </a:solidFill>
                <a:latin typeface="Source Han Sans SC"/>
                <a:ea typeface="Source Han Sans SC"/>
              </a:rPr>
              <a:t>nanochat </a:t>
            </a:r>
            <a:r>
              <a:rPr lang="zh-CN" altLang="en-US" sz="1220" b="1">
                <a:solidFill>
                  <a:srgbClr val="1E8E94"/>
                </a:solidFill>
                <a:latin typeface="Source Han Sans SC"/>
                <a:ea typeface="Source Han Sans SC"/>
              </a:rPr>
              <a:t>的一次</a:t>
            </a:r>
            <a:r>
              <a:rPr lang="zh-CN" altLang="en-US" sz="1220" b="1">
                <a:solidFill>
                  <a:srgbClr val="1E8E94"/>
                </a:solidFill>
                <a:latin typeface="Source Han Sans SC"/>
                <a:ea typeface="Source Han Sans SC"/>
              </a:rPr>
              <a:t> Step </a:t>
            </a:r>
            <a:r>
              <a:rPr lang="zh-CN" altLang="en-US" sz="1220" b="1">
                <a:solidFill>
                  <a:srgbClr val="1E8E94"/>
                </a:solidFill>
                <a:latin typeface="Source Han Sans SC"/>
                <a:ea typeface="Source Han Sans SC"/>
              </a:rPr>
              <a:t>在哪些文件中执行</a:t>
            </a:r>
            <a:r>
              <a:rPr lang="zh-CN" altLang="en-US" sz="1220" b="1">
                <a:solidFill>
                  <a:srgbClr val="1E8E94"/>
                </a:solidFill>
                <a:latin typeface="Source Han Sans SC"/>
                <a:ea typeface="Source Han Sans SC"/>
              </a:rPr>
              <a:t>？</a:t>
            </a:r>
            <a:endParaRPr lang="zh-CN" altLang="en-US" sz="1220" b="1">
              <a:solidFill>
                <a:srgbClr val="1E8E94"/>
              </a:solidFill>
              <a:latin typeface="Source Han Sans SC"/>
              <a:ea typeface="Source Han Sans SC"/>
            </a:endParaRPr>
          </a:p>
        </p:txBody>
      </p:sp>
      <p:sp>
        <p:nvSpPr>
          <p:cNvPr id="27" name="TextBox 26"/>
          <p:cNvSpPr txBox="1"/>
          <p:nvPr>
            <p:custDataLst>
              <p:tags r:id="rId23"/>
            </p:custDataLst>
          </p:nvPr>
        </p:nvSpPr>
        <p:spPr>
          <a:xfrm>
            <a:off x="6519672" y="3090672"/>
            <a:ext cx="4965192" cy="53035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1020" b="0">
                <a:solidFill>
                  <a:srgbClr val="1F2937"/>
                </a:solidFill>
                <a:latin typeface="Source Han Sans SC"/>
                <a:ea typeface="Source Han Sans SC"/>
              </a:rPr>
              <a:t>dataloader.py </a:t>
            </a:r>
            <a:r>
              <a:rPr lang="zh-CN" altLang="en-US" sz="1020" b="0">
                <a:solidFill>
                  <a:srgbClr val="1F2937"/>
                </a:solidFill>
                <a:latin typeface="Source Han Sans SC"/>
                <a:ea typeface="Source Han Sans SC"/>
              </a:rPr>
              <a:t>产出</a:t>
            </a:r>
            <a:r>
              <a:rPr lang="zh-CN" altLang="en-US" sz="1020" b="0">
                <a:solidFill>
                  <a:srgbClr val="1F2937"/>
                </a:solidFill>
                <a:latin typeface="Source Han Sans SC"/>
                <a:ea typeface="Source Han Sans SC"/>
              </a:rPr>
              <a:t> inputs、targets → gpt.py </a:t>
            </a:r>
            <a:r>
              <a:rPr lang="zh-CN" altLang="en-US" sz="1020" b="0">
                <a:solidFill>
                  <a:srgbClr val="1F2937"/>
                </a:solidFill>
                <a:latin typeface="Source Han Sans SC"/>
                <a:ea typeface="Source Han Sans SC"/>
              </a:rPr>
              <a:t>计算</a:t>
            </a:r>
            <a:r>
              <a:rPr lang="zh-CN" altLang="en-US" sz="1020" b="0">
                <a:solidFill>
                  <a:srgbClr val="1F2937"/>
                </a:solidFill>
                <a:latin typeface="Source Han Sans SC"/>
                <a:ea typeface="Source Han Sans SC"/>
              </a:rPr>
              <a:t> logits、loss → base_train.py </a:t>
            </a:r>
            <a:r>
              <a:rPr lang="zh-CN" altLang="en-US" sz="1020" b="0">
                <a:solidFill>
                  <a:srgbClr val="1F2937"/>
                </a:solidFill>
                <a:latin typeface="Source Han Sans SC"/>
                <a:ea typeface="Source Han Sans SC"/>
              </a:rPr>
              <a:t>执行</a:t>
            </a:r>
            <a:r>
              <a:rPr lang="zh-CN" altLang="en-US" sz="1020" b="0">
                <a:solidFill>
                  <a:srgbClr val="1F2937"/>
                </a:solidFill>
                <a:latin typeface="Source Han Sans SC"/>
                <a:ea typeface="Source Han Sans SC"/>
              </a:rPr>
              <a:t> backward、clip、step、eval → checkpoint_manager.py </a:t>
            </a:r>
            <a:r>
              <a:rPr lang="zh-CN" altLang="en-US" sz="1020" b="0">
                <a:solidFill>
                  <a:srgbClr val="1F2937"/>
                </a:solidFill>
                <a:latin typeface="Source Han Sans SC"/>
                <a:ea typeface="Source Han Sans SC"/>
              </a:rPr>
              <a:t>保存状态</a:t>
            </a:r>
            <a:r>
              <a:rPr lang="zh-CN" altLang="en-US" sz="1020" b="0">
                <a:solidFill>
                  <a:srgbClr val="1F2937"/>
                </a:solidFill>
                <a:latin typeface="Source Han Sans SC"/>
                <a:ea typeface="Source Han Sans SC"/>
              </a:rPr>
              <a:t>。</a:t>
            </a:r>
            <a:endParaRPr lang="zh-CN" altLang="en-US" sz="1020" b="0">
              <a:solidFill>
                <a:srgbClr val="1F2937"/>
              </a:solidFill>
              <a:latin typeface="Source Han Sans SC"/>
              <a:ea typeface="Source Han Sans SC"/>
            </a:endParaRPr>
          </a:p>
        </p:txBody>
      </p:sp>
      <p:sp>
        <p:nvSpPr>
          <p:cNvPr id="28" name="TextBox 27"/>
          <p:cNvSpPr txBox="1"/>
          <p:nvPr>
            <p:custDataLst>
              <p:tags r:id="rId24"/>
            </p:custDataLst>
          </p:nvPr>
        </p:nvSpPr>
        <p:spPr>
          <a:xfrm>
            <a:off x="6519672" y="3675888"/>
            <a:ext cx="4965192" cy="11887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820" b="0">
                <a:solidFill>
                  <a:srgbClr val="5F6B7A"/>
                </a:solidFill>
                <a:latin typeface="Source Han Sans SC"/>
                <a:ea typeface="Source Han Sans SC"/>
              </a:rPr>
              <a:t>执行顺序</a:t>
            </a:r>
            <a:r>
              <a:rPr lang="zh-CN" altLang="en-US" sz="820" b="0">
                <a:solidFill>
                  <a:srgbClr val="5F6B7A"/>
                </a:solidFill>
                <a:latin typeface="Source Han Sans SC"/>
                <a:ea typeface="Source Han Sans SC"/>
              </a:rPr>
              <a:t>：</a:t>
            </a:r>
            <a:r>
              <a:rPr lang="zh-CN" altLang="en-US" sz="820" b="0">
                <a:solidFill>
                  <a:srgbClr val="5F6B7A"/>
                </a:solidFill>
                <a:latin typeface="Source Han Sans SC"/>
                <a:ea typeface="Source Han Sans SC"/>
              </a:rPr>
              <a:t>数据</a:t>
            </a:r>
            <a:r>
              <a:rPr lang="zh-CN" altLang="en-US" sz="820" b="0">
                <a:solidFill>
                  <a:srgbClr val="5F6B7A"/>
                </a:solidFill>
                <a:latin typeface="Source Han Sans SC"/>
                <a:ea typeface="Source Han Sans SC"/>
              </a:rPr>
              <a:t> → </a:t>
            </a:r>
            <a:r>
              <a:rPr lang="zh-CN" altLang="en-US" sz="820" b="0">
                <a:solidFill>
                  <a:srgbClr val="5F6B7A"/>
                </a:solidFill>
                <a:latin typeface="Source Han Sans SC"/>
                <a:ea typeface="Source Han Sans SC"/>
              </a:rPr>
              <a:t>模型</a:t>
            </a:r>
            <a:r>
              <a:rPr lang="zh-CN" altLang="en-US" sz="820" b="0">
                <a:solidFill>
                  <a:srgbClr val="5F6B7A"/>
                </a:solidFill>
                <a:latin typeface="Source Han Sans SC"/>
                <a:ea typeface="Source Han Sans SC"/>
              </a:rPr>
              <a:t> → </a:t>
            </a:r>
            <a:r>
              <a:rPr lang="zh-CN" altLang="en-US" sz="820" b="0">
                <a:solidFill>
                  <a:srgbClr val="5F6B7A"/>
                </a:solidFill>
                <a:latin typeface="Source Han Sans SC"/>
                <a:ea typeface="Source Han Sans SC"/>
              </a:rPr>
              <a:t>优化与验证</a:t>
            </a:r>
            <a:r>
              <a:rPr lang="zh-CN" altLang="en-US" sz="820" b="0">
                <a:solidFill>
                  <a:srgbClr val="5F6B7A"/>
                </a:solidFill>
                <a:latin typeface="Source Han Sans SC"/>
                <a:ea typeface="Source Han Sans SC"/>
              </a:rPr>
              <a:t> → </a:t>
            </a:r>
            <a:r>
              <a:rPr lang="zh-CN" altLang="en-US" sz="820" b="0">
                <a:solidFill>
                  <a:srgbClr val="5F6B7A"/>
                </a:solidFill>
                <a:latin typeface="Source Han Sans SC"/>
                <a:ea typeface="Source Han Sans SC"/>
              </a:rPr>
              <a:t>保存</a:t>
            </a:r>
            <a:r>
              <a:rPr lang="zh-CN" altLang="en-US" sz="820" b="0">
                <a:solidFill>
                  <a:srgbClr val="5F6B7A"/>
                </a:solidFill>
                <a:latin typeface="Source Han Sans SC"/>
                <a:ea typeface="Source Han Sans SC"/>
              </a:rPr>
              <a:t>。</a:t>
            </a:r>
            <a:endParaRPr lang="zh-CN" altLang="en-US" sz="820" b="0">
              <a:solidFill>
                <a:srgbClr val="5F6B7A"/>
              </a:solidFill>
              <a:latin typeface="Source Han Sans SC"/>
              <a:ea typeface="Source Han Sans SC"/>
            </a:endParaRPr>
          </a:p>
        </p:txBody>
      </p:sp>
      <p:sp>
        <p:nvSpPr>
          <p:cNvPr id="29" name="Rounded Rectangle 28"/>
          <p:cNvSpPr/>
          <p:nvPr>
            <p:custDataLst>
              <p:tags r:id="rId25"/>
            </p:custDataLst>
          </p:nvPr>
        </p:nvSpPr>
        <p:spPr>
          <a:xfrm>
            <a:off x="521207" y="4014215"/>
            <a:ext cx="5330952" cy="1197864"/>
          </a:xfrm>
          <a:prstGeom prst="roundRect">
            <a:avLst/>
          </a:prstGeom>
          <a:solidFill>
            <a:srgbClr val="F3EEF5"/>
          </a:solidFill>
          <a:ln w="12700">
            <a:solidFill>
              <a:srgbClr val="66087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custDataLst>
              <p:tags r:id="rId26"/>
            </p:custDataLst>
          </p:nvPr>
        </p:nvSpPr>
        <p:spPr>
          <a:xfrm>
            <a:off x="630936" y="4133087"/>
            <a:ext cx="347472" cy="347472"/>
          </a:xfrm>
          <a:prstGeom prst="ellipse">
            <a:avLst/>
          </a:prstGeom>
          <a:solidFill>
            <a:srgbClr val="660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custDataLst>
              <p:tags r:id="rId27"/>
            </p:custDataLst>
          </p:nvPr>
        </p:nvSpPr>
        <p:spPr>
          <a:xfrm>
            <a:off x="630936" y="4133087"/>
            <a:ext cx="347472" cy="347472"/>
          </a:xfrm>
          <a:prstGeom prst="rect">
            <a:avLst/>
          </a:prstGeom>
          <a:noFill/>
        </p:spPr>
        <p:txBody>
          <a:bodyPr wrap="square" lIns="0" tIns="0" rIns="0" bIns="0" anchor="ctr">
            <a:spAutoFit/>
          </a:bodyPr>
          <a:lstStyle/>
          <a:p>
            <a:pPr algn="ctr">
              <a:lnSpc>
                <a:spcPct val="100000"/>
              </a:lnSpc>
              <a:spcBef>
                <a:spcPts val="0"/>
              </a:spcBef>
              <a:spcAft>
                <a:spcPts val="0"/>
              </a:spcAft>
            </a:pPr>
            <a:r>
              <a:rPr lang="zh-CN" altLang="en-US" sz="1150" b="1">
                <a:solidFill>
                  <a:srgbClr val="FFFFFF"/>
                </a:solidFill>
                <a:latin typeface="Source Han Sans SC"/>
                <a:ea typeface="Source Han Sans SC"/>
              </a:rPr>
              <a:t>5</a:t>
            </a:r>
            <a:endParaRPr lang="zh-CN" altLang="en-US" sz="1150" b="1">
              <a:solidFill>
                <a:srgbClr val="FFFFFF"/>
              </a:solidFill>
              <a:latin typeface="Source Han Sans SC"/>
              <a:ea typeface="Source Han Sans SC"/>
            </a:endParaRPr>
          </a:p>
        </p:txBody>
      </p:sp>
      <p:sp>
        <p:nvSpPr>
          <p:cNvPr id="32" name="TextBox 31"/>
          <p:cNvSpPr txBox="1"/>
          <p:nvPr>
            <p:custDataLst>
              <p:tags r:id="rId28"/>
            </p:custDataLst>
          </p:nvPr>
        </p:nvSpPr>
        <p:spPr>
          <a:xfrm>
            <a:off x="1069848" y="4114800"/>
            <a:ext cx="4636008" cy="34747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1220" b="1">
                <a:solidFill>
                  <a:srgbClr val="660874"/>
                </a:solidFill>
                <a:latin typeface="Source Han Sans SC"/>
                <a:ea typeface="Source Han Sans SC"/>
              </a:rPr>
              <a:t>为什么必须使用独立验证分片</a:t>
            </a:r>
            <a:r>
              <a:rPr lang="zh-CN" altLang="en-US" sz="1220" b="1">
                <a:solidFill>
                  <a:srgbClr val="660874"/>
                </a:solidFill>
                <a:latin typeface="Source Han Sans SC"/>
                <a:ea typeface="Source Han Sans SC"/>
              </a:rPr>
              <a:t>？</a:t>
            </a:r>
            <a:endParaRPr lang="zh-CN" altLang="en-US" sz="1220" b="1">
              <a:solidFill>
                <a:srgbClr val="660874"/>
              </a:solidFill>
              <a:latin typeface="Source Han Sans SC"/>
              <a:ea typeface="Source Han Sans SC"/>
            </a:endParaRPr>
          </a:p>
        </p:txBody>
      </p:sp>
      <p:sp>
        <p:nvSpPr>
          <p:cNvPr id="33" name="TextBox 32"/>
          <p:cNvSpPr txBox="1"/>
          <p:nvPr>
            <p:custDataLst>
              <p:tags r:id="rId29"/>
            </p:custDataLst>
          </p:nvPr>
        </p:nvSpPr>
        <p:spPr>
          <a:xfrm>
            <a:off x="704088" y="4443983"/>
            <a:ext cx="4965192" cy="53035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1020" b="0">
                <a:solidFill>
                  <a:srgbClr val="1F2937"/>
                </a:solidFill>
                <a:latin typeface="Source Han Sans SC"/>
                <a:ea typeface="Source Han Sans SC"/>
              </a:rPr>
              <a:t>00–09 </a:t>
            </a:r>
            <a:r>
              <a:rPr lang="zh-CN" altLang="en-US" sz="1020" b="0">
                <a:solidFill>
                  <a:srgbClr val="1F2937"/>
                </a:solidFill>
                <a:latin typeface="Source Han Sans SC"/>
                <a:ea typeface="Source Han Sans SC"/>
              </a:rPr>
              <a:t>参与梯度更新</a:t>
            </a:r>
            <a:r>
              <a:rPr lang="zh-CN" altLang="en-US" sz="1020" b="0">
                <a:solidFill>
                  <a:srgbClr val="1F2937"/>
                </a:solidFill>
                <a:latin typeface="Source Han Sans SC"/>
                <a:ea typeface="Source Han Sans SC"/>
              </a:rPr>
              <a:t>；6542 </a:t>
            </a:r>
            <a:r>
              <a:rPr lang="zh-CN" altLang="en-US" sz="1020" b="0">
                <a:solidFill>
                  <a:srgbClr val="1F2937"/>
                </a:solidFill>
                <a:latin typeface="Source Han Sans SC"/>
                <a:ea typeface="Source Han Sans SC"/>
              </a:rPr>
              <a:t>只做</a:t>
            </a:r>
            <a:r>
              <a:rPr lang="zh-CN" altLang="en-US" sz="1020" b="0">
                <a:solidFill>
                  <a:srgbClr val="1F2937"/>
                </a:solidFill>
                <a:latin typeface="Source Han Sans SC"/>
                <a:ea typeface="Source Han Sans SC"/>
              </a:rPr>
              <a:t> Forward </a:t>
            </a:r>
            <a:r>
              <a:rPr lang="zh-CN" altLang="en-US" sz="1020" b="0">
                <a:solidFill>
                  <a:srgbClr val="1F2937"/>
                </a:solidFill>
                <a:latin typeface="Source Han Sans SC"/>
                <a:ea typeface="Source Han Sans SC"/>
              </a:rPr>
              <a:t>与</a:t>
            </a:r>
            <a:r>
              <a:rPr lang="zh-CN" altLang="en-US" sz="1020" b="0">
                <a:solidFill>
                  <a:srgbClr val="1F2937"/>
                </a:solidFill>
                <a:latin typeface="Source Han Sans SC"/>
                <a:ea typeface="Source Han Sans SC"/>
              </a:rPr>
              <a:t> Validation BPB，</a:t>
            </a:r>
            <a:r>
              <a:rPr lang="zh-CN" altLang="en-US" sz="1020" b="0">
                <a:solidFill>
                  <a:srgbClr val="1F2937"/>
                </a:solidFill>
                <a:latin typeface="Source Han Sans SC"/>
                <a:ea typeface="Source Han Sans SC"/>
              </a:rPr>
              <a:t>不执行</a:t>
            </a:r>
            <a:r>
              <a:rPr lang="zh-CN" altLang="en-US" sz="1020" b="0">
                <a:solidFill>
                  <a:srgbClr val="1F2937"/>
                </a:solidFill>
                <a:latin typeface="Source Han Sans SC"/>
                <a:ea typeface="Source Han Sans SC"/>
              </a:rPr>
              <a:t> Backward。
</a:t>
            </a:r>
            <a:r>
              <a:rPr lang="zh-CN" altLang="en-US" sz="1020" b="0">
                <a:solidFill>
                  <a:srgbClr val="1F2937"/>
                </a:solidFill>
                <a:latin typeface="Source Han Sans SC"/>
                <a:ea typeface="Source Han Sans SC"/>
              </a:rPr>
              <a:t>独立数据可避免泄漏</a:t>
            </a:r>
            <a:r>
              <a:rPr lang="zh-CN" altLang="en-US" sz="1020" b="0">
                <a:solidFill>
                  <a:srgbClr val="1F2937"/>
                </a:solidFill>
                <a:latin typeface="Source Han Sans SC"/>
                <a:ea typeface="Source Han Sans SC"/>
              </a:rPr>
              <a:t>，</a:t>
            </a:r>
            <a:r>
              <a:rPr lang="zh-CN" altLang="en-US" sz="1020" b="0">
                <a:solidFill>
                  <a:srgbClr val="1F2937"/>
                </a:solidFill>
                <a:latin typeface="Source Han Sans SC"/>
                <a:ea typeface="Source Han Sans SC"/>
              </a:rPr>
              <a:t>并检验模型的泛化能力</a:t>
            </a:r>
            <a:r>
              <a:rPr lang="zh-CN" altLang="en-US" sz="1020" b="0">
                <a:solidFill>
                  <a:srgbClr val="1F2937"/>
                </a:solidFill>
                <a:latin typeface="Source Han Sans SC"/>
                <a:ea typeface="Source Han Sans SC"/>
              </a:rPr>
              <a:t>。</a:t>
            </a:r>
            <a:endParaRPr lang="zh-CN" altLang="en-US" sz="1020" b="0">
              <a:solidFill>
                <a:srgbClr val="1F2937"/>
              </a:solidFill>
              <a:latin typeface="Source Han Sans SC"/>
              <a:ea typeface="Source Han Sans SC"/>
            </a:endParaRPr>
          </a:p>
        </p:txBody>
      </p:sp>
      <p:sp>
        <p:nvSpPr>
          <p:cNvPr id="34" name="TextBox 33"/>
          <p:cNvSpPr txBox="1"/>
          <p:nvPr>
            <p:custDataLst>
              <p:tags r:id="rId30"/>
            </p:custDataLst>
          </p:nvPr>
        </p:nvSpPr>
        <p:spPr>
          <a:xfrm>
            <a:off x="704088" y="5029199"/>
            <a:ext cx="4965192" cy="11887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820" b="0">
                <a:solidFill>
                  <a:srgbClr val="5F6B7A"/>
                </a:solidFill>
                <a:latin typeface="Source Han Sans SC"/>
                <a:ea typeface="Source Han Sans SC"/>
              </a:rPr>
              <a:t>复核</a:t>
            </a:r>
            <a:r>
              <a:rPr lang="zh-CN" altLang="en-US" sz="820" b="0">
                <a:solidFill>
                  <a:srgbClr val="5F6B7A"/>
                </a:solidFill>
                <a:latin typeface="Source Han Sans SC"/>
                <a:ea typeface="Source Han Sans SC"/>
              </a:rPr>
              <a:t>：</a:t>
            </a:r>
            <a:r>
              <a:rPr lang="zh-CN" altLang="en-US" sz="820" b="0">
                <a:solidFill>
                  <a:srgbClr val="5F6B7A"/>
                </a:solidFill>
                <a:latin typeface="Source Han Sans SC"/>
                <a:ea typeface="Source Han Sans SC"/>
              </a:rPr>
              <a:t>训练结束得到有限</a:t>
            </a:r>
            <a:r>
              <a:rPr lang="zh-CN" altLang="en-US" sz="820" b="0">
                <a:solidFill>
                  <a:srgbClr val="5F6B7A"/>
                </a:solidFill>
                <a:latin typeface="Source Han Sans SC"/>
                <a:ea typeface="Source Han Sans SC"/>
              </a:rPr>
              <a:t> Validation BPB=1.217318。</a:t>
            </a:r>
            <a:endParaRPr lang="zh-CN" altLang="en-US" sz="820" b="0">
              <a:solidFill>
                <a:srgbClr val="5F6B7A"/>
              </a:solidFill>
              <a:latin typeface="Source Han Sans SC"/>
              <a:ea typeface="Source Han Sans SC"/>
            </a:endParaRPr>
          </a:p>
        </p:txBody>
      </p:sp>
      <p:sp>
        <p:nvSpPr>
          <p:cNvPr id="35" name="Rounded Rectangle 34"/>
          <p:cNvSpPr/>
          <p:nvPr>
            <p:custDataLst>
              <p:tags r:id="rId31"/>
            </p:custDataLst>
          </p:nvPr>
        </p:nvSpPr>
        <p:spPr>
          <a:xfrm>
            <a:off x="6336792" y="4014215"/>
            <a:ext cx="5330952" cy="1197864"/>
          </a:xfrm>
          <a:prstGeom prst="roundRect">
            <a:avLst/>
          </a:prstGeom>
          <a:solidFill>
            <a:srgbClr val="E9F4F4"/>
          </a:solidFill>
          <a:ln w="12700">
            <a:solidFill>
              <a:srgbClr val="1E8E9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custDataLst>
              <p:tags r:id="rId32"/>
            </p:custDataLst>
          </p:nvPr>
        </p:nvSpPr>
        <p:spPr>
          <a:xfrm>
            <a:off x="6446520" y="4133087"/>
            <a:ext cx="347472" cy="347472"/>
          </a:xfrm>
          <a:prstGeom prst="ellipse">
            <a:avLst/>
          </a:prstGeom>
          <a:solidFill>
            <a:srgbClr val="1E8E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custDataLst>
              <p:tags r:id="rId33"/>
            </p:custDataLst>
          </p:nvPr>
        </p:nvSpPr>
        <p:spPr>
          <a:xfrm>
            <a:off x="6446520" y="4133087"/>
            <a:ext cx="347472" cy="347472"/>
          </a:xfrm>
          <a:prstGeom prst="rect">
            <a:avLst/>
          </a:prstGeom>
          <a:noFill/>
        </p:spPr>
        <p:txBody>
          <a:bodyPr wrap="square" lIns="0" tIns="0" rIns="0" bIns="0" anchor="ctr">
            <a:spAutoFit/>
          </a:bodyPr>
          <a:lstStyle/>
          <a:p>
            <a:pPr algn="ctr">
              <a:lnSpc>
                <a:spcPct val="100000"/>
              </a:lnSpc>
              <a:spcBef>
                <a:spcPts val="0"/>
              </a:spcBef>
              <a:spcAft>
                <a:spcPts val="0"/>
              </a:spcAft>
            </a:pPr>
            <a:r>
              <a:rPr lang="zh-CN" altLang="en-US" sz="1150" b="1">
                <a:solidFill>
                  <a:srgbClr val="FFFFFF"/>
                </a:solidFill>
                <a:latin typeface="Source Han Sans SC"/>
                <a:ea typeface="Source Han Sans SC"/>
              </a:rPr>
              <a:t>6</a:t>
            </a:r>
            <a:endParaRPr lang="zh-CN" altLang="en-US" sz="1150" b="1">
              <a:solidFill>
                <a:srgbClr val="FFFFFF"/>
              </a:solidFill>
              <a:latin typeface="Source Han Sans SC"/>
              <a:ea typeface="Source Han Sans SC"/>
            </a:endParaRPr>
          </a:p>
        </p:txBody>
      </p:sp>
      <p:sp>
        <p:nvSpPr>
          <p:cNvPr id="38" name="TextBox 37"/>
          <p:cNvSpPr txBox="1"/>
          <p:nvPr>
            <p:custDataLst>
              <p:tags r:id="rId34"/>
            </p:custDataLst>
          </p:nvPr>
        </p:nvSpPr>
        <p:spPr>
          <a:xfrm>
            <a:off x="6885431" y="4114800"/>
            <a:ext cx="4636008" cy="34747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1220" b="1">
                <a:solidFill>
                  <a:srgbClr val="1E8E94"/>
                </a:solidFill>
                <a:latin typeface="Source Han Sans SC"/>
                <a:ea typeface="Source Han Sans SC"/>
              </a:rPr>
              <a:t>为什么</a:t>
            </a:r>
            <a:r>
              <a:rPr lang="zh-CN" altLang="en-US" sz="1220" b="1">
                <a:solidFill>
                  <a:srgbClr val="1E8E94"/>
                </a:solidFill>
                <a:latin typeface="Source Han Sans SC"/>
                <a:ea typeface="Source Han Sans SC"/>
              </a:rPr>
              <a:t> checkpoint </a:t>
            </a:r>
            <a:r>
              <a:rPr lang="zh-CN" altLang="en-US" sz="1220" b="1">
                <a:solidFill>
                  <a:srgbClr val="1E8E94"/>
                </a:solidFill>
                <a:latin typeface="Source Han Sans SC"/>
                <a:ea typeface="Source Han Sans SC"/>
              </a:rPr>
              <a:t>需要三类状态</a:t>
            </a:r>
            <a:r>
              <a:rPr lang="zh-CN" altLang="en-US" sz="1220" b="1">
                <a:solidFill>
                  <a:srgbClr val="1E8E94"/>
                </a:solidFill>
                <a:latin typeface="Source Han Sans SC"/>
                <a:ea typeface="Source Han Sans SC"/>
              </a:rPr>
              <a:t>？</a:t>
            </a:r>
            <a:endParaRPr lang="zh-CN" altLang="en-US" sz="1220" b="1">
              <a:solidFill>
                <a:srgbClr val="1E8E94"/>
              </a:solidFill>
              <a:latin typeface="Source Han Sans SC"/>
              <a:ea typeface="Source Han Sans SC"/>
            </a:endParaRPr>
          </a:p>
        </p:txBody>
      </p:sp>
      <p:sp>
        <p:nvSpPr>
          <p:cNvPr id="39" name="TextBox 38"/>
          <p:cNvSpPr txBox="1"/>
          <p:nvPr>
            <p:custDataLst>
              <p:tags r:id="rId35"/>
            </p:custDataLst>
          </p:nvPr>
        </p:nvSpPr>
        <p:spPr>
          <a:xfrm>
            <a:off x="6519672" y="4443983"/>
            <a:ext cx="4965192" cy="53035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1020" b="0">
                <a:solidFill>
                  <a:srgbClr val="1F2937"/>
                </a:solidFill>
                <a:latin typeface="Source Han Sans SC"/>
                <a:ea typeface="Source Han Sans SC"/>
              </a:rPr>
              <a:t>model </a:t>
            </a:r>
            <a:r>
              <a:rPr lang="zh-CN" altLang="en-US" sz="1020" b="0">
                <a:solidFill>
                  <a:srgbClr val="1F2937"/>
                </a:solidFill>
                <a:latin typeface="Source Han Sans SC"/>
                <a:ea typeface="Source Han Sans SC"/>
              </a:rPr>
              <a:t>保存参数</a:t>
            </a:r>
            <a:r>
              <a:rPr lang="zh-CN" altLang="en-US" sz="1020" b="0">
                <a:solidFill>
                  <a:srgbClr val="1F2937"/>
                </a:solidFill>
                <a:latin typeface="Source Han Sans SC"/>
                <a:ea typeface="Source Han Sans SC"/>
              </a:rPr>
              <a:t>；optimizer </a:t>
            </a:r>
            <a:r>
              <a:rPr lang="zh-CN" altLang="en-US" sz="1020" b="0">
                <a:solidFill>
                  <a:srgbClr val="1F2937"/>
                </a:solidFill>
                <a:latin typeface="Source Han Sans SC"/>
                <a:ea typeface="Source Han Sans SC"/>
              </a:rPr>
              <a:t>保存</a:t>
            </a:r>
            <a:r>
              <a:rPr lang="zh-CN" altLang="en-US" sz="1020" b="0">
                <a:solidFill>
                  <a:srgbClr val="1F2937"/>
                </a:solidFill>
                <a:latin typeface="Source Han Sans SC"/>
                <a:ea typeface="Source Han Sans SC"/>
              </a:rPr>
              <a:t> AdamW </a:t>
            </a:r>
            <a:r>
              <a:rPr lang="zh-CN" altLang="en-US" sz="1020" b="0">
                <a:solidFill>
                  <a:srgbClr val="1F2937"/>
                </a:solidFill>
                <a:latin typeface="Source Han Sans SC"/>
                <a:ea typeface="Source Han Sans SC"/>
              </a:rPr>
              <a:t>状态</a:t>
            </a:r>
            <a:r>
              <a:rPr lang="zh-CN" altLang="en-US" sz="1020" b="0">
                <a:solidFill>
                  <a:srgbClr val="1F2937"/>
                </a:solidFill>
                <a:latin typeface="Source Han Sans SC"/>
                <a:ea typeface="Source Han Sans SC"/>
              </a:rPr>
              <a:t>；metadata </a:t>
            </a:r>
            <a:r>
              <a:rPr lang="zh-CN" altLang="en-US" sz="1020" b="0">
                <a:solidFill>
                  <a:srgbClr val="1F2937"/>
                </a:solidFill>
                <a:latin typeface="Source Han Sans SC"/>
                <a:ea typeface="Source Han Sans SC"/>
              </a:rPr>
              <a:t>保存</a:t>
            </a:r>
            <a:r>
              <a:rPr lang="zh-CN" altLang="en-US" sz="1020" b="0">
                <a:solidFill>
                  <a:srgbClr val="1F2937"/>
                </a:solidFill>
                <a:latin typeface="Source Han Sans SC"/>
                <a:ea typeface="Source Han Sans SC"/>
              </a:rPr>
              <a:t> step、</a:t>
            </a:r>
            <a:r>
              <a:rPr lang="zh-CN" altLang="en-US" sz="1020" b="0">
                <a:solidFill>
                  <a:srgbClr val="1F2937"/>
                </a:solidFill>
                <a:latin typeface="Source Han Sans SC"/>
                <a:ea typeface="Source Han Sans SC"/>
              </a:rPr>
              <a:t>配置</a:t>
            </a:r>
            <a:r>
              <a:rPr lang="zh-CN" altLang="en-US" sz="1020" b="0">
                <a:solidFill>
                  <a:srgbClr val="1F2937"/>
                </a:solidFill>
                <a:latin typeface="Source Han Sans SC"/>
                <a:ea typeface="Source Han Sans SC"/>
              </a:rPr>
              <a:t>、</a:t>
            </a:r>
            <a:r>
              <a:rPr lang="zh-CN" altLang="en-US" sz="1020" b="0">
                <a:solidFill>
                  <a:srgbClr val="1F2937"/>
                </a:solidFill>
                <a:latin typeface="Source Han Sans SC"/>
                <a:ea typeface="Source Han Sans SC"/>
              </a:rPr>
              <a:t>数据位置和验证指标</a:t>
            </a:r>
            <a:r>
              <a:rPr lang="zh-CN" altLang="en-US" sz="1020" b="0">
                <a:solidFill>
                  <a:srgbClr val="1F2937"/>
                </a:solidFill>
                <a:latin typeface="Source Han Sans SC"/>
                <a:ea typeface="Source Han Sans SC"/>
              </a:rPr>
              <a:t>。
</a:t>
            </a:r>
            <a:r>
              <a:rPr lang="zh-CN" altLang="en-US" sz="1020" b="0">
                <a:solidFill>
                  <a:srgbClr val="1F2937"/>
                </a:solidFill>
                <a:latin typeface="Source Han Sans SC"/>
                <a:ea typeface="Source Han Sans SC"/>
              </a:rPr>
              <a:t>三类状态齐全才能精确续训</a:t>
            </a:r>
            <a:r>
              <a:rPr lang="zh-CN" altLang="en-US" sz="1020" b="0">
                <a:solidFill>
                  <a:srgbClr val="1F2937"/>
                </a:solidFill>
                <a:latin typeface="Source Han Sans SC"/>
                <a:ea typeface="Source Han Sans SC"/>
              </a:rPr>
              <a:t>。</a:t>
            </a:r>
            <a:endParaRPr lang="zh-CN" altLang="en-US" sz="1020" b="0">
              <a:solidFill>
                <a:srgbClr val="1F2937"/>
              </a:solidFill>
              <a:latin typeface="Source Han Sans SC"/>
              <a:ea typeface="Source Han Sans SC"/>
            </a:endParaRPr>
          </a:p>
        </p:txBody>
      </p:sp>
      <p:sp>
        <p:nvSpPr>
          <p:cNvPr id="40" name="TextBox 39"/>
          <p:cNvSpPr txBox="1"/>
          <p:nvPr>
            <p:custDataLst>
              <p:tags r:id="rId36"/>
            </p:custDataLst>
          </p:nvPr>
        </p:nvSpPr>
        <p:spPr>
          <a:xfrm>
            <a:off x="6519672" y="5029199"/>
            <a:ext cx="4965192" cy="118872"/>
          </a:xfrm>
          <a:prstGeom prst="rect">
            <a:avLst/>
          </a:prstGeom>
          <a:noFill/>
        </p:spPr>
        <p:txBody>
          <a:bodyPr wrap="square" lIns="0" tIns="0" rIns="0" bIns="0" anchor="ctr">
            <a:spAutoFit/>
          </a:bodyPr>
          <a:lstStyle/>
          <a:p>
            <a:pPr algn="l">
              <a:lnSpc>
                <a:spcPct val="100000"/>
              </a:lnSpc>
              <a:spcBef>
                <a:spcPts val="0"/>
              </a:spcBef>
              <a:spcAft>
                <a:spcPts val="0"/>
              </a:spcAft>
            </a:pPr>
            <a:r>
              <a:rPr lang="zh-CN" altLang="en-US" sz="820" b="0">
                <a:solidFill>
                  <a:srgbClr val="5F6B7A"/>
                </a:solidFill>
                <a:latin typeface="Source Han Sans SC"/>
                <a:ea typeface="Source Han Sans SC"/>
              </a:rPr>
              <a:t>复核</a:t>
            </a:r>
            <a:r>
              <a:rPr lang="zh-CN" altLang="en-US" sz="820" b="0">
                <a:solidFill>
                  <a:srgbClr val="5F6B7A"/>
                </a:solidFill>
                <a:latin typeface="Source Han Sans SC"/>
                <a:ea typeface="Source Han Sans SC"/>
              </a:rPr>
              <a:t>：model_002112.pt + optim_002112_rank0.pt + meta_002112.json。</a:t>
            </a:r>
            <a:endParaRPr lang="zh-CN" altLang="en-US" sz="820" b="0">
              <a:solidFill>
                <a:srgbClr val="5F6B7A"/>
              </a:solidFill>
              <a:latin typeface="Source Han Sans SC"/>
              <a:ea typeface="Source Han Sans SC"/>
            </a:endParaRPr>
          </a:p>
        </p:txBody>
      </p:sp>
      <p:sp>
        <p:nvSpPr>
          <p:cNvPr id="41" name="Rounded Rectangle 40"/>
          <p:cNvSpPr/>
          <p:nvPr/>
        </p:nvSpPr>
        <p:spPr>
          <a:xfrm>
            <a:off x="521207" y="5559552"/>
            <a:ext cx="11146536" cy="566928"/>
          </a:xfrm>
          <a:prstGeom prst="roundRect">
            <a:avLst/>
          </a:prstGeom>
          <a:solidFill>
            <a:srgbClr val="EEF8E9"/>
          </a:solidFill>
          <a:ln w="12700">
            <a:solidFill>
              <a:srgbClr val="48B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3232" y="5650992"/>
            <a:ext cx="10762488" cy="329184"/>
          </a:xfrm>
          <a:prstGeom prst="rect">
            <a:avLst/>
          </a:prstGeom>
          <a:noFill/>
        </p:spPr>
        <p:txBody>
          <a:bodyPr wrap="square" lIns="0" tIns="0" rIns="0" bIns="0" anchor="ctr">
            <a:spAutoFit/>
          </a:bodyPr>
          <a:lstStyle/>
          <a:p>
            <a:pPr algn="ctr">
              <a:lnSpc>
                <a:spcPct val="100000"/>
              </a:lnSpc>
              <a:spcBef>
                <a:spcPts val="0"/>
              </a:spcBef>
              <a:spcAft>
                <a:spcPts val="0"/>
              </a:spcAft>
            </a:pPr>
            <a:r>
              <a:rPr lang="zh-CN" altLang="en-US" sz="1400" b="1">
                <a:solidFill>
                  <a:srgbClr val="48BB00"/>
                </a:solidFill>
                <a:latin typeface="Source Han Sans SC"/>
                <a:ea typeface="Source Han Sans SC"/>
              </a:rPr>
              <a:t>训练闭环</a:t>
            </a:r>
            <a:r>
              <a:rPr lang="zh-CN" altLang="en-US" sz="1400" b="1">
                <a:solidFill>
                  <a:srgbClr val="48BB00"/>
                </a:solidFill>
                <a:latin typeface="Source Han Sans SC"/>
                <a:ea typeface="Source Han Sans SC"/>
              </a:rPr>
              <a:t>：</a:t>
            </a:r>
            <a:r>
              <a:rPr lang="zh-CN" altLang="en-US" sz="1400" b="1">
                <a:solidFill>
                  <a:srgbClr val="48BB00"/>
                </a:solidFill>
                <a:latin typeface="Source Han Sans SC"/>
                <a:ea typeface="Source Han Sans SC"/>
              </a:rPr>
              <a:t>数据与标签</a:t>
            </a:r>
            <a:r>
              <a:rPr lang="zh-CN" altLang="en-US" sz="1400" b="1">
                <a:solidFill>
                  <a:srgbClr val="48BB00"/>
                </a:solidFill>
                <a:latin typeface="Source Han Sans SC"/>
                <a:ea typeface="Source Han Sans SC"/>
              </a:rPr>
              <a:t> → </a:t>
            </a:r>
            <a:r>
              <a:rPr lang="zh-CN" altLang="en-US" sz="1400" b="1">
                <a:solidFill>
                  <a:srgbClr val="48BB00"/>
                </a:solidFill>
                <a:latin typeface="Source Han Sans SC"/>
                <a:ea typeface="Source Han Sans SC"/>
              </a:rPr>
              <a:t>因果约束</a:t>
            </a:r>
            <a:r>
              <a:rPr lang="zh-CN" altLang="en-US" sz="1400" b="1">
                <a:solidFill>
                  <a:srgbClr val="48BB00"/>
                </a:solidFill>
                <a:latin typeface="Source Han Sans SC"/>
                <a:ea typeface="Source Han Sans SC"/>
              </a:rPr>
              <a:t> → Loss → </a:t>
            </a:r>
            <a:r>
              <a:rPr lang="zh-CN" altLang="en-US" sz="1400" b="1">
                <a:solidFill>
                  <a:srgbClr val="48BB00"/>
                </a:solidFill>
                <a:latin typeface="Source Han Sans SC"/>
                <a:ea typeface="Source Han Sans SC"/>
              </a:rPr>
              <a:t>参数更新</a:t>
            </a:r>
            <a:r>
              <a:rPr lang="zh-CN" altLang="en-US" sz="1400" b="1">
                <a:solidFill>
                  <a:srgbClr val="48BB00"/>
                </a:solidFill>
                <a:latin typeface="Source Han Sans SC"/>
                <a:ea typeface="Source Han Sans SC"/>
              </a:rPr>
              <a:t> → </a:t>
            </a:r>
            <a:r>
              <a:rPr lang="zh-CN" altLang="en-US" sz="1400" b="1">
                <a:solidFill>
                  <a:srgbClr val="48BB00"/>
                </a:solidFill>
                <a:latin typeface="Source Han Sans SC"/>
                <a:ea typeface="Source Han Sans SC"/>
              </a:rPr>
              <a:t>独立验证</a:t>
            </a:r>
            <a:r>
              <a:rPr lang="zh-CN" altLang="en-US" sz="1400" b="1">
                <a:solidFill>
                  <a:srgbClr val="48BB00"/>
                </a:solidFill>
                <a:latin typeface="Source Han Sans SC"/>
                <a:ea typeface="Source Han Sans SC"/>
              </a:rPr>
              <a:t> → </a:t>
            </a:r>
            <a:r>
              <a:rPr lang="zh-CN" altLang="en-US" sz="1400" b="1">
                <a:solidFill>
                  <a:srgbClr val="48BB00"/>
                </a:solidFill>
                <a:latin typeface="Source Han Sans SC"/>
                <a:ea typeface="Source Han Sans SC"/>
              </a:rPr>
              <a:t>完整</a:t>
            </a:r>
            <a:r>
              <a:rPr lang="zh-CN" altLang="en-US" sz="1400" b="1">
                <a:solidFill>
                  <a:srgbClr val="48BB00"/>
                </a:solidFill>
                <a:latin typeface="Source Han Sans SC"/>
                <a:ea typeface="Source Han Sans SC"/>
              </a:rPr>
              <a:t> checkpoint</a:t>
            </a:r>
            <a:endParaRPr lang="zh-CN" altLang="en-US" sz="1400" b="1">
              <a:solidFill>
                <a:srgbClr val="48BB00"/>
              </a:solidFill>
              <a:latin typeface="Source Han Sans SC"/>
              <a:ea typeface="Source Han Sans SC"/>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zh-CN">
                <a:latin typeface="Source Han Sans SC"/>
              </a:rPr>
              <a:t>T</a:t>
            </a:r>
            <a:r>
              <a:rPr lang="en-US" altLang="zh-CN">
                <a:latin typeface="Source Han Sans SC"/>
              </a:rPr>
              <a:t>hanks</a:t>
            </a:r>
            <a:endParaRPr lang="en-US" altLang="zh-CN"/>
          </a:p>
        </p:txBody>
      </p:sp>
    </p:spTree>
  </p:cSld>
  <p:clrMapOvr>
    <a:masterClrMapping/>
  </p:clrMapOvr>
</p:sld>
</file>

<file path=ppt/tags/tag1.xml><?xml version="1.0" encoding="utf-8"?>
<p:tagLst xmlns:p="http://schemas.openxmlformats.org/presentationml/2006/main">
  <p:tag name="KSO_WM_DIAGRAM_VIRTUALLY_FRAME" val="{&quot;height&quot;:206.25,&quot;left&quot;:33.75,&quot;top&quot;:131.25,&quot;width&quot;:832.5}"/>
</p:tagLst>
</file>

<file path=ppt/tags/tag2.xml><?xml version="1.0" encoding="utf-8"?>
<p:tagLst xmlns:p="http://schemas.openxmlformats.org/presentationml/2006/main">
  <p:tag name="KSO_WM_DIAGRAM_VIRTUALLY_FRAME" val="{&quot;height&quot;:206.25,&quot;left&quot;:33.75,&quot;top&quot;:131.25,&quot;width&quot;:832.5}"/>
</p:tagLst>
</file>

<file path=ppt/tags/tag3.xml><?xml version="1.0" encoding="utf-8"?>
<p:tagLst xmlns:p="http://schemas.openxmlformats.org/presentationml/2006/main">
  <p:tag name="KSO_WM_DIAGRAM_VIRTUALLY_FRAME" val="{&quot;height&quot;:206.25,&quot;left&quot;:33.75,&quot;top&quot;:131.25,&quot;width&quot;:832.5}"/>
</p:tagLst>
</file>

<file path=ppt/tags/tag4.xml><?xml version="1.0" encoding="utf-8"?>
<p:tagLst xmlns:p="http://schemas.openxmlformats.org/presentationml/2006/main">
  <p:tag name="KSO_WM_DIAGRAM_VIRTUALLY_FRAME" val="{&quot;height&quot;:206.25,&quot;left&quot;:33.75,&quot;top&quot;:131.25,&quot;width&quot;:832.5}"/>
</p:tagLst>
</file>

<file path=ppt/tags/tag5.xml><?xml version="1.0" encoding="utf-8"?>
<p:tagLst xmlns:p="http://schemas.openxmlformats.org/presentationml/2006/main">
  <p:tag name="KSO_WM_DIAGRAM_VIRTUALLY_FRAME" val="{&quot;height&quot;:206.25,&quot;left&quot;:33.75,&quot;top&quot;:131.25,&quot;width&quot;:832.5}"/>
</p:tagLst>
</file>

<file path=ppt/tags/tag6.xml><?xml version="1.0" encoding="utf-8"?>
<p:tagLst xmlns:p="http://schemas.openxmlformats.org/presentationml/2006/main">
  <p:tag name="KSO_WM_DIAGRAM_VIRTUALLY_FRAME" val="{&quot;height&quot;:206.25,&quot;left&quot;:33.75,&quot;top&quot;:131.25,&quot;width&quot;:832.5}"/>
</p:tagLst>
</file>

<file path=ppt/tags/tag7.xml><?xml version="1.0" encoding="utf-8"?>
<p:tagLst xmlns:p="http://schemas.openxmlformats.org/presentationml/2006/main">
  <p:tag name="KSO_WM_DIAGRAM_VIRTUALLY_FRAME" val="{&quot;height&quot;:206.25,&quot;left&quot;:33.75,&quot;top&quot;:131.25,&quot;width&quot;:832.5}"/>
</p:tagLst>
</file>

<file path=ppt/tags/tag8.xml><?xml version="1.0" encoding="utf-8"?>
<p:tagLst xmlns:p="http://schemas.openxmlformats.org/presentationml/2006/main">
  <p:tag name="KSO_WM_DIAGRAM_VIRTUALLY_FRAME" val="{&quot;height&quot;:206.25,&quot;left&quot;:33.75,&quot;top&quot;:131.25,&quot;width&quot;:832.5}"/>
</p:tagLst>
</file>

<file path=ppt/tags/tag9.xml><?xml version="1.0" encoding="utf-8"?>
<p:tagLst xmlns:p="http://schemas.openxmlformats.org/presentationml/2006/main">
  <p:tag name="KSO_WM_DIAGRAM_VIRTUALLY_FRAME" val="{&quot;height&quot;:206.25,&quot;left&quot;:33.75,&quot;top&quot;:131.25,&quot;width&quot;:832.5}"/>
</p:tagLst>
</file>

<file path=ppt/tags/tag10.xml><?xml version="1.0" encoding="utf-8"?>
<p:tagLst xmlns:p="http://schemas.openxmlformats.org/presentationml/2006/main">
  <p:tag name="KSO_WM_DIAGRAM_VIRTUALLY_FRAME" val="{&quot;height&quot;:206.25,&quot;left&quot;:33.75,&quot;top&quot;:131.25,&quot;width&quot;:832.5}"/>
</p:tagLst>
</file>

<file path=ppt/tags/tag11.xml><?xml version="1.0" encoding="utf-8"?>
<p:tagLst xmlns:p="http://schemas.openxmlformats.org/presentationml/2006/main">
  <p:tag name="KSO_WM_DIAGRAM_VIRTUALLY_FRAME" val="{&quot;height&quot;:206.25,&quot;left&quot;:33.75,&quot;top&quot;:131.25,&quot;width&quot;:832.5}"/>
</p:tagLst>
</file>

<file path=ppt/tags/tag12.xml><?xml version="1.0" encoding="utf-8"?>
<p:tagLst xmlns:p="http://schemas.openxmlformats.org/presentationml/2006/main">
  <p:tag name="KSO_WM_DIAGRAM_VIRTUALLY_FRAME" val="{&quot;height&quot;:206.25,&quot;left&quot;:33.75,&quot;top&quot;:131.25,&quot;width&quot;:832.5}"/>
</p:tagLst>
</file>

<file path=ppt/tags/tag13.xml><?xml version="1.0" encoding="utf-8"?>
<p:tagLst xmlns:p="http://schemas.openxmlformats.org/presentationml/2006/main">
  <p:tag name="KSO_WM_DIAGRAM_VIRTUALLY_FRAME" val="{&quot;height&quot;:206.25,&quot;left&quot;:33.75,&quot;top&quot;:131.25,&quot;width&quot;:832.5}"/>
</p:tagLst>
</file>

<file path=ppt/tags/tag14.xml><?xml version="1.0" encoding="utf-8"?>
<p:tagLst xmlns:p="http://schemas.openxmlformats.org/presentationml/2006/main">
  <p:tag name="KSO_WM_DIAGRAM_VIRTUALLY_FRAME" val="{&quot;height&quot;:206.25,&quot;left&quot;:33.75,&quot;top&quot;:131.25,&quot;width&quot;:832.5}"/>
</p:tagLst>
</file>

<file path=ppt/tags/tag15.xml><?xml version="1.0" encoding="utf-8"?>
<p:tagLst xmlns:p="http://schemas.openxmlformats.org/presentationml/2006/main">
  <p:tag name="KSO_WM_DIAGRAM_VIRTUALLY_FRAME" val="{&quot;height&quot;:206.25,&quot;left&quot;:33.75,&quot;top&quot;:131.25,&quot;width&quot;:832.5}"/>
</p:tagLst>
</file>

<file path=ppt/tags/tag16.xml><?xml version="1.0" encoding="utf-8"?>
<p:tagLst xmlns:p="http://schemas.openxmlformats.org/presentationml/2006/main">
  <p:tag name="KSO_WM_DIAGRAM_VIRTUALLY_FRAME" val="{&quot;height&quot;:206.25,&quot;left&quot;:33.75,&quot;top&quot;:131.25,&quot;width&quot;:832.5}"/>
</p:tagLst>
</file>

<file path=ppt/tags/tag17.xml><?xml version="1.0" encoding="utf-8"?>
<p:tagLst xmlns:p="http://schemas.openxmlformats.org/presentationml/2006/main">
  <p:tag name="KSO_WM_DIAGRAM_VIRTUALLY_FRAME" val="{&quot;height&quot;:206.25,&quot;left&quot;:33.75,&quot;top&quot;:131.25,&quot;width&quot;:832.5}"/>
</p:tagLst>
</file>

<file path=ppt/tags/tag18.xml><?xml version="1.0" encoding="utf-8"?>
<p:tagLst xmlns:p="http://schemas.openxmlformats.org/presentationml/2006/main">
  <p:tag name="KSO_WM_DIAGRAM_VIRTUALLY_FRAME" val="{&quot;height&quot;:206.25,&quot;left&quot;:33.75,&quot;top&quot;:131.25,&quot;width&quot;:832.5}"/>
</p:tagLst>
</file>

<file path=ppt/tags/tag19.xml><?xml version="1.0" encoding="utf-8"?>
<p:tagLst xmlns:p="http://schemas.openxmlformats.org/presentationml/2006/main">
  <p:tag name="KSO_WM_DIAGRAM_VIRTUALLY_FRAME" val="{&quot;height&quot;:157.5,&quot;left&quot;:292.5,&quot;top&quot;:153.75,&quot;width&quot;:570}"/>
</p:tagLst>
</file>

<file path=ppt/tags/tag20.xml><?xml version="1.0" encoding="utf-8"?>
<p:tagLst xmlns:p="http://schemas.openxmlformats.org/presentationml/2006/main">
  <p:tag name="KSO_WM_DIAGRAM_VIRTUALLY_FRAME" val="{&quot;height&quot;:157.5,&quot;left&quot;:292.5,&quot;top&quot;:153.75,&quot;width&quot;:570}"/>
</p:tagLst>
</file>

<file path=ppt/tags/tag21.xml><?xml version="1.0" encoding="utf-8"?>
<p:tagLst xmlns:p="http://schemas.openxmlformats.org/presentationml/2006/main">
  <p:tag name="KSO_WM_DIAGRAM_VIRTUALLY_FRAME" val="{&quot;height&quot;:157.5,&quot;left&quot;:292.5,&quot;top&quot;:153.75,&quot;width&quot;:570}"/>
</p:tagLst>
</file>

<file path=ppt/tags/tag22.xml><?xml version="1.0" encoding="utf-8"?>
<p:tagLst xmlns:p="http://schemas.openxmlformats.org/presentationml/2006/main">
  <p:tag name="KSO_WM_DIAGRAM_VIRTUALLY_FRAME" val="{&quot;height&quot;:157.5,&quot;left&quot;:292.5,&quot;top&quot;:153.75,&quot;width&quot;:570}"/>
</p:tagLst>
</file>

<file path=ppt/tags/tag23.xml><?xml version="1.0" encoding="utf-8"?>
<p:tagLst xmlns:p="http://schemas.openxmlformats.org/presentationml/2006/main">
  <p:tag name="KSO_WM_DIAGRAM_VIRTUALLY_FRAME" val="{&quot;height&quot;:157.5,&quot;left&quot;:292.5,&quot;top&quot;:153.75,&quot;width&quot;:570}"/>
</p:tagLst>
</file>

<file path=ppt/tags/tag24.xml><?xml version="1.0" encoding="utf-8"?>
<p:tagLst xmlns:p="http://schemas.openxmlformats.org/presentationml/2006/main">
  <p:tag name="KSO_WM_DIAGRAM_VIRTUALLY_FRAME" val="{&quot;height&quot;:157.5,&quot;left&quot;:292.5,&quot;top&quot;:153.75,&quot;width&quot;:570}"/>
</p:tagLst>
</file>

<file path=ppt/tags/tag25.xml><?xml version="1.0" encoding="utf-8"?>
<p:tagLst xmlns:p="http://schemas.openxmlformats.org/presentationml/2006/main">
  <p:tag name="KSO_WM_DIAGRAM_VIRTUALLY_FRAME" val="{&quot;height&quot;:157.5,&quot;left&quot;:292.5,&quot;top&quot;:153.75,&quot;width&quot;:570}"/>
</p:tagLst>
</file>

<file path=ppt/tags/tag26.xml><?xml version="1.0" encoding="utf-8"?>
<p:tagLst xmlns:p="http://schemas.openxmlformats.org/presentationml/2006/main">
  <p:tag name="KSO_WM_DIAGRAM_VIRTUALLY_FRAME" val="{&quot;height&quot;:157.5,&quot;left&quot;:292.5,&quot;top&quot;:153.75,&quot;width&quot;:570}"/>
</p:tagLst>
</file>

<file path=ppt/tags/tag27.xml><?xml version="1.0" encoding="utf-8"?>
<p:tagLst xmlns:p="http://schemas.openxmlformats.org/presentationml/2006/main">
  <p:tag name="KSO_WM_DIAGRAM_VIRTUALLY_FRAME" val="{&quot;height&quot;:157.5,&quot;left&quot;:292.5,&quot;top&quot;:153.75,&quot;width&quot;:570}"/>
</p:tagLst>
</file>

<file path=ppt/tags/tag28.xml><?xml version="1.0" encoding="utf-8"?>
<p:tagLst xmlns:p="http://schemas.openxmlformats.org/presentationml/2006/main">
  <p:tag name="KSO_WM_DIAGRAM_VIRTUALLY_FRAME" val="{&quot;height&quot;:157.5,&quot;left&quot;:292.5,&quot;top&quot;:153.75,&quot;width&quot;:570}"/>
</p:tagLst>
</file>

<file path=ppt/tags/tag29.xml><?xml version="1.0" encoding="utf-8"?>
<p:tagLst xmlns:p="http://schemas.openxmlformats.org/presentationml/2006/main">
  <p:tag name="KSO_WM_DIAGRAM_VIRTUALLY_FRAME" val="{&quot;height&quot;:157.5,&quot;left&quot;:292.5,&quot;top&quot;:153.75,&quot;width&quot;:570}"/>
</p:tagLst>
</file>

<file path=ppt/tags/tag30.xml><?xml version="1.0" encoding="utf-8"?>
<p:tagLst xmlns:p="http://schemas.openxmlformats.org/presentationml/2006/main">
  <p:tag name="KSO_WM_DIAGRAM_VIRTUALLY_FRAME" val="{&quot;height&quot;:157.5,&quot;left&quot;:292.5,&quot;top&quot;:153.75,&quot;width&quot;:570}"/>
</p:tagLst>
</file>

<file path=ppt/tags/tag31.xml><?xml version="1.0" encoding="utf-8"?>
<p:tagLst xmlns:p="http://schemas.openxmlformats.org/presentationml/2006/main">
  <p:tag name="KSO_WM_DIAGRAM_VIRTUALLY_FRAME" val="{&quot;height&quot;:157.5,&quot;left&quot;:292.5,&quot;top&quot;:153.75,&quot;width&quot;:570}"/>
</p:tagLst>
</file>

<file path=ppt/tags/tag32.xml><?xml version="1.0" encoding="utf-8"?>
<p:tagLst xmlns:p="http://schemas.openxmlformats.org/presentationml/2006/main">
  <p:tag name="KSO_WM_DIAGRAM_VIRTUALLY_FRAME" val="{&quot;height&quot;:157.5,&quot;left&quot;:292.5,&quot;top&quot;:153.75,&quot;width&quot;:570}"/>
</p:tagLst>
</file>

<file path=ppt/tags/tag33.xml><?xml version="1.0" encoding="utf-8"?>
<p:tagLst xmlns:p="http://schemas.openxmlformats.org/presentationml/2006/main">
  <p:tag name="KSO_WM_DIAGRAM_VIRTUALLY_FRAME" val="{&quot;height&quot;:157.5,&quot;left&quot;:292.5,&quot;top&quot;:153.75,&quot;width&quot;:570}"/>
</p:tagLst>
</file>

<file path=ppt/tags/tag34.xml><?xml version="1.0" encoding="utf-8"?>
<p:tagLst xmlns:p="http://schemas.openxmlformats.org/presentationml/2006/main">
  <p:tag name="KSO_WM_DIAGRAM_VIRTUALLY_FRAME" val="{&quot;height&quot;:157.5,&quot;left&quot;:292.5,&quot;top&quot;:153.75,&quot;width&quot;:570}"/>
</p:tagLst>
</file>

<file path=ppt/tags/tag35.xml><?xml version="1.0" encoding="utf-8"?>
<p:tagLst xmlns:p="http://schemas.openxmlformats.org/presentationml/2006/main">
  <p:tag name="KSO_WM_DIAGRAM_VIRTUALLY_FRAME" val="{&quot;height&quot;:157.5,&quot;left&quot;:292.5,&quot;top&quot;:153.75,&quot;width&quot;:570}"/>
</p:tagLst>
</file>

<file path=ppt/tags/tag36.xml><?xml version="1.0" encoding="utf-8"?>
<p:tagLst xmlns:p="http://schemas.openxmlformats.org/presentationml/2006/main">
  <p:tag name="KSO_WM_DIAGRAM_VIRTUALLY_FRAME" val="{&quot;height&quot;:157.5,&quot;left&quot;:292.5,&quot;top&quot;:153.75,&quot;width&quot;:570}"/>
</p:tagLst>
</file>

<file path=ppt/tags/tag37.xml><?xml version="1.0" encoding="utf-8"?>
<p:tagLst xmlns:p="http://schemas.openxmlformats.org/presentationml/2006/main">
  <p:tag name="KSO_WM_DIAGRAM_VIRTUALLY_FRAME" val="{&quot;height&quot;:157.5,&quot;left&quot;:292.5,&quot;top&quot;:153.75,&quot;width&quot;:570}"/>
</p:tagLst>
</file>

<file path=ppt/tags/tag38.xml><?xml version="1.0" encoding="utf-8"?>
<p:tagLst xmlns:p="http://schemas.openxmlformats.org/presentationml/2006/main">
  <p:tag name="KSO_WM_DIAGRAM_VIRTUALLY_FRAME" val="{&quot;height&quot;:157.5,&quot;left&quot;:292.5,&quot;top&quot;:153.75,&quot;width&quot;:570}"/>
</p:tagLst>
</file>

<file path=ppt/tags/tag39.xml><?xml version="1.0" encoding="utf-8"?>
<p:tagLst xmlns:p="http://schemas.openxmlformats.org/presentationml/2006/main">
  <p:tag name="KSO_WM_DIAGRAM_VIRTUALLY_FRAME" val="{&quot;height&quot;:282,&quot;left&quot;:367.5,&quot;top&quot;:112.5,&quot;width&quot;:510}"/>
</p:tagLst>
</file>

<file path=ppt/tags/tag40.xml><?xml version="1.0" encoding="utf-8"?>
<p:tagLst xmlns:p="http://schemas.openxmlformats.org/presentationml/2006/main">
  <p:tag name="KSO_WM_DIAGRAM_VIRTUALLY_FRAME" val="{&quot;height&quot;:282,&quot;left&quot;:367.5,&quot;top&quot;:112.5,&quot;width&quot;:510}"/>
</p:tagLst>
</file>

<file path=ppt/tags/tag41.xml><?xml version="1.0" encoding="utf-8"?>
<p:tagLst xmlns:p="http://schemas.openxmlformats.org/presentationml/2006/main">
  <p:tag name="KSO_WM_DIAGRAM_VIRTUALLY_FRAME" val="{&quot;height&quot;:282,&quot;left&quot;:367.5,&quot;top&quot;:112.5,&quot;width&quot;:510}"/>
</p:tagLst>
</file>

<file path=ppt/tags/tag42.xml><?xml version="1.0" encoding="utf-8"?>
<p:tagLst xmlns:p="http://schemas.openxmlformats.org/presentationml/2006/main">
  <p:tag name="KSO_WM_DIAGRAM_VIRTUALLY_FRAME" val="{&quot;height&quot;:282,&quot;left&quot;:367.5,&quot;top&quot;:112.5,&quot;width&quot;:510}"/>
</p:tagLst>
</file>

<file path=ppt/tags/tag43.xml><?xml version="1.0" encoding="utf-8"?>
<p:tagLst xmlns:p="http://schemas.openxmlformats.org/presentationml/2006/main">
  <p:tag name="KSO_WM_DIAGRAM_VIRTUALLY_FRAME" val="{&quot;height&quot;:282,&quot;left&quot;:367.5,&quot;top&quot;:112.5,&quot;width&quot;:510}"/>
</p:tagLst>
</file>

<file path=ppt/tags/tag44.xml><?xml version="1.0" encoding="utf-8"?>
<p:tagLst xmlns:p="http://schemas.openxmlformats.org/presentationml/2006/main">
  <p:tag name="KSO_WM_DIAGRAM_VIRTUALLY_FRAME" val="{&quot;height&quot;:282,&quot;left&quot;:367.5,&quot;top&quot;:112.5,&quot;width&quot;:510}"/>
</p:tagLst>
</file>

<file path=ppt/tags/tag45.xml><?xml version="1.0" encoding="utf-8"?>
<p:tagLst xmlns:p="http://schemas.openxmlformats.org/presentationml/2006/main">
  <p:tag name="KSO_WM_DIAGRAM_VIRTUALLY_FRAME" val="{&quot;height&quot;:282,&quot;left&quot;:367.5,&quot;top&quot;:112.5,&quot;width&quot;:510}"/>
</p:tagLst>
</file>

<file path=ppt/tags/tag46.xml><?xml version="1.0" encoding="utf-8"?>
<p:tagLst xmlns:p="http://schemas.openxmlformats.org/presentationml/2006/main">
  <p:tag name="KSO_WM_DIAGRAM_VIRTUALLY_FRAME" val="{&quot;height&quot;:282,&quot;left&quot;:367.5,&quot;top&quot;:112.5,&quot;width&quot;:510}"/>
</p:tagLst>
</file>

<file path=ppt/tags/tag47.xml><?xml version="1.0" encoding="utf-8"?>
<p:tagLst xmlns:p="http://schemas.openxmlformats.org/presentationml/2006/main">
  <p:tag name="KSO_WM_DIAGRAM_VIRTUALLY_FRAME" val="{&quot;height&quot;:282,&quot;left&quot;:367.5,&quot;top&quot;:112.5,&quot;width&quot;:510}"/>
</p:tagLst>
</file>

<file path=ppt/tags/tag48.xml><?xml version="1.0" encoding="utf-8"?>
<p:tagLst xmlns:p="http://schemas.openxmlformats.org/presentationml/2006/main">
  <p:tag name="KSO_WM_DIAGRAM_VIRTUALLY_FRAME" val="{&quot;height&quot;:282,&quot;left&quot;:367.5,&quot;top&quot;:112.5,&quot;width&quot;:510}"/>
</p:tagLst>
</file>

<file path=ppt/tags/tag49.xml><?xml version="1.0" encoding="utf-8"?>
<p:tagLst xmlns:p="http://schemas.openxmlformats.org/presentationml/2006/main">
  <p:tag name="KSO_WM_DIAGRAM_VIRTUALLY_FRAME" val="{&quot;height&quot;:282,&quot;left&quot;:367.5,&quot;top&quot;:112.5,&quot;width&quot;:510}"/>
</p:tagLst>
</file>

<file path=ppt/tags/tag50.xml><?xml version="1.0" encoding="utf-8"?>
<p:tagLst xmlns:p="http://schemas.openxmlformats.org/presentationml/2006/main">
  <p:tag name="KSO_WM_DIAGRAM_VIRTUALLY_FRAME" val="{&quot;height&quot;:282,&quot;left&quot;:367.5,&quot;top&quot;:112.5,&quot;width&quot;:510}"/>
</p:tagLst>
</file>

<file path=ppt/tags/tag51.xml><?xml version="1.0" encoding="utf-8"?>
<p:tagLst xmlns:p="http://schemas.openxmlformats.org/presentationml/2006/main">
  <p:tag name="KSO_WM_DIAGRAM_VIRTUALLY_FRAME" val="{&quot;height&quot;:282,&quot;left&quot;:367.5,&quot;top&quot;:112.5,&quot;width&quot;:510}"/>
</p:tagLst>
</file>

<file path=ppt/tags/tag52.xml><?xml version="1.0" encoding="utf-8"?>
<p:tagLst xmlns:p="http://schemas.openxmlformats.org/presentationml/2006/main">
  <p:tag name="KSO_WM_DIAGRAM_VIRTUALLY_FRAME" val="{&quot;height&quot;:282,&quot;left&quot;:367.5,&quot;top&quot;:112.5,&quot;width&quot;:510}"/>
</p:tagLst>
</file>

<file path=ppt/tags/tag53.xml><?xml version="1.0" encoding="utf-8"?>
<p:tagLst xmlns:p="http://schemas.openxmlformats.org/presentationml/2006/main">
  <p:tag name="KSO_WM_DIAGRAM_VIRTUALLY_FRAME" val="{&quot;height&quot;:282,&quot;left&quot;:367.5,&quot;top&quot;:112.5,&quot;width&quot;:510}"/>
</p:tagLst>
</file>

<file path=ppt/tags/tag54.xml><?xml version="1.0" encoding="utf-8"?>
<p:tagLst xmlns:p="http://schemas.openxmlformats.org/presentationml/2006/main">
  <p:tag name="KSO_WM_DIAGRAM_VIRTUALLY_FRAME" val="{&quot;height&quot;:282,&quot;left&quot;:367.5,&quot;top&quot;:112.5,&quot;width&quot;:510}"/>
</p:tagLst>
</file>

<file path=ppt/tags/tag55.xml><?xml version="1.0" encoding="utf-8"?>
<p:tagLst xmlns:p="http://schemas.openxmlformats.org/presentationml/2006/main">
  <p:tag name="KSO_WM_DIAGRAM_VIRTUALLY_FRAME" val="{&quot;height&quot;:282,&quot;left&quot;:367.5,&quot;top&quot;:112.5,&quot;width&quot;:510}"/>
</p:tagLst>
</file>

<file path=ppt/tags/tag56.xml><?xml version="1.0" encoding="utf-8"?>
<p:tagLst xmlns:p="http://schemas.openxmlformats.org/presentationml/2006/main">
  <p:tag name="KSO_WM_DIAGRAM_VIRTUALLY_FRAME" val="{&quot;height&quot;:282,&quot;left&quot;:367.5,&quot;top&quot;:112.5,&quot;width&quot;:510}"/>
</p:tagLst>
</file>

<file path=ppt/tags/tag57.xml><?xml version="1.0" encoding="utf-8"?>
<p:tagLst xmlns:p="http://schemas.openxmlformats.org/presentationml/2006/main">
  <p:tag name="KSO_WM_DIAGRAM_VIRTUALLY_FRAME" val="{&quot;height&quot;:282,&quot;left&quot;:367.5,&quot;top&quot;:112.5,&quot;width&quot;:510}"/>
</p:tagLst>
</file>

<file path=ppt/tags/tag58.xml><?xml version="1.0" encoding="utf-8"?>
<p:tagLst xmlns:p="http://schemas.openxmlformats.org/presentationml/2006/main">
  <p:tag name="KSO_WM_DIAGRAM_VIRTUALLY_FRAME" val="{&quot;height&quot;:282,&quot;left&quot;:367.5,&quot;top&quot;:112.5,&quot;width&quot;:510}"/>
</p:tagLst>
</file>

<file path=ppt/tags/tag59.xml><?xml version="1.0" encoding="utf-8"?>
<p:tagLst xmlns:p="http://schemas.openxmlformats.org/presentationml/2006/main">
  <p:tag name="KSO_WM_DIAGRAM_VIRTUALLY_FRAME" val="{&quot;height&quot;:282,&quot;left&quot;:367.5,&quot;top&quot;:112.5,&quot;width&quot;:510}"/>
</p:tagLst>
</file>

<file path=ppt/tags/tag60.xml><?xml version="1.0" encoding="utf-8"?>
<p:tagLst xmlns:p="http://schemas.openxmlformats.org/presentationml/2006/main">
  <p:tag name="KSO_WM_DIAGRAM_VIRTUALLY_FRAME" val="{&quot;height&quot;:282,&quot;left&quot;:367.5,&quot;top&quot;:112.5,&quot;width&quot;:510}"/>
</p:tagLst>
</file>

<file path=ppt/tags/tag61.xml><?xml version="1.0" encoding="utf-8"?>
<p:tagLst xmlns:p="http://schemas.openxmlformats.org/presentationml/2006/main">
  <p:tag name="KSO_WM_DIAGRAM_VIRTUALLY_FRAME" val="{&quot;height&quot;:282,&quot;left&quot;:367.5,&quot;top&quot;:112.5,&quot;width&quot;:510}"/>
</p:tagLst>
</file>

<file path=ppt/tags/tag62.xml><?xml version="1.0" encoding="utf-8"?>
<p:tagLst xmlns:p="http://schemas.openxmlformats.org/presentationml/2006/main">
  <p:tag name="KSO_WM_DIAGRAM_VIRTUALLY_FRAME" val="{&quot;height&quot;:282,&quot;left&quot;:367.5,&quot;top&quot;:112.5,&quot;width&quot;:510}"/>
</p:tagLst>
</file>

<file path=ppt/tags/tag63.xml><?xml version="1.0" encoding="utf-8"?>
<p:tagLst xmlns:p="http://schemas.openxmlformats.org/presentationml/2006/main">
  <p:tag name="KSO_WM_DIAGRAM_VIRTUALLY_FRAME" val="{&quot;height&quot;:282,&quot;left&quot;:367.5,&quot;top&quot;:112.5,&quot;width&quot;:510}"/>
</p:tagLst>
</file>

<file path=ppt/tags/tag64.xml><?xml version="1.0" encoding="utf-8"?>
<p:tagLst xmlns:p="http://schemas.openxmlformats.org/presentationml/2006/main">
  <p:tag name="KSO_WM_DIAGRAM_VIRTUALLY_FRAME" val="{&quot;height&quot;:282,&quot;left&quot;:367.5,&quot;top&quot;:112.5,&quot;width&quot;:510}"/>
</p:tagLst>
</file>

<file path=ppt/tags/tag65.xml><?xml version="1.0" encoding="utf-8"?>
<p:tagLst xmlns:p="http://schemas.openxmlformats.org/presentationml/2006/main">
  <p:tag name="KSO_WM_DIAGRAM_VIRTUALLY_FRAME" val="{&quot;height&quot;:282,&quot;left&quot;:367.5,&quot;top&quot;:112.5,&quot;width&quot;:510}"/>
</p:tagLst>
</file>

<file path=ppt/tags/tag66.xml><?xml version="1.0" encoding="utf-8"?>
<p:tagLst xmlns:p="http://schemas.openxmlformats.org/presentationml/2006/main">
  <p:tag name="KSO_WM_DIAGRAM_VIRTUALLY_FRAME" val="{&quot;height&quot;:282,&quot;left&quot;:367.5,&quot;top&quot;:112.5,&quot;width&quot;:510}"/>
</p:tagLst>
</file>

<file path=ppt/tags/tag67.xml><?xml version="1.0" encoding="utf-8"?>
<p:tagLst xmlns:p="http://schemas.openxmlformats.org/presentationml/2006/main">
  <p:tag name="KSO_WM_DIAGRAM_VIRTUALLY_FRAME" val="{&quot;height&quot;:282,&quot;left&quot;:367.5,&quot;top&quot;:112.5,&quot;width&quot;:510}"/>
</p:tagLst>
</file>

<file path=ppt/tags/tag68.xml><?xml version="1.0" encoding="utf-8"?>
<p:tagLst xmlns:p="http://schemas.openxmlformats.org/presentationml/2006/main">
  <p:tag name="KSO_WM_DIAGRAM_VIRTUALLY_FRAME" val="{&quot;height&quot;:282,&quot;left&quot;:367.5,&quot;top&quot;:112.5,&quot;width&quot;:510}"/>
</p:tagLst>
</file>

<file path=ppt/tags/tag69.xml><?xml version="1.0" encoding="utf-8"?>
<p:tagLst xmlns:p="http://schemas.openxmlformats.org/presentationml/2006/main">
  <p:tag name="KSO_WM_AICARD_INVALID" val="Invalid"/>
</p:tagLst>
</file>

<file path=ppt/tags/tag70.xml><?xml version="1.0" encoding="utf-8"?>
<p:tagLst xmlns:p="http://schemas.openxmlformats.org/presentationml/2006/main">
  <p:tag name="KSO_WM_DIAGRAM_VIRTUALLY_FRAME" val="{&quot;height&quot;:307.43992125984255,&quot;left&quot;:41.03992125984252,&quot;top&quot;:102.96,&quot;width&quot;:877.6800787401575}"/>
</p:tagLst>
</file>

<file path=ppt/tags/tag71.xml><?xml version="1.0" encoding="utf-8"?>
<p:tagLst xmlns:p="http://schemas.openxmlformats.org/presentationml/2006/main">
  <p:tag name="KSO_WM_DIAGRAM_VIRTUALLY_FRAME" val="{&quot;height&quot;:307.43992125984255,&quot;left&quot;:41.03992125984252,&quot;top&quot;:102.96,&quot;width&quot;:877.6800787401575}"/>
</p:tagLst>
</file>

<file path=ppt/tags/tag72.xml><?xml version="1.0" encoding="utf-8"?>
<p:tagLst xmlns:p="http://schemas.openxmlformats.org/presentationml/2006/main">
  <p:tag name="KSO_WM_DIAGRAM_VIRTUALLY_FRAME" val="{&quot;height&quot;:307.43992125984255,&quot;left&quot;:41.03992125984252,&quot;top&quot;:102.96,&quot;width&quot;:877.6800787401575}"/>
</p:tagLst>
</file>

<file path=ppt/tags/tag73.xml><?xml version="1.0" encoding="utf-8"?>
<p:tagLst xmlns:p="http://schemas.openxmlformats.org/presentationml/2006/main">
  <p:tag name="KSO_WM_DIAGRAM_VIRTUALLY_FRAME" val="{&quot;height&quot;:307.43992125984255,&quot;left&quot;:41.03992125984252,&quot;top&quot;:102.96,&quot;width&quot;:877.6800787401575}"/>
</p:tagLst>
</file>

<file path=ppt/tags/tag74.xml><?xml version="1.0" encoding="utf-8"?>
<p:tagLst xmlns:p="http://schemas.openxmlformats.org/presentationml/2006/main">
  <p:tag name="KSO_WM_DIAGRAM_VIRTUALLY_FRAME" val="{&quot;height&quot;:307.43992125984255,&quot;left&quot;:41.03992125984252,&quot;top&quot;:102.96,&quot;width&quot;:877.6800787401575}"/>
</p:tagLst>
</file>

<file path=ppt/tags/tag75.xml><?xml version="1.0" encoding="utf-8"?>
<p:tagLst xmlns:p="http://schemas.openxmlformats.org/presentationml/2006/main">
  <p:tag name="KSO_WM_DIAGRAM_VIRTUALLY_FRAME" val="{&quot;height&quot;:307.43992125984255,&quot;left&quot;:41.03992125984252,&quot;top&quot;:102.96,&quot;width&quot;:877.6800787401575}"/>
</p:tagLst>
</file>

<file path=ppt/tags/tag76.xml><?xml version="1.0" encoding="utf-8"?>
<p:tagLst xmlns:p="http://schemas.openxmlformats.org/presentationml/2006/main">
  <p:tag name="KSO_WM_DIAGRAM_VIRTUALLY_FRAME" val="{&quot;height&quot;:307.43992125984255,&quot;left&quot;:41.03992125984252,&quot;top&quot;:102.96,&quot;width&quot;:877.6800787401575}"/>
</p:tagLst>
</file>

<file path=ppt/tags/tag77.xml><?xml version="1.0" encoding="utf-8"?>
<p:tagLst xmlns:p="http://schemas.openxmlformats.org/presentationml/2006/main">
  <p:tag name="KSO_WM_DIAGRAM_VIRTUALLY_FRAME" val="{&quot;height&quot;:307.43992125984255,&quot;left&quot;:41.03992125984252,&quot;top&quot;:102.96,&quot;width&quot;:877.6800787401575}"/>
</p:tagLst>
</file>

<file path=ppt/tags/tag78.xml><?xml version="1.0" encoding="utf-8"?>
<p:tagLst xmlns:p="http://schemas.openxmlformats.org/presentationml/2006/main">
  <p:tag name="KSO_WM_DIAGRAM_VIRTUALLY_FRAME" val="{&quot;height&quot;:307.43992125984255,&quot;left&quot;:41.03992125984252,&quot;top&quot;:102.96,&quot;width&quot;:877.6800787401575}"/>
</p:tagLst>
</file>

<file path=ppt/tags/tag79.xml><?xml version="1.0" encoding="utf-8"?>
<p:tagLst xmlns:p="http://schemas.openxmlformats.org/presentationml/2006/main">
  <p:tag name="KSO_WM_DIAGRAM_VIRTUALLY_FRAME" val="{&quot;height&quot;:307.43992125984255,&quot;left&quot;:41.03992125984252,&quot;top&quot;:102.96,&quot;width&quot;:877.6800787401575}"/>
</p:tagLst>
</file>

<file path=ppt/tags/tag80.xml><?xml version="1.0" encoding="utf-8"?>
<p:tagLst xmlns:p="http://schemas.openxmlformats.org/presentationml/2006/main">
  <p:tag name="KSO_WM_DIAGRAM_VIRTUALLY_FRAME" val="{&quot;height&quot;:307.43992125984255,&quot;left&quot;:41.03992125984252,&quot;top&quot;:102.96,&quot;width&quot;:877.6800787401575}"/>
</p:tagLst>
</file>

<file path=ppt/tags/tag81.xml><?xml version="1.0" encoding="utf-8"?>
<p:tagLst xmlns:p="http://schemas.openxmlformats.org/presentationml/2006/main">
  <p:tag name="KSO_WM_DIAGRAM_VIRTUALLY_FRAME" val="{&quot;height&quot;:307.43992125984255,&quot;left&quot;:41.03992125984252,&quot;top&quot;:102.96,&quot;width&quot;:877.6800787401575}"/>
</p:tagLst>
</file>

<file path=ppt/tags/tag82.xml><?xml version="1.0" encoding="utf-8"?>
<p:tagLst xmlns:p="http://schemas.openxmlformats.org/presentationml/2006/main">
  <p:tag name="KSO_WM_DIAGRAM_VIRTUALLY_FRAME" val="{&quot;height&quot;:307.43992125984255,&quot;left&quot;:41.03992125984252,&quot;top&quot;:102.96,&quot;width&quot;:877.6800787401575}"/>
</p:tagLst>
</file>

<file path=ppt/tags/tag83.xml><?xml version="1.0" encoding="utf-8"?>
<p:tagLst xmlns:p="http://schemas.openxmlformats.org/presentationml/2006/main">
  <p:tag name="KSO_WM_DIAGRAM_VIRTUALLY_FRAME" val="{&quot;height&quot;:307.43992125984255,&quot;left&quot;:41.03992125984252,&quot;top&quot;:102.96,&quot;width&quot;:877.6800787401575}"/>
</p:tagLst>
</file>

<file path=ppt/tags/tag84.xml><?xml version="1.0" encoding="utf-8"?>
<p:tagLst xmlns:p="http://schemas.openxmlformats.org/presentationml/2006/main">
  <p:tag name="KSO_WM_DIAGRAM_VIRTUALLY_FRAME" val="{&quot;height&quot;:307.43992125984255,&quot;left&quot;:41.03992125984252,&quot;top&quot;:102.96,&quot;width&quot;:877.6800787401575}"/>
</p:tagLst>
</file>

<file path=ppt/tags/tag85.xml><?xml version="1.0" encoding="utf-8"?>
<p:tagLst xmlns:p="http://schemas.openxmlformats.org/presentationml/2006/main">
  <p:tag name="KSO_WM_DIAGRAM_VIRTUALLY_FRAME" val="{&quot;height&quot;:307.43992125984255,&quot;left&quot;:41.03992125984252,&quot;top&quot;:102.96,&quot;width&quot;:877.6800787401575}"/>
</p:tagLst>
</file>

<file path=ppt/tags/tag86.xml><?xml version="1.0" encoding="utf-8"?>
<p:tagLst xmlns:p="http://schemas.openxmlformats.org/presentationml/2006/main">
  <p:tag name="KSO_WM_DIAGRAM_VIRTUALLY_FRAME" val="{&quot;height&quot;:307.43992125984255,&quot;left&quot;:41.03992125984252,&quot;top&quot;:102.96,&quot;width&quot;:877.6800787401575}"/>
</p:tagLst>
</file>

<file path=ppt/tags/tag87.xml><?xml version="1.0" encoding="utf-8"?>
<p:tagLst xmlns:p="http://schemas.openxmlformats.org/presentationml/2006/main">
  <p:tag name="KSO_WM_DIAGRAM_VIRTUALLY_FRAME" val="{&quot;height&quot;:307.43992125984255,&quot;left&quot;:41.03992125984252,&quot;top&quot;:102.96,&quot;width&quot;:877.6800787401575}"/>
</p:tagLst>
</file>

<file path=ppt/tags/tag88.xml><?xml version="1.0" encoding="utf-8"?>
<p:tagLst xmlns:p="http://schemas.openxmlformats.org/presentationml/2006/main">
  <p:tag name="KSO_WM_DIAGRAM_VIRTUALLY_FRAME" val="{&quot;height&quot;:307.43992125984255,&quot;left&quot;:41.03992125984252,&quot;top&quot;:102.96,&quot;width&quot;:877.6800787401575}"/>
</p:tagLst>
</file>

<file path=ppt/tags/tag89.xml><?xml version="1.0" encoding="utf-8"?>
<p:tagLst xmlns:p="http://schemas.openxmlformats.org/presentationml/2006/main">
  <p:tag name="KSO_WM_DIAGRAM_VIRTUALLY_FRAME" val="{&quot;height&quot;:307.43992125984255,&quot;left&quot;:41.03992125984252,&quot;top&quot;:102.96,&quot;width&quot;:877.6800787401575}"/>
</p:tagLst>
</file>

<file path=ppt/tags/tag90.xml><?xml version="1.0" encoding="utf-8"?>
<p:tagLst xmlns:p="http://schemas.openxmlformats.org/presentationml/2006/main">
  <p:tag name="KSO_WM_DIAGRAM_VIRTUALLY_FRAME" val="{&quot;height&quot;:307.43992125984255,&quot;left&quot;:41.03992125984252,&quot;top&quot;:102.96,&quot;width&quot;:877.6800787401575}"/>
</p:tagLst>
</file>

<file path=ppt/tags/tag91.xml><?xml version="1.0" encoding="utf-8"?>
<p:tagLst xmlns:p="http://schemas.openxmlformats.org/presentationml/2006/main">
  <p:tag name="KSO_WM_DIAGRAM_VIRTUALLY_FRAME" val="{&quot;height&quot;:307.43992125984255,&quot;left&quot;:41.03992125984252,&quot;top&quot;:102.96,&quot;width&quot;:877.6800787401575}"/>
</p:tagLst>
</file>

<file path=ppt/tags/tag92.xml><?xml version="1.0" encoding="utf-8"?>
<p:tagLst xmlns:p="http://schemas.openxmlformats.org/presentationml/2006/main">
  <p:tag name="KSO_WM_DIAGRAM_VIRTUALLY_FRAME" val="{&quot;height&quot;:307.43992125984255,&quot;left&quot;:41.03992125984252,&quot;top&quot;:102.96,&quot;width&quot;:877.6800787401575}"/>
</p:tagLst>
</file>

<file path=ppt/tags/tag93.xml><?xml version="1.0" encoding="utf-8"?>
<p:tagLst xmlns:p="http://schemas.openxmlformats.org/presentationml/2006/main">
  <p:tag name="KSO_WM_DIAGRAM_VIRTUALLY_FRAME" val="{&quot;height&quot;:307.43992125984255,&quot;left&quot;:41.03992125984252,&quot;top&quot;:102.96,&quot;width&quot;:877.6800787401575}"/>
</p:tagLst>
</file>

<file path=ppt/tags/tag94.xml><?xml version="1.0" encoding="utf-8"?>
<p:tagLst xmlns:p="http://schemas.openxmlformats.org/presentationml/2006/main">
  <p:tag name="KSO_WM_DIAGRAM_VIRTUALLY_FRAME" val="{&quot;height&quot;:307.43992125984255,&quot;left&quot;:41.03992125984252,&quot;top&quot;:102.96,&quot;width&quot;:877.6800787401575}"/>
</p:tagLst>
</file>

<file path=ppt/tags/tag95.xml><?xml version="1.0" encoding="utf-8"?>
<p:tagLst xmlns:p="http://schemas.openxmlformats.org/presentationml/2006/main">
  <p:tag name="KSO_WM_DIAGRAM_VIRTUALLY_FRAME" val="{&quot;height&quot;:307.43992125984255,&quot;left&quot;:41.03992125984252,&quot;top&quot;:102.96,&quot;width&quot;:877.6800787401575}"/>
</p:tagLst>
</file>

<file path=ppt/tags/tag96.xml><?xml version="1.0" encoding="utf-8"?>
<p:tagLst xmlns:p="http://schemas.openxmlformats.org/presentationml/2006/main">
  <p:tag name="KSO_WM_DIAGRAM_VIRTUALLY_FRAME" val="{&quot;height&quot;:307.43992125984255,&quot;left&quot;:41.03992125984252,&quot;top&quot;:102.96,&quot;width&quot;:877.6800787401575}"/>
</p:tagLst>
</file>

<file path=ppt/tags/tag97.xml><?xml version="1.0" encoding="utf-8"?>
<p:tagLst xmlns:p="http://schemas.openxmlformats.org/presentationml/2006/main">
  <p:tag name="KSO_WM_DIAGRAM_VIRTUALLY_FRAME" val="{&quot;height&quot;:307.43992125984255,&quot;left&quot;:41.03992125984252,&quot;top&quot;:102.96,&quot;width&quot;:877.6800787401575}"/>
</p:tagLst>
</file>

<file path=ppt/tags/tag98.xml><?xml version="1.0" encoding="utf-8"?>
<p:tagLst xmlns:p="http://schemas.openxmlformats.org/presentationml/2006/main">
  <p:tag name="KSO_WM_DIAGRAM_VIRTUALLY_FRAME" val="{&quot;height&quot;:307.43992125984255,&quot;left&quot;:41.03992125984252,&quot;top&quot;:102.96,&quot;width&quot;:877.6800787401575}"/>
</p:tagLst>
</file>

<file path=ppt/tags/tag99.xml><?xml version="1.0" encoding="utf-8"?>
<p:tagLst xmlns:p="http://schemas.openxmlformats.org/presentationml/2006/main">
  <p:tag name="KSO_WM_DIAGRAM_VIRTUALLY_FRAME" val="{&quot;height&quot;:307.43992125984255,&quot;left&quot;:41.03992125984252,&quot;top&quot;:102.96,&quot;width&quot;:877.6800787401575}"/>
</p:tagLst>
</file>

<file path=ppt/tags/tag100.xml><?xml version="1.0" encoding="utf-8"?>
<p:tagLst xmlns:p="http://schemas.openxmlformats.org/presentationml/2006/main">
  <p:tag name="KSO_WM_DIAGRAM_VIRTUALLY_FRAME" val="{&quot;height&quot;:307.43992125984255,&quot;left&quot;:41.03992125984252,&quot;top&quot;:102.96,&quot;width&quot;:877.6800787401575}"/>
</p:tagLst>
</file>

<file path=ppt/tags/tag101.xml><?xml version="1.0" encoding="utf-8"?>
<p:tagLst xmlns:p="http://schemas.openxmlformats.org/presentationml/2006/main">
  <p:tag name="KSO_WM_DIAGRAM_VIRTUALLY_FRAME" val="{&quot;height&quot;:307.43992125984255,&quot;left&quot;:41.03992125984252,&quot;top&quot;:102.96,&quot;width&quot;:877.6800787401575}"/>
</p:tagLst>
</file>

<file path=ppt/tags/tag102.xml><?xml version="1.0" encoding="utf-8"?>
<p:tagLst xmlns:p="http://schemas.openxmlformats.org/presentationml/2006/main">
  <p:tag name="KSO_WM_DIAGRAM_VIRTUALLY_FRAME" val="{&quot;height&quot;:307.43992125984255,&quot;left&quot;:41.03992125984252,&quot;top&quot;:102.96,&quot;width&quot;:877.6800787401575}"/>
</p:tagLst>
</file>

<file path=ppt/tags/tag103.xml><?xml version="1.0" encoding="utf-8"?>
<p:tagLst xmlns:p="http://schemas.openxmlformats.org/presentationml/2006/main">
  <p:tag name="KSO_WM_DIAGRAM_VIRTUALLY_FRAME" val="{&quot;height&quot;:307.43992125984255,&quot;left&quot;:41.03992125984252,&quot;top&quot;:102.96,&quot;width&quot;:877.6800787401575}"/>
</p:tagLst>
</file>

<file path=ppt/tags/tag104.xml><?xml version="1.0" encoding="utf-8"?>
<p:tagLst xmlns:p="http://schemas.openxmlformats.org/presentationml/2006/main">
  <p:tag name="KSO_WM_DIAGRAM_VIRTUALLY_FRAME" val="{&quot;height&quot;:307.43992125984255,&quot;left&quot;:41.03992125984252,&quot;top&quot;:102.96,&quot;width&quot;:877.6800787401575}"/>
</p:tagLst>
</file>

<file path=ppt/tags/tag105.xml><?xml version="1.0" encoding="utf-8"?>
<p:tagLst xmlns:p="http://schemas.openxmlformats.org/presentationml/2006/main">
  <p:tag name="KSO_WM_DIAGRAM_VIRTUALLY_FRAME" val="{&quot;height&quot;:307.43992125984255,&quot;left&quot;:41.03992125984252,&quot;top&quot;:102.96,&quot;width&quot;:877.6800787401575}"/>
</p:tagLst>
</file>

<file path=ppt/theme/theme1.xml><?xml version="1.0" encoding="utf-8"?>
<a:theme xmlns:a="http://schemas.openxmlformats.org/drawingml/2006/main" name="1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自定义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自定义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自定义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自定义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自定义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自定义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自定义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8168</Words>
  <Application>WPS 演示</Application>
  <PresentationFormat>Converted Presentation</PresentationFormat>
  <Paragraphs>850</Paragraphs>
  <Slides>22</Slides>
  <Notes>0</Notes>
  <HiddenSlides>0</HiddenSlides>
  <MMClips>0</MMClips>
  <ScaleCrop>false</ScaleCrop>
  <HeadingPairs>
    <vt:vector size="6" baseType="variant">
      <vt:variant>
        <vt:lpstr>已用的字体</vt:lpstr>
      </vt:variant>
      <vt:variant>
        <vt:i4>26</vt:i4>
      </vt:variant>
      <vt:variant>
        <vt:lpstr>主题</vt:lpstr>
      </vt:variant>
      <vt:variant>
        <vt:i4>7</vt:i4>
      </vt:variant>
      <vt:variant>
        <vt:lpstr>幻灯片标题</vt:lpstr>
      </vt:variant>
      <vt:variant>
        <vt:i4>22</vt:i4>
      </vt:variant>
    </vt:vector>
  </HeadingPairs>
  <TitlesOfParts>
    <vt:vector size="55" baseType="lpstr">
      <vt:lpstr>Arial</vt:lpstr>
      <vt:lpstr>宋体</vt:lpstr>
      <vt:lpstr>Wingdings</vt:lpstr>
      <vt:lpstr>Arial</vt:lpstr>
      <vt:lpstr>ZapfDingbatsITC</vt:lpstr>
      <vt:lpstr>AppleSymbols</vt:lpstr>
      <vt:lpstr>Source Han Sans CN</vt:lpstr>
      <vt:lpstr>思源黑体 CN Regular</vt:lpstr>
      <vt:lpstr>黑体</vt:lpstr>
      <vt:lpstr>Helvetica</vt:lpstr>
      <vt:lpstr>Source Han Sans SC</vt:lpstr>
      <vt:lpstr>微软雅黑</vt:lpstr>
      <vt:lpstr>Source Han Sans SC</vt:lpstr>
      <vt:lpstr>KSOF3BB9AFC7</vt:lpstr>
      <vt:lpstr>KSOF06D37486</vt:lpstr>
      <vt:lpstr>Arial Unicode MS</vt:lpstr>
      <vt:lpstr>Cascadia Mono</vt:lpstr>
      <vt:lpstr>Calibri</vt:lpstr>
      <vt:lpstr>Cascadia Mono</vt:lpstr>
      <vt:lpstr>Source Han Sans SC</vt:lpstr>
      <vt:lpstr>思源黑体 CN Regular</vt:lpstr>
      <vt:lpstr>KSOFE3D7F044</vt:lpstr>
      <vt:lpstr>KSOFE3D77BE5</vt:lpstr>
      <vt:lpstr>MS PGothic</vt:lpstr>
      <vt:lpstr>方正大黑体_GBK</vt:lpstr>
      <vt:lpstr>Comic Sans Pro</vt:lpstr>
      <vt:lpstr>1_Office 主题​​</vt:lpstr>
      <vt:lpstr>自定义设计方案</vt:lpstr>
      <vt:lpstr>2_Office 主题​​</vt:lpstr>
      <vt:lpstr>3_Office 主题​​</vt:lpstr>
      <vt:lpstr>4_Office 主题​​</vt:lpstr>
      <vt:lpstr>5_Office 主题​​</vt:lpstr>
      <vt:lpstr>6_Office 主题​​</vt:lpstr>
      <vt:lpstr>第四课：从 Encoder-Decoder 到 Decoder-Only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第四课：从 Encoder-Decoder 到 Decoder-Only</dc:title>
  <dc:creator>Walnut Exporter</dc:creator>
  <cp:lastModifiedBy>与羡书</cp:lastModifiedBy>
  <cp:revision>32</cp:revision>
  <dcterms:created xsi:type="dcterms:W3CDTF">2026-08-17T01:53:00Z</dcterms:created>
  <dcterms:modified xsi:type="dcterms:W3CDTF">2026-08-25T09:26:54Z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B9D20BC04CF946B7ADF1A7C2D11D4433_13</vt:lpwstr>
  </property>
</Properties>
</file>
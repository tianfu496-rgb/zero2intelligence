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6" r:id="rId5"/>
    <p:sldMasterId id="2147483669" r:id="rId6"/>
    <p:sldMasterId id="2147483672" r:id="rId7"/>
    <p:sldMasterId id="2147483675" r:id="rId8"/>
  </p:sldMasterIdLst>
  <p:notesMasterIdLst>
    <p:notesMasterId r:id="rId10"/>
  </p:notesMasterIdLst>
  <p:sldIdLst>
    <p:sldId id="256" r:id="rId9"/>
    <p:sldId id="297" r:id="rId11"/>
    <p:sldId id="340" r:id="rId12"/>
    <p:sldId id="320" r:id="rId13"/>
    <p:sldId id="258" r:id="rId14"/>
    <p:sldId id="259" r:id="rId15"/>
    <p:sldId id="261" r:id="rId16"/>
    <p:sldId id="321" r:id="rId17"/>
    <p:sldId id="264" r:id="rId18"/>
    <p:sldId id="323" r:id="rId19"/>
    <p:sldId id="338" r:id="rId20"/>
    <p:sldId id="339" r:id="rId21"/>
    <p:sldId id="325" r:id="rId22"/>
    <p:sldId id="335" r:id="rId23"/>
    <p:sldId id="326" r:id="rId24"/>
    <p:sldId id="328" r:id="rId25"/>
    <p:sldId id="279" r:id="rId26"/>
    <p:sldId id="322" r:id="rId27"/>
    <p:sldId id="336" r:id="rId28"/>
    <p:sldId id="337" r:id="rId29"/>
    <p:sldId id="292" r:id="rId30"/>
    <p:sldId id="332" r:id="rId31"/>
    <p:sldId id="342" r:id="rId32"/>
    <p:sldId id="341" r:id="rId33"/>
    <p:sldId id="343" r:id="rId34"/>
    <p:sldId id="344" r:id="rId35"/>
    <p:sldId id="345" r:id="rId36"/>
    <p:sldId id="346" r:id="rId37"/>
    <p:sldId id="347" r:id="rId38"/>
    <p:sldId id="294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Noto Sans SC" panose="020B0604020202020204"/>
        <a:ea typeface="Noto Sans SC" panose="020B0604020202020204"/>
        <a:cs typeface="Noto Sans SC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2" userDrawn="1">
          <p15:clr>
            <a:srgbClr val="747775"/>
          </p15:clr>
        </p15:guide>
        <p15:guide id="2" pos="2828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chen kang (i25149)" initials="yk(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376" y="184"/>
      </p:cViewPr>
      <p:guideLst>
        <p:guide orient="horz" pos="1612"/>
        <p:guide pos="28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fld id="{B7268E1E-0E44-426D-905E-8AD9B19D2182}" type="datetimeFigureOut">
              <a:rPr lang="cs-CZ" smtClean="0">
                <a:latin typeface="Noto Sans SC"/>
                <a:ea typeface="Noto Sans SC"/>
                <a:cs typeface="Noto Sans SC"/>
              </a:rPr>
            </a:fld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Noto Sans SC"/>
                <a:ea typeface="Noto Sans SC"/>
                <a:cs typeface="Noto Sans SC"/>
              </a:rPr>
              <a:t>Click to edit Master text styles</a:t>
            </a:r>
            <a:endParaRPr lang="en-US">
              <a:latin typeface="Noto Sans SC"/>
              <a:ea typeface="Noto Sans SC"/>
              <a:cs typeface="Noto Sans SC"/>
            </a:endParaRPr>
          </a:p>
          <a:p>
            <a:pPr lvl="1"/>
            <a:r>
              <a:rPr lang="en-US">
                <a:latin typeface="Noto Sans SC"/>
                <a:ea typeface="Noto Sans SC"/>
                <a:cs typeface="Noto Sans SC"/>
              </a:rPr>
              <a:t>Second level</a:t>
            </a:r>
            <a:endParaRPr lang="en-US">
              <a:latin typeface="Noto Sans SC"/>
              <a:ea typeface="Noto Sans SC"/>
              <a:cs typeface="Noto Sans SC"/>
            </a:endParaRPr>
          </a:p>
          <a:p>
            <a:pPr lvl="2"/>
            <a:r>
              <a:rPr lang="en-US">
                <a:latin typeface="Noto Sans SC"/>
                <a:ea typeface="Noto Sans SC"/>
                <a:cs typeface="Noto Sans SC"/>
              </a:rPr>
              <a:t>Third level</a:t>
            </a:r>
            <a:endParaRPr lang="en-US">
              <a:latin typeface="Noto Sans SC"/>
              <a:ea typeface="Noto Sans SC"/>
              <a:cs typeface="Noto Sans SC"/>
            </a:endParaRPr>
          </a:p>
          <a:p>
            <a:pPr lvl="3"/>
            <a:r>
              <a:rPr lang="en-US">
                <a:latin typeface="Noto Sans SC"/>
                <a:ea typeface="Noto Sans SC"/>
                <a:cs typeface="Noto Sans SC"/>
              </a:rPr>
              <a:t>Fourth level</a:t>
            </a:r>
            <a:endParaRPr lang="en-US">
              <a:latin typeface="Noto Sans SC"/>
              <a:ea typeface="Noto Sans SC"/>
              <a:cs typeface="Noto Sans SC"/>
            </a:endParaRPr>
          </a:p>
          <a:p>
            <a:pPr lvl="4"/>
            <a:r>
              <a:rPr lang="en-US">
                <a:latin typeface="Noto Sans SC"/>
                <a:ea typeface="Noto Sans SC"/>
                <a:cs typeface="Noto Sans SC"/>
              </a:rPr>
              <a:t>Fifth level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fld id="{871B2431-D351-4C6E-A3CF-9DFAC0E3E050}" type="slidenum">
              <a:rPr lang="cs-CZ" smtClean="0">
                <a:latin typeface="Noto Sans SC"/>
                <a:ea typeface="Noto Sans SC"/>
                <a:cs typeface="Noto Sans SC"/>
              </a:rPr>
            </a:fld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Noto Sans SC"/>
        <a:ea typeface="Noto Sans SC"/>
        <a:cs typeface="Noto Sans SC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欢迎大家来到Transformer实战营。今天，我们将一起完成一个看似复杂但实际上非常有趣的任务：亲手构建并运行一个真正的Transformer模型。这节课的目标是让大家彻底理解Transformer的核心原理，而不仅仅是停留在理论层面。我们将从最基础的概念出发，一步步拆解，最终让你能够自豪地说：“我从零开始写了一个Transformer！”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在开始之前，我想让大家带着这三个问题来学习。这节课不是一次枯燥的理论灌输，而是一次动手实践的旅程。我们会看到，Transformer的核心——注意力机制，其实源于一个非常直观的想法。我们会亲手编写代码，并通过科学的测试来验证我们的成果。希望课程结束时，每个人都能对这三个问题有清晰而深刻的答案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在开始之前，我想让大家带着这三个问题来学习。这节课不是一次枯燥的理论灌输，而是一次动手实践的旅程。我们会看到，Transformer的核心——注意力机制，其实源于一个非常直观的想法。我们会亲手编写代码，并通过科学的测试来验证我们的成果。希望课程结束时，每个人都能对这三个问题有清晰而深刻的答案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先把全课压缩成六步。后面每个概念都会回到这张地图，最终以能独立执行命令、解释输出和定位代码作为完成标准。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让我们从一个简单的例子开始。翻译 "i love you" 对我们来说轻而易举。但如果我们仔细分析这个过程，会发现它并非简单的词对词替换。我们的大脑在瞬间完成了对整个句子的理解，并为每个词找到了最合适的中文表达。这个“寻找对应”的过程，就是注意力机制的灵感来源。我们的目标，就是用数学和代码，精确地模拟这个过程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机器最初学习翻译时，采用的是一种非常“笨拙”的方法，我们称之为“硬对齐”。就像查字典一样，一个英文单词对应一个中文单词。这种方法在处理简单句子时似乎可行，但它的局限性非常明显。接下来我们就看看，这种“笨办法”会遇到哪些问题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为了解决硬对齐的问题，研究者们提出了“软对齐”的思想。这就像我们人类在翻译时，虽然主要关注一个词，但也会扫视它周围的词来确认它的确切含义。每个词都有一个“权重”，告诉模型“应该多看重谁，少看重谁”。这个“权重”，就是后来大名鼎鼎的“注意力分数”的雏形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这页明确拆开概念层和实现层。硬对齐与软对齐用于建立问题意识；Transformer 的 Attention 不直接处理文字，而是处理 Embedding 加位置后、经过 Encoder 的向量表示。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要让模型理解语言，第一步就是把文字变成它能理解的数字。我们创建一个“词典”，叫做词表（Vocab）。每个词，比如“我”、“爱”、“你”，都被分配一个唯一的ID。同时，我们还定义了几个特殊的“功能词”，比如&lt;sos&gt;告诉模型“句子开始了”，&lt;eos&gt;告诉模型“句子结束了”。这个过程是所有NLP任务的基础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零基础阶段不讲正弦余弦公式。只需要理解：Attention 本身不自带顺序感，因此要额外告诉模型每个词的位置。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1.7.2013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我们之前提到，Attention让所有词“同时”互相看，这带来了并行计算的好处，但也带来了一个问题：模型不知道词的顺序了。“猫追狗”和“狗追猫”对模型来说看起来是一样的。这显然不行。因此，我们必须想办法告诉模型每个词的位置。最巧妙的方法就是，创建一个代表位置的向量，然后把它和词向量加起来。这样，每个词向量就既包含了词的含义，又包含了它在句子中的位置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‹#›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1.7.2013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我们之前提到，Attention让所有词“同时”互相看，这带来了并行计算的好处，但也带来了一个问题：模型不知道词的顺序了。“猫追狗”和“狗追猫”对模型来说看起来是一样的。这显然不行。因此，我们必须想办法告诉模型每个词的位置。最巧妙的方法就是，创建一个代表位置的向量，然后把它和词向量加起来。这样，每个词向量就既包含了词的含义，又包含了它在句子中的位置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‹#›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图中权重为机制示意。线宽、百分比、色带和输出区域共同说明 Attention 对多个 Value 进行加权汇总。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1.7.2013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现在，我们来到了整个课程最核心的部分——Attention公式。请大家记住这个公式，它看起来可能有点复杂，但我们可以把它拆解成三个简单的步骤：“先打分，再归一化成权重，最后按权重取内容”。接下来的几页，我们将逐一解析公式中的每一个符号，让你彻底明白Attention是如何工作的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‹#›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四阶段 SVG 使用一致的 Q/K/V 配色。只要求学员解释每一步输入、输出和作用，不要求手算 Softmax。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使用标准组件名称解释职责：Encoder 输出源序列上下文表示，Decoder 通过 Cross-Attention 读取该表示，并结合目标前缀生成目标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现在我们已经了解了所有的零件，是时候把它们组装成一个完整的Transformer模型了。Transformer采用的是经典的Encoder-Decoder架构。Encoder负责理解输入的句子，把它变成一个有意义的数学表示。然后，Decoder利用这个表示，像写作文一样，一个词一个词地生成翻译结果。整个过程就像一个翻译官，先听懂了别人的话，然后再组织语言说出来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这页是全课的主干。先不讲张量维度，只追踪一条真实句子如何经历编号、特征表示、理解和逐词生成。训练时有标准答案；实际翻译时没有。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1.7.2013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训练模型时，我们需要给它正确的答案作为指导。这种方法叫做“教师强制”。具体来说，我们把目标句子稍微处理一下：输入给模型的是去掉最后一个词并在开头加上&lt;sos&gt;的句子，而我们期望它输出的是去掉第一个词并在结尾加上&lt;eos&gt;的句子。这样，模型每一步都在学习“根据正确的前文，预测下一个正确的词”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‹#›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1.7.2013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训练模型时，我们需要给它正确的答案作为指导。这种方法叫做“教师强制”。具体来说，我们把目标句子稍微处理一下：输入给模型的是去掉最后一个词并在开头加上&lt;sos&gt;的句子，而我们期望它输出的是去掉第一个词并在结尾加上&lt;eos&gt;的句子。这样，模型每一步都在学习“根据正确的前文，预测下一个正确的词”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 smtClean="0">
                <a:latin typeface="Noto Sans SC"/>
                <a:ea typeface="Noto Sans SC"/>
                <a:cs typeface="Noto Sans SC"/>
              </a:rPr>
              <a:t>‹#›</a:t>
            </a:r>
            <a:endParaRPr lang="cs-CZ" smtClean="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理论和演示都结束了，现在轮到大家动手了。这里有五个必做任务，它们将引导你完成从环境搭建到代码验证的整个闭环。前四个任务是为了让你熟悉整个流程。第五个任务是本节课的核心挑战：亲手实现Attention公式，并与官方实现进行对比。这是检验你是否真正掌握Attention计算的关键。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先运行 tutorial.ipynb 建立直觉，再阅读 model.py 的结构，随后看 train.py 如何组织训练，最后用 test.py 验证关键性质。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1.7.2013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>
                <a:latin typeface="Noto Sans SC"/>
                <a:ea typeface="Noto Sans SC"/>
                <a:cs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感谢大家的参与！希望这节课能帮助大家迈出“手搓大模型”的第一步。现在，就动手去完成任务吧！</a:t>
            </a:r>
            <a:endParaRPr lang="en-US" sz="1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SC"/>
                <a:ea typeface="Noto Sans SC"/>
                <a:cs typeface="Noto Sans SC"/>
              </a:defRPr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SC"/>
                <a:ea typeface="Noto Sans SC"/>
                <a:cs typeface="Noto Sans SC"/>
              </a:defRPr>
            </a:lvl1pPr>
          </a:lstStyle>
          <a:p>
            <a:r>
              <a:rPr lang="cs-CZ">
                <a:latin typeface="Noto Sans SC"/>
                <a:ea typeface="Noto Sans SC"/>
                <a:cs typeface="Noto Sans SC"/>
              </a:rPr>
              <a:t>‹#›</a:t>
            </a:r>
            <a:endParaRPr lang="cs-CZ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Noto Sans SC"/>
                <a:ea typeface="Noto Sans SC"/>
                <a:cs typeface="Noto Sans S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Noto Sans SC"/>
                <a:ea typeface="Noto Sans SC"/>
                <a:cs typeface="Noto Sans SC"/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Noto Sans SC"/>
                <a:ea typeface="Noto Sans SC"/>
                <a:cs typeface="Noto Sans SC"/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Noto Sans SC"/>
                <a:ea typeface="Noto Sans SC"/>
                <a:cs typeface="Noto Sans SC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Noto Sans SC"/>
                <a:ea typeface="Noto Sans SC"/>
                <a:cs typeface="Noto Sans SC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Noto Sans SC"/>
                <a:ea typeface="Noto Sans SC"/>
                <a:cs typeface="Noto Sans SC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Noto Sans SC"/>
                <a:ea typeface="Noto Sans SC"/>
                <a:cs typeface="Noto Sans SC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Noto Sans SC"/>
                <a:ea typeface="Noto Sans SC"/>
                <a:cs typeface="Noto Sans SC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Noto Sans SC"/>
                <a:ea typeface="Noto Sans SC"/>
                <a:cs typeface="Noto Sans SC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Noto Sans SC"/>
                <a:ea typeface="Noto Sans SC"/>
                <a:cs typeface="Noto Sans SC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>
                <a:latin typeface="Noto Sans SC"/>
                <a:ea typeface="Noto Sans SC"/>
                <a:cs typeface="Noto Sans SC"/>
              </a:defRPr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Noto Sans SC"/>
                <a:ea typeface="Noto Sans SC"/>
                <a:cs typeface="Noto Sans SC"/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Noto Sans SC"/>
                <a:ea typeface="Noto Sans SC"/>
                <a:cs typeface="Noto Sans SC"/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Noto Sans SC"/>
                <a:ea typeface="Noto Sans SC"/>
                <a:cs typeface="Noto Sans SC"/>
              </a:defRPr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Noto Sans SC"/>
                <a:ea typeface="Noto Sans SC"/>
                <a:cs typeface="Noto Sans SC"/>
              </a:defRPr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Noto Sans SC"/>
                <a:ea typeface="Noto Sans SC"/>
                <a:cs typeface="Noto Sans SC"/>
              </a:defRPr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Noto Sans SC"/>
                <a:ea typeface="Noto Sans SC"/>
                <a:cs typeface="Noto Sans SC"/>
              </a:defRPr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Noto Sans SC"/>
                <a:ea typeface="Noto Sans SC"/>
                <a:cs typeface="Noto Sans SC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Noto Sans SC"/>
                <a:ea typeface="Noto Sans SC"/>
                <a:cs typeface="Noto Sans SC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Noto Sans SC"/>
                <a:ea typeface="Noto Sans SC"/>
                <a:cs typeface="Noto Sans SC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Noto Sans SC"/>
                <a:ea typeface="Noto Sans SC"/>
                <a:cs typeface="Noto Sans SC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Noto Sans SC"/>
                <a:ea typeface="Noto Sans SC"/>
                <a:cs typeface="Noto Sans SC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1pPr>
            <a:lvl2pPr marL="0" lvl="1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2pPr>
            <a:lvl3pPr marL="0" lvl="2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3pPr>
            <a:lvl4pPr marL="0" lvl="3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4pPr>
            <a:lvl5pPr marL="0" lvl="4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5pPr>
            <a:lvl6pPr marL="0" lvl="5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6pPr>
            <a:lvl7pPr marL="0" lvl="6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7pPr>
            <a:lvl8pPr marL="0" lvl="7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8pPr>
            <a:lvl9pPr marL="0" lvl="8" indent="0" algn="r">
              <a:spcBef>
                <a:spcPts val="0"/>
              </a:spcBef>
              <a:buNone/>
              <a:defRPr>
                <a:latin typeface="Noto Sans SC"/>
                <a:ea typeface="Noto Sans SC"/>
                <a:cs typeface="Noto Sans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235066" y="-1412301"/>
            <a:ext cx="12970478" cy="97273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9447" y="3033425"/>
            <a:ext cx="5711377" cy="677368"/>
          </a:xfrm>
        </p:spPr>
        <p:txBody>
          <a:bodyPr anchor="b">
            <a:noAutofit/>
          </a:bodyPr>
          <a:lstStyle>
            <a:lvl1pPr>
              <a:defRPr sz="3600" b="1" baseline="0">
                <a:latin typeface="Noto Sans SC" panose="020B0604020202020204" pitchFamily="34" charset="0"/>
                <a:ea typeface="Noto Sans SC" panose="02010609060101010101" charset="-122"/>
                <a:cs typeface="Noto Sans SC"/>
              </a:defRPr>
            </a:lvl1pPr>
          </a:lstStyle>
          <a:p>
            <a:endParaRPr kumimoji="1" lang="zh-CN" altLang="en-US" dirty="0"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" name="直接连接符 28"/>
          <p:cNvCxnSpPr/>
          <p:nvPr userDrawn="1"/>
        </p:nvCxnSpPr>
        <p:spPr>
          <a:xfrm flipH="1">
            <a:off x="5601820" y="3824575"/>
            <a:ext cx="5711377" cy="0"/>
          </a:xfrm>
          <a:prstGeom prst="line">
            <a:avLst/>
          </a:prstGeom>
          <a:gradFill flip="none" rotWithShape="1">
            <a:gsLst>
              <a:gs pos="100000">
                <a:srgbClr val="06DEB7">
                  <a:alpha val="40000"/>
                </a:srgbClr>
              </a:gs>
              <a:gs pos="1000">
                <a:srgbClr val="06DEB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660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10236345" y="492349"/>
            <a:ext cx="1499066" cy="3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235066" y="-1412301"/>
            <a:ext cx="12970478" cy="97273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9447" y="3033425"/>
            <a:ext cx="5711377" cy="677368"/>
          </a:xfrm>
        </p:spPr>
        <p:txBody>
          <a:bodyPr anchor="b">
            <a:noAutofit/>
          </a:bodyPr>
          <a:lstStyle>
            <a:lvl1pPr>
              <a:defRPr sz="3600" b="1" baseline="0">
                <a:latin typeface="Noto Sans SC" panose="020B0604020202020204" pitchFamily="34" charset="0"/>
                <a:ea typeface="Noto Sans SC" panose="02010609060101010101" charset="-122"/>
                <a:cs typeface="Noto Sans SC"/>
              </a:defRPr>
            </a:lvl1pPr>
          </a:lstStyle>
          <a:p>
            <a:endParaRPr kumimoji="1" lang="zh-CN" altLang="en-US" dirty="0"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" name="直接连接符 28"/>
          <p:cNvCxnSpPr/>
          <p:nvPr userDrawn="1"/>
        </p:nvCxnSpPr>
        <p:spPr>
          <a:xfrm flipH="1">
            <a:off x="5601820" y="3824575"/>
            <a:ext cx="5711377" cy="0"/>
          </a:xfrm>
          <a:prstGeom prst="line">
            <a:avLst/>
          </a:prstGeom>
          <a:gradFill flip="none" rotWithShape="1">
            <a:gsLst>
              <a:gs pos="100000">
                <a:srgbClr val="06DEB7">
                  <a:alpha val="40000"/>
                </a:srgbClr>
              </a:gs>
              <a:gs pos="1000">
                <a:srgbClr val="06DEB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660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10236345" y="492349"/>
            <a:ext cx="1499066" cy="3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235066" y="-1412301"/>
            <a:ext cx="12970478" cy="97273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9447" y="3033425"/>
            <a:ext cx="5711377" cy="677368"/>
          </a:xfrm>
        </p:spPr>
        <p:txBody>
          <a:bodyPr anchor="b">
            <a:noAutofit/>
          </a:bodyPr>
          <a:lstStyle>
            <a:lvl1pPr>
              <a:defRPr sz="3600" b="1" baseline="0">
                <a:latin typeface="Noto Sans SC" panose="020B0604020202020204" pitchFamily="34" charset="0"/>
                <a:ea typeface="Noto Sans SC" panose="02010609060101010101" charset="-122"/>
                <a:cs typeface="Noto Sans SC"/>
              </a:defRPr>
            </a:lvl1pPr>
          </a:lstStyle>
          <a:p>
            <a:endParaRPr kumimoji="1" lang="zh-CN" altLang="en-US" dirty="0"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" name="直接连接符 28"/>
          <p:cNvCxnSpPr/>
          <p:nvPr userDrawn="1"/>
        </p:nvCxnSpPr>
        <p:spPr>
          <a:xfrm flipH="1">
            <a:off x="5601820" y="3824575"/>
            <a:ext cx="5711377" cy="0"/>
          </a:xfrm>
          <a:prstGeom prst="line">
            <a:avLst/>
          </a:prstGeom>
          <a:gradFill flip="none" rotWithShape="1">
            <a:gsLst>
              <a:gs pos="100000">
                <a:srgbClr val="06DEB7">
                  <a:alpha val="40000"/>
                </a:srgbClr>
              </a:gs>
              <a:gs pos="1000">
                <a:srgbClr val="06DEB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660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10236345" y="492349"/>
            <a:ext cx="1499066" cy="3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235066" y="-1412301"/>
            <a:ext cx="12970478" cy="97273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9447" y="3033425"/>
            <a:ext cx="5711377" cy="677368"/>
          </a:xfrm>
        </p:spPr>
        <p:txBody>
          <a:bodyPr anchor="b">
            <a:noAutofit/>
          </a:bodyPr>
          <a:lstStyle>
            <a:lvl1pPr>
              <a:defRPr sz="3600" b="1" baseline="0">
                <a:latin typeface="Noto Sans SC" panose="020B0604020202020204" pitchFamily="34" charset="0"/>
                <a:ea typeface="Noto Sans SC" panose="02010609060101010101" charset="-122"/>
                <a:cs typeface="Noto Sans SC"/>
              </a:defRPr>
            </a:lvl1pPr>
          </a:lstStyle>
          <a:p>
            <a:endParaRPr kumimoji="1" lang="zh-CN" altLang="en-US" dirty="0"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" name="直接连接符 28"/>
          <p:cNvCxnSpPr/>
          <p:nvPr userDrawn="1"/>
        </p:nvCxnSpPr>
        <p:spPr>
          <a:xfrm flipH="1">
            <a:off x="5601820" y="3824575"/>
            <a:ext cx="5711377" cy="0"/>
          </a:xfrm>
          <a:prstGeom prst="line">
            <a:avLst/>
          </a:prstGeom>
          <a:gradFill flip="none" rotWithShape="1">
            <a:gsLst>
              <a:gs pos="100000">
                <a:srgbClr val="06DEB7">
                  <a:alpha val="40000"/>
                </a:srgbClr>
              </a:gs>
              <a:gs pos="1000">
                <a:srgbClr val="06DEB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660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10236345" y="492349"/>
            <a:ext cx="1499066" cy="3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235066" y="-1412301"/>
            <a:ext cx="12970478" cy="97273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9447" y="3033425"/>
            <a:ext cx="5711377" cy="677368"/>
          </a:xfrm>
        </p:spPr>
        <p:txBody>
          <a:bodyPr anchor="b">
            <a:noAutofit/>
          </a:bodyPr>
          <a:lstStyle>
            <a:lvl1pPr>
              <a:defRPr sz="3600" b="1" baseline="0">
                <a:latin typeface="Noto Sans SC" panose="020B0604020202020204" pitchFamily="34" charset="0"/>
                <a:ea typeface="Noto Sans SC" panose="02010609060101010101" charset="-122"/>
                <a:cs typeface="Noto Sans SC"/>
              </a:defRPr>
            </a:lvl1pPr>
          </a:lstStyle>
          <a:p>
            <a:endParaRPr kumimoji="1" lang="zh-CN" altLang="en-US" dirty="0"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" name="直接连接符 28"/>
          <p:cNvCxnSpPr/>
          <p:nvPr userDrawn="1"/>
        </p:nvCxnSpPr>
        <p:spPr>
          <a:xfrm flipH="1">
            <a:off x="5601820" y="3824575"/>
            <a:ext cx="5711377" cy="0"/>
          </a:xfrm>
          <a:prstGeom prst="line">
            <a:avLst/>
          </a:prstGeom>
          <a:gradFill flip="none" rotWithShape="1">
            <a:gsLst>
              <a:gs pos="100000">
                <a:srgbClr val="06DEB7">
                  <a:alpha val="40000"/>
                </a:srgbClr>
              </a:gs>
              <a:gs pos="1000">
                <a:srgbClr val="06DEB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660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10236345" y="492349"/>
            <a:ext cx="1499066" cy="3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235066" y="-1412301"/>
            <a:ext cx="12970478" cy="97273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9447" y="3033425"/>
            <a:ext cx="5711377" cy="677368"/>
          </a:xfrm>
        </p:spPr>
        <p:txBody>
          <a:bodyPr anchor="b">
            <a:noAutofit/>
          </a:bodyPr>
          <a:lstStyle>
            <a:lvl1pPr>
              <a:defRPr sz="3600" b="1" baseline="0">
                <a:latin typeface="Noto Sans SC" panose="020B0604020202020204" pitchFamily="34" charset="0"/>
                <a:ea typeface="Noto Sans SC" panose="02010609060101010101" charset="-122"/>
                <a:cs typeface="Noto Sans SC"/>
              </a:defRPr>
            </a:lvl1pPr>
          </a:lstStyle>
          <a:p>
            <a:endParaRPr kumimoji="1" lang="zh-CN" altLang="en-US" dirty="0"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8" name="直接连接符 28"/>
          <p:cNvCxnSpPr/>
          <p:nvPr userDrawn="1"/>
        </p:nvCxnSpPr>
        <p:spPr>
          <a:xfrm flipH="1">
            <a:off x="5601820" y="3824575"/>
            <a:ext cx="5711377" cy="0"/>
          </a:xfrm>
          <a:prstGeom prst="line">
            <a:avLst/>
          </a:prstGeom>
          <a:gradFill flip="none" rotWithShape="1">
            <a:gsLst>
              <a:gs pos="100000">
                <a:srgbClr val="06DEB7">
                  <a:alpha val="40000"/>
                </a:srgbClr>
              </a:gs>
              <a:gs pos="1000">
                <a:srgbClr val="06DEB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63500">
            <a:solidFill>
              <a:srgbClr val="6607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10236345" y="492349"/>
            <a:ext cx="1499066" cy="363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latin typeface="Noto Sans SC"/>
                <a:ea typeface="Noto Sans SC"/>
                <a:cs typeface="Noto Sans SC"/>
              </a:defRPr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Noto Sans SC"/>
                <a:ea typeface="Noto Sans SC"/>
                <a:cs typeface="Noto Sans SC"/>
              </a:rPr>
            </a:fld>
            <a:endParaRPr lang="zh-CN">
              <a:latin typeface="Noto Sans SC"/>
              <a:ea typeface="Noto Sans SC"/>
              <a:cs typeface="Noto Sans S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Noto Sans SC" panose="020B0604020202020204"/>
          <a:ea typeface="Noto Sans SC" panose="020B0604020202020204"/>
          <a:cs typeface="Noto Sans SC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22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9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3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tags" Target="../tags/tag25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4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Transformer 实战营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内部资料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50900" y="3848100"/>
            <a:ext cx="2082800" cy="1016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3600" y="406400"/>
            <a:ext cx="14859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49300" y="2438400"/>
            <a:ext cx="9144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4400" b="1" i="0" u="none" strike="noStrike">
                <a:solidFill>
                  <a:srgbClr val="FFFFFF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Transformer实战营 · 第一课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49300" y="4178300"/>
            <a:ext cx="9144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>
                <a:latin typeface="Noto Sans SC"/>
                <a:ea typeface="Noto Sans SC"/>
                <a:cs typeface="Noto Sans SC"/>
              </a:defRPr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从 0 到 1 跑通你的第一个 Transformer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 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目录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16" name="AutoShape 15"/>
          <p:cNvSpPr/>
          <p:nvPr/>
        </p:nvSpPr>
        <p:spPr>
          <a:xfrm>
            <a:off x="1664335" y="1444625"/>
            <a:ext cx="30226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1 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背景引入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20" name="AutoShape 15"/>
          <p:cNvSpPr/>
          <p:nvPr/>
        </p:nvSpPr>
        <p:spPr>
          <a:xfrm>
            <a:off x="5553075" y="1444625"/>
            <a:ext cx="30226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2 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文本处理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21" name="AutoShape 15"/>
          <p:cNvSpPr/>
          <p:nvPr/>
        </p:nvSpPr>
        <p:spPr>
          <a:xfrm>
            <a:off x="1664335" y="2711450"/>
            <a:ext cx="30226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3 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位置编码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24" name="AutoShape 15"/>
          <p:cNvSpPr/>
          <p:nvPr/>
        </p:nvSpPr>
        <p:spPr>
          <a:xfrm>
            <a:off x="5553075" y="2711450"/>
            <a:ext cx="30226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4 A</a:t>
            </a:r>
            <a:r>
              <a:rPr lang="en-US" altLang="zh-CN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ttention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核心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25" name="AutoShape 15"/>
          <p:cNvSpPr/>
          <p:nvPr/>
        </p:nvSpPr>
        <p:spPr>
          <a:xfrm>
            <a:off x="1664335" y="4000500"/>
            <a:ext cx="380492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5 Encoder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和</a:t>
            </a:r>
            <a:r>
              <a:rPr lang="en-US" altLang="zh-CN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Decoder</a:t>
            </a:r>
            <a:endParaRPr lang="en-US" altLang="zh-CN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26" name="AutoShape 15"/>
          <p:cNvSpPr/>
          <p:nvPr/>
        </p:nvSpPr>
        <p:spPr>
          <a:xfrm>
            <a:off x="5553075" y="3978275"/>
            <a:ext cx="380492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6 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训练和推理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27" name="AutoShape 15"/>
          <p:cNvSpPr/>
          <p:nvPr/>
        </p:nvSpPr>
        <p:spPr>
          <a:xfrm>
            <a:off x="1664335" y="5055870"/>
            <a:ext cx="380492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7 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任务与交付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 1.1 两条主线：理解机制与跑通代码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18" name="Rounded Rectangle 4"/>
          <p:cNvSpPr/>
          <p:nvPr>
            <p:custDataLst>
              <p:tags r:id="rId3"/>
            </p:custDataLst>
          </p:nvPr>
        </p:nvSpPr>
        <p:spPr>
          <a:xfrm>
            <a:off x="2929255" y="1778635"/>
            <a:ext cx="2832100" cy="270954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Noto Sans SC"/>
                <a:ea typeface="Noto Sans SC"/>
                <a:cs typeface="Noto Sans SC"/>
              </a:rPr>
              <a:t>🔍</a:t>
            </a:r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Oval 5"/>
          <p:cNvSpPr/>
          <p:nvPr>
            <p:custDataLst>
              <p:tags r:id="rId4"/>
            </p:custDataLst>
          </p:nvPr>
        </p:nvSpPr>
        <p:spPr>
          <a:xfrm>
            <a:off x="4125595" y="2007997"/>
            <a:ext cx="438912" cy="438912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</a:rPr>
              <a:t>1</a:t>
            </a:r>
            <a:endParaRPr lang="en-US" sz="2400" b="1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22" name="TextBox 8"/>
          <p:cNvSpPr txBox="1"/>
          <p:nvPr>
            <p:custDataLst>
              <p:tags r:id="rId5"/>
            </p:custDataLst>
          </p:nvPr>
        </p:nvSpPr>
        <p:spPr>
          <a:xfrm>
            <a:off x="3025775" y="2604135"/>
            <a:ext cx="2698750" cy="9118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 到底在</a:t>
            </a:r>
            <a:endParaRPr lang="en-US"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“注意”什么？</a:t>
            </a:r>
            <a:endParaRPr lang="en-US"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9"/>
          <p:cNvCxnSpPr/>
          <p:nvPr>
            <p:custDataLst>
              <p:tags r:id="rId6"/>
            </p:custDataLst>
          </p:nvPr>
        </p:nvCxnSpPr>
        <p:spPr>
          <a:xfrm>
            <a:off x="5746114" y="2936240"/>
            <a:ext cx="549275" cy="13335"/>
          </a:xfrm>
          <a:prstGeom prst="line">
            <a:avLst/>
          </a:prstGeom>
          <a:ln w="1651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"/>
          <p:cNvSpPr/>
          <p:nvPr>
            <p:custDataLst>
              <p:tags r:id="rId7"/>
            </p:custDataLst>
          </p:nvPr>
        </p:nvSpPr>
        <p:spPr>
          <a:xfrm>
            <a:off x="6295390" y="1778635"/>
            <a:ext cx="2832100" cy="270891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5"/>
          <p:cNvSpPr/>
          <p:nvPr>
            <p:custDataLst>
              <p:tags r:id="rId8"/>
            </p:custDataLst>
          </p:nvPr>
        </p:nvSpPr>
        <p:spPr>
          <a:xfrm>
            <a:off x="7491730" y="2007997"/>
            <a:ext cx="438912" cy="438912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</a:rPr>
              <a:t>2</a:t>
            </a:r>
            <a:endParaRPr lang="en-US" sz="2400" b="1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43" name="TextBox 8"/>
          <p:cNvSpPr txBox="1"/>
          <p:nvPr>
            <p:custDataLst>
              <p:tags r:id="rId9"/>
            </p:custDataLst>
          </p:nvPr>
        </p:nvSpPr>
        <p:spPr>
          <a:xfrm>
            <a:off x="6365875" y="2813050"/>
            <a:ext cx="2698750" cy="11753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如何跑一个完整的</a:t>
            </a:r>
            <a:r>
              <a:rPr lang="en-US" altLang="zh-CN"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transformer</a:t>
            </a:r>
            <a:r>
              <a:rPr lang="zh-CN" altLang="en-US" sz="24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endParaRPr lang="zh-CN" altLang="en-US" sz="24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676656" y="1066927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学习 Transformer，围绕两条学习主线：理解注意力机制、动手复现运行、验证模型效果。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</a:endParaRPr>
          </a:p>
        </p:txBody>
      </p:sp>
      <p:sp>
        <p:nvSpPr>
          <p:cNvPr id="50" name="TextBox 8"/>
          <p:cNvSpPr txBox="1"/>
          <p:nvPr>
            <p:custDataLst>
              <p:tags r:id="rId10"/>
            </p:custDataLst>
          </p:nvPr>
        </p:nvSpPr>
        <p:spPr>
          <a:xfrm>
            <a:off x="2930525" y="3717290"/>
            <a:ext cx="2864485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800" b="1">
                <a:solidFill>
                  <a:srgbClr val="374151"/>
                </a:solidFill>
                <a:latin typeface="Noto Sans SC" panose="020B0503020204020204" charset="-122"/>
                <a:ea typeface="Noto Sans SC"/>
                <a:cs typeface="Noto Sans SC"/>
              </a:rPr>
              <a:t>理解自注意力机制核心</a:t>
            </a:r>
            <a:endParaRPr lang="zh-CN" altLang="en-US" sz="1800" b="1">
              <a:solidFill>
                <a:srgbClr val="374151"/>
              </a:solidFill>
              <a:latin typeface="Noto Sans SC" panose="020B0503020204020204" charset="-122"/>
              <a:ea typeface="Noto Sans SC"/>
              <a:cs typeface="Noto Sans SC"/>
            </a:endParaRPr>
          </a:p>
          <a:p>
            <a:pPr algn="ctr"/>
            <a:r>
              <a:rPr lang="zh-CN" altLang="en-US" sz="1800" b="1">
                <a:solidFill>
                  <a:srgbClr val="374151"/>
                </a:solidFill>
                <a:latin typeface="Noto Sans SC" panose="020B0503020204020204" charset="-122"/>
                <a:ea typeface="Noto Sans SC"/>
                <a:cs typeface="Noto Sans SC"/>
              </a:rPr>
              <a:t>原理</a:t>
            </a:r>
            <a:endParaRPr lang="zh-CN" altLang="en-US" sz="1800" b="1">
              <a:solidFill>
                <a:srgbClr val="374151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51" name="TextBox 8"/>
          <p:cNvSpPr txBox="1"/>
          <p:nvPr>
            <p:custDataLst>
              <p:tags r:id="rId11"/>
            </p:custDataLst>
          </p:nvPr>
        </p:nvSpPr>
        <p:spPr>
          <a:xfrm>
            <a:off x="6318250" y="3717290"/>
            <a:ext cx="2864485" cy="5295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1800" b="1">
                <a:solidFill>
                  <a:srgbClr val="374151"/>
                </a:solidFill>
                <a:latin typeface="Noto Sans SC" panose="020B0503020204020204" charset="-122"/>
                <a:ea typeface="Noto Sans SC"/>
                <a:cs typeface="Noto Sans SC"/>
              </a:rPr>
              <a:t>从代码层面搭建、调试、运行模型</a:t>
            </a:r>
            <a:endParaRPr lang="zh-CN" altLang="en-US" sz="1800" b="1">
              <a:solidFill>
                <a:srgbClr val="374151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035050" y="5394960"/>
            <a:ext cx="10021570" cy="383540"/>
            <a:chOff x="1630" y="8496"/>
            <a:chExt cx="15782" cy="604"/>
          </a:xfrm>
        </p:grpSpPr>
        <p:sp>
          <p:nvSpPr>
            <p:cNvPr id="53" name="Rounded Rectangle 33"/>
            <p:cNvSpPr/>
            <p:nvPr/>
          </p:nvSpPr>
          <p:spPr>
            <a:xfrm>
              <a:off x="1630" y="8496"/>
              <a:ext cx="15782" cy="60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737" y="8567"/>
              <a:ext cx="1172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Noto Sans SC"/>
                  <a:ea typeface="Noto Sans SC"/>
                  <a:cs typeface="Noto Sans SC"/>
                </a:rPr>
                <a:t>本章目标：搞懂注意力机制，能跑通 </a:t>
              </a:r>
              <a:r>
                <a:rPr lang="en-US" altLang="zh-CN">
                  <a:latin typeface="Noto Sans SC"/>
                  <a:ea typeface="Noto Sans SC"/>
                  <a:cs typeface="Noto Sans SC"/>
                </a:rPr>
                <a:t>Transformer，</a:t>
              </a:r>
              <a:r>
                <a:rPr lang="zh-CN" altLang="en-US">
                  <a:latin typeface="Noto Sans SC"/>
                  <a:ea typeface="Noto Sans SC"/>
                  <a:cs typeface="Noto Sans SC"/>
                </a:rPr>
                <a:t>会做模型有效性验证。</a:t>
              </a:r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896112"/>
            <a:ext cx="106984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把“理解原理”和“运行代码”放进同一条可执行路线。</a:t>
            </a:r>
            <a:endParaRPr sz="14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Learning Map  ·  03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572768" cy="199339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" y="2331720"/>
            <a:ext cx="530352" cy="530352"/>
          </a:xfrm>
          <a:prstGeom prst="ellipse">
            <a:avLst/>
          </a:prstGeom>
          <a:solidFill>
            <a:srgbClr val="275DAD"/>
          </a:solidFill>
          <a:ln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350008"/>
            <a:ext cx="530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SC" panose="020B0503020204020204" charset="-122"/>
                <a:ea typeface="Noto Sans SC"/>
                <a:cs typeface="Noto Sans SC"/>
              </a:rPr>
              <a:t>1</a:t>
            </a:r>
            <a:endParaRPr sz="1600" b="1">
              <a:solidFill>
                <a:srgbClr val="FFFFFF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3063240"/>
            <a:ext cx="12435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文字</a:t>
            </a:r>
            <a:endParaRPr sz="17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48" y="3511296"/>
            <a:ext cx="13533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I love you</a:t>
            </a:r>
            <a:endParaRPr sz="12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84832" y="2788920"/>
            <a:ext cx="32918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2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14016" y="2103120"/>
            <a:ext cx="1572768" cy="1993392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26080" y="2331720"/>
            <a:ext cx="530352" cy="530352"/>
          </a:xfrm>
          <a:prstGeom prst="ellipse">
            <a:avLst/>
          </a:prstGeom>
          <a:solidFill>
            <a:srgbClr val="1E8E94"/>
          </a:solidFill>
          <a:ln>
            <a:solidFill>
              <a:srgbClr val="1E8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350008"/>
            <a:ext cx="530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SC" panose="020B0503020204020204" charset="-122"/>
                <a:ea typeface="Noto Sans SC"/>
                <a:cs typeface="Noto Sans SC"/>
              </a:rPr>
              <a:t>2</a:t>
            </a:r>
            <a:endParaRPr sz="1600" b="1">
              <a:solidFill>
                <a:srgbClr val="FFFFFF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78608" y="3063240"/>
            <a:ext cx="12435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E8E94"/>
                </a:solidFill>
                <a:latin typeface="Noto Sans SC" panose="020B0503020204020204" charset="-122"/>
                <a:ea typeface="Noto Sans SC"/>
                <a:cs typeface="Noto Sans SC"/>
              </a:rPr>
              <a:t>编号</a:t>
            </a:r>
            <a:endParaRPr sz="1700" b="1">
              <a:solidFill>
                <a:srgbClr val="1E8E9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23744" y="3511296"/>
            <a:ext cx="13533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每个词换成数字</a:t>
            </a:r>
            <a:endParaRPr sz="12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95928" y="2788920"/>
            <a:ext cx="32918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2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325112" y="2103120"/>
            <a:ext cx="1572768" cy="199339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37176" y="2331720"/>
            <a:ext cx="530352" cy="530352"/>
          </a:xfrm>
          <a:prstGeom prst="ellipse">
            <a:avLst/>
          </a:prstGeom>
          <a:solidFill>
            <a:srgbClr val="660874"/>
          </a:solidFill>
          <a:ln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2350008"/>
            <a:ext cx="530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SC" panose="020B0503020204020204" charset="-122"/>
                <a:ea typeface="Noto Sans SC"/>
                <a:cs typeface="Noto Sans SC"/>
              </a:rPr>
              <a:t>3</a:t>
            </a:r>
            <a:endParaRPr sz="1600" b="1">
              <a:solidFill>
                <a:srgbClr val="FFFFFF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89704" y="3063240"/>
            <a:ext cx="12435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表示</a:t>
            </a:r>
            <a:endParaRPr sz="17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34840" y="3511296"/>
            <a:ext cx="13533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Embedding + 位置</a:t>
            </a:r>
            <a:endParaRPr sz="12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07024" y="2788920"/>
            <a:ext cx="32918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2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36208" y="2103120"/>
            <a:ext cx="1572768" cy="1993392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48272" y="2331720"/>
            <a:ext cx="530352" cy="530352"/>
          </a:xfrm>
          <a:prstGeom prst="ellipse">
            <a:avLst/>
          </a:prstGeom>
          <a:solidFill>
            <a:srgbClr val="275DAD"/>
          </a:solidFill>
          <a:ln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2350008"/>
            <a:ext cx="530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SC" panose="020B0503020204020204" charset="-122"/>
                <a:ea typeface="Noto Sans SC"/>
                <a:cs typeface="Noto Sans SC"/>
              </a:rPr>
              <a:t>4</a:t>
            </a:r>
            <a:endParaRPr sz="1600" b="1">
              <a:solidFill>
                <a:srgbClr val="FFFFFF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3063240"/>
            <a:ext cx="12435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模型</a:t>
            </a:r>
            <a:endParaRPr sz="17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45936" y="3511296"/>
            <a:ext cx="13533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Encoder–Decoder</a:t>
            </a:r>
            <a:endParaRPr sz="12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18120" y="2788920"/>
            <a:ext cx="32918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2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47304" y="2103120"/>
            <a:ext cx="1572768" cy="199339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9368" y="2331720"/>
            <a:ext cx="530352" cy="530352"/>
          </a:xfrm>
          <a:prstGeom prst="ellipse">
            <a:avLst/>
          </a:prstGeom>
          <a:solidFill>
            <a:srgbClr val="660874"/>
          </a:solidFill>
          <a:ln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2350008"/>
            <a:ext cx="530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SC" panose="020B0503020204020204" charset="-122"/>
                <a:ea typeface="Noto Sans SC"/>
                <a:cs typeface="Noto Sans SC"/>
              </a:rPr>
              <a:t>5</a:t>
            </a:r>
            <a:endParaRPr sz="1600" b="1">
              <a:solidFill>
                <a:srgbClr val="FFFFFF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6" y="3063240"/>
            <a:ext cx="12435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训练</a:t>
            </a:r>
            <a:endParaRPr sz="17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7031" y="3511296"/>
            <a:ext cx="13533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Loss + 参数更新</a:t>
            </a:r>
            <a:endParaRPr sz="12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29216" y="2788920"/>
            <a:ext cx="32918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2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058400" y="2103120"/>
            <a:ext cx="1572768" cy="1993392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70464" y="2331720"/>
            <a:ext cx="530352" cy="530352"/>
          </a:xfrm>
          <a:prstGeom prst="ellipse">
            <a:avLst/>
          </a:prstGeom>
          <a:solidFill>
            <a:srgbClr val="369659"/>
          </a:solidFill>
          <a:ln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0464" y="2350008"/>
            <a:ext cx="530352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SC" panose="020B0503020204020204" charset="-122"/>
                <a:ea typeface="Noto Sans SC"/>
                <a:cs typeface="Noto Sans SC"/>
              </a:rPr>
              <a:t>6</a:t>
            </a:r>
            <a:endParaRPr sz="1600" b="1">
              <a:solidFill>
                <a:srgbClr val="FFFFFF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22992" y="3063240"/>
            <a:ext cx="1243584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推理</a:t>
            </a:r>
            <a:endParaRPr sz="170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168128" y="3511296"/>
            <a:ext cx="1353312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自回归生成</a:t>
            </a:r>
            <a:endParaRPr sz="12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60120" y="4809744"/>
            <a:ext cx="10241280" cy="896112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E7D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4440" y="5029200"/>
            <a:ext cx="16459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课程完成标准</a:t>
            </a:r>
            <a:endParaRPr sz="16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88920" y="4974336"/>
            <a:ext cx="8001000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能指出概念对应的源码位置 · 能运行测试与训练命令 · 能根据输出判断是否成功</a:t>
            </a:r>
            <a:endParaRPr sz="16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49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 1.2 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全课路线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altLang="zh-CN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1.3 人类翻译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AI 翻译原理初探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椭圆形标注 19"/>
          <p:cNvSpPr/>
          <p:nvPr/>
        </p:nvSpPr>
        <p:spPr>
          <a:xfrm>
            <a:off x="804545" y="1790700"/>
            <a:ext cx="3211830" cy="1965960"/>
          </a:xfrm>
          <a:prstGeom prst="wedgeEllipseCallou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椭圆形标注 21"/>
          <p:cNvSpPr/>
          <p:nvPr/>
        </p:nvSpPr>
        <p:spPr>
          <a:xfrm flipH="1">
            <a:off x="7864475" y="1879600"/>
            <a:ext cx="2999740" cy="2038985"/>
          </a:xfrm>
          <a:prstGeom prst="wedgeEllipseCallou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91920" y="2334895"/>
            <a:ext cx="2624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latin typeface="Noto Sans SC" panose="02020603050405020304" charset="0"/>
                <a:cs typeface="Noto Sans SC" panose="02020603050405020304" charset="0"/>
                <a:ea typeface="Noto Sans SC"/>
              </a:rPr>
              <a:t>I love you.</a:t>
            </a:r>
            <a:endParaRPr lang="zh-CN" altLang="en-US" sz="3600">
              <a:latin typeface="Noto Sans SC" panose="02020603050405020304" charset="0"/>
              <a:ea typeface="Noto Sans SC" panose="02010600030101010101" pitchFamily="2" charset="-122"/>
              <a:cs typeface="Noto Sans SC" panose="02020603050405020304" charset="0"/>
            </a:endParaRPr>
          </a:p>
        </p:txBody>
      </p:sp>
      <p:pic>
        <p:nvPicPr>
          <p:cNvPr id="24" name="图片 23" descr="01113afa46c257bd8e12bc4bbd2554b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8525" y="1670050"/>
            <a:ext cx="2514600" cy="1898650"/>
          </a:xfrm>
          <a:prstGeom prst="rect">
            <a:avLst/>
          </a:prstGeom>
        </p:spPr>
      </p:pic>
      <p:sp>
        <p:nvSpPr>
          <p:cNvPr id="25" name="右箭头 24"/>
          <p:cNvSpPr/>
          <p:nvPr/>
        </p:nvSpPr>
        <p:spPr>
          <a:xfrm>
            <a:off x="4256405" y="2603500"/>
            <a:ext cx="595630" cy="25590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右箭头 25"/>
          <p:cNvSpPr/>
          <p:nvPr/>
        </p:nvSpPr>
        <p:spPr>
          <a:xfrm>
            <a:off x="6775450" y="2646045"/>
            <a:ext cx="595630" cy="25590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TextBox 8"/>
          <p:cNvSpPr txBox="1"/>
          <p:nvPr>
            <p:custDataLst>
              <p:tags r:id="rId4"/>
            </p:custDataLst>
          </p:nvPr>
        </p:nvSpPr>
        <p:spPr>
          <a:xfrm>
            <a:off x="4587875" y="4041775"/>
            <a:ext cx="2755265" cy="4476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+mn-ea"/>
              </a:rPr>
              <a:t>I  →我</a:t>
            </a:r>
            <a:endParaRPr lang="en-US" sz="2400" b="1">
              <a:solidFill>
                <a:schemeClr val="tx1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+mn-ea"/>
            </a:endParaRPr>
          </a:p>
          <a:p>
            <a:pPr algn="ctr"/>
            <a:endParaRPr lang="en-US" sz="2400" b="1">
              <a:solidFill>
                <a:schemeClr val="tx1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29" name="TextBox 8"/>
          <p:cNvSpPr txBox="1"/>
          <p:nvPr>
            <p:custDataLst>
              <p:tags r:id="rId5"/>
            </p:custDataLst>
          </p:nvPr>
        </p:nvSpPr>
        <p:spPr>
          <a:xfrm>
            <a:off x="4526280" y="4489450"/>
            <a:ext cx="2625090" cy="44005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+mn-ea"/>
              </a:rPr>
              <a:t>love→爱</a:t>
            </a:r>
            <a:endParaRPr lang="en-US" sz="2400" b="1">
              <a:solidFill>
                <a:schemeClr val="tx1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30" name="TextBox 8"/>
          <p:cNvSpPr txBox="1"/>
          <p:nvPr>
            <p:custDataLst>
              <p:tags r:id="rId6"/>
            </p:custDataLst>
          </p:nvPr>
        </p:nvSpPr>
        <p:spPr>
          <a:xfrm>
            <a:off x="4526280" y="4962525"/>
            <a:ext cx="2625090" cy="5010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+mn-ea"/>
              </a:rPr>
              <a:t>you→你</a:t>
            </a:r>
            <a:endParaRPr lang="en-US" sz="2400" b="1">
              <a:solidFill>
                <a:schemeClr val="tx1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83245" y="2461895"/>
            <a:ext cx="2624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>
                <a:latin typeface="Noto Sans SC" panose="020B0503020204020204" charset="-122"/>
                <a:ea typeface="Noto Sans SC" panose="020B0503020204020204" charset="-122"/>
                <a:cs typeface="Noto Sans SC" panose="02020603050405020304" charset="0"/>
              </a:rPr>
              <a:t>我</a:t>
            </a:r>
            <a:r>
              <a:rPr lang="en-US" altLang="zh-CN" sz="3600" b="1">
                <a:latin typeface="Noto Sans SC" panose="020B0503020204020204" charset="-122"/>
                <a:ea typeface="Noto Sans SC" panose="020B0503020204020204" charset="-122"/>
                <a:cs typeface="Noto Sans SC" panose="02020603050405020304" charset="0"/>
              </a:rPr>
              <a:t> </a:t>
            </a:r>
            <a:r>
              <a:rPr lang="zh-CN" altLang="en-US" sz="3600" b="1">
                <a:latin typeface="Noto Sans SC" panose="020B0503020204020204" charset="-122"/>
                <a:ea typeface="Noto Sans SC" panose="020B0503020204020204" charset="-122"/>
                <a:cs typeface="Noto Sans SC" panose="02020603050405020304" charset="0"/>
              </a:rPr>
              <a:t>爱</a:t>
            </a:r>
            <a:r>
              <a:rPr lang="en-US" altLang="zh-CN" sz="3600" b="1">
                <a:latin typeface="Noto Sans SC" panose="020B0503020204020204" charset="-122"/>
                <a:ea typeface="Noto Sans SC" panose="020B0503020204020204" charset="-122"/>
                <a:cs typeface="Noto Sans SC" panose="02020603050405020304" charset="0"/>
              </a:rPr>
              <a:t> </a:t>
            </a:r>
            <a:r>
              <a:rPr lang="zh-CN" altLang="en-US" sz="3600" b="1">
                <a:latin typeface="Noto Sans SC" panose="020B0503020204020204" charset="-122"/>
                <a:ea typeface="Noto Sans SC" panose="020B0503020204020204" charset="-122"/>
                <a:cs typeface="Noto Sans SC" panose="02020603050405020304" charset="0"/>
              </a:rPr>
              <a:t>你。</a:t>
            </a:r>
            <a:endParaRPr lang="zh-CN" altLang="en-US" sz="3600" b="1">
              <a:latin typeface="Noto Sans SC" panose="020B0503020204020204" charset="-122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676656" y="896112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在介绍 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AI 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翻译之前，我们先观察人类翻译的思考过程。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035050" y="5595620"/>
            <a:ext cx="10021570" cy="384175"/>
            <a:chOff x="1630" y="8496"/>
            <a:chExt cx="15782" cy="605"/>
          </a:xfrm>
        </p:grpSpPr>
        <p:sp>
          <p:nvSpPr>
            <p:cNvPr id="32" name="Rounded Rectangle 33"/>
            <p:cNvSpPr/>
            <p:nvPr/>
          </p:nvSpPr>
          <p:spPr>
            <a:xfrm>
              <a:off x="1630" y="8496"/>
              <a:ext cx="15782" cy="60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737" y="8567"/>
              <a:ext cx="1172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Noto Sans SC"/>
                  <a:ea typeface="Noto Sans SC"/>
                  <a:cs typeface="Noto Sans SC"/>
                </a:rPr>
                <a:t>核心：人类翻译不是简单单词查表，而是理解完整语义后，重构目标语言表达。</a:t>
              </a:r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</p:grpSp>
      <p:sp>
        <p:nvSpPr>
          <p:cNvPr id="33" name="右大括号 32"/>
          <p:cNvSpPr/>
          <p:nvPr/>
        </p:nvSpPr>
        <p:spPr>
          <a:xfrm>
            <a:off x="6652260" y="4024630"/>
            <a:ext cx="619125" cy="13309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442200" y="4403725"/>
            <a:ext cx="13081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Noto Sans SC" panose="020B0503020204020204" charset="-122"/>
                <a:ea typeface="Noto Sans SC" panose="020B0503020204020204" charset="-122"/>
                <a:cs typeface="Noto Sans SC"/>
              </a:rPr>
              <a:t>根据语境</a:t>
            </a:r>
            <a:endParaRPr lang="zh-CN" altLang="en-US" sz="2000">
              <a:latin typeface="Noto Sans SC" panose="020B0503020204020204" charset="-122"/>
              <a:ea typeface="Noto Sans SC" panose="020B0503020204020204" charset="-122"/>
              <a:cs typeface="Noto Sans SC"/>
            </a:endParaRPr>
          </a:p>
          <a:p>
            <a:r>
              <a:rPr lang="zh-CN" altLang="en-US" sz="2000">
                <a:latin typeface="Noto Sans SC" panose="020B0503020204020204" charset="-122"/>
                <a:ea typeface="Noto Sans SC" panose="020B0503020204020204" charset="-122"/>
                <a:cs typeface="Noto Sans SC"/>
              </a:rPr>
              <a:t>联合翻译</a:t>
            </a:r>
            <a:endParaRPr lang="zh-CN" altLang="en-US" sz="2000">
              <a:latin typeface="Noto Sans SC" panose="020B0503020204020204" charset="-122"/>
              <a:ea typeface="Noto Sans SC" panose="020B0503020204020204" charset="-122"/>
              <a:cs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1.4 概念基线：硬对齐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38200" y="1551940"/>
            <a:ext cx="6250305" cy="20015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01 早期的“直译”雏形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>
                <a:solidFill>
                  <a:srgbClr val="333333"/>
                </a:solidFill>
                <a:latin typeface="Noto Sans SC" panose="020B0604020202020204" pitchFamily="34" charset="0"/>
                <a:ea typeface="Noto Sans SC" panose="02010609060101010101" charset="-122"/>
                <a:cs typeface="Noto Sans SC" panose="020B0604020202020204" pitchFamily="34" charset="0"/>
              </a:rPr>
              <a:t>◦</a:t>
            </a:r>
            <a:r>
              <a:rPr lang="en-US" sz="1600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</a:rPr>
              <a:t>思路：构建机器翻译字典，单词之间做机械对应</a:t>
            </a:r>
            <a:endParaRPr lang="en-US" sz="1600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02 核心逻辑：严格的一一映射</a:t>
            </a:r>
            <a:endParaRPr lang="en-US" sz="20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i="0" u="none" strike="noStrike">
                <a:solidFill>
                  <a:srgbClr val="C00000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📌</a:t>
            </a:r>
            <a:r>
              <a:rPr lang="en-US" sz="16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 假设：源语言一个词 ⇋ 目标语言一个词</a:t>
            </a:r>
            <a:endParaRPr lang="en-US" sz="16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i="0" u="none" strike="noStrike">
                <a:solidFill>
                  <a:srgbClr val="C00000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❌ </a:t>
            </a:r>
            <a:r>
              <a:rPr lang="en-US" sz="16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忽略：语境、一词多义、语法结构</a:t>
            </a:r>
            <a:endParaRPr lang="en-US" sz="16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6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MT History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676656" y="896112"/>
            <a:ext cx="1005840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1993年，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Brown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等人，为了解决双语之间词与词对应关系的建模问题，在 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IBM 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统计机器翻译模型中实现了硬对齐。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</a:endParaRPr>
          </a:p>
        </p:txBody>
      </p:sp>
      <p:sp>
        <p:nvSpPr>
          <p:cNvPr id="18" name="AutoShape 16"/>
          <p:cNvSpPr/>
          <p:nvPr/>
        </p:nvSpPr>
        <p:spPr>
          <a:xfrm>
            <a:off x="838200" y="3691255"/>
            <a:ext cx="2054225" cy="5861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</a:pPr>
            <a:r>
              <a:rPr 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03直观示例</a:t>
            </a:r>
            <a:r>
              <a:rPr lang="zh-CN" alt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：</a:t>
            </a:r>
            <a:endParaRPr lang="en-US" sz="20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6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333115" y="4024630"/>
            <a:ext cx="4224020" cy="1438910"/>
            <a:chOff x="7128" y="6338"/>
            <a:chExt cx="6652" cy="2266"/>
          </a:xfrm>
        </p:grpSpPr>
        <p:sp>
          <p:nvSpPr>
            <p:cNvPr id="28" name="TextBox 8"/>
            <p:cNvSpPr txBox="1"/>
            <p:nvPr>
              <p:custDataLst>
                <p:tags r:id="rId3"/>
              </p:custDataLst>
            </p:nvPr>
          </p:nvSpPr>
          <p:spPr>
            <a:xfrm>
              <a:off x="7225" y="6365"/>
              <a:ext cx="4339" cy="70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Noto Sans SC" panose="02020603050405020304" charset="0"/>
                  <a:ea typeface="Noto Sans SC" panose="020B0503020204020204" charset="-122"/>
                  <a:cs typeface="Noto Sans SC" panose="02020603050405020304" charset="0"/>
                  <a:sym typeface="+mn-ea"/>
                </a:rPr>
                <a:t>I  →我</a:t>
              </a:r>
              <a:endParaRPr lang="en-US" sz="2400" b="1">
                <a:solidFill>
                  <a:schemeClr val="tx1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+mn-ea"/>
              </a:endParaRPr>
            </a:p>
            <a:p>
              <a:pPr algn="ctr"/>
              <a:endParaRPr lang="en-US" sz="2400" b="1">
                <a:solidFill>
                  <a:schemeClr val="tx1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endParaRPr>
            </a:p>
          </p:txBody>
        </p:sp>
        <p:sp>
          <p:nvSpPr>
            <p:cNvPr id="29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7128" y="7070"/>
              <a:ext cx="4134" cy="693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Noto Sans SC" panose="02020603050405020304" charset="0"/>
                  <a:ea typeface="Noto Sans SC" panose="020B0503020204020204" charset="-122"/>
                  <a:cs typeface="Noto Sans SC" panose="02020603050405020304" charset="0"/>
                  <a:sym typeface="+mn-ea"/>
                </a:rPr>
                <a:t>love→爱</a:t>
              </a:r>
              <a:endParaRPr lang="en-US" sz="2400" b="1">
                <a:solidFill>
                  <a:schemeClr val="tx1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endParaRPr>
            </a:p>
          </p:txBody>
        </p:sp>
        <p:sp>
          <p:nvSpPr>
            <p:cNvPr id="30" name="TextBox 8"/>
            <p:cNvSpPr txBox="1"/>
            <p:nvPr>
              <p:custDataLst>
                <p:tags r:id="rId5"/>
              </p:custDataLst>
            </p:nvPr>
          </p:nvSpPr>
          <p:spPr>
            <a:xfrm>
              <a:off x="7128" y="7815"/>
              <a:ext cx="4134" cy="78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Noto Sans SC" panose="02020603050405020304" charset="0"/>
                  <a:ea typeface="Noto Sans SC" panose="020B0503020204020204" charset="-122"/>
                  <a:cs typeface="Noto Sans SC" panose="02020603050405020304" charset="0"/>
                  <a:sym typeface="+mn-ea"/>
                </a:rPr>
                <a:t>you→你</a:t>
              </a:r>
              <a:endParaRPr lang="en-US" sz="2400" b="1">
                <a:solidFill>
                  <a:schemeClr val="tx1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endParaRPr>
            </a:p>
          </p:txBody>
        </p:sp>
        <p:sp>
          <p:nvSpPr>
            <p:cNvPr id="33" name="右大括号 32"/>
            <p:cNvSpPr/>
            <p:nvPr/>
          </p:nvSpPr>
          <p:spPr>
            <a:xfrm>
              <a:off x="10476" y="6338"/>
              <a:ext cx="975" cy="2096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1720" y="6935"/>
              <a:ext cx="206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latin typeface="Noto Sans SC" panose="020B0503020204020204" charset="-122"/>
                  <a:ea typeface="Noto Sans SC" panose="020B0503020204020204" charset="-122"/>
                  <a:cs typeface="Noto Sans SC"/>
                </a:rPr>
                <a:t>每个单词独立翻译</a:t>
              </a:r>
              <a:endParaRPr lang="zh-CN" altLang="en-US" sz="2000">
                <a:latin typeface="Noto Sans SC" panose="020B0503020204020204" charset="-122"/>
                <a:ea typeface="Noto Sans SC" panose="020B0503020204020204" charset="-122"/>
                <a:cs typeface="Noto Sans SC"/>
              </a:endParaRPr>
            </a:p>
          </p:txBody>
        </p:sp>
      </p:grpSp>
      <p:sp>
        <p:nvSpPr>
          <p:cNvPr id="22" name="爆炸形 2 21"/>
          <p:cNvSpPr/>
          <p:nvPr/>
        </p:nvSpPr>
        <p:spPr>
          <a:xfrm>
            <a:off x="7160895" y="1066800"/>
            <a:ext cx="5031105" cy="4349750"/>
          </a:xfrm>
          <a:prstGeom prst="irregularSeal2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AutoShape 16"/>
          <p:cNvSpPr/>
          <p:nvPr/>
        </p:nvSpPr>
        <p:spPr>
          <a:xfrm>
            <a:off x="8424545" y="2444115"/>
            <a:ext cx="2503805" cy="1833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但是！</a:t>
            </a:r>
            <a:endParaRPr lang="en-US" altLang="zh-CN" sz="2000" b="1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altLang="zh-CN" sz="20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I go to the bank.</a:t>
            </a:r>
            <a:endParaRPr lang="en-US" altLang="zh-CN" sz="20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zh-CN" altLang="en-US" sz="20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我去银行？</a:t>
            </a:r>
            <a:endParaRPr lang="zh-CN" altLang="en-US" sz="20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zh-CN" altLang="en-US" sz="20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我去河岸？</a:t>
            </a:r>
            <a:endParaRPr lang="zh-CN" altLang="en-US" sz="20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endParaRPr lang="en-US" altLang="zh-CN" sz="20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035050" y="5548630"/>
            <a:ext cx="10021570" cy="384175"/>
            <a:chOff x="1630" y="8496"/>
            <a:chExt cx="15782" cy="605"/>
          </a:xfrm>
        </p:grpSpPr>
        <p:sp>
          <p:nvSpPr>
            <p:cNvPr id="32" name="Rounded Rectangle 33"/>
            <p:cNvSpPr/>
            <p:nvPr/>
          </p:nvSpPr>
          <p:spPr>
            <a:xfrm>
              <a:off x="1630" y="8496"/>
              <a:ext cx="15782" cy="60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029" y="8567"/>
              <a:ext cx="1314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Noto Sans SC"/>
                  <a:ea typeface="Noto Sans SC"/>
                  <a:cs typeface="Noto Sans SC"/>
                </a:rPr>
                <a:t>总结：</a:t>
              </a:r>
              <a:r>
                <a:rPr lang="zh-CN" altLang="en-US">
                  <a:latin typeface="Noto Sans SC"/>
                  <a:ea typeface="Noto Sans SC"/>
                  <a:cs typeface="Noto Sans SC"/>
                  <a:sym typeface="+mn-ea"/>
                </a:rPr>
                <a:t>概念基线：这里讨论“一个词固定对应一个词”，尚未进入 Token ID、Embedding 和神经网络计算。</a:t>
              </a:r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1.5 概念升级：软对齐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AI Model Basics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676656" y="1194562"/>
            <a:ext cx="1005840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+mn-ea"/>
              </a:rPr>
              <a:t>2015，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Bahdanau 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等人，为了解决早期神经机器翻译固定向量信息瓶颈、硬对齐离散匹配的缺陷，在注意力机制中实现了软对齐。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50570" y="1993900"/>
            <a:ext cx="3255645" cy="3605530"/>
            <a:chOff x="1181" y="2311"/>
            <a:chExt cx="5127" cy="3851"/>
          </a:xfrm>
        </p:grpSpPr>
        <p:sp>
          <p:nvSpPr>
            <p:cNvPr id="18" name="Rounded Rectangle 4"/>
            <p:cNvSpPr/>
            <p:nvPr>
              <p:custDataLst>
                <p:tags r:id="rId3"/>
              </p:custDataLst>
            </p:nvPr>
          </p:nvSpPr>
          <p:spPr>
            <a:xfrm>
              <a:off x="1181" y="2311"/>
              <a:ext cx="5127" cy="3851"/>
            </a:xfrm>
            <a:prstGeom prst="roundRect">
              <a:avLst/>
            </a:prstGeom>
            <a:solidFill>
              <a:srgbClr val="EFF6FF"/>
            </a:solidFill>
            <a:ln w="9525">
              <a:solidFill>
                <a:srgbClr val="93C5F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AutoShape 16"/>
            <p:cNvSpPr/>
            <p:nvPr/>
          </p:nvSpPr>
          <p:spPr>
            <a:xfrm>
              <a:off x="1709" y="2420"/>
              <a:ext cx="4210" cy="87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88900" tIns="50800" rIns="88900" bIns="50800" rtlCol="0" anchor="t" anchorCtr="0"/>
            <a:lstStyle/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sz="1600" b="1" i="0" u="none" strike="noStrike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01. </a:t>
              </a:r>
              <a:r>
                <a:rPr lang="en-US" sz="1600" b="1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打破刚性匹配</a:t>
              </a:r>
              <a:br>
                <a:rPr lang="en-US" sz="1600" b="0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endPara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471" y="2896"/>
              <a:ext cx="4714" cy="286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抛弃单词一一映射。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例：翻译 “</a:t>
              </a: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Happy New Year”，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硬绑定：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Happy→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快乐，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New→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新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Year→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年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 eaLnBrk="1" fontAlgn="auto" latinLnBrk="0" hangingPunct="1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软绑定：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457200" algn="l" eaLnBrk="1" fontAlgn="auto" latinLnBrk="0" hangingPunct="1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新年快乐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523105" y="1993900"/>
            <a:ext cx="3255645" cy="3606257"/>
            <a:chOff x="1181" y="2311"/>
            <a:chExt cx="5127" cy="6897"/>
          </a:xfrm>
        </p:grpSpPr>
        <p:sp>
          <p:nvSpPr>
            <p:cNvPr id="23" name="Rounded Rectangle 4"/>
            <p:cNvSpPr/>
            <p:nvPr>
              <p:custDataLst>
                <p:tags r:id="rId4"/>
              </p:custDataLst>
            </p:nvPr>
          </p:nvSpPr>
          <p:spPr>
            <a:xfrm>
              <a:off x="1181" y="2311"/>
              <a:ext cx="5127" cy="6897"/>
            </a:xfrm>
            <a:prstGeom prst="roundRect">
              <a:avLst/>
            </a:prstGeom>
            <a:solidFill>
              <a:srgbClr val="EFF6FF"/>
            </a:solidFill>
            <a:ln w="9525">
              <a:solidFill>
                <a:srgbClr val="93C5F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AutoShape 16"/>
            <p:cNvSpPr/>
            <p:nvPr/>
          </p:nvSpPr>
          <p:spPr>
            <a:xfrm>
              <a:off x="1709" y="2420"/>
              <a:ext cx="4210" cy="87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88900" tIns="50800" rIns="88900" bIns="50800" rtlCol="0" anchor="t" anchorCtr="0"/>
            <a:lstStyle/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sz="1600" b="1" i="0" u="none" strike="noStrike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</a:t>
              </a:r>
              <a:r>
                <a:rPr lang="en-US" sz="1600" b="1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2. </a:t>
              </a:r>
              <a:r>
                <a:rPr lang="zh-CN" altLang="en-US" sz="1600" b="1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动态聚焦</a:t>
              </a:r>
              <a:endParaRPr lang="zh-CN" altLang="en-US" sz="1600" b="1">
                <a:solidFill>
                  <a:srgbClr val="6608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00" y="3344"/>
              <a:ext cx="4627" cy="496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重点参考语义相关的词。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例：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当上下文出现 </a:t>
              </a: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river</a:t>
              </a:r>
              <a:endParaRPr lang="en-US" altLang="zh-CN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bank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大概率</a:t>
              </a: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→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河岸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当上下文出现 </a:t>
              </a: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money</a:t>
              </a:r>
              <a:endParaRPr lang="en-US" altLang="zh-CN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bank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大概率</a:t>
              </a: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→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银行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 eaLnBrk="1" fontAlgn="auto" latinLnBrk="0" hangingPunct="1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461375" y="1916430"/>
            <a:ext cx="3255645" cy="3683069"/>
            <a:chOff x="1181" y="2311"/>
            <a:chExt cx="5127" cy="6785"/>
          </a:xfrm>
        </p:grpSpPr>
        <p:sp>
          <p:nvSpPr>
            <p:cNvPr id="29" name="Rounded Rectangle 4"/>
            <p:cNvSpPr/>
            <p:nvPr>
              <p:custDataLst>
                <p:tags r:id="rId5"/>
              </p:custDataLst>
            </p:nvPr>
          </p:nvSpPr>
          <p:spPr>
            <a:xfrm>
              <a:off x="1181" y="2311"/>
              <a:ext cx="5127" cy="6785"/>
            </a:xfrm>
            <a:prstGeom prst="roundRect">
              <a:avLst/>
            </a:prstGeom>
            <a:solidFill>
              <a:srgbClr val="EFF6FF"/>
            </a:solidFill>
            <a:ln w="9525">
              <a:solidFill>
                <a:srgbClr val="93C5F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AutoShape 16"/>
            <p:cNvSpPr/>
            <p:nvPr/>
          </p:nvSpPr>
          <p:spPr>
            <a:xfrm>
              <a:off x="1709" y="2420"/>
              <a:ext cx="4210" cy="87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88900" tIns="50800" rIns="88900" bIns="50800" rtlCol="0" anchor="t" anchorCtr="0"/>
            <a:lstStyle/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sz="1600" b="1" i="0" u="none" strike="noStrike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</a:t>
              </a:r>
              <a:r>
                <a:rPr lang="en-US" sz="1600" b="1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3. </a:t>
              </a:r>
              <a:r>
                <a:rPr lang="zh-CN" altLang="en-US" sz="1600" b="1">
                  <a:solidFill>
                    <a:srgbClr val="660874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衡量关联度</a:t>
              </a:r>
              <a:endParaRPr lang="zh-CN" altLang="en-US" sz="1600" b="1">
                <a:solidFill>
                  <a:srgbClr val="6608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582" y="3344"/>
              <a:ext cx="4627" cy="448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利用注意力分数分数衡量源词的贡献值。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例：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river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分数 0.85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money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分数 0.02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bank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大概率</a:t>
              </a:r>
              <a:r>
                <a:rPr lang="en-US" altLang="zh-CN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→</a:t>
              </a:r>
              <a:r>
                <a:rPr lang="zh-CN" altLang="en-US" sz="1600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河岸</a:t>
              </a: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457200" algn="l">
                <a:lnSpc>
                  <a:spcPct val="125000"/>
                </a:lnSpc>
                <a:defRPr>
                  <a:latin typeface="Noto Sans SC"/>
                  <a:ea typeface="Noto Sans SC"/>
                  <a:cs typeface="Noto Sans SC"/>
                </a:defRPr>
              </a:pPr>
              <a:endParaRPr lang="zh-CN" altLang="en-US" sz="16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9712325" y="4396105"/>
            <a:ext cx="34353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Noto Sans SC" panose="020F0502020204030204" charset="0"/>
                <a:cs typeface="Noto Sans SC" panose="020F0502020204030204" charset="0"/>
                <a:ea typeface="Noto Sans SC"/>
              </a:rPr>
              <a:t>↓</a:t>
            </a:r>
            <a:endParaRPr lang="zh-CN" altLang="en-US">
              <a:latin typeface="Noto Sans SC" panose="020F0502020204030204" charset="0"/>
              <a:cs typeface="Noto Sans SC" panose="020F0502020204030204" charset="0"/>
              <a:ea typeface="Noto Sans SC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6112" y="5760720"/>
            <a:ext cx="10405872" cy="493776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0432" y="5870448"/>
            <a:ext cx="98572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5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实现顺序：文字 → Token ID → Embedding + 位置 → 上下文表示 → Attention 软权重。</a:t>
            </a:r>
            <a:endParaRPr sz="135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9875520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1.6 从“软对齐思想”到 Transformer 实现</a:t>
            </a:r>
            <a:endParaRPr sz="29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6984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软对齐描述的是动态分配关注比例；真正计算前，文字必须先变成向量表示。</a:t>
            </a:r>
            <a:endParaRPr sz="14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Concept → Implementation  ·  07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0352" y="1481328"/>
            <a:ext cx="2834640" cy="4315968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55648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概念层：解释为什么</a:t>
            </a:r>
            <a:endParaRPr sz="18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77824" y="2395728"/>
            <a:ext cx="2139696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42032"/>
            <a:ext cx="74980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硬对齐</a:t>
            </a:r>
            <a:endParaRPr sz="16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834640"/>
            <a:ext cx="1682496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一个词固定对应一个词</a:t>
            </a:r>
            <a:endParaRPr sz="1250" b="0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2066543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↓ 无法处理语境与一词多义</a:t>
            </a:r>
            <a:endParaRPr sz="13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77824" y="4005072"/>
            <a:ext cx="2139696" cy="969264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160520"/>
            <a:ext cx="74980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软对齐</a:t>
            </a:r>
            <a:endParaRPr sz="16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1870" y="4453255"/>
            <a:ext cx="1892935" cy="384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根据上下文动态分配关注比例</a:t>
            </a:r>
            <a:endParaRPr sz="1250" b="0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" y="5340096"/>
            <a:ext cx="202996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概念层不展开向量化计算</a:t>
            </a:r>
            <a:endParaRPr sz="125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93008" y="3246120"/>
            <a:ext cx="1152144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进入实现 →</a:t>
            </a:r>
            <a:endParaRPr sz="170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63440" y="1481328"/>
            <a:ext cx="6967728" cy="431596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1755648"/>
            <a:ext cx="634593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实现层：数据怎样真正计算</a:t>
            </a:r>
            <a:endParaRPr sz="18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82896" y="2505456"/>
            <a:ext cx="93268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2688336"/>
            <a:ext cx="7863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文字</a:t>
            </a:r>
            <a:endParaRPr sz="125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46904" y="3346704"/>
            <a:ext cx="8046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bank river</a:t>
            </a:r>
            <a:endParaRPr sz="115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15583" y="2999232"/>
            <a:ext cx="1645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15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80176" y="2505456"/>
            <a:ext cx="93268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2688336"/>
            <a:ext cx="7863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1E8E94"/>
                </a:solidFill>
                <a:latin typeface="Noto Sans SC" panose="020B0604020202020204"/>
                <a:ea typeface="Noto Sans SC"/>
                <a:cs typeface="Noto Sans SC"/>
              </a:rPr>
              <a:t>Token ID</a:t>
            </a:r>
            <a:endParaRPr sz="1250" b="1">
              <a:solidFill>
                <a:srgbClr val="1E8E94"/>
              </a:solidFill>
              <a:latin typeface="Noto Sans SC" panose="020B0604020202020204"/>
              <a:ea typeface="Noto Sans SC"/>
              <a:cs typeface="Noto Sans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44184" y="3346704"/>
            <a:ext cx="8046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72033"/>
                </a:solidFill>
                <a:latin typeface="Noto Sans SC" panose="02070309020205020404"/>
                <a:ea typeface="Noto Sans SC"/>
                <a:cs typeface="Noto Sans SC"/>
              </a:rPr>
              <a:t>[4, 8]</a:t>
            </a:r>
            <a:endParaRPr sz="1150" b="1">
              <a:solidFill>
                <a:srgbClr val="172033"/>
              </a:solidFill>
              <a:latin typeface="Noto Sans SC" panose="02070309020205020404"/>
              <a:ea typeface="Noto Sans SC"/>
              <a:cs typeface="Noto Sans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12864" y="2999232"/>
            <a:ext cx="1645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15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077456" y="2505456"/>
            <a:ext cx="93268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2688336"/>
            <a:ext cx="7863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Embedding
+ 位置</a:t>
            </a:r>
            <a:endParaRPr sz="125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41464" y="3346704"/>
            <a:ext cx="8046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向量特征</a:t>
            </a:r>
            <a:endParaRPr sz="115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10144" y="2999232"/>
            <a:ext cx="1645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15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74736" y="2505456"/>
            <a:ext cx="93268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688336"/>
            <a:ext cx="7863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275DAD"/>
                </a:solidFill>
                <a:latin typeface="Noto Sans SC" panose="020B0604020202020204"/>
                <a:ea typeface="Noto Sans SC"/>
                <a:cs typeface="Noto Sans SC"/>
              </a:rPr>
              <a:t>Encoder</a:t>
            </a:r>
            <a:endParaRPr sz="1250" b="1">
              <a:solidFill>
                <a:srgbClr val="275DAD"/>
              </a:solidFill>
              <a:latin typeface="Noto Sans SC" panose="020B0604020202020204"/>
              <a:ea typeface="Noto Sans SC"/>
              <a:cs typeface="Noto Sans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38744" y="3346704"/>
            <a:ext cx="8046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上下文表示</a:t>
            </a:r>
            <a:endParaRPr sz="115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07424" y="2999232"/>
            <a:ext cx="1645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15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272016" y="2505456"/>
            <a:ext cx="93268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2688336"/>
            <a:ext cx="7863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369659"/>
                </a:solidFill>
                <a:latin typeface="Noto Sans SC" panose="020B0604020202020204"/>
                <a:ea typeface="Noto Sans SC"/>
                <a:cs typeface="Noto Sans SC"/>
              </a:rPr>
              <a:t>Attention</a:t>
            </a:r>
            <a:endParaRPr sz="1250" b="1">
              <a:solidFill>
                <a:srgbClr val="369659"/>
              </a:solidFill>
              <a:latin typeface="Noto Sans SC" panose="020B0604020202020204"/>
              <a:ea typeface="Noto Sans SC"/>
              <a:cs typeface="Noto Sans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336024" y="3346704"/>
            <a:ext cx="8046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软权重</a:t>
            </a:r>
            <a:endParaRPr sz="115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04704" y="2999232"/>
            <a:ext cx="1645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15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0369296" y="2505456"/>
            <a:ext cx="93268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42448" y="2688336"/>
            <a:ext cx="786384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660874"/>
                </a:solidFill>
                <a:latin typeface="Noto Sans SC" panose="020B0604020202020204"/>
                <a:ea typeface="Noto Sans SC"/>
                <a:cs typeface="Noto Sans SC"/>
              </a:rPr>
              <a:t>Context</a:t>
            </a:r>
            <a:endParaRPr sz="1250" b="1">
              <a:solidFill>
                <a:srgbClr val="660874"/>
              </a:solidFill>
              <a:latin typeface="Noto Sans SC" panose="020B0604020202020204"/>
              <a:ea typeface="Noto Sans SC"/>
              <a:cs typeface="Noto Sans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433304" y="3346704"/>
            <a:ext cx="804672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加权信息</a:t>
            </a:r>
            <a:endParaRPr sz="115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956175" y="4407535"/>
            <a:ext cx="6675120" cy="768350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74844" y="4680141"/>
            <a:ext cx="6762750" cy="22288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Embedding 在 Attention 之前；Attention 比较的是向量表示，不是文字本身。</a:t>
            </a:r>
            <a:endParaRPr sz="145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901952" y="6044184"/>
            <a:ext cx="83941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后续第 2 部分讲“怎样得到向量”，第 3 部分讲“怎样用向量计算 Attention”。</a:t>
            </a:r>
            <a:endParaRPr sz="14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2  文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本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处理</a:t>
            </a:r>
            <a:endParaRPr lang="zh-CN" altLang="en-US" sz="3200" b="1" i="0" u="none" strike="noStrike">
              <a:solidFill>
                <a:srgbClr val="000000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3410" y="1666240"/>
            <a:ext cx="4909185" cy="21037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8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1. 神经网络的“语言”：</a:t>
            </a:r>
            <a:endParaRPr lang="en-US" sz="18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45720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神经网络只能处理数字张量，不能直接识别文字。</a:t>
            </a:r>
            <a:endParaRPr lang="en-US" sz="150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8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2. 词表（Vocabulary）：</a:t>
            </a:r>
            <a:endParaRPr lang="en-US" sz="18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45720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词表</a:t>
            </a:r>
            <a:r>
              <a:rPr 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：给每个词汇分配唯一整数 ID</a:t>
            </a:r>
            <a:endParaRPr lang="en-US" sz="150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黑体" panose="02010609060101010101" charset="-122"/>
            </a:endParaRPr>
          </a:p>
          <a:p>
            <a:pPr marL="0" indent="45720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Tokenization（分词）</a:t>
            </a:r>
            <a:r>
              <a:rPr 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：建立文字到数字的映射。</a:t>
            </a:r>
            <a:endParaRPr lang="en-US" sz="150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8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3. 核心特殊Token：</a:t>
            </a:r>
            <a:endParaRPr lang="en-US" sz="18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NLP Basic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723646" y="1120267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</a:rPr>
              <a:t>神经网络不能直接看懂文字，先要把文本转换成数字，才能送入模型计算。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2632075" y="3897630"/>
          <a:ext cx="7118985" cy="1879600"/>
        </p:xfrm>
        <a:graphic>
          <a:graphicData uri="http://schemas.openxmlformats.org/drawingml/2006/table">
            <a:tbl>
              <a:tblPr/>
              <a:tblGrid>
                <a:gridCol w="1636395"/>
                <a:gridCol w="975995"/>
                <a:gridCol w="4506595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Token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符号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对应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ID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核心功能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&lt;pad&gt;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0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填充短文本，统一输入序列长度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&lt;sos&gt; /&lt;bos&gt;</a:t>
                      </a:r>
                      <a:endParaRPr lang="zh-CN" altLang="en-US" sz="1800">
                        <a:ea typeface="Noto Sans SC" panose="02010600030101010101" pitchFamily="2" charset="-122"/>
                        <a:latin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标记序列起始位置，提示模型开始生成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&lt;eos&gt;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标记序列结束位置，提示模型停止生成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&lt;unk&gt;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代表词表中未收录的生僻词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/ OOV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词汇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6" name="组合 55"/>
          <p:cNvGrpSpPr/>
          <p:nvPr/>
        </p:nvGrpSpPr>
        <p:grpSpPr>
          <a:xfrm>
            <a:off x="1035050" y="5975985"/>
            <a:ext cx="10021570" cy="384175"/>
            <a:chOff x="1630" y="8496"/>
            <a:chExt cx="15782" cy="605"/>
          </a:xfrm>
        </p:grpSpPr>
        <p:sp>
          <p:nvSpPr>
            <p:cNvPr id="35" name="Rounded Rectangle 33"/>
            <p:cNvSpPr/>
            <p:nvPr/>
          </p:nvSpPr>
          <p:spPr>
            <a:xfrm>
              <a:off x="1630" y="8496"/>
              <a:ext cx="15782" cy="60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737" y="8567"/>
              <a:ext cx="1172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latin typeface="Noto Sans SC"/>
                  <a:ea typeface="Noto Sans SC"/>
                  <a:cs typeface="Noto Sans SC"/>
                </a:rPr>
                <a:t>核心：通过词表与分词，把文字转为整数 </a:t>
              </a:r>
              <a:r>
                <a:rPr lang="en-US" altLang="zh-CN">
                  <a:latin typeface="Noto Sans SC"/>
                  <a:ea typeface="Noto Sans SC"/>
                  <a:cs typeface="Noto Sans SC"/>
                </a:rPr>
                <a:t>ID；</a:t>
              </a:r>
              <a:r>
                <a:rPr lang="zh-CN" altLang="en-US">
                  <a:latin typeface="Noto Sans SC"/>
                  <a:ea typeface="Noto Sans SC"/>
                  <a:cs typeface="Noto Sans SC"/>
                </a:rPr>
                <a:t>特殊 </a:t>
              </a:r>
              <a:r>
                <a:rPr lang="en-US" altLang="zh-CN">
                  <a:latin typeface="Noto Sans SC"/>
                  <a:ea typeface="Noto Sans SC"/>
                  <a:cs typeface="Noto Sans SC"/>
                </a:rPr>
                <a:t>Token </a:t>
              </a:r>
              <a:r>
                <a:rPr lang="zh-CN" altLang="en-US">
                  <a:latin typeface="Noto Sans SC"/>
                  <a:ea typeface="Noto Sans SC"/>
                  <a:cs typeface="Noto Sans SC"/>
                </a:rPr>
                <a:t>用来处理序列边界、填充与未知词。</a:t>
              </a:r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</p:grpSp>
      <p:graphicFrame>
        <p:nvGraphicFramePr>
          <p:cNvPr id="18" name="表格 17"/>
          <p:cNvGraphicFramePr/>
          <p:nvPr/>
        </p:nvGraphicFramePr>
        <p:xfrm>
          <a:off x="6813550" y="1892300"/>
          <a:ext cx="2635250" cy="1882770"/>
        </p:xfrm>
        <a:graphic>
          <a:graphicData uri="http://schemas.openxmlformats.org/drawingml/2006/table">
            <a:tbl>
              <a:tblPr/>
              <a:tblGrid>
                <a:gridCol w="1424305"/>
                <a:gridCol w="1210945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Token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文本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ID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整数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我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101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爱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102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编程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103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104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右箭头 19"/>
          <p:cNvSpPr/>
          <p:nvPr/>
        </p:nvSpPr>
        <p:spPr>
          <a:xfrm>
            <a:off x="5791835" y="2730500"/>
            <a:ext cx="824865" cy="3111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2150745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3.1</a:t>
            </a:r>
            <a:r>
              <a:rPr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 </a:t>
            </a:r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位置编码</a:t>
            </a:r>
            <a:endParaRPr lang="zh-CN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6984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词相同但顺序不同，句子意思可能完全相反。</a:t>
            </a:r>
            <a:endParaRPr sz="14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Position  ·  10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303520" cy="4133087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29968"/>
            <a:ext cx="4462272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猫　追　狗</a:t>
            </a:r>
            <a:endParaRPr sz="28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05840" y="2907792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026664"/>
            <a:ext cx="103327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位置 0</a:t>
            </a:r>
            <a:endParaRPr sz="14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87168" y="2907792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3026664"/>
            <a:ext cx="103327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位置 1</a:t>
            </a:r>
            <a:endParaRPr sz="14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968496" y="2907792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3026664"/>
            <a:ext cx="103327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位置 2</a:t>
            </a:r>
            <a:endParaRPr sz="14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4315968"/>
            <a:ext cx="4315968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意思：猫在追狗</a:t>
            </a:r>
            <a:endParaRPr sz="18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6208" y="1572768"/>
            <a:ext cx="5303520" cy="4133087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029968"/>
            <a:ext cx="4462272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狗　追　猫</a:t>
            </a:r>
            <a:endParaRPr sz="28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0" y="2907792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3026664"/>
            <a:ext cx="103327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位置 0</a:t>
            </a:r>
            <a:endParaRPr sz="14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5008" y="2907792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3026664"/>
            <a:ext cx="103327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位置 1</a:t>
            </a:r>
            <a:endParaRPr sz="14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46336" y="2907792"/>
            <a:ext cx="11430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026664"/>
            <a:ext cx="103327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位置 2</a:t>
            </a:r>
            <a:endParaRPr sz="14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4315968"/>
            <a:ext cx="4315968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意思：狗在追猫</a:t>
            </a:r>
            <a:endParaRPr sz="18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05840" y="5925312"/>
            <a:ext cx="10149840" cy="475488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6025896"/>
            <a:ext cx="96012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位置编码不改变词本身，而是补充“它排在第几个”的信息。</a:t>
            </a:r>
            <a:endParaRPr sz="155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3.2 位置编码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25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2026 NLP Model Series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723646" y="1120267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Attention机制通过并行计算提升了效率，但它本身无法感知词在句子中的先后顺序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096010" y="1854835"/>
            <a:ext cx="1718310" cy="905510"/>
            <a:chOff x="3065" y="2790"/>
            <a:chExt cx="2706" cy="1426"/>
          </a:xfrm>
        </p:grpSpPr>
        <p:sp>
          <p:nvSpPr>
            <p:cNvPr id="17" name="圆角矩形 16"/>
            <p:cNvSpPr/>
            <p:nvPr/>
          </p:nvSpPr>
          <p:spPr>
            <a:xfrm>
              <a:off x="3065" y="2790"/>
              <a:ext cx="2706" cy="1427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273" y="2838"/>
              <a:ext cx="235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>
                  <a:latin typeface="Noto Sans SC" panose="020B0503020204020204" charset="-122"/>
                  <a:ea typeface="Noto Sans SC" panose="020B0503020204020204" charset="-122"/>
                  <a:cs typeface="Noto Sans SC" panose="020B0503020204020204" charset="-122"/>
                </a:rPr>
                <a:t>词向量(语义)</a:t>
              </a:r>
              <a:endParaRPr lang="zh-CN" altLang="en-US" sz="2400"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498975" y="1900555"/>
            <a:ext cx="2322195" cy="906145"/>
            <a:chOff x="3065" y="2790"/>
            <a:chExt cx="2706" cy="1427"/>
          </a:xfrm>
        </p:grpSpPr>
        <p:sp>
          <p:nvSpPr>
            <p:cNvPr id="33" name="圆角矩形 32"/>
            <p:cNvSpPr/>
            <p:nvPr/>
          </p:nvSpPr>
          <p:spPr>
            <a:xfrm>
              <a:off x="3065" y="2790"/>
              <a:ext cx="2706" cy="1427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273" y="2838"/>
              <a:ext cx="235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>
                  <a:latin typeface="Noto Sans SC" panose="020B0503020204020204" charset="-122"/>
                  <a:ea typeface="Noto Sans SC" panose="020B0503020204020204" charset="-122"/>
                  <a:cs typeface="Noto Sans SC" panose="020B0503020204020204" charset="-122"/>
                </a:rPr>
                <a:t>位置编码向量(顺序信息)</a:t>
              </a:r>
              <a:endParaRPr lang="zh-CN" altLang="en-US" sz="2400"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endParaRPr>
            </a:p>
          </p:txBody>
        </p:sp>
      </p:grpSp>
      <p:sp>
        <p:nvSpPr>
          <p:cNvPr id="35" name="加号 34"/>
          <p:cNvSpPr/>
          <p:nvPr/>
        </p:nvSpPr>
        <p:spPr>
          <a:xfrm>
            <a:off x="3211830" y="2007870"/>
            <a:ext cx="796925" cy="580390"/>
          </a:xfrm>
          <a:prstGeom prst="mathPlu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右箭头 35"/>
          <p:cNvSpPr/>
          <p:nvPr/>
        </p:nvSpPr>
        <p:spPr>
          <a:xfrm>
            <a:off x="7257415" y="2166620"/>
            <a:ext cx="666115" cy="262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312785" y="1854835"/>
            <a:ext cx="1800431" cy="936625"/>
            <a:chOff x="3065" y="2790"/>
            <a:chExt cx="2098" cy="1475"/>
          </a:xfrm>
        </p:grpSpPr>
        <p:sp>
          <p:nvSpPr>
            <p:cNvPr id="38" name="圆角矩形 37"/>
            <p:cNvSpPr/>
            <p:nvPr/>
          </p:nvSpPr>
          <p:spPr>
            <a:xfrm>
              <a:off x="3065" y="2790"/>
              <a:ext cx="2067" cy="1475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120" y="3105"/>
              <a:ext cx="204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>
                  <a:latin typeface="Noto Sans SC" panose="020B0503020204020204" charset="-122"/>
                  <a:ea typeface="Noto Sans SC" panose="020B0503020204020204" charset="-122"/>
                  <a:cs typeface="Noto Sans SC" panose="020B0503020204020204" charset="-122"/>
                </a:rPr>
                <a:t>输入向量</a:t>
              </a:r>
              <a:endParaRPr lang="zh-CN" altLang="en-US" sz="2400">
                <a:latin typeface="Noto Sans SC" panose="020B0503020204020204" charset="-122"/>
                <a:ea typeface="Noto Sans SC" panose="020B0503020204020204" charset="-122"/>
                <a:cs typeface="Noto Sans SC" panose="020B0503020204020204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1145476" y="4165854"/>
                <a:ext cx="2970530" cy="46863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𝑃𝐸</m:t>
                          </m:r>
                        </m:e>
                        <m:sub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（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𝑝𝑜𝑠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,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2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𝑖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)</m:t>
                          </m:r>
                        </m:sub>
                      </m:sSub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=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𝑠𝑖𝑛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(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𝑝𝑜𝑠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∙</m:t>
                      </m:r>
                      <m:sSup>
                        <m:sSupPr>
                          <m:ctrlP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10000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𝑖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  <m:t>𝑚𝑜𝑑𝑒𝑙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)</m:t>
                      </m:r>
                    </m:oMath>
                  </m:oMathPara>
                </a14:m>
                <a:endParaRPr lang="en-US" altLang="zh-CN">
                  <a:latin typeface="Noto Sans SC"/>
                  <a:ea typeface="Noto Sans SC"/>
                  <a:cs typeface="Noto Sans SC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476" y="4165854"/>
                <a:ext cx="2970530" cy="468630"/>
              </a:xfrm>
              <a:prstGeom prst="rect">
                <a:avLst/>
              </a:prstGeom>
              <a:blipFill rotWithShape="1">
                <a:blip r:embed="rId3"/>
                <a:stretch>
                  <a:fillRect l="-19" t="-54" r="19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  <a:latin typeface="Noto Sans SC"/>
                    <a:ea typeface="Noto Sans SC"/>
                    <a:cs typeface="Noto Sans SC"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/>
              <p:cNvSpPr txBox="1"/>
              <p:nvPr/>
            </p:nvSpPr>
            <p:spPr>
              <a:xfrm>
                <a:off x="6054026" y="4165854"/>
                <a:ext cx="3072130" cy="4521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𝑃𝐸</m:t>
                          </m:r>
                        </m:e>
                        <m:sub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（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𝑝𝑜𝑠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,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2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𝑖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+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1</m:t>
                          </m:r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)</m:t>
                          </m:r>
                        </m:sub>
                      </m:sSub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=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𝑐𝑜𝑠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(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𝑝𝑜𝑠</m:t>
                      </m:r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∙</m:t>
                      </m:r>
                      <m:sSup>
                        <m:sSupPr>
                          <m:ctrlP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10000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𝑖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  <m:t>𝑚𝑜𝑑𝑒𝑙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altLang="zh-CN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)</m:t>
                      </m:r>
                    </m:oMath>
                  </m:oMathPara>
                </a14:m>
                <a:endParaRPr lang="en-US" altLang="zh-CN">
                  <a:latin typeface="Noto Sans SC"/>
                  <a:ea typeface="Noto Sans SC"/>
                  <a:cs typeface="Noto Sans SC"/>
                </a:endParaRPr>
              </a:p>
            </p:txBody>
          </p:sp>
        </mc:Choice>
        <mc:Fallback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026" y="4165854"/>
                <a:ext cx="3072130" cy="452120"/>
              </a:xfrm>
              <a:prstGeom prst="rect">
                <a:avLst/>
              </a:prstGeom>
              <a:blipFill rotWithShape="1">
                <a:blip r:embed="rId4"/>
                <a:stretch>
                  <a:fillRect l="-19" t="-56" r="19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  <a:latin typeface="Noto Sans SC"/>
                    <a:ea typeface="Noto Sans SC"/>
                    <a:cs typeface="Noto Sans SC"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/>
        </p:nvSpPr>
        <p:spPr>
          <a:xfrm>
            <a:off x="723900" y="3460115"/>
            <a:ext cx="2247900" cy="459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eaLnBrk="1" fontAlgn="auto" latinLnBrk="0" hangingPunct="1">
              <a:lnSpc>
                <a:spcPct val="133000"/>
              </a:lnSpc>
            </a:pPr>
            <a:r>
              <a:rPr lang="zh-CN" altLang="en-US" sz="1800" b="1">
                <a:solidFill>
                  <a:srgbClr val="6608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正弦位置编码公式</a:t>
            </a:r>
            <a:endParaRPr lang="zh-CN" altLang="en-US" sz="1800" b="1">
              <a:solidFill>
                <a:srgbClr val="66087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/>
              <p:cNvSpPr txBox="1"/>
              <p:nvPr/>
            </p:nvSpPr>
            <p:spPr>
              <a:xfrm>
                <a:off x="1145540" y="4791075"/>
                <a:ext cx="7048500" cy="8737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（</a:t>
                </a:r>
                <a:r>
                  <a:rPr lang="en-US" altLang="zh-CN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1</a:t>
                </a:r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）</a:t>
                </a:r>
                <a:r>
                  <a:rPr lang="en-US" altLang="zh-CN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pos</a:t>
                </a:r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：单词在句子中的位置，从 </a:t>
                </a:r>
                <a:r>
                  <a:rPr lang="en-US" altLang="zh-CN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0 </a:t>
                </a:r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开始</a:t>
                </a:r>
                <a:endParaRPr lang="zh-CN" altLang="en-US">
                  <a:latin typeface="Noto Sans SC" panose="02020603050405020304" charset="0"/>
                  <a:ea typeface="Noto Sans SC" panose="02010600030101010101" pitchFamily="2" charset="-122"/>
                  <a:cs typeface="Noto Sans SC" panose="02020603050405020304" charset="0"/>
                  <a:sym typeface="+mn-ea"/>
                </a:endParaRPr>
              </a:p>
              <a:p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（</a:t>
                </a:r>
                <a:r>
                  <a:rPr lang="en-US" altLang="zh-CN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2</a:t>
                </a:r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）</a:t>
                </a:r>
                <a:r>
                  <a:rPr lang="en-US" altLang="zh-CN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i</a:t>
                </a:r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：维度下标，</a:t>
                </a:r>
                <a:r>
                  <a:rPr lang="en-US" altLang="zh-CN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i=0,1,2...</a:t>
                </a:r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，对应向量的维度</a:t>
                </a:r>
                <a:endParaRPr lang="zh-CN" altLang="en-US">
                  <a:latin typeface="Noto Sans SC"/>
                  <a:ea typeface="Noto Sans SC"/>
                  <a:cs typeface="Noto Sans SC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  <m:t>（</m:t>
                        </m:r>
                        <m:r>
                          <a:rPr lang="en-US" altLang="zh-CN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  <m:t>3</m:t>
                        </m:r>
                        <m:r>
                          <a:rPr lang="en-US" altLang="zh-CN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  <m:t>）</m:t>
                        </m:r>
                        <m:r>
                          <a:rPr lang="en-US" altLang="zh-CN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  <m:t>𝑑</m:t>
                        </m:r>
                      </m:e>
                      <m:sub>
                        <m:r>
                          <a:rPr lang="en-US" altLang="zh-CN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：</a:t>
                </a:r>
                <a:r>
                  <a:rPr lang="en-US" altLang="zh-CN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Embedding </a:t>
                </a:r>
                <a:r>
                  <a:rPr lang="zh-CN" altLang="en-US">
                    <a:latin typeface="Noto Sans SC" panose="02020603050405020304" charset="0"/>
                    <a:ea typeface="Noto Sans SC" panose="02010600030101010101" pitchFamily="2" charset="-122"/>
                    <a:cs typeface="Noto Sans SC" panose="02020603050405020304" charset="0"/>
                    <a:sym typeface="+mn-ea"/>
                  </a:rPr>
                  <a:t>向量维度</a:t>
                </a:r>
                <a:endParaRPr lang="zh-CN" altLang="en-US" b="0">
                  <a:solidFill>
                    <a:srgbClr val="000000"/>
                  </a:solidFill>
                  <a:latin typeface="Noto Sans SC" panose="02020603050405020304" charset="0"/>
                  <a:ea typeface="Noto Sans SC" panose="02010600030101010101" pitchFamily="2" charset="-122"/>
                  <a:cs typeface="Noto Sans SC" panose="02020603050405020304" charset="0"/>
                </a:endParaRPr>
              </a:p>
              <a:p>
                <a:endParaRPr lang="zh-CN" altLang="en-US" b="0">
                  <a:solidFill>
                    <a:srgbClr val="000000"/>
                  </a:solidFill>
                  <a:latin typeface="Noto Sans SC" panose="02020603050405020304" charset="0"/>
                  <a:ea typeface="Noto Sans SC" panose="02010600030101010101" pitchFamily="2" charset="-122"/>
                  <a:cs typeface="Noto Sans SC" panose="02020603050405020304" charset="0"/>
                </a:endParaRPr>
              </a:p>
              <a:p>
                <a:endParaRPr lang="zh-CN" altLang="en-US" b="0">
                  <a:solidFill>
                    <a:srgbClr val="000000"/>
                  </a:solidFill>
                  <a:latin typeface="Noto Sans SC" panose="02020603050405020304" charset="0"/>
                  <a:ea typeface="Noto Sans SC" panose="02010600030101010101" pitchFamily="2" charset="-122"/>
                  <a:cs typeface="Noto Sans SC" panose="02020603050405020304" charset="0"/>
                </a:endParaRPr>
              </a:p>
              <a:p>
                <a:endParaRPr lang="zh-CN" altLang="en-US">
                  <a:latin typeface="Noto Sans SC"/>
                  <a:ea typeface="Noto Sans SC"/>
                  <a:cs typeface="Noto Sans SC"/>
                </a:endParaRPr>
              </a:p>
            </p:txBody>
          </p:sp>
        </mc:Choice>
        <mc:Fallback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540" y="4791075"/>
                <a:ext cx="7048500" cy="873760"/>
              </a:xfrm>
              <a:prstGeom prst="rect">
                <a:avLst/>
              </a:prstGeom>
              <a:blipFill rotWithShape="1">
                <a:blip r:embed="rId5"/>
                <a:stretch>
                  <a:fillRect b="-51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  <a:latin typeface="Noto Sans SC"/>
                    <a:ea typeface="Noto Sans SC"/>
                    <a:cs typeface="Noto Sans SC"/>
                  </a:rPr>
                  <a:t> </a:t>
                </a:r>
              </a:p>
            </p:txBody>
          </p:sp>
        </mc:Fallback>
      </mc:AlternateContent>
      <p:grpSp>
        <p:nvGrpSpPr>
          <p:cNvPr id="56" name="组合 55"/>
          <p:cNvGrpSpPr/>
          <p:nvPr/>
        </p:nvGrpSpPr>
        <p:grpSpPr>
          <a:xfrm>
            <a:off x="1145540" y="5664835"/>
            <a:ext cx="10021570" cy="384175"/>
            <a:chOff x="1630" y="8496"/>
            <a:chExt cx="15782" cy="605"/>
          </a:xfrm>
        </p:grpSpPr>
        <p:sp>
          <p:nvSpPr>
            <p:cNvPr id="47" name="Rounded Rectangle 33"/>
            <p:cNvSpPr/>
            <p:nvPr/>
          </p:nvSpPr>
          <p:spPr>
            <a:xfrm>
              <a:off x="1630" y="8496"/>
              <a:ext cx="15782" cy="60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737" y="8567"/>
              <a:ext cx="1172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Noto Sans SC"/>
                  <a:ea typeface="Noto Sans SC"/>
                  <a:cs typeface="Noto Sans SC"/>
                </a:rPr>
                <a:t>核心：位置编码解决 </a:t>
              </a:r>
              <a:r>
                <a:rPr lang="en-US" altLang="zh-CN">
                  <a:latin typeface="Noto Sans SC"/>
                  <a:ea typeface="Noto Sans SC"/>
                  <a:cs typeface="Noto Sans SC"/>
                </a:rPr>
                <a:t>Attention </a:t>
              </a:r>
              <a:r>
                <a:rPr lang="zh-CN" altLang="en-US">
                  <a:latin typeface="Noto Sans SC"/>
                  <a:ea typeface="Noto Sans SC"/>
                  <a:cs typeface="Noto Sans SC"/>
                </a:rPr>
                <a:t>丢失词序问题，采用向量加法融合语义与位置信息。</a:t>
              </a:r>
              <a:endParaRPr lang="zh-CN" altLang="en-US">
                <a:latin typeface="Noto Sans SC"/>
                <a:ea typeface="Noto Sans SC"/>
                <a:cs typeface="Noto Sans SC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3.3 位置编码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25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2026 NLP Model Series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843530" y="195580"/>
            <a:ext cx="2247900" cy="459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eaLnBrk="1" fontAlgn="auto" latinLnBrk="0" hangingPunct="1">
              <a:lnSpc>
                <a:spcPct val="133000"/>
              </a:lnSpc>
            </a:pPr>
            <a:r>
              <a:rPr lang="zh-CN" altLang="en-US" sz="1800" b="1">
                <a:solidFill>
                  <a:srgbClr val="6608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典型例子</a:t>
            </a:r>
            <a:endParaRPr lang="zh-CN" altLang="en-US" sz="1800" b="1">
              <a:solidFill>
                <a:srgbClr val="66087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904240" y="1197610"/>
          <a:ext cx="2622550" cy="1503680"/>
        </p:xfrm>
        <a:graphic>
          <a:graphicData uri="http://schemas.openxmlformats.org/drawingml/2006/table">
            <a:tbl>
              <a:tblPr/>
              <a:tblGrid>
                <a:gridCol w="821690"/>
                <a:gridCol w="1800860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词语</a:t>
                      </a:r>
                      <a:endParaRPr lang="zh-CN" altLang="en-US" sz="1800" b="1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pos</a:t>
                      </a:r>
                      <a:r>
                        <a:rPr lang="zh-CN" altLang="en-US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（单词位置）</a:t>
                      </a:r>
                      <a:endParaRPr lang="zh-CN" altLang="en-US" sz="1800" b="1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我</a:t>
                      </a:r>
                      <a:endParaRPr lang="zh-CN" altLang="en-US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pos = 0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爱</a:t>
                      </a:r>
                      <a:endParaRPr lang="zh-CN" altLang="en-US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pos = 1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你</a:t>
                      </a:r>
                      <a:endParaRPr lang="zh-CN" altLang="en-US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pos = 2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AutoShape 16"/>
          <p:cNvSpPr/>
          <p:nvPr/>
        </p:nvSpPr>
        <p:spPr>
          <a:xfrm>
            <a:off x="3593465" y="2603500"/>
            <a:ext cx="9458960" cy="5778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45720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altLang="zh-CN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 i</a:t>
            </a:r>
            <a:r>
              <a:rPr lang="en-US" altLang="zh-CN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：</a:t>
            </a:r>
            <a:r>
              <a:rPr lang="zh-CN" alt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每个词自己的 </a:t>
            </a:r>
            <a:r>
              <a:rPr lang="en-US" altLang="zh-CN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PE </a:t>
            </a:r>
            <a:r>
              <a:rPr lang="zh-CN" alt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向量内部，</a:t>
            </a:r>
            <a:r>
              <a:rPr lang="en-US" altLang="zh-CN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sin/cos </a:t>
            </a:r>
            <a:r>
              <a:rPr lang="zh-CN" alt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的组号。只要 </a:t>
            </a:r>
            <a:r>
              <a:rPr lang="en-US" altLang="zh-CN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d_model </a:t>
            </a:r>
            <a:r>
              <a:rPr lang="zh-CN" alt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不变，所有词的 </a:t>
            </a:r>
            <a:r>
              <a:rPr lang="en-US" altLang="zh-CN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i </a:t>
            </a:r>
            <a:r>
              <a:rPr lang="zh-CN" altLang="en-US" sz="150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黑体" panose="02010609060101010101" charset="-122"/>
              </a:rPr>
              <a:t>都是 0,1。</a:t>
            </a:r>
            <a:endParaRPr lang="zh-CN" altLang="en-US" sz="150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endParaRPr lang="en-US" sz="18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4265930" y="1330960"/>
          <a:ext cx="6730365" cy="1127760"/>
        </p:xfrm>
        <a:graphic>
          <a:graphicData uri="http://schemas.openxmlformats.org/drawingml/2006/table">
            <a:tbl>
              <a:tblPr/>
              <a:tblGrid>
                <a:gridCol w="796925"/>
                <a:gridCol w="2655570"/>
                <a:gridCol w="3277870"/>
              </a:tblGrid>
              <a:tr h="0">
                <a:tc>
                  <a:txBody>
                    <a:bodyPr/>
                    <a:p>
                      <a:pPr algn="l"/>
                      <a:r>
                        <a:rPr lang="en-US" altLang="zh-CN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i </a:t>
                      </a:r>
                      <a:r>
                        <a:rPr lang="zh-CN" altLang="en-US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值</a:t>
                      </a:r>
                      <a:endParaRPr lang="zh-CN" altLang="en-US" sz="1800" b="1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2i</a:t>
                      </a:r>
                      <a:r>
                        <a:rPr lang="zh-CN" altLang="en-US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（</a:t>
                      </a:r>
                      <a:r>
                        <a:rPr lang="en-US" altLang="zh-CN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sin </a:t>
                      </a:r>
                      <a:r>
                        <a:rPr lang="zh-CN" altLang="en-US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用的偶数维度）</a:t>
                      </a:r>
                      <a:endParaRPr lang="zh-CN" altLang="en-US" sz="1800" b="1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2i+1</a:t>
                      </a:r>
                      <a:r>
                        <a:rPr lang="zh-CN" altLang="en-US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（</a:t>
                      </a:r>
                      <a:r>
                        <a:rPr lang="en-US" altLang="zh-CN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cos </a:t>
                      </a:r>
                      <a:r>
                        <a:rPr lang="zh-CN" altLang="en-US" sz="1800" b="1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用的奇数维度）</a:t>
                      </a:r>
                      <a:endParaRPr lang="zh-CN" altLang="en-US" sz="1800" b="1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i=0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向量第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0 </a:t>
                      </a:r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维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→ sin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向量第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1 </a:t>
                      </a:r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维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→ cos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i=1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向量第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2 </a:t>
                      </a:r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维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→ sin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向量第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3 </a:t>
                      </a:r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维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→ cos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1" name="AutoShape 16"/>
              <p:cNvSpPr/>
              <p:nvPr/>
            </p:nvSpPr>
            <p:spPr>
              <a:xfrm>
                <a:off x="114300" y="3182620"/>
                <a:ext cx="9458960" cy="77978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88900" tIns="50800" rIns="88900" bIns="50800" rtlCol="0" anchor="t" anchorCtr="0"/>
              <a:lstStyle/>
              <a:p>
                <a:pPr marL="0" indent="457200" algn="l">
                  <a:lnSpc>
                    <a:spcPct val="133000"/>
                  </a:lnSpc>
                  <a:defRPr>
                    <a:latin typeface="Noto Sans SC"/>
                    <a:ea typeface="Noto Sans SC"/>
                    <a:cs typeface="Noto Sans SC"/>
                  </a:defRPr>
                </a:pPr>
                <a:r>
                  <a:rPr 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设 embedding 维度，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</m:ctrlPr>
                      </m:sSubPr>
                      <m:e>
                        <m:r>
                          <a:rPr lang="en-US" altLang="zh-CN" sz="1500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  <m:t>𝑑</m:t>
                        </m:r>
                      </m:e>
                      <m:sub>
                        <m:r>
                          <a:rPr lang="en-US" altLang="zh-CN" sz="1500" i="1">
                            <a:latin typeface="Noto Sans SC" panose="02040503050406030204" charset="0"/>
                            <a:cs typeface="Noto Sans SC" panose="02040503050406030204" charset="0"/>
                            <a:ea typeface="Noto Sans SC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sz="1500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=4,</a:t>
                </a:r>
                <a:r>
                  <a:rPr 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每个词的位置编码 PE 向量是 4 个数字：[第0维</a:t>
                </a:r>
                <a:r>
                  <a:rPr lang="zh-CN" alt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，</a:t>
                </a:r>
                <a:r>
                  <a:rPr 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第1维</a:t>
                </a:r>
                <a:r>
                  <a:rPr lang="zh-CN" alt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，</a:t>
                </a:r>
                <a:r>
                  <a:rPr 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第2维</a:t>
                </a:r>
                <a:r>
                  <a:rPr lang="zh-CN" alt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，</a:t>
                </a:r>
                <a:r>
                  <a:rPr lang="en-US" sz="150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第3维]</a:t>
                </a:r>
                <a:endParaRPr lang="en-US" sz="150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黑体" panose="02010609060101010101" charset="-122"/>
                </a:endParaRPr>
              </a:p>
              <a:p>
                <a:pPr marL="0" indent="457200" algn="l">
                  <a:lnSpc>
                    <a:spcPct val="133000"/>
                  </a:lnSpc>
                  <a:defRPr>
                    <a:latin typeface="Noto Sans SC"/>
                    <a:ea typeface="Noto Sans SC"/>
                    <a:cs typeface="Noto Sans SC"/>
                  </a:defRPr>
                </a:pPr>
                <a:r>
                  <a:rPr lang="en-US" sz="1500" b="1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“爱”的位置编码</a:t>
                </a:r>
                <a:r>
                  <a:rPr lang="zh-CN" altLang="en-US" sz="1500" b="1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黑体" panose="02010609060101010101" charset="-122"/>
                  </a:rPr>
                  <a:t>：</a:t>
                </a:r>
                <a:endParaRPr lang="zh-CN" altLang="en-US" sz="1500" b="1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黑体" panose="02010609060101010101" charset="-122"/>
                </a:endParaRPr>
              </a:p>
            </p:txBody>
          </p:sp>
        </mc:Choice>
        <mc:Fallback>
          <p:sp>
            <p:nvSpPr>
              <p:cNvPr id="21" name="AutoShap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3182620"/>
                <a:ext cx="9458960" cy="7797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  <a:latin typeface="Noto Sans SC"/>
                    <a:ea typeface="Noto Sans SC"/>
                    <a:cs typeface="Noto Sans SC"/>
                  </a:rPr>
                  <a:t> </a:t>
                </a:r>
              </a:p>
            </p:txBody>
          </p:sp>
        </mc:Fallback>
      </mc:AlternateContent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695" y="4075430"/>
            <a:ext cx="4891405" cy="245237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4686300"/>
            <a:ext cx="5476875" cy="628650"/>
          </a:xfrm>
          <a:prstGeom prst="rect">
            <a:avLst/>
          </a:prstGeom>
        </p:spPr>
      </p:pic>
      <p:sp>
        <p:nvSpPr>
          <p:cNvPr id="25" name="右箭头 24"/>
          <p:cNvSpPr/>
          <p:nvPr/>
        </p:nvSpPr>
        <p:spPr>
          <a:xfrm>
            <a:off x="5357495" y="4976495"/>
            <a:ext cx="1070610" cy="34734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7740015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4</a:t>
            </a:r>
            <a:r>
              <a:rPr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.1 Attention 的任务：为上下文分配不同权重</a:t>
            </a:r>
            <a:endParaRPr sz="29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6984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当前词 bank 根据上下文动态读取不同 Token 的 Value。</a:t>
            </a:r>
            <a:endParaRPr sz="14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Attention Focus  ·  12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7" name="Picture 6" descr="attention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74" y="1378712"/>
            <a:ext cx="11137392" cy="4736592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0" name="Connector 10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4.1 Attention </a:t>
            </a:r>
            <a:r>
              <a:rPr lang="en-US" sz="3200" b="1"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核心</a:t>
            </a: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公式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8200" y="1612900"/>
            <a:ext cx="2897505" cy="643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25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2000" b="1" i="0" u="none" strike="noStrike">
                <a:solidFill>
                  <a:srgbClr val="6608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Attention 核心公式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25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400" b="1" i="0" u="none" strike="noStrike">
                <a:solidFill>
                  <a:srgbClr val="660874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Transformer Core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723646" y="1120267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注意力通过 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Q、K、V 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计算 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token 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之间的关联，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dk​​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缩放防止 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softmax 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饱和。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  <a:sym typeface="Noto Sans SC" panose="020B0200000000000000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4063301" y="2090674"/>
                <a:ext cx="4471670" cy="876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𝐴𝑡𝑡𝑒𝑛𝑡𝑖𝑜𝑛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(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𝑄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,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𝐾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,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𝑉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)=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𝑠𝑜𝑓𝑡𝑚𝑎𝑥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(</m:t>
                      </m:r>
                      <m:f>
                        <m:fPr>
                          <m:ctrlPr>
                            <a:rPr lang="en-US" altLang="zh-CN" sz="2000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Noto Sans SC" panose="02040503050406030204" charset="0"/>
                              <a:cs typeface="Noto Sans SC" panose="02040503050406030204" charset="0"/>
                              <a:ea typeface="Noto Sans SC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Noto Sans SC" panose="02040503050406030204" charset="0"/>
                                  <a:cs typeface="Noto Sans SC" panose="02040503050406030204" charset="0"/>
                                  <a:ea typeface="Noto Sans SC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Noto Sans SC" panose="02040503050406030204" charset="0"/>
                                      <a:cs typeface="Noto Sans SC" panose="02040503050406030204" charset="0"/>
                                      <a:ea typeface="Noto Sans SC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)</m:t>
                      </m:r>
                      <m:r>
                        <a:rPr lang="en-US" altLang="zh-CN" sz="2000" i="1">
                          <a:latin typeface="Noto Sans SC" panose="02040503050406030204" charset="0"/>
                          <a:cs typeface="Noto Sans SC" panose="02040503050406030204" charset="0"/>
                          <a:ea typeface="Noto Sans SC"/>
                        </a:rPr>
                        <m:t>𝑉</m:t>
                      </m:r>
                    </m:oMath>
                  </m:oMathPara>
                </a14:m>
                <a:endParaRPr lang="zh-CN" altLang="en-US" sz="2000">
                  <a:latin typeface="Noto Sans SC"/>
                  <a:ea typeface="Noto Sans SC"/>
                  <a:cs typeface="Noto Sans SC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01" y="2090674"/>
                <a:ext cx="4471670" cy="876935"/>
              </a:xfrm>
              <a:prstGeom prst="rect">
                <a:avLst/>
              </a:prstGeom>
              <a:blipFill rotWithShape="1">
                <a:blip r:embed="rId3"/>
                <a:stretch>
                  <a:fillRect l="-13" t="-29" r="13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  <a:latin typeface="Noto Sans SC"/>
                    <a:ea typeface="Noto Sans SC"/>
                    <a:cs typeface="Noto Sans SC"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519430" y="3269615"/>
            <a:ext cx="10965815" cy="2627630"/>
            <a:chOff x="1119" y="2420"/>
            <a:chExt cx="17269" cy="4138"/>
          </a:xfrm>
        </p:grpSpPr>
        <p:grpSp>
          <p:nvGrpSpPr>
            <p:cNvPr id="20" name="组合 19"/>
            <p:cNvGrpSpPr/>
            <p:nvPr/>
          </p:nvGrpSpPr>
          <p:grpSpPr>
            <a:xfrm>
              <a:off x="1119" y="2542"/>
              <a:ext cx="5127" cy="3840"/>
              <a:chOff x="1181" y="2311"/>
              <a:chExt cx="5127" cy="3851"/>
            </a:xfrm>
          </p:grpSpPr>
          <p:sp>
            <p:nvSpPr>
              <p:cNvPr id="21" name="Rounded Rectangle 4"/>
              <p:cNvSpPr/>
              <p:nvPr>
                <p:custDataLst>
                  <p:tags r:id="rId4"/>
                </p:custDataLst>
              </p:nvPr>
            </p:nvSpPr>
            <p:spPr>
              <a:xfrm>
                <a:off x="1181" y="2311"/>
                <a:ext cx="5127" cy="3851"/>
              </a:xfrm>
              <a:prstGeom prst="roundRect">
                <a:avLst/>
              </a:prstGeom>
              <a:solidFill>
                <a:srgbClr val="EFF6FF"/>
              </a:solidFill>
              <a:ln w="9525">
                <a:solidFill>
                  <a:srgbClr val="93C5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AutoShape 16"/>
              <p:cNvSpPr/>
              <p:nvPr/>
            </p:nvSpPr>
            <p:spPr>
              <a:xfrm>
                <a:off x="1709" y="2420"/>
                <a:ext cx="4210" cy="87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88900" tIns="50800" rIns="88900" bIns="50800" rtlCol="0" anchor="t" anchorCtr="0"/>
              <a:lstStyle/>
              <a:p>
                <a:pPr marL="0" indent="0" algn="ctr">
                  <a:lnSpc>
                    <a:spcPct val="125000"/>
                  </a:lnSpc>
                  <a:defRPr>
                    <a:latin typeface="Noto Sans SC"/>
                    <a:ea typeface="Noto Sans SC"/>
                    <a:cs typeface="Noto Sans SC"/>
                  </a:defRPr>
                </a:pPr>
                <a:r>
                  <a:rPr lang="en-US" sz="1600" b="1">
                    <a:solidFill>
                      <a:srgbClr val="48BB00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🔍 Query (查询)</a:t>
                </a:r>
                <a:br>
                  <a:rPr lang="en-US" sz="1600" b="0" i="0" u="none" strike="noStrike">
                    <a:solidFill>
                      <a:srgbClr val="33333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</a:br>
                <a:endParaRPr lang="en-US" sz="1600" b="0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472" y="3166"/>
                <a:ext cx="4627" cy="20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indent="0" algn="l">
                  <a:lnSpc>
                    <a:spcPct val="125000"/>
                  </a:lnSpc>
                </a:pPr>
                <a:r>
                  <a:rPr 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“我现在需要什么？”</a:t>
                </a:r>
                <a:endParaRPr 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(1)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当前 </a:t>
                </a: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token 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的检索需求</a:t>
                </a:r>
                <a:endParaRPr lang="zh-CN" alt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(2)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发起匹配，寻找序列中相关位置</a:t>
                </a:r>
                <a:endParaRPr lang="zh-CN" alt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060" y="2542"/>
              <a:ext cx="5127" cy="4017"/>
              <a:chOff x="1181" y="2311"/>
              <a:chExt cx="5127" cy="3851"/>
            </a:xfrm>
          </p:grpSpPr>
          <p:sp>
            <p:nvSpPr>
              <p:cNvPr id="25" name="Rounded Rectangle 4"/>
              <p:cNvSpPr/>
              <p:nvPr>
                <p:custDataLst>
                  <p:tags r:id="rId5"/>
                </p:custDataLst>
              </p:nvPr>
            </p:nvSpPr>
            <p:spPr>
              <a:xfrm>
                <a:off x="1181" y="2311"/>
                <a:ext cx="5127" cy="3851"/>
              </a:xfrm>
              <a:prstGeom prst="roundRect">
                <a:avLst/>
              </a:prstGeom>
              <a:solidFill>
                <a:srgbClr val="EFF6FF"/>
              </a:solidFill>
              <a:ln w="9525">
                <a:solidFill>
                  <a:srgbClr val="93C5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utoShape 16"/>
              <p:cNvSpPr/>
              <p:nvPr/>
            </p:nvSpPr>
            <p:spPr>
              <a:xfrm>
                <a:off x="1709" y="2420"/>
                <a:ext cx="4210" cy="87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88900" tIns="50800" rIns="88900" bIns="50800" rtlCol="0" anchor="t" anchorCtr="0"/>
              <a:lstStyle/>
              <a:p>
                <a:pPr marL="0" indent="0" algn="ctr">
                  <a:lnSpc>
                    <a:spcPct val="125000"/>
                  </a:lnSpc>
                  <a:defRPr>
                    <a:latin typeface="Noto Sans SC"/>
                    <a:ea typeface="Noto Sans SC"/>
                    <a:cs typeface="Noto Sans SC"/>
                  </a:defRPr>
                </a:pPr>
                <a:r>
                  <a:rPr lang="en-US" sz="1600" b="1">
                    <a:solidFill>
                      <a:srgbClr val="1E8E94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🗝️ Key (键)</a:t>
                </a:r>
                <a:endParaRPr lang="en-US" sz="1600" b="0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457" y="3166"/>
                <a:ext cx="4627" cy="2238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marL="0" indent="0" algn="l">
                  <a:lnSpc>
                    <a:spcPct val="125000"/>
                  </a:lnSpc>
                </a:pPr>
                <a:r>
                  <a:rPr 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“我能提供什么？”</a:t>
                </a:r>
                <a:endParaRPr 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(1)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序列每个 </a:t>
                </a: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token 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的特征标识</a:t>
                </a:r>
                <a:endParaRPr lang="zh-CN" alt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(2)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和 </a:t>
                </a: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Query 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计算相似度，完成匹配</a:t>
                </a:r>
                <a:endParaRPr lang="zh-CN" alt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3262" y="2420"/>
              <a:ext cx="5127" cy="3962"/>
              <a:chOff x="1181" y="2311"/>
              <a:chExt cx="5127" cy="3851"/>
            </a:xfrm>
          </p:grpSpPr>
          <p:sp>
            <p:nvSpPr>
              <p:cNvPr id="29" name="Rounded Rectangle 4"/>
              <p:cNvSpPr/>
              <p:nvPr>
                <p:custDataLst>
                  <p:tags r:id="rId6"/>
                </p:custDataLst>
              </p:nvPr>
            </p:nvSpPr>
            <p:spPr>
              <a:xfrm>
                <a:off x="1181" y="2311"/>
                <a:ext cx="5127" cy="3851"/>
              </a:xfrm>
              <a:prstGeom prst="roundRect">
                <a:avLst/>
              </a:prstGeom>
              <a:solidFill>
                <a:srgbClr val="EFF6FF"/>
              </a:solidFill>
              <a:ln w="9525">
                <a:solidFill>
                  <a:srgbClr val="93C5F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AutoShape 16"/>
              <p:cNvSpPr/>
              <p:nvPr/>
            </p:nvSpPr>
            <p:spPr>
              <a:xfrm>
                <a:off x="1709" y="2420"/>
                <a:ext cx="4210" cy="87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88900" tIns="50800" rIns="88900" bIns="50800" rtlCol="0" anchor="t" anchorCtr="0"/>
              <a:lstStyle/>
              <a:p>
                <a:pPr marL="0" indent="0" algn="ctr">
                  <a:lnSpc>
                    <a:spcPct val="125000"/>
                  </a:lnSpc>
                  <a:defRPr>
                    <a:latin typeface="Noto Sans SC"/>
                    <a:ea typeface="Noto Sans SC"/>
                    <a:cs typeface="Noto Sans SC"/>
                  </a:defRPr>
                </a:pPr>
                <a:r>
                  <a:rPr lang="en-US" sz="1600" b="1">
                    <a:solidFill>
                      <a:srgbClr val="660874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📦 Value (值)</a:t>
                </a:r>
                <a:endParaRPr lang="en-US" sz="1600" b="0" i="0" u="none" strike="noStrike">
                  <a:solidFill>
                    <a:srgbClr val="33333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592" y="3380"/>
                <a:ext cx="4627" cy="201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marL="0" indent="0" algn="l">
                  <a:lnSpc>
                    <a:spcPct val="125000"/>
                  </a:lnSpc>
                </a:pPr>
                <a:r>
                  <a:rPr 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“具体内容是什么？”</a:t>
                </a:r>
                <a:endParaRPr 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(1)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存储实际语义信息</a:t>
                </a:r>
                <a:endParaRPr lang="zh-CN" alt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altLang="zh-CN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(2)</a:t>
                </a:r>
                <a:r>
                  <a:rPr lang="zh-CN" altLang="en-US" sz="1600">
                    <a:solidFill>
                      <a:srgbClr val="1F2329"/>
                    </a:solidFill>
                    <a:latin typeface="Noto Sans SC" panose="02010609060101010101" charset="-122"/>
                    <a:ea typeface="Noto Sans SC" panose="02010609060101010101" charset="-122"/>
                    <a:cs typeface="Noto Sans SC" panose="02010609060101010101" charset="-122"/>
                    <a:sym typeface="黑体" panose="02010609060101010101" charset="-122"/>
                  </a:rPr>
                  <a:t>注意力权重对它做加权求和</a:t>
                </a:r>
                <a:endParaRPr lang="zh-CN" altLang="en-US" sz="1600">
                  <a:solidFill>
                    <a:srgbClr val="1F2329"/>
                  </a:solidFill>
                  <a:latin typeface="Noto Sans SC" panose="02010609060101010101" charset="-122"/>
                  <a:ea typeface="Noto Sans SC" panose="02010609060101010101" charset="-122"/>
                  <a:cs typeface="Noto Sans SC" panose="02010609060101010101" charset="-122"/>
                  <a:sym typeface="黑体" panose="02010609060101010101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811022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4</a:t>
            </a:r>
            <a:r>
              <a:rPr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.2 Attention 的计算：匹配、归一化、加权汇总</a:t>
            </a:r>
            <a:endParaRPr sz="29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6984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Q、K、V 依次经过匹配分数、Softmax 权重和 Value 加权汇总。</a:t>
            </a:r>
            <a:endParaRPr sz="14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Attention Mechanism  ·  13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7" name="Picture 6" descr="attention-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94" y="1353312"/>
            <a:ext cx="11137392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442087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5</a:t>
            </a:r>
            <a:r>
              <a:rPr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.</a:t>
            </a:r>
            <a:r>
              <a:rPr lang="en-US"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1</a:t>
            </a:r>
            <a:r>
              <a:rPr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 Encoder 与 Decoder </a:t>
            </a:r>
            <a:endParaRPr sz="29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6984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Encoder 编码源序列；Decoder 基于目标前缀和 Encoder 输出生成目标序列。</a:t>
            </a:r>
            <a:endParaRPr sz="14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Encoder–Decoder  ·  15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572895"/>
            <a:ext cx="4865370" cy="4316095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910" y="1856231"/>
            <a:ext cx="45720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Encoder（编码器）</a:t>
            </a:r>
            <a:endParaRPr sz="21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5198" y="2514600"/>
            <a:ext cx="4535424" cy="5852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源序列编码</a:t>
            </a:r>
            <a:endParaRPr sz="30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5198" y="3319272"/>
            <a:ext cx="453542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输入完整英文 Token 序列</a:t>
            </a:r>
            <a:endParaRPr sz="17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774" y="3986784"/>
            <a:ext cx="4462272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输出包含上下文信息的 encoder_output</a:t>
            </a:r>
            <a:endParaRPr sz="150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75195" y="1517650"/>
            <a:ext cx="4805045" cy="4316095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9310" y="1800986"/>
            <a:ext cx="45720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Decoder（解码器）</a:t>
            </a:r>
            <a:endParaRPr sz="21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97598" y="2459355"/>
            <a:ext cx="4535424" cy="5852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目标序列生成</a:t>
            </a:r>
            <a:endParaRPr sz="30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97598" y="3264027"/>
            <a:ext cx="4535424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使用目标前缀与 encoder_output</a:t>
            </a:r>
            <a:endParaRPr sz="17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25614" y="4013835"/>
            <a:ext cx="4279392" cy="4023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70309020205020404"/>
                <a:ea typeface="Noto Sans SC"/>
                <a:cs typeface="Noto Sans SC"/>
              </a:rPr>
              <a:t>&lt;sos&gt; → 我 → 爱 → 你 → &lt;eos&gt;</a:t>
            </a:r>
            <a:endParaRPr sz="1700" b="1">
              <a:solidFill>
                <a:srgbClr val="172033"/>
              </a:solidFill>
              <a:latin typeface="Noto Sans SC" panose="02070309020205020404"/>
              <a:ea typeface="Noto Sans SC"/>
              <a:cs typeface="Noto Sans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78992" y="6053328"/>
            <a:ext cx="10040112" cy="384048"/>
          </a:xfrm>
          <a:prstGeom prst="roundRect">
            <a:avLst/>
          </a:prstGeom>
          <a:solidFill>
            <a:srgbClr val="F1F8F4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6117336"/>
            <a:ext cx="96012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Encoder 输出源序列上下文表示；Decoder 通过 Cross-Attention 使用该表示生成目标 Token。</a:t>
            </a:r>
            <a:endParaRPr sz="145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5784850" y="3232785"/>
            <a:ext cx="783590" cy="25590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048000" y="290576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50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  <a:sym typeface="+mn-ea"/>
              </a:rPr>
              <a:t>encoder_output</a:t>
            </a:r>
            <a:endParaRPr lang="zh-CN" altLang="en-US" sz="150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  <a:sym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503020204020204" charset="-122"/>
                <a:cs typeface="Noto Sans SC" panose="02020603050405020304" charset="0"/>
                <a:sym typeface="Noto Sans SC" panose="020B0200000000000000" charset="-122"/>
              </a:rPr>
              <a:t>5.2 Encoder–Decoder 架构与数据流</a:t>
            </a:r>
            <a:endParaRPr lang="en-US" sz="1100"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Transformer Core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9" name="图片 18" descr="Transformer 编码器-解码器流程图 (1)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2708" t="14241" r="3401" b="10829"/>
          <a:stretch>
            <a:fillRect/>
          </a:stretch>
        </p:blipFill>
        <p:spPr>
          <a:xfrm>
            <a:off x="1143000" y="1136015"/>
            <a:ext cx="9359900" cy="419608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505575" y="4488815"/>
            <a:ext cx="278130" cy="131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252095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5.3</a:t>
            </a:r>
            <a:r>
              <a:rPr sz="29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 串起全流程</a:t>
            </a:r>
            <a:endParaRPr sz="29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69848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学完表示、Attention 和模型结构后，再把英文输入到中文输出完整串联。</a:t>
            </a:r>
            <a:endParaRPr sz="1450" b="0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End-to-End  ·  17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5488" y="2084831"/>
            <a:ext cx="15727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359152"/>
            <a:ext cx="12984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英文原句</a:t>
            </a:r>
            <a:endParaRPr sz="13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2907792"/>
            <a:ext cx="1389888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70309020205020404"/>
                <a:ea typeface="Noto Sans SC"/>
                <a:cs typeface="Noto Sans SC"/>
              </a:rPr>
              <a:t>i love you</a:t>
            </a:r>
            <a:endParaRPr sz="1700" b="1">
              <a:solidFill>
                <a:srgbClr val="172033"/>
              </a:solidFill>
              <a:latin typeface="Noto Sans SC" panose="02070309020205020404"/>
              <a:ea typeface="Noto Sans SC"/>
              <a:cs typeface="Noto Sans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7400" y="2834640"/>
            <a:ext cx="338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3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95728" y="2084831"/>
            <a:ext cx="15727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359152"/>
            <a:ext cx="12984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E8E94"/>
                </a:solidFill>
                <a:latin typeface="Noto Sans SC" panose="020B0503020204020204" charset="-122"/>
                <a:ea typeface="Noto Sans SC"/>
                <a:cs typeface="Noto Sans SC"/>
              </a:rPr>
              <a:t>词的编号</a:t>
            </a:r>
            <a:endParaRPr sz="1300" b="1">
              <a:solidFill>
                <a:srgbClr val="1E8E9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2907792"/>
            <a:ext cx="1389888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70309020205020404"/>
                <a:ea typeface="Noto Sans SC"/>
                <a:cs typeface="Noto Sans SC"/>
              </a:rPr>
              <a:t>[4, 5, 6]</a:t>
            </a:r>
            <a:endParaRPr sz="1700" b="1">
              <a:solidFill>
                <a:srgbClr val="172033"/>
              </a:solidFill>
              <a:latin typeface="Noto Sans SC" panose="02070309020205020404"/>
              <a:ea typeface="Noto Sans SC"/>
              <a:cs typeface="Noto Sans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39" y="2834640"/>
            <a:ext cx="338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3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15968" y="2084831"/>
            <a:ext cx="15727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359152"/>
            <a:ext cx="12984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Encoder 输入</a:t>
            </a:r>
            <a:endParaRPr sz="13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07407" y="2907792"/>
            <a:ext cx="1389888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向量表示</a:t>
            </a:r>
            <a:endParaRPr sz="17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97879" y="2834640"/>
            <a:ext cx="338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3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36208" y="2084831"/>
            <a:ext cx="15727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359152"/>
            <a:ext cx="12984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Encoder 输出</a:t>
            </a:r>
            <a:endParaRPr sz="13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27648" y="2907792"/>
            <a:ext cx="1389888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上下文表示</a:t>
            </a:r>
            <a:endParaRPr sz="17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18120" y="2834640"/>
            <a:ext cx="338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3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56448" y="2084831"/>
            <a:ext cx="15727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2359152"/>
            <a:ext cx="12984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Decoder 前缀</a:t>
            </a:r>
            <a:endParaRPr sz="13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47888" y="2907792"/>
            <a:ext cx="1389888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70309020205020404"/>
                <a:ea typeface="Noto Sans SC"/>
                <a:cs typeface="Noto Sans SC"/>
              </a:rPr>
              <a:t>&lt;sos&gt; 我 爱</a:t>
            </a:r>
            <a:endParaRPr sz="1700" b="1">
              <a:solidFill>
                <a:srgbClr val="172033"/>
              </a:solidFill>
              <a:latin typeface="Noto Sans SC" panose="02070309020205020404"/>
              <a:ea typeface="Noto Sans SC"/>
              <a:cs typeface="Noto Sans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38360" y="2834640"/>
            <a:ext cx="33832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3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76815" y="2084705"/>
            <a:ext cx="187388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13848" y="2359152"/>
            <a:ext cx="129844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目标序列</a:t>
            </a:r>
            <a:endParaRPr sz="130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86873" y="2907792"/>
            <a:ext cx="1389888" cy="7132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70309020205020404"/>
                <a:ea typeface="Noto Sans SC"/>
                <a:cs typeface="Noto Sans SC"/>
              </a:rPr>
              <a:t>我 爱 你 &lt;eos&gt;</a:t>
            </a:r>
            <a:endParaRPr sz="1700" b="1">
              <a:solidFill>
                <a:srgbClr val="172033"/>
              </a:solidFill>
              <a:latin typeface="Noto Sans SC" panose="02070309020205020404"/>
              <a:ea typeface="Noto Sans SC"/>
              <a:cs typeface="Noto Sans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" y="4754880"/>
            <a:ext cx="5285232" cy="9144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" y="4974336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训练</a:t>
            </a:r>
            <a:endParaRPr sz="16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28800" y="4910328"/>
            <a:ext cx="3968496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使用目标序列计算 loss，并更新模型参数。</a:t>
            </a:r>
            <a:endParaRPr sz="1450" b="0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355080" y="4754880"/>
            <a:ext cx="5010912" cy="914400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4974336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推理</a:t>
            </a:r>
            <a:endParaRPr sz="16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05141" y="4919218"/>
            <a:ext cx="3675887" cy="42062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没有目标序列，将上一步预测追加到 Decoder 输入。</a:t>
            </a:r>
            <a:endParaRPr sz="1450" b="0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200000000000000" charset="-122"/>
                <a:cs typeface="Noto Sans SC" panose="02020603050405020304" charset="0"/>
                <a:sym typeface="Noto Sans SC" panose="020B0200000000000000" charset="-122"/>
              </a:rPr>
              <a:t>6.1 训练</a:t>
            </a:r>
            <a:endParaRPr lang="en-US" sz="1100">
              <a:latin typeface="Noto Sans SC" panose="02020603050405020304" charset="0"/>
              <a:cs typeface="Noto Sans SC" panose="02020603050405020304" charset="0"/>
              <a:ea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23900" y="1557020"/>
            <a:ext cx="10414000" cy="5105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zh-CN" alt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（</a:t>
            </a:r>
            <a:r>
              <a:rPr lang="en-US" altLang="zh-CN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1</a:t>
            </a:r>
            <a:r>
              <a:rPr lang="zh-CN" alt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）训练阶段：</a:t>
            </a:r>
            <a:r>
              <a:rPr lang="en-US" altLang="zh-CN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Teacher Forcing </a:t>
            </a:r>
            <a:endParaRPr lang="zh-CN" altLang="en-US" sz="20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457200" lvl="1" indent="45720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6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Decoder 每一步输入真实正确的目标词，不用模型自己的输出</a:t>
            </a:r>
            <a:r>
              <a:rPr lang="zh-CN" altLang="en-US" sz="16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。</a:t>
            </a:r>
            <a:endParaRPr lang="en-US" sz="16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457200" algn="l">
              <a:lnSpc>
                <a:spcPct val="133000"/>
              </a:lnSpc>
              <a:defRPr>
                <a:latin typeface="Noto Sans SC"/>
                <a:ea typeface="Noto Sans SC"/>
                <a:cs typeface="Noto Sans SC"/>
              </a:defRPr>
            </a:pPr>
            <a:endParaRPr lang="en-US" sz="20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20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600" b="1" i="0" u="none" strike="noStrike">
              <a:solidFill>
                <a:srgbClr val="1E8E9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600" b="1" i="0" u="none" strike="noStrike">
              <a:solidFill>
                <a:srgbClr val="1E8E9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1" i="0" u="none" strike="noStrike">
                <a:solidFill>
                  <a:srgbClr val="1E8E9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▶ </a:t>
            </a:r>
            <a:r>
              <a:rPr lang="en-US" altLang="zh-CN" sz="1600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&lt;sos&gt;：</a:t>
            </a:r>
            <a:r>
              <a:rPr lang="zh-CN" altLang="en-US" sz="1600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句首开始符，作为生成起点，放在 </a:t>
            </a:r>
            <a:r>
              <a:rPr lang="en-US" altLang="zh-CN" sz="1600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Decoder </a:t>
            </a:r>
            <a:r>
              <a:rPr lang="zh-CN" altLang="en-US" sz="1600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输入最前面</a:t>
            </a:r>
            <a:endParaRPr lang="en-US" sz="16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600" b="1" i="0" u="none" strike="noStrike">
                <a:solidFill>
                  <a:srgbClr val="48BB00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▶ </a:t>
            </a:r>
            <a:r>
              <a:rPr lang="en-US" altLang="zh-CN" sz="1600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&lt;eos&gt;：</a:t>
            </a:r>
            <a:r>
              <a:rPr lang="zh-CN" altLang="en-US" sz="1600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句尾结束符，标记句子结束，放在目标标签末尾</a:t>
            </a:r>
            <a:endParaRPr lang="zh-CN" altLang="en-US" sz="16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endParaRPr lang="en-US" sz="16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zh-CN" alt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（</a:t>
            </a:r>
            <a:r>
              <a:rPr lang="en-US" altLang="zh-CN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2</a:t>
            </a:r>
            <a:r>
              <a:rPr lang="zh-CN" alt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）</a:t>
            </a:r>
            <a:r>
              <a:rPr 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训练目的</a:t>
            </a:r>
            <a:endParaRPr lang="en-US" sz="20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457200" algn="l">
              <a:lnSpc>
                <a:spcPct val="133000"/>
              </a:lnSpc>
            </a:pPr>
            <a:r>
              <a:rPr lang="en-US" sz="16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预测第 t 个词时，给模型看前 t‑1 个真实正确词</a:t>
            </a:r>
            <a:r>
              <a:rPr lang="zh-CN" altLang="en-US" sz="160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，快速学习正确的上下文依赖关系，加快模型训练速度。</a:t>
            </a:r>
            <a:endParaRPr lang="zh-CN" altLang="en-US" sz="16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0" indent="457200" algn="l">
              <a:lnSpc>
                <a:spcPct val="133000"/>
              </a:lnSpc>
            </a:pPr>
            <a:endParaRPr lang="zh-CN" altLang="en-US" sz="160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723646" y="1003427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Teacher Forcing：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训练阶段，直接使用真实标签的历史词作为 </a:t>
            </a:r>
            <a:r>
              <a:rPr lang="en-US" altLang="zh-CN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Decoder </a:t>
            </a:r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输入，加快训练。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  <a:sym typeface="Noto Sans SC" panose="020B0200000000000000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2367280" y="2603500"/>
          <a:ext cx="5579110" cy="791845"/>
        </p:xfrm>
        <a:graphic>
          <a:graphicData uri="http://schemas.openxmlformats.org/drawingml/2006/table">
            <a:tbl>
              <a:tblPr/>
              <a:tblGrid>
                <a:gridCol w="3100070"/>
                <a:gridCol w="2479040"/>
              </a:tblGrid>
              <a:tr h="415925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Decoder </a:t>
                      </a:r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输入（模型看的）</a:t>
                      </a:r>
                      <a:endParaRPr lang="zh-CN" altLang="en-US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/>
                        </a:rPr>
                        <a:t>标签答案（要预测的）</a:t>
                      </a:r>
                      <a:endParaRPr lang="zh-CN" altLang="en-US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&lt;sos&gt; </a:t>
                      </a:r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我 爱 你</a:t>
                      </a:r>
                      <a:endParaRPr lang="zh-CN" altLang="en-US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我 爱 你 </a:t>
                      </a:r>
                      <a:r>
                        <a:rPr lang="en-US" altLang="zh-CN" sz="1800">
                          <a:latin typeface="Noto Sans SC" panose="02010600030101010101" pitchFamily="2" charset="-122"/>
                          <a:ea typeface="Noto Sans SC" panose="02010600030101010101" pitchFamily="2" charset="-122"/>
                          <a:cs typeface="Noto Sans SC" panose="02010600030101010101" pitchFamily="2" charset="-122"/>
                        </a:rPr>
                        <a:t>&lt;eos&gt;</a:t>
                      </a:r>
                      <a:endParaRPr lang="en-US" altLang="zh-CN" sz="1800">
                        <a:latin typeface="Noto Sans SC" panose="02010600030101010101" pitchFamily="2" charset="-122"/>
                        <a:ea typeface="Noto Sans SC" panose="02010600030101010101" pitchFamily="2" charset="-122"/>
                        <a:cs typeface="Noto Sans SC" panose="02010600030101010101" pitchFamily="2" charset="-122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20603050405020304" charset="0"/>
                <a:ea typeface="Noto Sans SC" panose="020B0200000000000000" charset="-122"/>
                <a:cs typeface="Noto Sans SC" panose="02020603050405020304" charset="0"/>
                <a:sym typeface="Noto Sans SC" panose="020B0200000000000000" charset="-122"/>
              </a:rPr>
              <a:t>6.2 推理</a:t>
            </a:r>
            <a:endParaRPr lang="en-US" sz="1100">
              <a:latin typeface="Noto Sans SC" panose="02020603050405020304" charset="0"/>
              <a:cs typeface="Noto Sans SC" panose="02020603050405020304" charset="0"/>
              <a:ea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6905" y="1449070"/>
            <a:ext cx="10500995" cy="1045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33000"/>
              </a:lnSpc>
            </a:pPr>
            <a:r>
              <a:rPr lang="zh-CN" alt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（</a:t>
            </a:r>
            <a:r>
              <a:rPr lang="en-US" altLang="zh-CN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1</a:t>
            </a:r>
            <a:r>
              <a:rPr lang="zh-CN" alt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）</a:t>
            </a:r>
            <a:r>
              <a:rPr lang="en-US" sz="2000" b="1" i="0" u="none" strike="noStrike">
                <a:solidFill>
                  <a:srgbClr val="660874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推理阶段：自回归生成</a:t>
            </a:r>
            <a:endParaRPr lang="en-US" sz="2000" b="1" i="0" u="none" strike="noStrike">
              <a:solidFill>
                <a:srgbClr val="660874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360045" indent="0" algn="l" eaLnBrk="1" fontAlgn="auto" latinLnBrk="0" hangingPunct="1">
              <a:lnSpc>
                <a:spcPct val="133000"/>
              </a:lnSpc>
            </a:pPr>
            <a:r>
              <a:rPr lang="zh-CN" altLang="en-US" sz="1600" b="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推理时没有真实目标答案，不能再用 </a:t>
            </a:r>
            <a:r>
              <a:rPr lang="en-US" altLang="zh-CN" sz="1600" b="0" i="0" u="none" strike="noStrike">
                <a:solidFill>
                  <a:srgbClr val="333333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Teacher Forcing。</a:t>
            </a:r>
            <a:endParaRPr lang="en-US" altLang="zh-CN" sz="16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  <a:p>
            <a:pPr marL="360045" indent="457200" algn="l" eaLnBrk="1" fontAlgn="auto" latinLnBrk="0" hangingPunct="1">
              <a:lnSpc>
                <a:spcPct val="133000"/>
              </a:lnSpc>
            </a:pPr>
            <a:endParaRPr lang="zh-CN" altLang="en-US" sz="1600" b="0" i="0" u="none" strike="noStrike">
              <a:solidFill>
                <a:srgbClr val="333333"/>
              </a:solidFill>
              <a:latin typeface="Noto Sans SC" panose="02010609060101010101" charset="-122"/>
              <a:ea typeface="Noto Sans SC" panose="02010609060101010101" charset="-122"/>
              <a:cs typeface="Noto Sans SC" panose="02010609060101010101" charset="-122"/>
              <a:sym typeface="黑体" panose="02010609060101010101" charset="-122"/>
            </a:endParaRPr>
          </a:p>
        </p:txBody>
      </p:sp>
      <p:sp>
        <p:nvSpPr>
          <p:cNvPr id="49" name="TextBox 3"/>
          <p:cNvSpPr txBox="1"/>
          <p:nvPr/>
        </p:nvSpPr>
        <p:spPr>
          <a:xfrm>
            <a:off x="723646" y="1120267"/>
            <a:ext cx="100584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1800" b="1">
                <a:solidFill>
                  <a:srgbClr val="6B7280"/>
                </a:solidFill>
                <a:latin typeface="Noto Sans SC" panose="02010600030101010101" pitchFamily="2" charset="-122"/>
                <a:ea typeface="Noto Sans SC" panose="02010600030101010101" pitchFamily="2" charset="-122"/>
                <a:cs typeface="Noto Sans SC" panose="02010600030101010101" pitchFamily="2" charset="-122"/>
                <a:sym typeface="Noto Sans SC" panose="020B0200000000000000" charset="-122"/>
              </a:rPr>
              <a:t>自回归生成：推理阶段，模型将前一步生成的结果作为当前输入，逐词输出序列。</a:t>
            </a:r>
            <a:endParaRPr lang="zh-CN" altLang="en-US" sz="1800" b="1">
              <a:solidFill>
                <a:srgbClr val="6B7280"/>
              </a:solidFill>
              <a:latin typeface="Noto Sans SC" panose="02010600030101010101" pitchFamily="2" charset="-122"/>
              <a:ea typeface="Noto Sans SC" panose="02010600030101010101" pitchFamily="2" charset="-122"/>
              <a:cs typeface="Noto Sans SC" panose="02010600030101010101" pitchFamily="2" charset="-122"/>
              <a:sym typeface="Noto Sans SC" panose="020B0200000000000000" charset="-122"/>
            </a:endParaRPr>
          </a:p>
        </p:txBody>
      </p:sp>
      <p:sp>
        <p:nvSpPr>
          <p:cNvPr id="18" name="Rounded Rectangle 6"/>
          <p:cNvSpPr/>
          <p:nvPr/>
        </p:nvSpPr>
        <p:spPr>
          <a:xfrm>
            <a:off x="274447" y="3195701"/>
            <a:ext cx="2212848" cy="1115568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7"/>
          <p:cNvSpPr txBox="1"/>
          <p:nvPr/>
        </p:nvSpPr>
        <p:spPr>
          <a:xfrm>
            <a:off x="548767" y="3396869"/>
            <a:ext cx="166420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英文原句</a:t>
            </a:r>
            <a:endParaRPr sz="140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530479" y="3762628"/>
            <a:ext cx="170078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72033"/>
                </a:solidFill>
                <a:latin typeface="Noto Sans SC" panose="020B0604020202020204"/>
                <a:ea typeface="Noto Sans SC"/>
                <a:cs typeface="Noto Sans SC"/>
              </a:rPr>
              <a:t>i love you</a:t>
            </a:r>
            <a:endParaRPr sz="1700" b="1">
              <a:solidFill>
                <a:srgbClr val="172033"/>
              </a:solidFill>
              <a:latin typeface="Noto Sans SC" panose="020B0604020202020204"/>
              <a:ea typeface="Noto Sans SC"/>
              <a:cs typeface="Noto Sans SC"/>
            </a:endParaRPr>
          </a:p>
        </p:txBody>
      </p:sp>
      <p:sp>
        <p:nvSpPr>
          <p:cNvPr id="24" name="Rounded Rectangle 12"/>
          <p:cNvSpPr/>
          <p:nvPr/>
        </p:nvSpPr>
        <p:spPr>
          <a:xfrm>
            <a:off x="3127248" y="2257171"/>
            <a:ext cx="5870448" cy="4498848"/>
          </a:xfrm>
          <a:prstGeom prst="roundRect">
            <a:avLst/>
          </a:prstGeom>
          <a:solidFill>
            <a:srgbClr val="F5EFF8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13"/>
          <p:cNvSpPr txBox="1"/>
          <p:nvPr/>
        </p:nvSpPr>
        <p:spPr>
          <a:xfrm>
            <a:off x="3456432" y="2513203"/>
            <a:ext cx="184708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9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Decoder 循环</a:t>
            </a:r>
            <a:endParaRPr sz="19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6" name="TextBox 14"/>
          <p:cNvSpPr txBox="1"/>
          <p:nvPr/>
        </p:nvSpPr>
        <p:spPr>
          <a:xfrm>
            <a:off x="3529584" y="3116707"/>
            <a:ext cx="170078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① 看当前前文</a:t>
            </a:r>
            <a:endParaRPr sz="15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7" name="Rounded Rectangle 15"/>
          <p:cNvSpPr/>
          <p:nvPr/>
        </p:nvSpPr>
        <p:spPr>
          <a:xfrm>
            <a:off x="3621024" y="3537331"/>
            <a:ext cx="56692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16"/>
          <p:cNvSpPr txBox="1"/>
          <p:nvPr/>
        </p:nvSpPr>
        <p:spPr>
          <a:xfrm>
            <a:off x="3621024" y="3656203"/>
            <a:ext cx="56692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BOS</a:t>
            </a:r>
            <a:endParaRPr sz="105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29" name="Rounded Rectangle 17"/>
          <p:cNvSpPr/>
          <p:nvPr/>
        </p:nvSpPr>
        <p:spPr>
          <a:xfrm>
            <a:off x="4279392" y="3537331"/>
            <a:ext cx="56692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18"/>
          <p:cNvSpPr txBox="1"/>
          <p:nvPr/>
        </p:nvSpPr>
        <p:spPr>
          <a:xfrm>
            <a:off x="4279392" y="3656203"/>
            <a:ext cx="56692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我</a:t>
            </a:r>
            <a:endParaRPr sz="105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1" name="Rounded Rectangle 19"/>
          <p:cNvSpPr/>
          <p:nvPr/>
        </p:nvSpPr>
        <p:spPr>
          <a:xfrm>
            <a:off x="4937760" y="3537331"/>
            <a:ext cx="56692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20"/>
          <p:cNvSpPr txBox="1"/>
          <p:nvPr/>
        </p:nvSpPr>
        <p:spPr>
          <a:xfrm>
            <a:off x="4937760" y="3656203"/>
            <a:ext cx="56692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爱</a:t>
            </a:r>
            <a:endParaRPr sz="105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3" name="TextBox 21"/>
          <p:cNvSpPr txBox="1"/>
          <p:nvPr/>
        </p:nvSpPr>
        <p:spPr>
          <a:xfrm>
            <a:off x="5705856" y="3592195"/>
            <a:ext cx="384048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→</a:t>
            </a:r>
            <a:endParaRPr sz="220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4" name="TextBox 22"/>
          <p:cNvSpPr txBox="1"/>
          <p:nvPr/>
        </p:nvSpPr>
        <p:spPr>
          <a:xfrm>
            <a:off x="6144768" y="3116707"/>
            <a:ext cx="1700784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172033"/>
                </a:solidFill>
                <a:latin typeface="Noto Sans SC" panose="020B0503020204020204" charset="-122"/>
                <a:ea typeface="Noto Sans SC"/>
                <a:cs typeface="Noto Sans SC"/>
              </a:rPr>
              <a:t>② 预测候选词</a:t>
            </a:r>
            <a:endParaRPr sz="1500" b="1">
              <a:solidFill>
                <a:srgbClr val="172033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5" name="TextBox 23"/>
          <p:cNvSpPr txBox="1"/>
          <p:nvPr/>
        </p:nvSpPr>
        <p:spPr>
          <a:xfrm>
            <a:off x="6236208" y="3519043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你</a:t>
            </a:r>
            <a:endParaRPr sz="125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6" name="Rectangle 24"/>
          <p:cNvSpPr/>
          <p:nvPr/>
        </p:nvSpPr>
        <p:spPr>
          <a:xfrm>
            <a:off x="6656832" y="3537331"/>
            <a:ext cx="1298448" cy="201168"/>
          </a:xfrm>
          <a:prstGeom prst="rect">
            <a:avLst/>
          </a:prstGeom>
          <a:solidFill>
            <a:srgbClr val="369659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25"/>
          <p:cNvSpPr txBox="1"/>
          <p:nvPr/>
        </p:nvSpPr>
        <p:spPr>
          <a:xfrm>
            <a:off x="6236208" y="3957955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E8E94"/>
                </a:solidFill>
                <a:latin typeface="Noto Sans SC" panose="020B0503020204020204" charset="-122"/>
                <a:ea typeface="Noto Sans SC"/>
                <a:cs typeface="Noto Sans SC"/>
              </a:rPr>
              <a:t>他</a:t>
            </a:r>
            <a:endParaRPr sz="1250" b="1">
              <a:solidFill>
                <a:srgbClr val="1E8E9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38" name="Rectangle 26"/>
          <p:cNvSpPr/>
          <p:nvPr/>
        </p:nvSpPr>
        <p:spPr>
          <a:xfrm>
            <a:off x="6656832" y="3976243"/>
            <a:ext cx="749808" cy="201168"/>
          </a:xfrm>
          <a:prstGeom prst="rect">
            <a:avLst/>
          </a:prstGeom>
          <a:solidFill>
            <a:srgbClr val="1E8E94"/>
          </a:solidFill>
          <a:ln w="12700">
            <a:solidFill>
              <a:srgbClr val="1E8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27"/>
          <p:cNvSpPr txBox="1"/>
          <p:nvPr/>
        </p:nvSpPr>
        <p:spPr>
          <a:xfrm>
            <a:off x="6236208" y="4396867"/>
            <a:ext cx="384048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667085"/>
                </a:solidFill>
                <a:latin typeface="Noto Sans SC" panose="020B0503020204020204" charset="-122"/>
                <a:ea typeface="Noto Sans SC"/>
                <a:cs typeface="Noto Sans SC"/>
              </a:rPr>
              <a:t>猫</a:t>
            </a:r>
            <a:endParaRPr sz="1250" b="1">
              <a:solidFill>
                <a:srgbClr val="667085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0" name="Rectangle 28"/>
          <p:cNvSpPr/>
          <p:nvPr/>
        </p:nvSpPr>
        <p:spPr>
          <a:xfrm>
            <a:off x="6656832" y="4415155"/>
            <a:ext cx="384048" cy="201168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29"/>
          <p:cNvSpPr txBox="1"/>
          <p:nvPr/>
        </p:nvSpPr>
        <p:spPr>
          <a:xfrm>
            <a:off x="6254496" y="4963795"/>
            <a:ext cx="159105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选择最高分：你</a:t>
            </a:r>
            <a:endParaRPr sz="140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2" name="TextBox 30"/>
          <p:cNvSpPr txBox="1"/>
          <p:nvPr/>
        </p:nvSpPr>
        <p:spPr>
          <a:xfrm>
            <a:off x="4608576" y="5164963"/>
            <a:ext cx="131673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↙ 接回输入</a:t>
            </a:r>
            <a:endParaRPr sz="160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3" name="Rounded Rectangle 31"/>
          <p:cNvSpPr/>
          <p:nvPr/>
        </p:nvSpPr>
        <p:spPr>
          <a:xfrm>
            <a:off x="3749039" y="5603875"/>
            <a:ext cx="45537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32"/>
          <p:cNvSpPr/>
          <p:nvPr/>
        </p:nvSpPr>
        <p:spPr>
          <a:xfrm>
            <a:off x="4041648" y="5704459"/>
            <a:ext cx="58521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0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33"/>
          <p:cNvSpPr txBox="1"/>
          <p:nvPr/>
        </p:nvSpPr>
        <p:spPr>
          <a:xfrm>
            <a:off x="4041648" y="5814187"/>
            <a:ext cx="5852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BOS</a:t>
            </a:r>
            <a:endParaRPr sz="950" b="1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6" name="Rounded Rectangle 34"/>
          <p:cNvSpPr/>
          <p:nvPr/>
        </p:nvSpPr>
        <p:spPr>
          <a:xfrm>
            <a:off x="4754880" y="5704459"/>
            <a:ext cx="58521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35"/>
          <p:cNvSpPr txBox="1"/>
          <p:nvPr/>
        </p:nvSpPr>
        <p:spPr>
          <a:xfrm>
            <a:off x="4754880" y="5814187"/>
            <a:ext cx="5852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我</a:t>
            </a:r>
            <a:endParaRPr sz="95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48" name="Rounded Rectangle 36"/>
          <p:cNvSpPr/>
          <p:nvPr/>
        </p:nvSpPr>
        <p:spPr>
          <a:xfrm>
            <a:off x="5468112" y="5704459"/>
            <a:ext cx="58521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37"/>
          <p:cNvSpPr txBox="1"/>
          <p:nvPr/>
        </p:nvSpPr>
        <p:spPr>
          <a:xfrm>
            <a:off x="5468112" y="5814187"/>
            <a:ext cx="5852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爱</a:t>
            </a:r>
            <a:endParaRPr sz="95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51" name="Rounded Rectangle 38"/>
          <p:cNvSpPr/>
          <p:nvPr/>
        </p:nvSpPr>
        <p:spPr>
          <a:xfrm>
            <a:off x="6181344" y="5704459"/>
            <a:ext cx="58521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39"/>
          <p:cNvSpPr txBox="1"/>
          <p:nvPr/>
        </p:nvSpPr>
        <p:spPr>
          <a:xfrm>
            <a:off x="6181344" y="5814187"/>
            <a:ext cx="5852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275DAD"/>
                </a:solidFill>
                <a:latin typeface="Noto Sans SC" panose="020B0503020204020204" charset="-122"/>
                <a:ea typeface="Noto Sans SC"/>
                <a:cs typeface="Noto Sans SC"/>
              </a:rPr>
              <a:t>你</a:t>
            </a:r>
            <a:endParaRPr sz="950" b="1">
              <a:solidFill>
                <a:srgbClr val="275DAD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53" name="Rounded Rectangle 40"/>
          <p:cNvSpPr/>
          <p:nvPr/>
        </p:nvSpPr>
        <p:spPr>
          <a:xfrm>
            <a:off x="6894576" y="5704459"/>
            <a:ext cx="585216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41"/>
          <p:cNvSpPr txBox="1"/>
          <p:nvPr/>
        </p:nvSpPr>
        <p:spPr>
          <a:xfrm>
            <a:off x="6894576" y="5814187"/>
            <a:ext cx="585216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EOS</a:t>
            </a:r>
            <a:endParaRPr sz="95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55" name="Rounded Rectangle 42"/>
          <p:cNvSpPr/>
          <p:nvPr/>
        </p:nvSpPr>
        <p:spPr>
          <a:xfrm>
            <a:off x="9454896" y="2494915"/>
            <a:ext cx="2212848" cy="34747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43"/>
          <p:cNvSpPr txBox="1"/>
          <p:nvPr/>
        </p:nvSpPr>
        <p:spPr>
          <a:xfrm>
            <a:off x="9710928" y="2824099"/>
            <a:ext cx="1700784" cy="49377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③ 是否生成 EOS？</a:t>
            </a:r>
            <a:endParaRPr sz="160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57" name="Diamond 44"/>
          <p:cNvSpPr/>
          <p:nvPr/>
        </p:nvSpPr>
        <p:spPr>
          <a:xfrm>
            <a:off x="10003536" y="3537331"/>
            <a:ext cx="1078992" cy="914400"/>
          </a:xfrm>
          <a:prstGeom prst="diamond">
            <a:avLst/>
          </a:prstGeom>
          <a:solidFill>
            <a:srgbClr val="FFFFFF"/>
          </a:solidFill>
          <a:ln>
            <a:solidFill>
              <a:srgbClr val="369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45"/>
          <p:cNvSpPr txBox="1"/>
          <p:nvPr/>
        </p:nvSpPr>
        <p:spPr>
          <a:xfrm>
            <a:off x="10131552" y="3848227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369659"/>
                </a:solidFill>
                <a:latin typeface="Noto Sans SC" panose="020B0604020202020204"/>
                <a:ea typeface="Noto Sans SC"/>
                <a:cs typeface="Noto Sans SC"/>
              </a:rPr>
              <a:t>EOS?</a:t>
            </a:r>
            <a:endParaRPr sz="1400" b="1">
              <a:solidFill>
                <a:srgbClr val="369659"/>
              </a:solidFill>
              <a:latin typeface="Noto Sans SC" panose="020B0604020202020204"/>
              <a:ea typeface="Noto Sans SC"/>
              <a:cs typeface="Noto Sans SC"/>
            </a:endParaRPr>
          </a:p>
        </p:txBody>
      </p:sp>
      <p:sp>
        <p:nvSpPr>
          <p:cNvPr id="59" name="TextBox 46"/>
          <p:cNvSpPr txBox="1"/>
          <p:nvPr/>
        </p:nvSpPr>
        <p:spPr>
          <a:xfrm>
            <a:off x="9802368" y="4762627"/>
            <a:ext cx="1517904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660874"/>
                </a:solidFill>
                <a:latin typeface="Noto Sans SC" panose="020B0503020204020204" charset="-122"/>
                <a:ea typeface="Noto Sans SC"/>
                <a:cs typeface="Noto Sans SC"/>
              </a:rPr>
              <a:t>否 → 继续循环</a:t>
            </a:r>
            <a:endParaRPr sz="1300" b="0">
              <a:solidFill>
                <a:srgbClr val="660874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0" name="TextBox 47"/>
          <p:cNvSpPr txBox="1"/>
          <p:nvPr/>
        </p:nvSpPr>
        <p:spPr>
          <a:xfrm>
            <a:off x="9802368" y="5256403"/>
            <a:ext cx="1517904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369659"/>
                </a:solidFill>
                <a:latin typeface="Noto Sans SC" panose="020B0503020204020204" charset="-122"/>
                <a:ea typeface="Noto Sans SC"/>
                <a:cs typeface="Noto Sans SC"/>
              </a:rPr>
              <a:t>是 → 结束句子</a:t>
            </a:r>
            <a:endParaRPr sz="1300" b="1">
              <a:solidFill>
                <a:srgbClr val="369659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1" name="右箭头 60"/>
          <p:cNvSpPr/>
          <p:nvPr/>
        </p:nvSpPr>
        <p:spPr>
          <a:xfrm>
            <a:off x="2651760" y="3606165"/>
            <a:ext cx="394970" cy="25590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200" b="0" i="0" u="none" strike="noStrike">
                <a:solidFill>
                  <a:srgbClr val="89898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2" name="Connector 12"/>
          <p:cNvCxnSpPr/>
          <p:nvPr/>
        </p:nvCxnSpPr>
        <p:spPr>
          <a:xfrm>
            <a:off x="0" y="812800"/>
            <a:ext cx="1043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6087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0" y="787400"/>
            <a:ext cx="3340100" cy="635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2900" y="469900"/>
            <a:ext cx="1117600" cy="266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30200" y="101600"/>
            <a:ext cx="10058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32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7 任务与交付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448800" y="6362700"/>
            <a:ext cx="2743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4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Lab Session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41350" y="1212850"/>
          <a:ext cx="10781665" cy="4184650"/>
        </p:xfrm>
        <a:graphic>
          <a:graphicData uri="http://schemas.openxmlformats.org/drawingml/2006/table">
            <a:tbl>
              <a:tblPr/>
              <a:tblGrid>
                <a:gridCol w="1471295"/>
                <a:gridCol w="913765"/>
                <a:gridCol w="2100580"/>
                <a:gridCol w="629602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Noto Sans SC"/>
                          <a:ea typeface="Noto Sans SC"/>
                          <a:cs typeface="Noto Sans SC"/>
                        </a:rPr>
                        <a:t>任务类型</a:t>
                      </a:r>
                      <a:endParaRPr lang="zh-CN" altLang="en-US" sz="1800" b="1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Noto Sans SC"/>
                          <a:ea typeface="Noto Sans SC"/>
                          <a:cs typeface="Noto Sans SC"/>
                        </a:rPr>
                        <a:t>序号</a:t>
                      </a:r>
                      <a:endParaRPr lang="zh-CN" altLang="en-US" sz="1800" b="1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latin typeface="Noto Sans SC"/>
                          <a:ea typeface="Noto Sans SC"/>
                          <a:cs typeface="Noto Sans SC"/>
                        </a:rPr>
                        <a:t>任务名称</a:t>
                      </a:r>
                      <a:endParaRPr lang="zh-CN" altLang="en-US" sz="1800" b="1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>
                          <a:latin typeface="Noto Sans SC"/>
                          <a:ea typeface="Noto Sans SC"/>
                          <a:cs typeface="Noto Sans SC"/>
                        </a:rPr>
                        <a:t>任务详情</a:t>
                      </a:r>
                      <a:endParaRPr lang="zh-CN" altLang="en-US" sz="1800" b="1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  <a:sym typeface="+mn-ea"/>
                        </a:rPr>
                        <a:t>必做任务</a:t>
                      </a:r>
                      <a:endParaRPr lang="zh-CN" altLang="en-US" sz="1800">
                        <a:solidFill>
                          <a:srgbClr val="C00000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01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熟悉代码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查看代码文件，知道每个文件在做什么。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必做任务</a:t>
                      </a:r>
                      <a:endParaRPr lang="zh-CN" altLang="en-US" sz="1800">
                        <a:solidFill>
                          <a:srgbClr val="C00000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02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搭建本地环境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安装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Python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VSCode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，配置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CPU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版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PyTorch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，确保环境无报错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必做任务</a:t>
                      </a:r>
                      <a:endParaRPr lang="zh-CN" altLang="en-US" sz="1800">
                        <a:solidFill>
                          <a:srgbClr val="C00000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03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跑通基线训练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执行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train.py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，观察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Loss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持续下降，验证代码与环境匹配性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68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必做任务</a:t>
                      </a:r>
                      <a:endParaRPr lang="zh-CN" altLang="en-US" sz="1800">
                        <a:solidFill>
                          <a:srgbClr val="C00000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04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定制数据集训练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替换自定义中英文句子对，重新训练，验证新数据拟合效果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rgbClr val="C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必做任务</a:t>
                      </a:r>
                      <a:endParaRPr lang="zh-CN" altLang="en-US" sz="1800">
                        <a:solidFill>
                          <a:srgbClr val="C00000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05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全量测试验证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执行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test.py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，通过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4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个预设用例，验证推理逻辑与输出格式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选做任务</a:t>
                      </a:r>
                      <a:endParaRPr lang="zh-CN" altLang="en-US" sz="1800">
                        <a:solidFill>
                          <a:schemeClr val="accent1">
                            <a:lumMod val="75000"/>
                          </a:schemeClr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(1)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绘制训练曲线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*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读取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metrics.csv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，绘制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loss/accuracy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曲线，观察模型收敛变化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选做任务</a:t>
                      </a:r>
                      <a:endParaRPr lang="zh-CN" altLang="en-US" sz="1800">
                        <a:solidFill>
                          <a:schemeClr val="accent1">
                            <a:lumMod val="75000"/>
                          </a:schemeClr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(2)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可视化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Attention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热力图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*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渲染注意力分数矩阵为热力图，查看模型对各词的关注权重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363601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01 </a:t>
            </a:r>
            <a:r>
              <a:rPr lang="zh-CN" altLang="en-US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熟悉代码文件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33" name="TextBox 8"/>
          <p:cNvSpPr txBox="1"/>
          <p:nvPr>
            <p:custDataLst>
              <p:tags r:id="rId2"/>
            </p:custDataLst>
          </p:nvPr>
        </p:nvSpPr>
        <p:spPr>
          <a:xfrm>
            <a:off x="942975" y="1322070"/>
            <a:ext cx="9100185" cy="4476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安装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Python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、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VSCode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，配置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CPU 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版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PyTorch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，确保环境无报错</a:t>
            </a:r>
            <a:endParaRPr lang="zh-CN" altLang="en-US" sz="2400">
              <a:latin typeface="Noto Sans SC"/>
              <a:ea typeface="Noto Sans SC"/>
              <a:cs typeface="Noto Sans SC"/>
            </a:endParaRPr>
          </a:p>
          <a:p>
            <a:pPr algn="ctr"/>
            <a:endParaRPr lang="en-US" sz="2400" b="1">
              <a:solidFill>
                <a:schemeClr val="tx1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35" name="表格 34"/>
          <p:cNvGraphicFramePr/>
          <p:nvPr/>
        </p:nvGraphicFramePr>
        <p:xfrm>
          <a:off x="897890" y="1940560"/>
          <a:ext cx="10396220" cy="2976880"/>
        </p:xfrm>
        <a:graphic>
          <a:graphicData uri="http://schemas.openxmlformats.org/drawingml/2006/table">
            <a:tbl>
              <a:tblPr/>
              <a:tblGrid>
                <a:gridCol w="1535430"/>
                <a:gridCol w="8860790"/>
              </a:tblGrid>
              <a:tr h="269240"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源代码文件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职责说明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88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model.py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定义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Transformer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模型的结构。唯一的模型实现，包含位置编码、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Encoder、Decoder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和贪心解码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88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train.py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词表、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Dataset、padding、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训练循环、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checkpoint、TensorBoard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和训练后演示。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88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test.py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用于验证模型的正确性。测试形状、反向传播、因果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mask、padding mask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和 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EOS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停止。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688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tutorial.ipynb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面向零基础的可执行逐步课程。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170"/>
            <a:ext cx="3914140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01 </a:t>
            </a:r>
            <a:r>
              <a:rPr lang="zh-CN" altLang="en-US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熟悉代码文件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33" name="TextBox 8"/>
          <p:cNvSpPr txBox="1"/>
          <p:nvPr>
            <p:custDataLst>
              <p:tags r:id="rId2"/>
            </p:custDataLst>
          </p:nvPr>
        </p:nvSpPr>
        <p:spPr>
          <a:xfrm>
            <a:off x="942975" y="1322070"/>
            <a:ext cx="9100185" cy="4476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安装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Python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、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VSCode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，配置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CPU 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版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PyTorch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，确保环境无报错</a:t>
            </a:r>
            <a:endParaRPr lang="zh-CN" altLang="en-US" sz="2400">
              <a:latin typeface="Noto Sans SC"/>
              <a:ea typeface="Noto Sans SC"/>
              <a:cs typeface="Noto Sans SC"/>
            </a:endParaRPr>
          </a:p>
          <a:p>
            <a:pPr algn="ctr"/>
            <a:endParaRPr lang="en-US" sz="2400" b="1">
              <a:solidFill>
                <a:schemeClr val="tx1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76300" y="1947839"/>
          <a:ext cx="10304145" cy="1676400"/>
        </p:xfrm>
        <a:graphic>
          <a:graphicData uri="http://schemas.openxmlformats.org/drawingml/2006/table">
            <a:tbl>
              <a:tblPr/>
              <a:tblGrid>
                <a:gridCol w="1903730"/>
                <a:gridCol w="8400415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辅助文件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职责说明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README.md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项目使用说明。介绍环境安装、运行命令、数据格式、模型原理要点以及可调参数，是阅读和运行本项目的入口文档。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architecture.svg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模型的架构示意图。以图形方式展示文本从输入、经过编码与解码、到输出翻译结果的全过程。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876300" y="3966845"/>
          <a:ext cx="10485120" cy="1244600"/>
        </p:xfrm>
        <a:graphic>
          <a:graphicData uri="http://schemas.openxmlformats.org/drawingml/2006/table">
            <a:tbl>
              <a:tblPr/>
              <a:tblGrid>
                <a:gridCol w="2506345"/>
                <a:gridCol w="7978775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训练产物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outputs/…/model.pt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训练结束后保存的模型文件，包含模型权重、结构参数与词表信息，用于后续加载和推理。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outputs/…/metrics.csv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训练过程的指标记录表，逐轮记录损失值与准确率，用于观察训练是否正常收敛。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pycache</a:t>
                      </a:r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/…</a:t>
                      </a:r>
                      <a:endParaRPr lang="en-US" altLang="zh-CN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800">
                          <a:latin typeface="Noto Sans SC"/>
                          <a:ea typeface="Noto Sans SC"/>
                          <a:cs typeface="Noto Sans SC"/>
                        </a:rPr>
                        <a:t>Python </a:t>
                      </a:r>
                      <a:r>
                        <a:rPr lang="zh-CN" altLang="en-US" sz="1800">
                          <a:latin typeface="Noto Sans SC"/>
                          <a:ea typeface="Noto Sans SC"/>
                          <a:cs typeface="Noto Sans SC"/>
                        </a:rPr>
                        <a:t>运行时自动生成的缓存文件，无需关注。</a:t>
                      </a:r>
                      <a:endParaRPr lang="zh-CN" altLang="en-US" sz="1800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51117" marR="51117" marT="51117" marB="51117" anchor="ctr" anchorCtr="0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363601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02 </a:t>
            </a:r>
            <a:r>
              <a:rPr lang="zh-CN" altLang="en-US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搭建本地环境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33" name="TextBox 8"/>
          <p:cNvSpPr txBox="1"/>
          <p:nvPr>
            <p:custDataLst>
              <p:tags r:id="rId2"/>
            </p:custDataLst>
          </p:nvPr>
        </p:nvSpPr>
        <p:spPr>
          <a:xfrm>
            <a:off x="942975" y="1322070"/>
            <a:ext cx="9100185" cy="4476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安装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Python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、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VSCode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，配置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CPU 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版 </a:t>
            </a:r>
            <a:r>
              <a:rPr lang="en-US" altLang="zh-CN" sz="2400">
                <a:latin typeface="Noto Sans SC"/>
                <a:ea typeface="Noto Sans SC"/>
                <a:cs typeface="Noto Sans SC"/>
                <a:sym typeface="+mn-ea"/>
              </a:rPr>
              <a:t>PyTorch</a:t>
            </a:r>
            <a:r>
              <a:rPr lang="zh-CN" altLang="en-US" sz="2400">
                <a:latin typeface="Noto Sans SC"/>
                <a:ea typeface="Noto Sans SC"/>
                <a:cs typeface="Noto Sans SC"/>
                <a:sym typeface="+mn-ea"/>
              </a:rPr>
              <a:t>，确保环境无报错</a:t>
            </a:r>
            <a:endParaRPr lang="zh-CN" altLang="en-US" sz="2400">
              <a:latin typeface="Noto Sans SC"/>
              <a:ea typeface="Noto Sans SC"/>
              <a:cs typeface="Noto Sans SC"/>
            </a:endParaRPr>
          </a:p>
          <a:p>
            <a:pPr algn="ctr"/>
            <a:endParaRPr lang="en-US" sz="2400" b="1">
              <a:solidFill>
                <a:schemeClr val="tx1"/>
              </a:solidFill>
              <a:latin typeface="Noto Sans SC" panose="02020603050405020304" charset="0"/>
              <a:ea typeface="Noto Sans SC" panose="020B0503020204020204" charset="-122"/>
              <a:cs typeface="Noto Sans SC" panose="02020603050405020304" charset="0"/>
              <a:sym typeface="Noto Sans SC" panose="020B02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70355" y="2252980"/>
            <a:ext cx="7837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5470" y="2790190"/>
            <a:ext cx="533146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Noto Sans SC"/>
                <a:ea typeface="Noto Sans SC"/>
                <a:cs typeface="Noto Sans SC"/>
              </a:rPr>
              <a:t>零基础用户先切换到相关文件夹</a:t>
            </a:r>
            <a:endParaRPr lang="zh-CN" altLang="en-US">
              <a:latin typeface="Noto Sans SC"/>
              <a:ea typeface="Noto Sans SC"/>
              <a:cs typeface="Noto Sans SC"/>
            </a:endParaRPr>
          </a:p>
          <a:p>
            <a:r>
              <a:rPr lang="en-US" altLang="zh-CN">
                <a:latin typeface="Noto Sans SC"/>
                <a:ea typeface="Noto Sans SC"/>
                <a:cs typeface="Noto Sans SC"/>
              </a:rPr>
              <a:t>cd Transformer_CPU</a:t>
            </a:r>
            <a:endParaRPr lang="en-US" altLang="zh-CN">
              <a:latin typeface="Noto Sans SC"/>
              <a:ea typeface="Noto Sans SC"/>
              <a:cs typeface="Noto Sans SC"/>
            </a:endParaRPr>
          </a:p>
          <a:p>
            <a:r>
              <a:rPr lang="zh-CN" altLang="en-US">
                <a:latin typeface="Noto Sans SC"/>
                <a:ea typeface="Noto Sans SC"/>
                <a:cs typeface="Noto Sans SC"/>
              </a:rPr>
              <a:t>创建虚拟环境 </a:t>
            </a:r>
            <a:endParaRPr lang="zh-CN" altLang="en-US">
              <a:latin typeface="Noto Sans SC"/>
              <a:ea typeface="Noto Sans SC"/>
              <a:cs typeface="Noto Sans SC"/>
            </a:endParaRPr>
          </a:p>
          <a:p>
            <a:r>
              <a:rPr lang="en-US" altLang="zh-CN">
                <a:latin typeface="Noto Sans SC"/>
                <a:ea typeface="Noto Sans SC"/>
                <a:cs typeface="Noto Sans SC"/>
              </a:rPr>
              <a:t>conda create -n transformer python=3.10 </a:t>
            </a:r>
            <a:endParaRPr lang="en-US" altLang="zh-CN">
              <a:latin typeface="Noto Sans SC"/>
              <a:ea typeface="Noto Sans SC"/>
              <a:cs typeface="Noto Sans SC"/>
            </a:endParaRPr>
          </a:p>
          <a:p>
            <a:r>
              <a:rPr lang="zh-CN" altLang="en-US">
                <a:latin typeface="Noto Sans SC"/>
                <a:ea typeface="Noto Sans SC"/>
                <a:cs typeface="Noto Sans SC"/>
              </a:rPr>
              <a:t>激活虚拟环境</a:t>
            </a:r>
            <a:endParaRPr lang="zh-CN" altLang="en-US">
              <a:latin typeface="Noto Sans SC"/>
              <a:ea typeface="Noto Sans SC"/>
              <a:cs typeface="Noto Sans SC"/>
            </a:endParaRPr>
          </a:p>
          <a:p>
            <a:r>
              <a:rPr lang="en-US" altLang="zh-CN">
                <a:latin typeface="Noto Sans SC"/>
                <a:ea typeface="Noto Sans SC"/>
                <a:cs typeface="Noto Sans SC"/>
              </a:rPr>
              <a:t>conda activate transformer</a:t>
            </a:r>
            <a:endParaRPr lang="en-US" altLang="zh-CN">
              <a:latin typeface="Noto Sans SC"/>
              <a:ea typeface="Noto Sans SC"/>
              <a:cs typeface="Noto Sans SC"/>
            </a:endParaRPr>
          </a:p>
          <a:p>
            <a:r>
              <a:rPr lang="zh-CN" altLang="en-US">
                <a:latin typeface="Noto Sans SC"/>
                <a:ea typeface="Noto Sans SC"/>
                <a:cs typeface="Noto Sans SC"/>
              </a:rPr>
              <a:t>下载</a:t>
            </a:r>
            <a:r>
              <a:rPr lang="en-US" altLang="zh-CN">
                <a:latin typeface="Noto Sans SC"/>
                <a:ea typeface="Noto Sans SC"/>
                <a:cs typeface="Noto Sans SC"/>
              </a:rPr>
              <a:t>PyTorch</a:t>
            </a:r>
            <a:endParaRPr lang="en-US" altLang="zh-CN">
              <a:latin typeface="Noto Sans SC"/>
              <a:ea typeface="Noto Sans SC"/>
              <a:cs typeface="Noto Sans SC"/>
            </a:endParaRPr>
          </a:p>
          <a:p>
            <a:r>
              <a:rPr lang="en-US" altLang="zh-CN">
                <a:latin typeface="Noto Sans SC"/>
                <a:ea typeface="Noto Sans SC"/>
                <a:cs typeface="Noto Sans SC"/>
              </a:rPr>
              <a:t>pip3 install torch torchvision torchaudio --index-url https://download.pytorch.org/whl/cpu</a:t>
            </a:r>
            <a:endParaRPr lang="en-US" altLang="zh-CN">
              <a:latin typeface="Noto Sans SC"/>
              <a:ea typeface="Noto Sans SC"/>
              <a:cs typeface="Noto Sans SC"/>
            </a:endParaRPr>
          </a:p>
          <a:p>
            <a:endParaRPr lang="en-US" altLang="zh-CN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495" y="1678940"/>
            <a:ext cx="5965825" cy="50330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362458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03 </a:t>
            </a:r>
            <a:r>
              <a:rPr lang="zh-CN" altLang="en-US" sz="2900">
                <a:latin typeface="Noto Sans SC"/>
                <a:ea typeface="Noto Sans SC"/>
                <a:cs typeface="Noto Sans SC"/>
                <a:sym typeface="+mn-ea"/>
              </a:rPr>
              <a:t>跑通基线训练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7" name="文本框 6"/>
          <p:cNvSpPr txBox="1"/>
          <p:nvPr/>
        </p:nvSpPr>
        <p:spPr>
          <a:xfrm>
            <a:off x="1570355" y="2252980"/>
            <a:ext cx="7837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530" y="1406525"/>
            <a:ext cx="3382010" cy="48037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5470" y="2790190"/>
            <a:ext cx="5331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Noto Sans SC"/>
                <a:ea typeface="Noto Sans SC"/>
                <a:cs typeface="Noto Sans SC"/>
              </a:rPr>
              <a:t>运行一次完整 </a:t>
            </a:r>
            <a:r>
              <a:rPr lang="en-US" altLang="zh-CN" sz="1800">
                <a:latin typeface="Noto Sans SC"/>
                <a:ea typeface="Noto Sans SC"/>
                <a:cs typeface="Noto Sans SC"/>
              </a:rPr>
              <a:t>CPU </a:t>
            </a:r>
            <a:r>
              <a:rPr lang="zh-CN" altLang="en-US" sz="1800">
                <a:latin typeface="Noto Sans SC"/>
                <a:ea typeface="Noto Sans SC"/>
                <a:cs typeface="Noto Sans SC"/>
              </a:rPr>
              <a:t>教学训练：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python train.py --epochs 100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399288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04 </a:t>
            </a:r>
            <a:r>
              <a:rPr lang="zh-CN" altLang="en-US" sz="2900">
                <a:latin typeface="Noto Sans SC"/>
                <a:ea typeface="Noto Sans SC"/>
                <a:cs typeface="Noto Sans SC"/>
                <a:sym typeface="+mn-ea"/>
              </a:rPr>
              <a:t>定制数据集训练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7" name="文本框 6"/>
          <p:cNvSpPr txBox="1"/>
          <p:nvPr/>
        </p:nvSpPr>
        <p:spPr>
          <a:xfrm>
            <a:off x="1570355" y="2252980"/>
            <a:ext cx="7837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4775" y="1330960"/>
            <a:ext cx="5331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Noto Sans SC"/>
                <a:ea typeface="Noto Sans SC"/>
                <a:cs typeface="Noto Sans SC"/>
              </a:rPr>
              <a:t>修改数据集继续训练：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python train.py --epochs 100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2559685"/>
            <a:ext cx="9934575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362458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05 </a:t>
            </a:r>
            <a:r>
              <a:rPr lang="zh-CN" altLang="en-US" sz="2900">
                <a:latin typeface="Noto Sans SC"/>
                <a:ea typeface="Noto Sans SC"/>
                <a:cs typeface="Noto Sans SC"/>
                <a:sym typeface="+mn-ea"/>
              </a:rPr>
              <a:t>全量测试验证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7" name="文本框 6"/>
          <p:cNvSpPr txBox="1"/>
          <p:nvPr/>
        </p:nvSpPr>
        <p:spPr>
          <a:xfrm>
            <a:off x="1570355" y="2252980"/>
            <a:ext cx="7837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0" y="3008630"/>
            <a:ext cx="11001375" cy="27241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74775" y="1330960"/>
            <a:ext cx="5331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python test.py</a:t>
            </a:r>
            <a:r>
              <a:rPr lang="zh-CN" altLang="en-US" sz="1800">
                <a:latin typeface="Noto Sans SC"/>
                <a:ea typeface="Noto Sans SC"/>
                <a:cs typeface="Noto Sans SC"/>
              </a:rPr>
              <a:t>：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pPr algn="l"/>
            <a:r>
              <a:rPr lang="zh-CN" altLang="en-US" sz="1800">
                <a:latin typeface="Noto Sans SC"/>
                <a:ea typeface="Noto Sans SC"/>
                <a:cs typeface="Noto Sans SC"/>
                <a:sym typeface="+mn-ea"/>
              </a:rPr>
              <a:t>通过 </a:t>
            </a:r>
            <a:r>
              <a:rPr lang="en-US" altLang="zh-CN" sz="1800">
                <a:latin typeface="Noto Sans SC"/>
                <a:ea typeface="Noto Sans SC"/>
                <a:cs typeface="Noto Sans SC"/>
                <a:sym typeface="+mn-ea"/>
              </a:rPr>
              <a:t>4 </a:t>
            </a:r>
            <a:r>
              <a:rPr lang="zh-CN" altLang="en-US" sz="1800">
                <a:latin typeface="Noto Sans SC"/>
                <a:ea typeface="Noto Sans SC"/>
                <a:cs typeface="Noto Sans SC"/>
                <a:sym typeface="+mn-ea"/>
              </a:rPr>
              <a:t>个预设用例，验证推理逻辑与输出格式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4364990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选做任务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01 </a:t>
            </a:r>
            <a:r>
              <a:rPr lang="zh-CN" altLang="en-US" sz="2900">
                <a:latin typeface="Noto Sans SC"/>
                <a:ea typeface="Noto Sans SC"/>
                <a:cs typeface="Noto Sans SC"/>
                <a:sym typeface="+mn-ea"/>
              </a:rPr>
              <a:t>绘制训练曲线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7" name="文本框 6"/>
          <p:cNvSpPr txBox="1"/>
          <p:nvPr/>
        </p:nvSpPr>
        <p:spPr>
          <a:xfrm>
            <a:off x="1570355" y="2252980"/>
            <a:ext cx="7837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74775" y="1330960"/>
            <a:ext cx="75323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Noto Sans SC"/>
                <a:ea typeface="Noto Sans SC"/>
                <a:cs typeface="Noto Sans SC"/>
              </a:rPr>
              <a:t>绘制</a:t>
            </a:r>
            <a:r>
              <a:rPr lang="en-US" altLang="zh-CN" sz="1800">
                <a:latin typeface="Noto Sans SC"/>
                <a:ea typeface="Noto Sans SC"/>
                <a:cs typeface="Noto Sans SC"/>
              </a:rPr>
              <a:t>loss</a:t>
            </a:r>
            <a:r>
              <a:rPr lang="zh-CN" altLang="en-US" sz="1800">
                <a:latin typeface="Noto Sans SC"/>
                <a:ea typeface="Noto Sans SC"/>
                <a:cs typeface="Noto Sans SC"/>
              </a:rPr>
              <a:t>曲线图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```bash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python plot_metrics.py --csv outputs/cpu_teaching_20260813_121312/metrics.csv 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```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" y="2639695"/>
            <a:ext cx="9961245" cy="33204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44043"/>
            <a:ext cx="6024245" cy="4457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选做任务</a:t>
            </a:r>
            <a:r>
              <a:rPr lang="en-US" altLang="zh-CN" sz="2900" b="1">
                <a:solidFill>
                  <a:srgbClr val="172033"/>
                </a:solidFill>
                <a:latin typeface="Noto Sans SC" panose="020B0503020204020204" charset="-122"/>
                <a:ea typeface="Noto Sans SC" panose="02010600030101010101" pitchFamily="2" charset="-122"/>
                <a:cs typeface="Noto Sans SC"/>
              </a:rPr>
              <a:t> 02 </a:t>
            </a:r>
            <a:r>
              <a:rPr lang="zh-CN" altLang="en-US" sz="2900">
                <a:latin typeface="Noto Sans SC"/>
                <a:ea typeface="Noto Sans SC"/>
                <a:cs typeface="Noto Sans SC"/>
                <a:sym typeface="+mn-ea"/>
              </a:rPr>
              <a:t>可视化 </a:t>
            </a:r>
            <a:r>
              <a:rPr lang="en-US" altLang="zh-CN" sz="2900">
                <a:latin typeface="Noto Sans SC"/>
                <a:ea typeface="Noto Sans SC"/>
                <a:cs typeface="Noto Sans SC"/>
                <a:sym typeface="+mn-ea"/>
              </a:rPr>
              <a:t>Attention </a:t>
            </a:r>
            <a:r>
              <a:rPr lang="zh-CN" altLang="en-US" sz="2900">
                <a:latin typeface="Noto Sans SC"/>
                <a:ea typeface="Noto Sans SC"/>
                <a:cs typeface="Noto Sans SC"/>
                <a:sym typeface="+mn-ea"/>
              </a:rPr>
              <a:t>热力图</a:t>
            </a:r>
            <a:endParaRPr lang="zh-CN" altLang="en-US" sz="2900" b="1">
              <a:solidFill>
                <a:srgbClr val="172033"/>
              </a:solidFill>
              <a:latin typeface="Noto Sans SC" panose="020B0503020204020204" charset="-122"/>
              <a:ea typeface="Noto Sans SC" panose="02010600030101010101" pitchFamily="2" charset="-122"/>
              <a:cs typeface="Noto Sans SC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56032"/>
            <a:ext cx="1078992" cy="260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" y="6565392"/>
            <a:ext cx="3840480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|沐曦内部资料| MetaX Confidential | All Rights Reserved |</a:t>
            </a:r>
            <a:endParaRPr sz="7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000" y="6547104"/>
            <a:ext cx="141732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8A8F98"/>
                </a:solidFill>
                <a:latin typeface="Noto Sans SC" panose="020B0503020204020204" charset="-122"/>
                <a:ea typeface="Noto Sans SC"/>
                <a:cs typeface="Noto Sans SC"/>
              </a:rPr>
              <a:t>Transformer Lab  ·  21</a:t>
            </a:r>
            <a:endParaRPr sz="800" b="0">
              <a:solidFill>
                <a:srgbClr val="8A8F98"/>
              </a:solidFill>
              <a:latin typeface="Noto Sans SC" panose="020B0503020204020204" charset="-122"/>
              <a:ea typeface="Noto Sans SC"/>
              <a:cs typeface="Noto Sans SC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0" y="787400"/>
            <a:ext cx="10439400" cy="63500"/>
            <a:chOff x="0" y="1240"/>
            <a:chExt cx="16440" cy="100"/>
          </a:xfrm>
        </p:grpSpPr>
        <p:sp>
          <p:nvSpPr>
            <p:cNvPr id="45" name="AutoShape 13"/>
            <p:cNvSpPr/>
            <p:nvPr/>
          </p:nvSpPr>
          <p:spPr>
            <a:xfrm>
              <a:off x="0" y="1240"/>
              <a:ext cx="5260" cy="100"/>
            </a:xfrm>
            <a:prstGeom prst="roundRect">
              <a:avLst>
                <a:gd name="adj" fmla="val 0"/>
              </a:avLst>
            </a:prstGeom>
            <a:solidFill>
              <a:srgbClr val="66087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>
                  <a:latin typeface="Noto Sans SC"/>
                  <a:ea typeface="Noto Sans SC"/>
                  <a:cs typeface="Noto Sans SC"/>
                </a:defRPr>
              </a:pPr>
            </a:p>
          </p:txBody>
        </p:sp>
        <p:cxnSp>
          <p:nvCxnSpPr>
            <p:cNvPr id="46" name="Connector 12"/>
            <p:cNvCxnSpPr/>
            <p:nvPr/>
          </p:nvCxnSpPr>
          <p:spPr>
            <a:xfrm>
              <a:off x="0" y="1280"/>
              <a:ext cx="16440" cy="2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660874">
                  <a:alpha val="100000"/>
                </a:srgbClr>
              </a:solidFill>
              <a:prstDash val="solid"/>
              <a:miter lim="10000000"/>
              <a:headEnd type="none" w="med" len="med"/>
              <a:tailEnd type="none" w="med" len="med"/>
            </a:ln>
          </p:spPr>
        </p:cxnSp>
      </p:grpSp>
      <p:sp>
        <p:nvSpPr>
          <p:cNvPr id="7" name="文本框 6"/>
          <p:cNvSpPr txBox="1"/>
          <p:nvPr/>
        </p:nvSpPr>
        <p:spPr>
          <a:xfrm>
            <a:off x="1570355" y="2252980"/>
            <a:ext cx="78378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4060" y="2091690"/>
            <a:ext cx="5934710" cy="3117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latin typeface="Noto Sans SC"/>
                <a:ea typeface="Noto Sans SC"/>
                <a:cs typeface="Noto Sans SC"/>
              </a:rPr>
              <a:t>绘制热力图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```bash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python visualize_attention.py --ckpt outputs/cpu_teaching_20260813_121312/model.pt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en-US" altLang="zh-CN" sz="1800">
                <a:latin typeface="Noto Sans SC"/>
                <a:ea typeface="Noto Sans SC"/>
                <a:cs typeface="Noto Sans SC"/>
              </a:rPr>
              <a:t>```</a:t>
            </a:r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zh-CN" altLang="en-US" sz="1800">
                <a:latin typeface="Noto Sans SC"/>
                <a:ea typeface="Noto Sans SC"/>
                <a:cs typeface="Noto Sans SC"/>
              </a:rPr>
              <a:t>横轴 = 被关注的词；纵轴 = 发出关注的词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endParaRPr lang="en-US" altLang="zh-CN" sz="1800">
              <a:latin typeface="Noto Sans SC"/>
              <a:ea typeface="Noto Sans SC"/>
              <a:cs typeface="Noto Sans SC"/>
            </a:endParaRPr>
          </a:p>
          <a:p>
            <a:r>
              <a:rPr lang="zh-CN" altLang="en-US" sz="1800">
                <a:latin typeface="Noto Sans SC"/>
                <a:ea typeface="Noto Sans SC"/>
                <a:cs typeface="Noto Sans SC"/>
              </a:rPr>
              <a:t>深蓝色 = 注意力分数高（权重接近 1）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r>
              <a:rPr lang="zh-CN" altLang="en-US" sz="1800">
                <a:latin typeface="Noto Sans SC"/>
                <a:ea typeface="Noto Sans SC"/>
                <a:cs typeface="Noto Sans SC"/>
              </a:rPr>
              <a:t>浅黄色 = 注意力几乎为 0。</a:t>
            </a:r>
            <a:endParaRPr lang="zh-CN" altLang="en-US" sz="1800">
              <a:latin typeface="Noto Sans SC"/>
              <a:ea typeface="Noto Sans SC"/>
              <a:cs typeface="Noto Sans SC"/>
            </a:endParaRPr>
          </a:p>
          <a:p>
            <a:endParaRPr lang="en-US" altLang="zh-CN" sz="1800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780" y="1379855"/>
            <a:ext cx="5079365" cy="42329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18800" y="6540500"/>
            <a:ext cx="1270000" cy="241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3" name="AutoShape 3"/>
          <p:cNvSpPr/>
          <p:nvPr/>
        </p:nvSpPr>
        <p:spPr>
          <a:xfrm>
            <a:off x="114300" y="6527800"/>
            <a:ext cx="40767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10609060101010101" charset="-122"/>
                <a:ea typeface="Noto Sans SC" panose="02010609060101010101" charset="-122"/>
                <a:cs typeface="Noto Sans SC" panose="02010609060101010101" charset="-122"/>
                <a:sym typeface="黑体" panose="02010609060101010101" charset="-122"/>
              </a:rPr>
              <a:t>沐曦内部资料</a:t>
            </a:r>
            <a:r>
              <a:rPr lang="en-US" sz="900" b="0" i="0" u="none" strike="noStrike">
                <a:solidFill>
                  <a:srgbClr val="898989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| MetaX Confidential | All Rights Reserved |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993900" y="901700"/>
            <a:ext cx="1892300" cy="32639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sp>
        <p:nvSpPr>
          <p:cNvPr id="5" name="AutoShape 5"/>
          <p:cNvSpPr/>
          <p:nvPr/>
        </p:nvSpPr>
        <p:spPr>
          <a:xfrm>
            <a:off x="-990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A894B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168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177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#A894B1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879600" y="1066800"/>
            <a:ext cx="787400" cy="7239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102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116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#660874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-18796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1E8E9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30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148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#1E8E94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-1003300" y="2730500"/>
            <a:ext cx="787400" cy="723900"/>
          </a:xfrm>
          <a:prstGeom prst="roundRect">
            <a:avLst>
              <a:gd name="adj" fmla="val 0"/>
            </a:avLst>
          </a:prstGeom>
          <a:solidFill>
            <a:srgbClr val="E5E6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229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230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233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000000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#E5E6E9</a:t>
            </a:r>
            <a:endParaRPr lang="en-US" sz="1000" b="0" i="0" u="none" strike="noStrike">
              <a:solidFill>
                <a:srgbClr val="000000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879600" y="1892300"/>
            <a:ext cx="787400" cy="723900"/>
          </a:xfrm>
          <a:prstGeom prst="roundRect">
            <a:avLst>
              <a:gd name="adj" fmla="val 0"/>
            </a:avLst>
          </a:prstGeom>
          <a:solidFill>
            <a:srgbClr val="48BB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72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#48BB00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-990600" y="1879600"/>
            <a:ext cx="787400" cy="723900"/>
          </a:xfrm>
          <a:prstGeom prst="roundRect">
            <a:avLst>
              <a:gd name="adj" fmla="val 0"/>
            </a:avLst>
          </a:prstGeom>
          <a:solidFill>
            <a:srgbClr val="A4D4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164</a:t>
            </a:r>
            <a:endParaRPr lang="en-US" sz="1100">
              <a:latin typeface="Noto Sans SC"/>
              <a:ea typeface="Noto Sans SC"/>
              <a:cs typeface="Noto Sans SC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212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135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#A4D487</a:t>
            </a:r>
            <a:endParaRPr lang="en-US" sz="1000" b="0" i="0" u="none" strike="noStrike">
              <a:solidFill>
                <a:srgbClr val="FFFFFF"/>
              </a:solidFill>
              <a:latin typeface="Noto Sans SC" panose="020B0604020202020204"/>
              <a:ea typeface="Noto Sans SC" panose="020B0604020202020204"/>
              <a:cs typeface="Noto Sans SC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879600" y="3606800"/>
            <a:ext cx="16129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50900" y="3848100"/>
            <a:ext cx="2082800" cy="101600"/>
          </a:xfrm>
          <a:prstGeom prst="roundRect">
            <a:avLst>
              <a:gd name="adj" fmla="val 0"/>
            </a:avLst>
          </a:prstGeom>
          <a:solidFill>
            <a:srgbClr val="66087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>
                <a:latin typeface="Noto Sans SC"/>
                <a:ea typeface="Noto Sans SC"/>
                <a:cs typeface="Noto Sans SC"/>
              </a:defRPr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3600" y="406400"/>
            <a:ext cx="14859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49300" y="2438400"/>
            <a:ext cx="91440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00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4400" b="1" i="0" u="none" strike="noStrike">
                <a:solidFill>
                  <a:srgbClr val="FFFFFF"/>
                </a:solidFill>
                <a:latin typeface="Noto Sans SC" panose="020B0604020202020204"/>
                <a:ea typeface="Noto Sans SC" panose="020B0604020202020204"/>
                <a:cs typeface="Noto Sans SC" panose="020B0604020202020204"/>
                <a:sym typeface="Arial" panose="020B0604020202020204"/>
              </a:rPr>
              <a:t>Thanks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49300" y="4191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01600" rIns="88900" bIns="101600" rtlCol="0" anchor="t" anchorCtr="0"/>
          <a:lstStyle/>
          <a:p>
            <a:pPr marL="0" indent="0" algn="l">
              <a:lnSpc>
                <a:spcPct val="108000"/>
              </a:lnSpc>
              <a:defRPr>
                <a:latin typeface="Noto Sans SC"/>
                <a:ea typeface="Noto Sans SC"/>
                <a:cs typeface="Noto Sans SC"/>
              </a:defRPr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2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3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4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5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6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7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8.xml><?xml version="1.0" encoding="utf-8"?>
<p:tagLst xmlns:p="http://schemas.openxmlformats.org/presentationml/2006/main">
  <p:tag name="KSO_WM_DIAGRAM_VIRTUALLY_FRAME" val="{&quot;height&quot;:190.8,&quot;left&quot;:57.6,&quot;top&quot;:118.8,&quot;width&quot;:857.5200000000001}"/>
</p:tagLst>
</file>

<file path=ppt/tags/tag9.xml><?xml version="1.0" encoding="utf-8"?>
<p:tagLst xmlns:p="http://schemas.openxmlformats.org/presentationml/2006/main">
  <p:tag name="KSO_WM_DIAGRAM_VIRTUALLY_FRAME" val="{&quot;height&quot;:190.8,&quot;left&quot;:57.6,&quot;top&quot;:118.8,&quot;width&quot;:857.5200000000001}"/>
</p:tagLst>
</file>

<file path=ppt/tags/tag10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11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12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13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14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15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16.xml><?xml version="1.0" encoding="utf-8"?>
<p:tagLst xmlns:p="http://schemas.openxmlformats.org/presentationml/2006/main">
  <p:tag name="KSO_WM_DIAGRAM_VIRTUALLY_FRAME" val="{&quot;height&quot;:349.2,&quot;left&quot;:59.04,&quot;top&quot;:111.6,&quot;width&quot;:851.5600000000001}"/>
</p:tagLst>
</file>

<file path=ppt/tags/tag17.xml><?xml version="1.0" encoding="utf-8"?>
<p:tagLst xmlns:p="http://schemas.openxmlformats.org/presentationml/2006/main">
  <p:tag name="KSO_WM_DIAGRAM_VIRTUALLY_FRAME" val="{&quot;height&quot;:349.2,&quot;left&quot;:59.04,&quot;top&quot;:111.6,&quot;width&quot;:851.5600000000001}"/>
</p:tagLst>
</file>

<file path=ppt/tags/tag18.xml><?xml version="1.0" encoding="utf-8"?>
<p:tagLst xmlns:p="http://schemas.openxmlformats.org/presentationml/2006/main">
  <p:tag name="KSO_WM_DIAGRAM_VIRTUALLY_FRAME" val="{&quot;height&quot;:349.2,&quot;left&quot;:59.04,&quot;top&quot;:111.6,&quot;width&quot;:851.5600000000001}"/>
</p:tagLst>
</file>

<file path=ppt/tags/tag19.xml><?xml version="1.0" encoding="utf-8"?>
<p:tagLst xmlns:p="http://schemas.openxmlformats.org/presentationml/2006/main">
  <p:tag name="TABLE_ENDDRAG_ORIGIN_RECT" val="537*148"/>
  <p:tag name="TABLE_ENDDRAG_RECT" val="230*306*537*148"/>
</p:tagLst>
</file>

<file path=ppt/tags/tag20.xml><?xml version="1.0" encoding="utf-8"?>
<p:tagLst xmlns:p="http://schemas.openxmlformats.org/presentationml/2006/main">
  <p:tag name="KSO_WM_DIAGRAM_VIRTUALLY_FRAME" val="{&quot;height&quot;:349.2,&quot;left&quot;:59.04,&quot;top&quot;:111.6,&quot;width&quot;:851.5600000000001}"/>
</p:tagLst>
</file>

<file path=ppt/tags/tag21.xml><?xml version="1.0" encoding="utf-8"?>
<p:tagLst xmlns:p="http://schemas.openxmlformats.org/presentationml/2006/main">
  <p:tag name="KSO_WM_DIAGRAM_VIRTUALLY_FRAME" val="{&quot;height&quot;:349.2,&quot;left&quot;:59.04,&quot;top&quot;:111.6,&quot;width&quot;:851.5600000000001}"/>
</p:tagLst>
</file>

<file path=ppt/tags/tag22.xml><?xml version="1.0" encoding="utf-8"?>
<p:tagLst xmlns:p="http://schemas.openxmlformats.org/presentationml/2006/main">
  <p:tag name="KSO_WM_DIAGRAM_VIRTUALLY_FRAME" val="{&quot;height&quot;:349.2,&quot;left&quot;:59.04,&quot;top&quot;:111.6,&quot;width&quot;:851.5600000000001}"/>
</p:tagLst>
</file>

<file path=ppt/tags/tag23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24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ags/tag25.xml><?xml version="1.0" encoding="utf-8"?>
<p:tagLst xmlns:p="http://schemas.openxmlformats.org/presentationml/2006/main">
  <p:tag name="KSO_WM_DIAGRAM_VIRTUALLY_FRAME" val="{&quot;height&quot;:260.05,&quot;left&quot;:81.4,&quot;top&quot;:106.5,&quot;width&quot;:911.72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SC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9003</Words>
  <Application>WPS 演示</Application>
  <PresentationFormat>宽屏</PresentationFormat>
  <Paragraphs>1349</Paragraphs>
  <Slides>30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30</vt:i4>
      </vt:variant>
    </vt:vector>
  </HeadingPairs>
  <TitlesOfParts>
    <vt:vector size="51" baseType="lpstr">
      <vt:lpstr>Arial</vt:lpstr>
      <vt:lpstr>宋体</vt:lpstr>
      <vt:lpstr>Wingdings</vt:lpstr>
      <vt:lpstr>Arial</vt:lpstr>
      <vt:lpstr>黑体</vt:lpstr>
      <vt:lpstr>Times New Roman</vt:lpstr>
      <vt:lpstr>微软雅黑</vt:lpstr>
      <vt:lpstr>Noto Sans SC</vt:lpstr>
      <vt:lpstr>Calibri</vt:lpstr>
      <vt:lpstr>Courier New</vt:lpstr>
      <vt:lpstr>Arial Unicode MS</vt:lpstr>
      <vt:lpstr>Cambria</vt:lpstr>
      <vt:lpstr>Cambria Math</vt:lpstr>
      <vt:lpstr>Consolas</vt:lpstr>
      <vt:lpstr>Office 主题​​</vt:lpstr>
      <vt:lpstr>默认主题</vt:lpstr>
      <vt:lpstr>2_默认主题</vt:lpstr>
      <vt:lpstr>3_默认主题</vt:lpstr>
      <vt:lpstr>1_默认主题</vt:lpstr>
      <vt:lpstr>4_默认主题</vt:lpstr>
      <vt:lpstr>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晴</cp:lastModifiedBy>
  <cp:revision>28</cp:revision>
  <dcterms:created xsi:type="dcterms:W3CDTF">2026-08-11T02:29:00Z</dcterms:created>
  <dcterms:modified xsi:type="dcterms:W3CDTF">2026-08-13T04:50:40Z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{"Label":"1","ContentProducer":"001191110102MACQD9K64010000","ProduceID":"7672593847834627032","ReservedCode1":"","ContentPropagator":"","PropagateID":"","ReservedCode2":""}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0673B2FF46174260BA9C8C488709DBB9_13</vt:lpwstr>
  </property>
</Properties>
</file>
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开场：这节课不追求覆盖所有优化技术，而是用一个真实 Softmax 实验完成可复用的优化闭环。</a:t>
            </a:r>
          </a:p>
          <a:p/>
          <a:p>
            <a:r>
              <a:t>[Sources]</a:t>
            </a:r>
          </a:p>
          <a:p>
            <a:r>
              <a:t>- C:/Users/i26423/Desktop/code/happy-llm/第6课课程大纲_V4.md</a:t>
            </a:r>
          </a:p>
          <a:p>
            <a:r>
              <a:t>- C:/Users/i26423/Desktop/code/happy-llm/沐曦ppt模板.pptx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开场说明：本课分为五段。先建立 GPU 并行执行与内存层级的基础，再明确 Softmax 的稳定公式和行映射；随后实现三个不同并行粒度的 kernel，通过正确性与真实性能实验判断价值，最后以 PyTorch 扩展方式接回 Transformer。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本页改用同一工作负载的性能对比，避免用 CPU 物理核心数与 GPU 显存容量做错位比较。沐曦公开案例披露：单张曦云 C500 执行 FEP 计算时，速度可达到 128 核 CPU 服务器的 3 倍以上；8 张 C500 的整体效率相较同等规模 128 核 CPU 计算资源提升约 17 倍。沐曦开发文档披露 MACA 平台 warpsize 为 64。本页的 8×8 网格用于准确表示 64 个 lane 组成一个 Wave；不表示 C500 的硬件计算核心总数，后者没有公开可直接与 CPU 物理核心换算的数据。</a:t>
            </a:r>
          </a:p>
          <a:p/>
          <a:p>
            <a:r>
              <a:t>[Sources]</a:t>
            </a:r>
          </a:p>
          <a:p>
            <a:r>
              <a:t>- https://www.metax-tech.com/ndetail/12510.html</a:t>
            </a:r>
          </a:p>
          <a:p>
            <a:r>
              <a:t>- https://developer.metax-tech.com/doc/229</a:t>
            </a:r>
          </a:p>
          <a:p>
            <a:r>
              <a:t>- https://www.metax-tech.com/prod.html?cid=107&amp;id=21</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说明 Grid、Block、Thread 是软件组织层次，Wave 是硬件执行粒度。lane 不是新的线程层级，而是线程在当前 Wave 内的位置编号；曦云系列一个 Wave 有 64 个 lane，编号为 0–63。本页不提前展开 shuffle。</a:t>
            </a:r>
          </a:p>
          <a:p/>
          <a:p>
            <a:r>
              <a:t>[Sources]</a:t>
            </a:r>
          </a:p>
          <a:p>
            <a:r>
              <a:t>- C:/Users/i26423/Desktop/code/happy-llm/Transformer-on-MetaX-GPU/MACA教程/README.md</a:t>
            </a:r>
          </a:p>
          <a:p>
            <a:r>
              <a:t>- C:/Users/i26423/Desktop/code/happy-llm/maca_softmax/src/kernels.maca</a:t>
            </a:r>
          </a:p>
          <a:p>
            <a:r>
              <a:t>- C:/Users/i26423/Desktop/code/happy-llm/maca_softmax/results/environment.md</a:t>
            </a:r>
          </a:p>
          <a:p>
            <a:r>
              <a:t>
讲解提示：先沿上方四个概念顺序讲，再用下方放大图强调 Wave 是硬件分组、lane 是组内位置，不是新的软件线程层级。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周期数使用 GPU 教学中常见的经典数量级，只用于建立存储层次直觉，不是曦云 C500 的实测固定延迟。寄存器约 1 cycle、共享内存约 20–30 cycles、全局内存约 400–800 cycles；缓存命中、冲突、并发隐藏和具体架构都会改变观测值。shuffle 让同一 Wave 内的 lane 直接读取其他 lane 的寄存器值，避免“寄存器写共享内存—同步—再读回”的中转路径，因此适合快速 Wave 内规约。</a:t>
            </a:r>
          </a:p>
          <a:p/>
          <a:p>
            <a:r>
              <a:t>[Sources]</a:t>
            </a:r>
          </a:p>
          <a:p>
            <a:r>
              <a:t>- David B. Kirk and Wen-mei W. Hwu, Programming Massively Parallel Processors, memory latency hierarchy (classic teaching magnitudes)</a:t>
            </a:r>
          </a:p>
          <a:p>
            <a:r>
              <a:t>- NVIDIA CUDA C++ Programming Guide, Warp Shuffle Functions</a:t>
            </a:r>
          </a:p>
          <a:p>
            <a:r>
              <a:t>- C:/Users/i26423/Desktop/code/happy-llm/Transformer-on-MetaX-GPU/MACA教程/chapter6/__shfl_xor_syncExample.cpp</a:t>
            </a:r>
          </a:p>
          <a:p>
            <a:r>
              <a:t>- C:/Users/i26423/Desktop/code/happy-llm/maca_softmax/src/kernels.maca</a:t>
            </a:r>
          </a:p>
          <a:p>
            <a:r>
              <a:t>
示例说明：数值仅用于解释数据位置与协作范围。第一行展示同一 Wave 内的寄存器 Shuffle；第二行展示多个 Wave 的部分最大值写入共享内存，完成块级同步后得到 Block 最大值；跨 Block 时再写回全局内存，由后续 kernel 继续归约。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让学员先回答：只要单 kernel 更快，是否就应该替换框架实现？保留答案，结尾回收。</a:t>
            </a:r>
          </a:p>
          <a:p/>
          <a:p>
            <a:r>
              <a:t>[Sources]</a:t>
            </a:r>
          </a:p>
          <a:p>
            <a:r>
              <a:t>- C:/Users/i26423/Desktop/code/happy-llm/第6课课程大纲_V4.md</a:t>
            </a:r>
          </a:p>
          <a:p>
            <a:r>
              <a:t>
讲解提示：先看正确性，再看目标硬件上的真实 shape 性能，最后验证 PyTorch 扩展与模型端到端调用。三项缺一不可，避免只凭单个 microbenchmark 决定替换。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工程优化首先看 profiling 和端到端贡献，不能因为某个算子适合展示就默认它是瓶颈。</a:t>
            </a:r>
          </a:p>
          <a:p>
            <a:r>
              <a:t>本课选择 Softmax 是教学取舍：结构清晰，足以承载线程映射、规约、数值稳定和验证方法。</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四个目标均可通过课堂演示或课后任务验证。</a:t>
            </a:r>
          </a:p>
          <a:p>
            <a:r>
              <a:t>验证不仅要看误差和延迟，还要结合输入 shape 解释不同线程映射与规约方式的性能差异。</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强调这里只替换 Softmax 计算，不改变 Attention 的输入输出契约。</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这是后续线程映射的共同输入契约；rows 控制并行行数，cols 决定行内工作量。</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用一个极端输入说明：直接 exp 可能溢出；平移不改变 Softmax 比例。</a:t>
            </a:r>
          </a:p>
          <a:p/>
          <a:p>
            <a:r>
              <a:t>[Sources]</a:t>
            </a:r>
          </a:p>
          <a:p>
            <a:r>
              <a:t>- C:/Users/i26423/Desktop/code/happy-llm/第6课课程大纲_V4.md</a:t>
            </a:r>
          </a:p>
          <a:p>
            <a:r>
              <a:t>- C:/Users/i26423/Desktop/code/happy-llm/maca_softmax/实验报告.md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这里只讲理解代码所需的最小 GPU 知识，不扩展到完整硬件架构。</a:t>
            </a:r>
          </a:p>
          <a:p/>
          <a:p>
            <a:r>
              <a:t>[Sources]</a:t>
            </a:r>
          </a:p>
          <a:p>
            <a:r>
              <a:t>- C:/Users/i26423/Desktop/code/happy-llm/maca_softmax/src/kernels.maca</a:t>
            </a:r>
          </a:p>
          <a:p>
            <a:r>
              <a:t>- C:/Users/i26423/Desktop/code/happy-llm/maca_softmax/实验报告.md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先让学员看到验收门槛，再进入版本实现；这样不会把速度凌驾于正确性之上。</a:t>
            </a:r>
          </a:p>
          <a:p/>
          <a:p>
            <a:r>
              <a:t>[Sources]</a:t>
            </a:r>
          </a:p>
          <a:p>
            <a:r>
              <a:t>- C:/Users/i26423/Desktop/code/happy-llm/maca_softmax/实验报告.md</a:t>
            </a:r>
          </a:p>
          <a:p>
            <a:r>
              <a:t>- C:/Users/i26423/Desktop/code/happy-llm/maca_softmax/results/stability.csv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提醒学员：单 kernel 延迟和模型端到端延迟是两个不同指标。</a:t>
            </a:r>
          </a:p>
          <a:p/>
          <a:p>
            <a:r>
              <a:t>[Sources]</a:t>
            </a:r>
          </a:p>
          <a:p>
            <a:r>
              <a:t>- C:/Users/i26423/Desktop/code/happy-llm/maca_softmax/实验报告.md</a:t>
            </a:r>
          </a:p>
          <a:p>
            <a:r>
              <a:t>- C:/Users/i26423/Desktop/code/happy-llm/maca_softmax/benchmark.cpp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这张总览建立比较框架，随后分别走读决定性能差异的代码。</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指出三次按列扫描：max、sum、写回。v1 是正确性与性能基线，不是推荐方案。</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解释步长为 blockDim.x 的列循环；非 2 的幂 cols 通过边界条件自然处理。</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不逐行解释全部代码，只聚焦 local value、scratch、stride 和同步。</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强调 v3 并不是 warp=32 的 CUDA 假设；本实验显式检查 C500 waveSize=64。</a:t>
            </a:r>
          </a:p>
          <a:p/>
          <a:p>
            <a:r>
              <a:t>[Sources]</a:t>
            </a:r>
          </a:p>
          <a:p>
            <a:r>
              <a:t>- C:/Users/i26423/Desktop/code/happy-llm/maca_softmax/src/kernels.maca</a:t>
            </a:r>
          </a:p>
          <a:p>
            <a:r>
              <a:t>- C:/Users/i26423/Desktop/code/happy-llm/maca_softmax/实验报告.md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只解释 offset 递减和列步长 64。mask 为 64 位满掩码，与环境 wave size 一致。</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引导学员用成本模型预测：v3 在窄行有优势，v2 在超宽行可能反超。</a:t>
            </a:r>
          </a:p>
          <a:p/>
          <a:p>
            <a:r>
              <a:t>[Sources]</a:t>
            </a:r>
          </a:p>
          <a:p>
            <a:r>
              <a:t>- C:/Users/i26423/Desktop/code/happy-llm/maca_softmax/src/kernels.maca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停留约 30 秒让学员投票；不要提前给出答案。</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纵轴为对数尺度。先读整体趋势，再指出 512/513 的非单调现象需要 profiler 才能解释因果。</a:t>
            </a:r>
          </a:p>
          <a:p/>
          <a:p>
            <a:r>
              <a:t>[Sources]</a:t>
            </a:r>
          </a:p>
          <a:p>
            <a:r>
              <a:t>- C:/Users/i26423/Desktop/code/happy-llm/maca_softmax/实验报告.md</a:t>
            </a:r>
          </a:p>
          <a:p>
            <a:r>
              <a:t>- C:/Users/i26423/Desktop/code/happy-llm/maca_softmax/results/performance_primary.csv</a:t>
            </a:r>
          </a:p>
          <a:p>
            <a:r>
              <a:t>- C:/Users/i26423/Desktop/code/happy-llm/maca_softmax/results/figures/performance_latency.png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结论只针对本次 float32 前向验收；不代表半精度、反向或非连续 Tensor 已通过。</a:t>
            </a:r>
          </a:p>
          <a:p/>
          <a:p>
            <a:r>
              <a:t>[Sources]</a:t>
            </a:r>
          </a:p>
          <a:p>
            <a:r>
              <a:t>- C:/Users/i26423/Desktop/code/happy-llm/maca_softmax/实验报告.md</a:t>
            </a:r>
          </a:p>
          <a:p>
            <a:r>
              <a:t>- C:/Users/i26423/Desktop/code/happy-llm/maca_softmax/results/stability.csv</a:t>
            </a:r>
          </a:p>
          <a:p>
            <a:r>
              <a:t>- C:/Users/i26423/Desktop/code/happy-llm/maca_softmax/results/figures/numerical_stability.png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口播精确延迟：64 列 v3=0.0167 ms；512 列 v3=0.0408 ms；4096 列 v2=0.2425 ms。</a:t>
            </a:r>
          </a:p>
          <a:p/>
          <a:p>
            <a:r>
              <a:t>[Sources]</a:t>
            </a:r>
          </a:p>
          <a:p>
            <a:r>
              <a:t>- C:/Users/i26423/Desktop/code/happy-llm/maca_softmax/实验报告.md</a:t>
            </a:r>
          </a:p>
          <a:p>
            <a:r>
              <a:t>- C:/Users/i26423/Desktop/code/happy-llm/maca_softmax/results/figures/speedup_vs_v1.png</a:t>
            </a:r>
          </a:p>
          <a:p>
            <a:r>
              <a:t>- C:/Users/i26423/Desktop/code/happy-llm/maca_softmax/results/figures/ppt_performance_summary.csv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这是课堂最重要的证据边界案例：比较平均差异时必须结合重复性。</a:t>
            </a:r>
          </a:p>
          <a:p/>
          <a:p>
            <a:r>
              <a:t>[Sources]</a:t>
            </a:r>
          </a:p>
          <a:p>
            <a:r>
              <a:t>- C:/Users/i26423/Desktop/code/happy-llm/maca_softmax/实验报告.md</a:t>
            </a:r>
          </a:p>
          <a:p>
            <a:r>
              <a:t>- C:/Users/i26423/Desktop/code/happy-llm/maca_softmax/results/repeatability.csv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不展开 mcDNN handle、descriptor 缓存等内部细节。</a:t>
            </a:r>
          </a:p>
          <a:p/>
          <a:p>
            <a:r>
              <a:t>[Sources]</a:t>
            </a:r>
          </a:p>
          <a:p>
            <a:r>
              <a:t>- C:/Users/i26423/Desktop/code/happy-llm/maca_softmax/实验报告.md</a:t>
            </a:r>
          </a:p>
          <a:p>
            <a:r>
              <a:t>- C:/Users/i26423/Desktop/code/happy-llm/maca_softmax/src/mcdnn_softmax.cpp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现场只演示调用与结果一致性，不展开 CUDAStream 到 mcStream_t 的逐层转换代码。</a:t>
            </a:r>
          </a:p>
          <a:p/>
          <a:p>
            <a:r>
              <a:t>[Sources]</a:t>
            </a:r>
          </a:p>
          <a:p>
            <a:r>
              <a:t>- C:/Users/i26423/Desktop/code/happy-llm/maca_softmax/pytorch_extension/binding.cpp</a:t>
            </a:r>
          </a:p>
          <a:p>
            <a:r>
              <a:t>- C:/Users/i26423/Desktop/code/happy-llm/maca_softmax/results/pytorch_extension.csv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明确不能把单 kernel 加速等比例外推为模型加速。最终 vocabulary logits 与确定性 argmax 是端到端数值验收的一部分。</a:t>
            </a:r>
          </a:p>
          <a:p/>
          <a:p>
            <a:r>
              <a:t>[Sources]</a:t>
            </a:r>
          </a:p>
          <a:p>
            <a:r>
              <a:t>- C:/Users/i26423/Desktop/code/happy-llm/第6课课程大纲_V4.md</a:t>
            </a:r>
          </a:p>
          <a:p>
            <a:r>
              <a:t>- C:/Users/i26423/Desktop/code/happy-llm/maca_softmax/实验报告.md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控制在 6 分钟内。不要现场写代码，也不布置 Triton/TileLang 实现作业。</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邀请学员用这五步复述本课。强调复杂代码不是目标，可靠收益才是目标。</a:t>
            </a:r>
          </a:p>
          <a:p/>
          <a:p>
            <a:r>
              <a:t>[Sources]</a:t>
            </a:r>
          </a:p>
          <a:p>
            <a:r>
              <a:t>- C:/Users/i26423/Desktop/code/happy-llm/第6课课程大纲_V4.md</a:t>
            </a:r>
          </a:p>
          <a:p>
            <a:r>
              <a:t>
补充：先用 profiling 确认整体瓶颈，再进入实现与接入判断。教学中的 Softmax 不代表模型瓶颈。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提交物限定为一页，强迫学员提炼证据链而不是堆代码。</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结束语：算法优化不是追求更复杂的代码，而是在正确性不变的前提下，用目标硬件的数据做工程选择。</a:t>
            </a:r>
          </a:p>
          <a:p/>
          <a:p>
            <a:r>
              <a:t>[Sources]</a:t>
            </a:r>
          </a:p>
          <a:p>
            <a:r>
              <a:t>- C:/Users/i26423/Desktop/code/happy-llm/第6课课程大纲_V4.md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90204"/>
                <a:ea typeface="Arial" panose="020B0604020202090204"/>
                <a:cs typeface="Arial" panose="020B060402020209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90204"/>
                <a:ea typeface="Arial" panose="020B0604020202090204"/>
                <a:cs typeface="Arial" panose="020B060402020209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90204"/>
                <a:ea typeface="Arial" panose="020B0604020202090204"/>
                <a:cs typeface="Arial" panose="020B060402020209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90204"/>
                <a:ea typeface="Arial" panose="020B0604020202090204"/>
                <a:cs typeface="Arial" panose="020B060402020209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90204"/>
                <a:ea typeface="Arial" panose="020B0604020202090204"/>
                <a:cs typeface="Arial" panose="020B060402020209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90204"/>
                <a:ea typeface="Arial" panose="020B0604020202090204"/>
                <a:cs typeface="Arial" panose="020B060402020209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90204"/>
                <a:ea typeface="Arial" panose="020B0604020202090204"/>
                <a:cs typeface="Arial" panose="020B060402020209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90204"/>
                <a:ea typeface="Arial" panose="020B0604020202090204"/>
                <a:cs typeface="Arial" panose="020B0604020202090204"/>
              </a:defRPr>
            </a:lvl1pPr>
            <a:lvl2pPr marL="685800" indent="-228600">
              <a:lnSpc>
                <a:spcPct val="150000"/>
              </a:lnSpc>
              <a:buClr>
                <a:srgbClr val="660874"/>
              </a:buClr>
              <a:buSzPct val="100000"/>
              <a:buFont typeface="ZapfDingbatsITC" panose="05020102010704020609"/>
              <a:buChar char="➤"/>
              <a:defRPr sz="1600" b="0" i="0" baseline="0">
                <a:solidFill>
                  <a:schemeClr val="tx1">
                    <a:lumMod val="75000"/>
                    <a:lumOff val="25000"/>
                  </a:schemeClr>
                </a:solidFill>
                <a:latin typeface="Arial" panose="020B0604020202090204"/>
                <a:ea typeface="Arial" panose="020B0604020202090204"/>
                <a:cs typeface="Arial" panose="020B0604020202090204"/>
              </a:defRPr>
            </a:lvl2pPr>
            <a:lvl3pPr marL="1143000" indent="-228600">
              <a:lnSpc>
                <a:spcPct val="150000"/>
              </a:lnSpc>
              <a:buClr>
                <a:srgbClr val="660874"/>
              </a:buClr>
              <a:buSzPct val="100000"/>
              <a:buFont typeface="AppleSymbols" panose="02000000000000000000"/>
              <a:buChar char="▻"/>
              <a:defRPr sz="1400" b="0" i="0" baseline="0">
                <a:latin typeface="Arial" panose="020B0604020202090204"/>
                <a:ea typeface="Arial" panose="020B0604020202090204"/>
                <a:cs typeface="Arial" panose="020B060402020209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90204"/>
                <a:ea typeface="Arial" panose="020B0604020202090204"/>
                <a:cs typeface="Arial" panose="020B060402020209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90204"/>
                <a:ea typeface="Arial" panose="020B0604020202090204"/>
                <a:cs typeface="Arial" panose="020B0604020202090204"/>
              </a:defRPr>
            </a:lvl1pPr>
            <a:lvl2pPr marL="685800" indent="-228600">
              <a:lnSpc>
                <a:spcPct val="150000"/>
              </a:lnSpc>
              <a:buClr>
                <a:srgbClr val="660874"/>
              </a:buClr>
              <a:buSzPct val="80000"/>
              <a:buFont typeface="ZapfDingbatsITC" panose="05020102010704020609"/>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panose="02000000000000000000"/>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90204"/>
                <a:ea typeface="Arial" panose="020B0604020202090204"/>
                <a:cs typeface="Arial" panose="020B0604020202090204"/>
              </a:defRPr>
            </a:lvl1pPr>
          </a:lstStyle>
          <a:p>
            <a:pPr lvl="0">
              <a:buNone/>
            </a:p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90204"/>
                <a:ea typeface="Arial" panose="020B0604020202090204"/>
                <a:cs typeface="Arial" panose="020B0604020202090204"/>
              </a:rPr>
              <a:t>DISCLAIMER &amp; ATTRIBUTION</a:t>
            </a:r>
            <a:endParaRPr sz="3200" b="1" i="0" baseline="0">
              <a:solidFill>
                <a:schemeClr val="tx1"/>
              </a:solidFill>
              <a:latin typeface="Arial" panose="020B0604020202090204"/>
              <a:ea typeface="Arial" panose="020B0604020202090204"/>
              <a:cs typeface="Arial" panose="020B060402020209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MetaX Integrated Circuits (Shanghai) Co., Ltd. and/or its affiliates (hereinafter collectively referred to as “MetaX”).  The information presented in this presentation should be kept strictly confidential and should not be allowed to make available to others without written consent from MetaX.</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MetaX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 </a:t>
            </a:r>
            <a:r>
              <a:rPr sz="1600" b="0" i="0">
                <a:solidFill>
                  <a:srgbClr val="000000"/>
                </a:solidFill>
                <a:latin typeface="+mn-ea"/>
                <a:ea typeface="+mn-ea"/>
                <a:cs typeface="+mn-ea"/>
              </a:rPr>
              <a:t>沐曦,</a:t>
            </a:r>
            <a:r>
              <a:rPr sz="1600" b="0" i="0">
                <a:solidFill>
                  <a:srgbClr val="000000"/>
                </a:solidFill>
                <a:latin typeface="+mn-lt"/>
                <a:ea typeface="+mn-lt"/>
                <a:cs typeface="+mn-lt"/>
              </a:rPr>
              <a:t> the MetaX logo and combinations thereof are trademarks of MetaX.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空白-旧">
    <p:spTree>
      <p:nvGrpSpPr>
        <p:cNvPr id="1" name=""/>
        <p:cNvGrpSpPr/>
        <p:nvPr/>
      </p:nvGrpSpPr>
      <p:grpSpPr/>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51318E"/>
              </a:solidFill>
              <a:latin typeface="思源黑体 CN Regular"/>
              <a:ea typeface="思源黑体 CN Regular"/>
              <a:cs typeface="思源黑体 CN Regular"/>
            </a:endParaRPr>
          </a:p>
        </p:txBody>
      </p:sp>
      <p:pic>
        <p:nvPicPr>
          <p:cNvPr id="19" name="图片 13"/>
          <p:cNvPicPr>
            <a:picLocks noChangeAspect="1"/>
          </p:cNvPicPr>
          <p:nvPr/>
        </p:nvPicPr>
        <p:blipFill>
          <a:blip r:embed="rId2"/>
          <a:srcRect/>
          <a:stretch>
            <a:fillRect/>
          </a:stretch>
        </p:blipFill>
        <p:spPr>
          <a:xfrm>
            <a:off x="10502900" y="466185"/>
            <a:ext cx="1114425" cy="270319"/>
          </a:xfrm>
          <a:prstGeom prst="rect">
            <a:avLst/>
          </a:prstGeom>
        </p:spPr>
      </p:pic>
      <p:sp>
        <p:nvSpPr>
          <p:cNvPr id="15" name="标题 1"/>
          <p:cNvSpPr>
            <a:spLocks noGrp="1"/>
          </p:cNvSpPr>
          <p:nvPr>
            <p:ph type="title"/>
          </p:nvPr>
        </p:nvSpPr>
        <p:spPr>
          <a:xfrm>
            <a:off x="297277" y="45720"/>
            <a:ext cx="10515600" cy="757026"/>
          </a:xfrm>
        </p:spPr>
        <p:txBody>
          <a:bodyPr>
            <a:normAutofit/>
          </a:bodyPr>
          <a:lstStyle>
            <a:lvl1pPr>
              <a:buNone/>
              <a:defRPr sz="3200" b="1" i="0" baseline="0">
                <a:solidFill>
                  <a:schemeClr val="tx1"/>
                </a:solidFill>
                <a:latin typeface="Arial" panose="020B0604020202090204"/>
                <a:ea typeface="Arial" panose="020B0604020202090204"/>
                <a:cs typeface="Arial" panose="020B0604020202090204"/>
              </a:defRPr>
            </a:lvl1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6.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5.png"/><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90204"/>
              <a:ea typeface="Arial" panose="020B0604020202090204"/>
              <a:cs typeface="Arial" panose="020B060402020209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90204"/>
                <a:ea typeface="Arial" panose="020B0604020202090204"/>
                <a:cs typeface="Arial" panose="020B0604020202090204"/>
              </a:rPr>
              <a:t>| 沐曦内部资料 | MetaX Confidential | All Rights Reserved | </a:t>
            </a:r>
            <a:endParaRPr sz="900" b="0" i="0" baseline="0">
              <a:solidFill>
                <a:srgbClr val="898989"/>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9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9" name="文本框 8"/>
          <p:cNvSpPr>
            <a:spLocks noGrp="1"/>
          </p:cNvSpPr>
          <p:nvPr/>
        </p:nvSpPr>
        <p:spPr>
          <a:xfrm>
            <a:off x="10715725" y="6538912"/>
            <a:ext cx="1276149" cy="246221"/>
          </a:xfrm>
          <a:prstGeom prst="rect">
            <a:avLst/>
          </a:prstGeom>
          <a:noFill/>
        </p:spPr>
        <p:txBody>
          <a:bodyPr wrap="square">
            <a:spAutoFit/>
          </a:bodyPr>
          <a:lstStyle/>
          <a:p>
            <a:pPr marL="0" marR="0" lvl="0" indent="0" algn="r" defTabSz="914400">
              <a:lnSpc>
                <a:spcPct val="100000"/>
              </a:lnSpc>
              <a:spcBef>
                <a:spcPts val="0"/>
              </a:spcBef>
              <a:spcAft>
                <a:spcPts val="0"/>
              </a:spcAft>
              <a:buClrTx/>
              <a:buSzTx/>
              <a:buFontTx/>
              <a:buNone/>
            </a:pPr>
            <a:endParaRPr sz="1000" b="0" i="0" u="none" kern="1200" cap="none" spc="0" baseline="0">
              <a:ln>
                <a:noFill/>
              </a:ln>
              <a:solidFill>
                <a:srgbClr val="898989"/>
              </a:solidFill>
              <a:latin typeface="Arial" panose="020B0604020202090204"/>
              <a:ea typeface="Arial" panose="020B0604020202090204"/>
              <a:cs typeface="Arial" panose="020B0604020202090204"/>
            </a:endParaRPr>
          </a:p>
        </p:txBody>
      </p:sp>
      <p:sp>
        <p:nvSpPr>
          <p:cNvPr id="10" name="文本框 9"/>
          <p:cNvSpPr>
            <a:spLocks noGrp="1"/>
          </p:cNvSpPr>
          <p:nvPr/>
        </p:nvSpPr>
        <p:spPr>
          <a:xfrm>
            <a:off x="119427" y="6530079"/>
            <a:ext cx="4075584" cy="246221"/>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sz="1000" b="0" i="0" u="none" cap="none">
                <a:ln>
                  <a:noFill/>
                </a:ln>
                <a:solidFill>
                  <a:srgbClr val="898989"/>
                </a:solidFill>
                <a:latin typeface="Arial" panose="020B0604020202090204"/>
                <a:ea typeface="Arial" panose="020B0604020202090204"/>
                <a:cs typeface="Arial" panose="020B0604020202090204"/>
              </a:rPr>
              <a:t>| 沐曦内部资料 | MetaX Confidential | All Rights Reserved | </a:t>
            </a:r>
            <a:endParaRPr sz="1000" b="0" i="0" u="none" kern="1200" cap="none" spc="0" baseline="0">
              <a:ln>
                <a:noFill/>
              </a:ln>
              <a:solidFill>
                <a:srgbClr val="898989"/>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200" b="0" i="0" u="none" kern="1200" cap="none" spc="0" baseline="0">
              <a:ln>
                <a:noFill/>
              </a:ln>
              <a:solidFill>
                <a:prstClr val="white"/>
              </a:solidFill>
              <a:latin typeface="思源黑体 CN Regular"/>
              <a:ea typeface="思源黑体 CN Regular"/>
              <a:cs typeface="思源黑体 CN Regular"/>
            </a:endParaRPr>
          </a:p>
        </p:txBody>
      </p:sp>
      <p:sp>
        <p:nvSpPr>
          <p:cNvPr id="12" name="矩形 11"/>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#A894B1</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3" name="矩形 12"/>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8</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116</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#660874</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4" name="矩形 13"/>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30</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148</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#1E8E94</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5" name="矩形 14"/>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229</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230</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233</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#E5E6E9</a:t>
            </a:r>
            <a:endParaRPr sz="1000" b="0" i="0" u="none" kern="1200" cap="none" spc="0" baseline="0">
              <a:ln>
                <a:noFill/>
              </a:ln>
              <a:solidFill>
                <a:prstClr val="black"/>
              </a:solidFill>
              <a:latin typeface="思源黑体 CN Regular"/>
              <a:ea typeface="思源黑体 CN Regular"/>
              <a:cs typeface="思源黑体 CN Regular"/>
            </a:endParaRPr>
          </a:p>
        </p:txBody>
      </p:sp>
      <p:sp>
        <p:nvSpPr>
          <p:cNvPr id="16" name="矩形 15"/>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72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187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0</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#48BB00</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7" name="矩形 16"/>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104</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212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135</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#A4D487</a:t>
            </a:r>
            <a:endParaRPr sz="1000" b="0" i="0" u="none" kern="1200" cap="none" spc="0" baseline="0">
              <a:ln>
                <a:noFill/>
              </a:ln>
              <a:solidFill>
                <a:prstClr val="white"/>
              </a:solidFill>
              <a:latin typeface="思源黑体 CN Regular"/>
              <a:ea typeface="思源黑体 CN Regular"/>
              <a:cs typeface="思源黑体 CN Regular"/>
            </a:endParaRPr>
          </a:p>
        </p:txBody>
      </p:sp>
      <p:pic>
        <p:nvPicPr>
          <p:cNvPr id="30" name="图片 17"/>
          <p:cNvPicPr>
            <a:picLocks noChangeAspect="1"/>
          </p:cNvPicPr>
          <p:nvPr/>
        </p:nvPicPr>
        <p:blipFill>
          <a:blip r:embed="rId2"/>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9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fontScale="90000"/>
          </a:bodyPr>
          <a:lstStyle/>
          <a:p>
            <a:r>
              <a:t>第6课｜从 Transformer 到 MACA C++自定义算子实践</a:t>
            </a:r>
          </a:p>
        </p:txBody>
      </p:sp>
      <p:sp>
        <p:nvSpPr>
          <p:cNvPr id="3" name="副标题 2"/>
          <p:cNvSpPr>
            <a:spLocks noGrp="1"/>
          </p:cNvSpPr>
          <p:nvPr>
            <p:ph type="subTitle" idx="1"/>
          </p:nvPr>
        </p:nvSpPr>
        <p:spPr/>
        <p:txBody>
          <a:bodyPr/>
          <a:lstStyle/>
          <a:p>
            <a:r>
              <a:t>实现 · 验证 · 接入路径｜90 分钟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本课内容路线图</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从 GPU 执行模型出发，完成 Softmax kernel 的实现、验证与模型接入</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02</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78105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1</a:t>
            </a:r>
            <a:endParaRPr sz="2250" b="1">
              <a:solidFill>
                <a:srgbClr val="FFFFFF"/>
              </a:solidFill>
              <a:latin typeface="Source Han Sans CN"/>
              <a:ea typeface="Source Han Sans CN"/>
              <a:cs typeface="Source Han Sans CN"/>
            </a:endParaRPr>
          </a:p>
        </p:txBody>
      </p:sp>
      <p:sp>
        <p:nvSpPr>
          <p:cNvPr id="6" name="Rectangle 5"/>
          <p:cNvSpPr>
            <a:spLocks noGrp="1"/>
          </p:cNvSpPr>
          <p:nvPr/>
        </p:nvSpPr>
        <p:spPr>
          <a:xfrm>
            <a:off x="78105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GPU 基础</a:t>
            </a:r>
            <a:endParaRPr sz="2025" b="1">
              <a:solidFill>
                <a:srgbClr val="202124"/>
              </a:solidFill>
              <a:latin typeface="Source Han Sans CN"/>
              <a:ea typeface="Source Han Sans CN"/>
              <a:cs typeface="Source Han Sans CN"/>
            </a:endParaRPr>
          </a:p>
        </p:txBody>
      </p:sp>
      <p:sp>
        <p:nvSpPr>
          <p:cNvPr id="7" name="Rectangle 6"/>
          <p:cNvSpPr>
            <a:spLocks noGrp="1"/>
          </p:cNvSpPr>
          <p:nvPr/>
        </p:nvSpPr>
        <p:spPr>
          <a:xfrm>
            <a:off x="78105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并行规模</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线程与内存</a:t>
            </a:r>
            <a:endParaRPr sz="1425" b="0">
              <a:solidFill>
                <a:srgbClr val="666A70"/>
              </a:solidFill>
              <a:latin typeface="Source Han Sans CN"/>
              <a:ea typeface="Source Han Sans CN"/>
              <a:cs typeface="Source Han Sans CN"/>
            </a:endParaRPr>
          </a:p>
        </p:txBody>
      </p:sp>
      <p:sp>
        <p:nvSpPr>
          <p:cNvPr id="8" name="Rectangle 7"/>
          <p:cNvSpPr>
            <a:spLocks noGrp="1"/>
          </p:cNvSpPr>
          <p:nvPr/>
        </p:nvSpPr>
        <p:spPr>
          <a:xfrm>
            <a:off x="2447925"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9" name="Rectangle 8"/>
          <p:cNvSpPr>
            <a:spLocks noGrp="1"/>
          </p:cNvSpPr>
          <p:nvPr/>
        </p:nvSpPr>
        <p:spPr>
          <a:xfrm>
            <a:off x="2924175" y="2095500"/>
            <a:ext cx="571500" cy="571500"/>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2</a:t>
            </a:r>
            <a:endParaRPr sz="2250" b="1">
              <a:solidFill>
                <a:srgbClr val="FFFFFF"/>
              </a:solidFill>
              <a:latin typeface="Source Han Sans CN"/>
              <a:ea typeface="Source Han Sans CN"/>
              <a:cs typeface="Source Han Sans CN"/>
            </a:endParaRPr>
          </a:p>
        </p:txBody>
      </p:sp>
      <p:sp>
        <p:nvSpPr>
          <p:cNvPr id="10" name="Rectangle 9"/>
          <p:cNvSpPr>
            <a:spLocks noGrp="1"/>
          </p:cNvSpPr>
          <p:nvPr/>
        </p:nvSpPr>
        <p:spPr>
          <a:xfrm>
            <a:off x="2924175"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问题定义</a:t>
            </a:r>
            <a:endParaRPr sz="2025" b="1">
              <a:solidFill>
                <a:srgbClr val="202124"/>
              </a:solidFill>
              <a:latin typeface="Source Han Sans CN"/>
              <a:ea typeface="Source Han Sans CN"/>
              <a:cs typeface="Source Han Sans CN"/>
            </a:endParaRPr>
          </a:p>
        </p:txBody>
      </p:sp>
      <p:sp>
        <p:nvSpPr>
          <p:cNvPr id="11" name="Rectangle 10"/>
          <p:cNvSpPr>
            <a:spLocks noGrp="1"/>
          </p:cNvSpPr>
          <p:nvPr/>
        </p:nvSpPr>
        <p:spPr>
          <a:xfrm>
            <a:off x="2924175"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定位 Softmax</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稳定公式与行映射</a:t>
            </a:r>
            <a:endParaRPr sz="1425" b="0">
              <a:solidFill>
                <a:srgbClr val="666A70"/>
              </a:solidFill>
              <a:latin typeface="Source Han Sans CN"/>
              <a:ea typeface="Source Han Sans CN"/>
              <a:cs typeface="Source Han Sans CN"/>
            </a:endParaRPr>
          </a:p>
        </p:txBody>
      </p:sp>
      <p:sp>
        <p:nvSpPr>
          <p:cNvPr id="12" name="Rectangle 11"/>
          <p:cNvSpPr>
            <a:spLocks noGrp="1"/>
          </p:cNvSpPr>
          <p:nvPr/>
        </p:nvSpPr>
        <p:spPr>
          <a:xfrm>
            <a:off x="4591050"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13" name="Rectangle 12"/>
          <p:cNvSpPr>
            <a:spLocks noGrp="1"/>
          </p:cNvSpPr>
          <p:nvPr/>
        </p:nvSpPr>
        <p:spPr>
          <a:xfrm>
            <a:off x="506730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3</a:t>
            </a:r>
            <a:endParaRPr sz="2250" b="1">
              <a:solidFill>
                <a:srgbClr val="FFFFFF"/>
              </a:solidFill>
              <a:latin typeface="Source Han Sans CN"/>
              <a:ea typeface="Source Han Sans CN"/>
              <a:cs typeface="Source Han Sans CN"/>
            </a:endParaRPr>
          </a:p>
        </p:txBody>
      </p:sp>
      <p:sp>
        <p:nvSpPr>
          <p:cNvPr id="14" name="Rectangle 13"/>
          <p:cNvSpPr>
            <a:spLocks noGrp="1"/>
          </p:cNvSpPr>
          <p:nvPr/>
        </p:nvSpPr>
        <p:spPr>
          <a:xfrm>
            <a:off x="506730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Kernel 实现</a:t>
            </a:r>
            <a:endParaRPr sz="2025" b="1">
              <a:solidFill>
                <a:srgbClr val="202124"/>
              </a:solidFill>
              <a:latin typeface="Source Han Sans CN"/>
              <a:ea typeface="Source Han Sans CN"/>
              <a:cs typeface="Source Han Sans CN"/>
            </a:endParaRPr>
          </a:p>
        </p:txBody>
      </p:sp>
      <p:sp>
        <p:nvSpPr>
          <p:cNvPr id="15" name="Rectangle 14"/>
          <p:cNvSpPr>
            <a:spLocks noGrp="1"/>
          </p:cNvSpPr>
          <p:nvPr/>
        </p:nvSpPr>
        <p:spPr>
          <a:xfrm>
            <a:off x="506730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v1 / v2 / v3</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三种并行粒度</a:t>
            </a:r>
            <a:endParaRPr sz="1425" b="0">
              <a:solidFill>
                <a:srgbClr val="666A70"/>
              </a:solidFill>
              <a:latin typeface="Source Han Sans CN"/>
              <a:ea typeface="Source Han Sans CN"/>
              <a:cs typeface="Source Han Sans CN"/>
            </a:endParaRPr>
          </a:p>
        </p:txBody>
      </p:sp>
      <p:sp>
        <p:nvSpPr>
          <p:cNvPr id="16" name="Rectangle 15"/>
          <p:cNvSpPr>
            <a:spLocks noGrp="1"/>
          </p:cNvSpPr>
          <p:nvPr/>
        </p:nvSpPr>
        <p:spPr>
          <a:xfrm>
            <a:off x="6734175"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17" name="Rectangle 16"/>
          <p:cNvSpPr>
            <a:spLocks noGrp="1"/>
          </p:cNvSpPr>
          <p:nvPr/>
        </p:nvSpPr>
        <p:spPr>
          <a:xfrm>
            <a:off x="7210425" y="2095500"/>
            <a:ext cx="571500" cy="571500"/>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4</a:t>
            </a:r>
            <a:endParaRPr sz="2250" b="1">
              <a:solidFill>
                <a:srgbClr val="FFFFFF"/>
              </a:solidFill>
              <a:latin typeface="Source Han Sans CN"/>
              <a:ea typeface="Source Han Sans CN"/>
              <a:cs typeface="Source Han Sans CN"/>
            </a:endParaRPr>
          </a:p>
        </p:txBody>
      </p:sp>
      <p:sp>
        <p:nvSpPr>
          <p:cNvPr id="18" name="Rectangle 17"/>
          <p:cNvSpPr>
            <a:spLocks noGrp="1"/>
          </p:cNvSpPr>
          <p:nvPr/>
        </p:nvSpPr>
        <p:spPr>
          <a:xfrm>
            <a:off x="7210425"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实验验证</a:t>
            </a:r>
            <a:endParaRPr sz="2025" b="1">
              <a:solidFill>
                <a:srgbClr val="202124"/>
              </a:solidFill>
              <a:latin typeface="Source Han Sans CN"/>
              <a:ea typeface="Source Han Sans CN"/>
              <a:cs typeface="Source Han Sans CN"/>
            </a:endParaRPr>
          </a:p>
        </p:txBody>
      </p:sp>
      <p:sp>
        <p:nvSpPr>
          <p:cNvPr id="19" name="Rectangle 18"/>
          <p:cNvSpPr>
            <a:spLocks noGrp="1"/>
          </p:cNvSpPr>
          <p:nvPr/>
        </p:nvSpPr>
        <p:spPr>
          <a:xfrm>
            <a:off x="7210425"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正确性、误差</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真实 shape 性能</a:t>
            </a:r>
            <a:endParaRPr sz="1425" b="0">
              <a:solidFill>
                <a:srgbClr val="666A70"/>
              </a:solidFill>
              <a:latin typeface="Source Han Sans CN"/>
              <a:ea typeface="Source Han Sans CN"/>
              <a:cs typeface="Source Han Sans CN"/>
            </a:endParaRPr>
          </a:p>
        </p:txBody>
      </p:sp>
      <p:sp>
        <p:nvSpPr>
          <p:cNvPr id="20" name="Rectangle 19"/>
          <p:cNvSpPr>
            <a:spLocks noGrp="1"/>
          </p:cNvSpPr>
          <p:nvPr/>
        </p:nvSpPr>
        <p:spPr>
          <a:xfrm>
            <a:off x="8877300"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21" name="Rectangle 20"/>
          <p:cNvSpPr>
            <a:spLocks noGrp="1"/>
          </p:cNvSpPr>
          <p:nvPr/>
        </p:nvSpPr>
        <p:spPr>
          <a:xfrm>
            <a:off x="935355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5</a:t>
            </a:r>
            <a:endParaRPr sz="2250" b="1">
              <a:solidFill>
                <a:srgbClr val="FFFFFF"/>
              </a:solidFill>
              <a:latin typeface="Source Han Sans CN"/>
              <a:ea typeface="Source Han Sans CN"/>
              <a:cs typeface="Source Han Sans CN"/>
            </a:endParaRPr>
          </a:p>
        </p:txBody>
      </p:sp>
      <p:sp>
        <p:nvSpPr>
          <p:cNvPr id="22" name="Rectangle 21"/>
          <p:cNvSpPr>
            <a:spLocks noGrp="1"/>
          </p:cNvSpPr>
          <p:nvPr/>
        </p:nvSpPr>
        <p:spPr>
          <a:xfrm>
            <a:off x="935355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模型接入</a:t>
            </a:r>
            <a:endParaRPr sz="2025" b="1">
              <a:solidFill>
                <a:srgbClr val="202124"/>
              </a:solidFill>
              <a:latin typeface="Source Han Sans CN"/>
              <a:ea typeface="Source Han Sans CN"/>
              <a:cs typeface="Source Han Sans CN"/>
            </a:endParaRPr>
          </a:p>
        </p:txBody>
      </p:sp>
      <p:sp>
        <p:nvSpPr>
          <p:cNvPr id="23" name="Rectangle 22"/>
          <p:cNvSpPr>
            <a:spLocks noGrp="1"/>
          </p:cNvSpPr>
          <p:nvPr/>
        </p:nvSpPr>
        <p:spPr>
          <a:xfrm>
            <a:off x="935355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a:solidFill>
                  <a:srgbClr val="666A70"/>
                </a:solidFill>
                <a:latin typeface="Source Han Sans CN"/>
                <a:ea typeface="Source Han Sans CN"/>
                <a:cs typeface="Source Han Sans CN"/>
              </a:rPr>
              <a:t>PyTorch 扩展</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a:solidFill>
                  <a:srgbClr val="666A70"/>
                </a:solidFill>
                <a:latin typeface="Source Han Sans CN"/>
                <a:ea typeface="Source Han Sans CN"/>
                <a:cs typeface="Source Han Sans CN"/>
              </a:rPr>
              <a:t>Transformer 验证</a:t>
            </a:r>
            <a:endParaRPr sz="1425" b="0">
              <a:solidFill>
                <a:srgbClr val="666A70"/>
              </a:solidFill>
              <a:latin typeface="Source Han Sans CN"/>
              <a:ea typeface="Source Han Sans CN"/>
              <a:cs typeface="Source Han Sans CN"/>
            </a:endParaRPr>
          </a:p>
        </p:txBody>
      </p:sp>
      <p:sp>
        <p:nvSpPr>
          <p:cNvPr id="24" name="Rectangle: Rounded Corners 23"/>
          <p:cNvSpPr>
            <a:spLocks noGrp="1"/>
          </p:cNvSpPr>
          <p:nvPr/>
        </p:nvSpPr>
        <p:spPr>
          <a:xfrm>
            <a:off x="1571625" y="4953000"/>
            <a:ext cx="9048750" cy="628650"/>
          </a:xfrm>
          <a:prstGeom prst="roundRect">
            <a:avLst>
              <a:gd name="adj" fmla="val 18182"/>
            </a:avLst>
          </a:prstGeom>
          <a:solidFill>
            <a:srgbClr val="F0F8EB"/>
          </a:solidFill>
          <a:ln w="9525">
            <a:solidFill>
              <a:srgbClr val="1E8E94"/>
            </a:solidFill>
            <a:prstDash val="solid"/>
          </a:ln>
        </p:spPr>
        <p:txBody>
          <a:bodyPr lIns="76200" tIns="38100" rIns="76200" bIns="38100" anchor="ctr">
            <a:normAutofit/>
          </a:bodyPr>
          <a:lstStyle/>
          <a:p>
            <a:pPr algn="ctr">
              <a:buNone/>
              <a:defRPr sz="1875" b="1">
                <a:solidFill>
                  <a:srgbClr val="1E8E94"/>
                </a:solidFill>
                <a:latin typeface="Source Han Sans CN"/>
                <a:ea typeface="Source Han Sans CN"/>
                <a:cs typeface="Source Han Sans CN"/>
              </a:defRPr>
            </a:pPr>
            <a:r>
              <a:rPr sz="1875" b="1">
                <a:solidFill>
                  <a:srgbClr val="1E8E94"/>
                </a:solidFill>
                <a:latin typeface="Source Han Sans CN"/>
                <a:ea typeface="Source Han Sans CN"/>
                <a:cs typeface="Source Han Sans CN"/>
              </a:rPr>
              <a:t>学习路径：理解执行模型 → 写出 kernel → 用实验判断价值 → 接回真实模型</a:t>
            </a:r>
            <a:endParaRPr sz="1875" b="1">
              <a:solidFill>
                <a:srgbClr val="1E8E94"/>
              </a:solidFill>
              <a:latin typeface="Source Han Sans CN"/>
              <a:ea typeface="Source Han Sans CN"/>
              <a:cs typeface="Source Han Sans C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V2 Title"/>
          <p:cNvSpPr>
            <a:spLocks noGrp="1"/>
          </p:cNvSpPr>
          <p:nvPr/>
        </p:nvSpPr>
        <p:spPr>
          <a:xfrm>
            <a:off x="333375" y="95250"/>
            <a:ext cx="10058400" cy="657225"/>
          </a:xfrm>
          <a:prstGeom prst="rect">
            <a:avLst/>
          </a:prstGeom>
          <a:noFill/>
          <a:ln w="0">
            <a:noFill/>
          </a:ln>
        </p:spPr>
        <p:txBody>
          <a:bodyPr anchor="ctr"/>
          <a:lstStyle/>
          <a:p>
            <a:pPr algn="l">
              <a:buNone/>
              <a:defRPr sz="3200" b="1">
                <a:solidFill>
                  <a:srgbClr val="000000"/>
                </a:solidFill>
                <a:latin typeface="Source Han Sans CN"/>
                <a:ea typeface="Source Han Sans CN"/>
                <a:cs typeface="Source Han Sans CN"/>
              </a:defRPr>
            </a:pPr>
            <a:r>
              <a:rPr sz="3200" b="1">
                <a:solidFill>
                  <a:srgbClr val="000000"/>
                </a:solidFill>
                <a:latin typeface="Source Han Sans CN"/>
                <a:ea typeface="Source Han Sans CN"/>
                <a:cs typeface="Source Han Sans CN"/>
              </a:rPr>
              <a:t>GPU 加速来自大规模并行</a:t>
            </a:r>
            <a:endParaRPr sz="3200" b="1">
              <a:solidFill>
                <a:srgbClr val="000000"/>
              </a:solidFill>
              <a:latin typeface="Source Han Sans CN"/>
              <a:ea typeface="Source Han Sans CN"/>
              <a:cs typeface="Source Han Sans CN"/>
            </a:endParaRPr>
          </a:p>
        </p:txBody>
      </p:sp>
      <p:sp>
        <p:nvSpPr>
          <p:cNvPr id="2" name="V2 Subtitle"/>
          <p:cNvSpPr>
            <a:spLocks noGrp="1"/>
          </p:cNvSpPr>
          <p:nvPr/>
        </p:nvSpPr>
        <p:spPr>
          <a:xfrm>
            <a:off x="838200" y="1047750"/>
            <a:ext cx="10420350" cy="400050"/>
          </a:xfrm>
          <a:prstGeom prst="rect">
            <a:avLst/>
          </a:prstGeom>
          <a:noFill/>
          <a:ln w="0">
            <a:noFill/>
          </a:ln>
        </p:spPr>
        <p:txBody>
          <a:bodyPr wrap="square" lIns="47625" tIns="28575" rIns="47625" bIns="28575" anchor="ctr">
            <a:normAutofit/>
          </a:bodyPr>
          <a:lstStyle/>
          <a:p>
            <a:pPr algn="l">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不把异构“核心数”强行换算：先比较同一任务性能，再解释不同的并行组织方式</a:t>
            </a:r>
            <a:endParaRPr sz="1500" b="1">
              <a:solidFill>
                <a:srgbClr val="660874"/>
              </a:solidFill>
              <a:latin typeface="Source Han Sans CN"/>
              <a:ea typeface="Source Han Sans CN"/>
              <a:cs typeface="Source Han Sans CN"/>
            </a:endParaRPr>
          </a:p>
        </p:txBody>
      </p:sp>
      <p:sp>
        <p:nvSpPr>
          <p:cNvPr id="3" name="V2 Slide Number"/>
          <p:cNvSpPr>
            <a:spLocks noGrp="1"/>
          </p:cNvSpPr>
          <p:nvPr/>
        </p:nvSpPr>
        <p:spPr>
          <a:xfrm>
            <a:off x="9448800" y="6353175"/>
            <a:ext cx="2743200" cy="361950"/>
          </a:xfrm>
          <a:prstGeom prst="rect">
            <a:avLst/>
          </a:prstGeom>
          <a:noFill/>
          <a:ln w="0">
            <a:noFill/>
          </a:ln>
        </p:spPr>
        <p:txBody>
          <a:bodyPr anchor="ctr"/>
          <a:lstStyle/>
          <a:p>
            <a:pPr algn="r">
              <a:buNone/>
              <a:defRPr sz="1200" b="0">
                <a:solidFill>
                  <a:srgbClr val="8B8E93"/>
                </a:solidFill>
                <a:latin typeface="Arial" panose="020B0604020202090204"/>
                <a:ea typeface="Arial" panose="020B0604020202090204"/>
                <a:cs typeface="Arial" panose="020B0604020202090204"/>
              </a:defRPr>
            </a:pPr>
            <a:r>
              <a:rPr sz="1200" b="0">
                <a:solidFill>
                  <a:srgbClr val="8B8E93"/>
                </a:solidFill>
                <a:latin typeface="Arial" panose="020B0604020202090204"/>
                <a:ea typeface="Arial" panose="020B0604020202090204"/>
                <a:cs typeface="Arial" panose="020B0604020202090204"/>
              </a:rPr>
              <a:t>03</a:t>
            </a:r>
            <a:endParaRPr sz="1200" b="0">
              <a:solidFill>
                <a:srgbClr val="8B8E93"/>
              </a:solidFill>
              <a:latin typeface="Arial" panose="020B0604020202090204"/>
              <a:ea typeface="Arial" panose="020B0604020202090204"/>
              <a:cs typeface="Arial" panose="020B0604020202090204"/>
            </a:endParaRPr>
          </a:p>
        </p:txBody>
      </p:sp>
      <p:sp>
        <p:nvSpPr>
          <p:cNvPr id="4" name="矩形 3"/>
          <p:cNvSpPr>
            <a:spLocks noGrp="1"/>
          </p:cNvSpPr>
          <p:nvPr/>
        </p:nvSpPr>
        <p:spPr>
          <a:xfrm>
            <a:off x="952500" y="1809750"/>
            <a:ext cx="3048000" cy="523875"/>
          </a:xfrm>
          <a:prstGeom prst="rect">
            <a:avLst/>
          </a:prstGeom>
          <a:noFill/>
          <a:ln w="0">
            <a:noFill/>
          </a:ln>
        </p:spPr>
        <p:txBody>
          <a:bodyPr wrap="square" lIns="47625" tIns="28575" rIns="47625" bIns="28575" anchor="ctr">
            <a:normAutofit/>
          </a:bodyPr>
          <a:lstStyle/>
          <a:p>
            <a:pPr algn="ctr">
              <a:buNone/>
              <a:defRPr sz="2250" b="1">
                <a:solidFill>
                  <a:srgbClr val="660874"/>
                </a:solidFill>
                <a:latin typeface="Source Han Sans CN"/>
                <a:ea typeface="Source Han Sans CN"/>
                <a:cs typeface="Source Han Sans CN"/>
              </a:defRPr>
            </a:pPr>
            <a:r>
              <a:rPr sz="2250" b="1">
                <a:solidFill>
                  <a:srgbClr val="660874"/>
                </a:solidFill>
                <a:latin typeface="Source Han Sans CN"/>
                <a:ea typeface="Source Han Sans CN"/>
                <a:cs typeface="Source Han Sans CN"/>
              </a:rPr>
              <a:t>CPU｜128 核服务器</a:t>
            </a:r>
            <a:endParaRPr sz="2250" b="1">
              <a:solidFill>
                <a:srgbClr val="660874"/>
              </a:solidFill>
              <a:latin typeface="Source Han Sans CN"/>
              <a:ea typeface="Source Han Sans CN"/>
              <a:cs typeface="Source Han Sans CN"/>
            </a:endParaRPr>
          </a:p>
        </p:txBody>
      </p:sp>
      <p:sp>
        <p:nvSpPr>
          <p:cNvPr id="5" name="矩形 4"/>
          <p:cNvSpPr>
            <a:spLocks noGrp="1"/>
          </p:cNvSpPr>
          <p:nvPr/>
        </p:nvSpPr>
        <p:spPr>
          <a:xfrm>
            <a:off x="990600" y="4324350"/>
            <a:ext cx="4533900" cy="400050"/>
          </a:xfrm>
          <a:prstGeom prst="rect">
            <a:avLst/>
          </a:prstGeom>
          <a:noFill/>
          <a:ln w="0">
            <a:noFill/>
          </a:ln>
        </p:spPr>
        <p:txBody>
          <a:bodyPr wrap="square" lIns="47625" tIns="28575" rIns="47625" bIns="28575" anchor="ctr">
            <a:normAutofit/>
          </a:bodyPr>
          <a:lstStyle/>
          <a:p>
            <a:pPr algn="ctr">
              <a:buNone/>
              <a:defRPr sz="1050" b="1">
                <a:solidFill>
                  <a:srgbClr val="6F7782"/>
                </a:solidFill>
                <a:latin typeface="Source Han Sans CN"/>
                <a:ea typeface="Source Han Sans CN"/>
                <a:cs typeface="Source Han Sans CN"/>
              </a:defRPr>
            </a:pPr>
            <a:r>
              <a:rPr sz="1050" b="1">
                <a:solidFill>
                  <a:srgbClr val="6F7782"/>
                </a:solidFill>
                <a:latin typeface="Source Han Sans CN"/>
                <a:ea typeface="Source Han Sans CN"/>
                <a:cs typeface="Source Han Sans CN"/>
              </a:rPr>
              <a:t>硬件组织：少量强核心，每个核心处理较大的任务块</a:t>
            </a:r>
            <a:endParaRPr sz="1650" b="0">
              <a:solidFill>
                <a:srgbClr val="72777D"/>
              </a:solidFill>
              <a:latin typeface="Source Han Sans CN"/>
              <a:ea typeface="Source Han Sans CN"/>
              <a:cs typeface="Source Han Sans CN"/>
            </a:endParaRPr>
          </a:p>
        </p:txBody>
      </p:sp>
      <p:sp>
        <p:nvSpPr>
          <p:cNvPr id="6" name="矩形 5"/>
          <p:cNvSpPr>
            <a:spLocks noGrp="1"/>
          </p:cNvSpPr>
          <p:nvPr/>
        </p:nvSpPr>
        <p:spPr>
          <a:xfrm>
            <a:off x="6572250" y="1809750"/>
            <a:ext cx="3143250" cy="523875"/>
          </a:xfrm>
          <a:prstGeom prst="rect">
            <a:avLst/>
          </a:prstGeom>
          <a:noFill/>
          <a:ln w="0">
            <a:noFill/>
          </a:ln>
        </p:spPr>
        <p:txBody>
          <a:bodyPr wrap="square" lIns="47625" tIns="28575" rIns="47625" bIns="28575" anchor="ctr">
            <a:normAutofit/>
          </a:bodyPr>
          <a:lstStyle/>
          <a:p>
            <a:pPr algn="ctr">
              <a:buNone/>
              <a:defRPr sz="2250" b="1">
                <a:solidFill>
                  <a:srgbClr val="1E8E94"/>
                </a:solidFill>
                <a:latin typeface="Source Han Sans CN"/>
                <a:ea typeface="Source Han Sans CN"/>
                <a:cs typeface="Source Han Sans CN"/>
              </a:defRPr>
            </a:pPr>
            <a:r>
              <a:rPr sz="2250" b="1">
                <a:solidFill>
                  <a:srgbClr val="1E8E94"/>
                </a:solidFill>
                <a:latin typeface="Source Han Sans CN"/>
                <a:ea typeface="Source Han Sans CN"/>
                <a:cs typeface="Source Han Sans CN"/>
              </a:rPr>
              <a:t>GPU｜1 张曦云 C500</a:t>
            </a:r>
            <a:endParaRPr sz="2250" b="1">
              <a:solidFill>
                <a:srgbClr val="1E8E94"/>
              </a:solidFill>
              <a:latin typeface="Source Han Sans CN"/>
              <a:ea typeface="Source Han Sans CN"/>
              <a:cs typeface="Source Han Sans CN"/>
            </a:endParaRPr>
          </a:p>
        </p:txBody>
      </p:sp>
      <p:sp>
        <p:nvSpPr>
          <p:cNvPr id="7" name="矩形 6"/>
          <p:cNvSpPr>
            <a:spLocks noGrp="1"/>
          </p:cNvSpPr>
          <p:nvPr/>
        </p:nvSpPr>
        <p:spPr>
          <a:xfrm>
            <a:off x="6629400" y="4324350"/>
            <a:ext cx="4533900" cy="400050"/>
          </a:xfrm>
          <a:prstGeom prst="rect">
            <a:avLst/>
          </a:prstGeom>
          <a:noFill/>
          <a:ln w="0">
            <a:noFill/>
          </a:ln>
        </p:spPr>
        <p:txBody>
          <a:bodyPr wrap="square" lIns="47625" tIns="28575" rIns="47625" bIns="28575" anchor="ctr">
            <a:normAutofit/>
          </a:bodyPr>
          <a:lstStyle/>
          <a:p>
            <a:pPr algn="ctr">
              <a:buNone/>
              <a:defRPr sz="1050" b="1">
                <a:solidFill>
                  <a:srgbClr val="6F7782"/>
                </a:solidFill>
                <a:latin typeface="Source Han Sans CN"/>
                <a:ea typeface="Source Han Sans CN"/>
                <a:cs typeface="Source Han Sans CN"/>
              </a:defRPr>
            </a:pPr>
            <a:r>
              <a:rPr sz="1050" b="1">
                <a:solidFill>
                  <a:srgbClr val="6F7782"/>
                </a:solidFill>
                <a:latin typeface="Source Han Sans CN"/>
                <a:ea typeface="Source Han Sans CN"/>
                <a:cs typeface="Source Han Sans CN"/>
              </a:rPr>
              <a:t>执行组织：大量逻辑线程由硬件按 Wave 调度</a:t>
            </a:r>
            <a:endParaRPr sz="1650" b="0">
              <a:solidFill>
                <a:srgbClr val="72777D"/>
              </a:solidFill>
              <a:latin typeface="Source Han Sans CN"/>
              <a:ea typeface="Source Han Sans CN"/>
              <a:cs typeface="Source Han Sans CN"/>
            </a:endParaRPr>
          </a:p>
        </p:txBody>
      </p:sp>
      <p:sp>
        <p:nvSpPr>
          <p:cNvPr id="9" name="矩形 8"/>
          <p:cNvSpPr>
            <a:spLocks noGrp="1"/>
          </p:cNvSpPr>
          <p:nvPr/>
        </p:nvSpPr>
        <p:spPr>
          <a:xfrm>
            <a:off x="11239500" y="4762500"/>
            <a:ext cx="9525" cy="9525"/>
          </a:xfrm>
          <a:prstGeom prst="rect">
            <a:avLst/>
          </a:prstGeom>
          <a:noFill/>
          <a:ln w="0">
            <a:noFill/>
            <a:prstDash val="solid"/>
          </a:ln>
        </p:spPr>
        <p:txBody>
          <a:bodyPr wrap="square" lIns="47625" tIns="28575" rIns="47625" bIns="28575" anchor="ctr">
            <a:normAutofit/>
          </a:bodyPr>
          <a:lstStyle/>
          <a:p>
            <a:pPr algn="ctr">
              <a:buNone/>
              <a:defRPr sz="1650" b="0">
                <a:solidFill>
                  <a:srgbClr val="72777D"/>
                </a:solidFill>
                <a:latin typeface="Source Han Sans CN"/>
                <a:ea typeface="Source Han Sans CN"/>
                <a:cs typeface="Source Han Sans CN"/>
              </a:defRPr>
            </a:pPr>
          </a:p>
        </p:txBody>
      </p:sp>
      <p:sp>
        <p:nvSpPr>
          <p:cNvPr id="10" name="矩形: 圆角 9"/>
          <p:cNvSpPr>
            <a:spLocks noGrp="1"/>
          </p:cNvSpPr>
          <p:nvPr/>
        </p:nvSpPr>
        <p:spPr>
          <a:xfrm>
            <a:off x="2000250" y="5286375"/>
            <a:ext cx="8191500" cy="619125"/>
          </a:xfrm>
          <a:prstGeom prst="roundRect">
            <a:avLst>
              <a:gd name="adj" fmla="val 17500"/>
            </a:avLst>
          </a:prstGeom>
          <a:solidFill>
            <a:srgbClr val="F5EDF7"/>
          </a:solidFill>
          <a:ln w="9525">
            <a:solidFill>
              <a:srgbClr val="660874"/>
            </a:solidFill>
            <a:prstDash val="solid"/>
          </a:ln>
        </p:spPr>
      </p:sp>
      <p:sp>
        <p:nvSpPr>
          <p:cNvPr id="11" name="矩形 10"/>
          <p:cNvSpPr>
            <a:spLocks noGrp="1"/>
          </p:cNvSpPr>
          <p:nvPr/>
        </p:nvSpPr>
        <p:spPr>
          <a:xfrm>
            <a:off x="2190750" y="5353050"/>
            <a:ext cx="7810500" cy="476250"/>
          </a:xfrm>
          <a:prstGeom prst="rect">
            <a:avLst/>
          </a:prstGeom>
          <a:noFill/>
          <a:ln w="0">
            <a:noFill/>
          </a:ln>
        </p:spPr>
        <p:txBody>
          <a:bodyPr wrap="square" lIns="47625" tIns="28575" rIns="47625" bIns="28575" anchor="ctr">
            <a:normAutofit/>
          </a:bodyPr>
          <a:lstStyle/>
          <a:p>
            <a:pPr algn="ctr">
              <a:buNone/>
              <a:defRPr sz="1350" b="1">
                <a:solidFill>
                  <a:srgbClr val="660874"/>
                </a:solidFill>
                <a:latin typeface="Source Han Sans CN"/>
                <a:ea typeface="Source Han Sans CN"/>
                <a:cs typeface="Source Han Sans CN"/>
              </a:defRPr>
            </a:pPr>
            <a:r>
              <a:rPr sz="1350" b="1">
                <a:solidFill>
                  <a:srgbClr val="660874"/>
                </a:solidFill>
                <a:latin typeface="Source Han Sans CN"/>
                <a:ea typeface="Source Han Sans CN"/>
                <a:cs typeface="Source Han Sans CN"/>
              </a:rPr>
              <a:t>公开案例：同一 FEP 工作负载下，1 张 C500 性能超过 128 核 CPU 服务器 3×；8 张 C500 整体效率约 17×</a:t>
            </a:r>
            <a:endParaRPr sz="1350" b="1">
              <a:solidFill>
                <a:srgbClr val="660874"/>
              </a:solidFill>
              <a:latin typeface="Source Han Sans CN"/>
              <a:ea typeface="Source Han Sans CN"/>
              <a:cs typeface="Source Han Sans CN"/>
            </a:endParaRPr>
          </a:p>
        </p:txBody>
      </p:sp>
      <p:sp>
        <p:nvSpPr>
          <p:cNvPr id="13" name="Home CPU 24 cores"/>
          <p:cNvSpPr>
            <a:spLocks noGrp="1"/>
          </p:cNvSpPr>
          <p:nvPr/>
        </p:nvSpPr>
        <p:spPr>
          <a:xfrm>
            <a:off x="857250" y="4762500"/>
            <a:ext cx="9525" cy="9525"/>
          </a:xfrm>
          <a:prstGeom prst="roundRect">
            <a:avLst>
              <a:gd name="adj" fmla="val 42857"/>
            </a:avLst>
          </a:prstGeom>
          <a:noFill/>
          <a:ln w="0">
            <a:noFill/>
            <a:prstDash val="solid"/>
          </a:ln>
        </p:spPr>
      </p:sp>
      <p:sp>
        <p:nvSpPr>
          <p:cNvPr id="14" name="Home CPU 24 cores-value"/>
          <p:cNvSpPr>
            <a:spLocks noGrp="1"/>
          </p:cNvSpPr>
          <p:nvPr/>
        </p:nvSpPr>
        <p:spPr>
          <a:xfrm>
            <a:off x="857250" y="4762500"/>
            <a:ext cx="9525" cy="9525"/>
          </a:xfrm>
          <a:prstGeom prst="rect">
            <a:avLst/>
          </a:prstGeom>
          <a:noFill/>
          <a:ln w="0">
            <a:noFill/>
            <a:prstDash val="solid"/>
          </a:ln>
        </p:spPr>
        <p:txBody>
          <a:bodyPr wrap="square" lIns="47625" tIns="28575" rIns="47625" bIns="28575">
            <a:normAutofit/>
          </a:bodyPr>
          <a:lstStyle/>
          <a:p>
            <a:pPr algn="r">
              <a:buNone/>
              <a:defRPr sz="1725" b="1">
                <a:solidFill>
                  <a:srgbClr val="A662B2"/>
                </a:solidFill>
              </a:defRPr>
            </a:pPr>
            <a:endParaRPr sz="1725" b="1">
              <a:solidFill>
                <a:srgbClr val="A662B2"/>
              </a:solidFill>
            </a:endParaRPr>
          </a:p>
        </p:txBody>
      </p:sp>
      <p:sp>
        <p:nvSpPr>
          <p:cNvPr id="15" name="Server CPU 128 cores"/>
          <p:cNvSpPr>
            <a:spLocks noGrp="1"/>
          </p:cNvSpPr>
          <p:nvPr/>
        </p:nvSpPr>
        <p:spPr>
          <a:xfrm>
            <a:off x="876300" y="4762500"/>
            <a:ext cx="9525" cy="9525"/>
          </a:xfrm>
          <a:prstGeom prst="roundRect">
            <a:avLst>
              <a:gd name="adj" fmla="val 42857"/>
            </a:avLst>
          </a:prstGeom>
          <a:noFill/>
          <a:ln w="0">
            <a:noFill/>
            <a:prstDash val="solid"/>
          </a:ln>
        </p:spPr>
      </p:sp>
      <p:sp>
        <p:nvSpPr>
          <p:cNvPr id="16" name="Server CPU 128 cores-value"/>
          <p:cNvSpPr>
            <a:spLocks noGrp="1"/>
          </p:cNvSpPr>
          <p:nvPr/>
        </p:nvSpPr>
        <p:spPr>
          <a:xfrm>
            <a:off x="876300" y="4762500"/>
            <a:ext cx="9525" cy="9525"/>
          </a:xfrm>
          <a:prstGeom prst="rect">
            <a:avLst/>
          </a:prstGeom>
          <a:noFill/>
          <a:ln w="0">
            <a:noFill/>
            <a:prstDash val="solid"/>
          </a:ln>
        </p:spPr>
        <p:txBody>
          <a:bodyPr wrap="square" lIns="47625" tIns="28575" rIns="47625" bIns="28575">
            <a:normAutofit/>
          </a:bodyPr>
          <a:lstStyle/>
          <a:p>
            <a:pPr algn="r">
              <a:buNone/>
              <a:defRPr sz="1725" b="1">
                <a:solidFill>
                  <a:srgbClr val="71107E"/>
                </a:solidFill>
              </a:defRPr>
            </a:pPr>
            <a:endParaRPr sz="1725" b="1">
              <a:solidFill>
                <a:srgbClr val="71107E"/>
              </a:solidFill>
            </a:endParaRPr>
          </a:p>
        </p:txBody>
      </p:sp>
      <p:sp>
        <p:nvSpPr>
          <p:cNvPr id="17" name="Home GPU 16384 CUDA cores"/>
          <p:cNvSpPr>
            <a:spLocks noGrp="1"/>
          </p:cNvSpPr>
          <p:nvPr/>
        </p:nvSpPr>
        <p:spPr>
          <a:xfrm>
            <a:off x="11258550" y="4762500"/>
            <a:ext cx="9525" cy="9525"/>
          </a:xfrm>
          <a:prstGeom prst="roundRect">
            <a:avLst>
              <a:gd name="adj" fmla="val 42857"/>
            </a:avLst>
          </a:prstGeom>
          <a:noFill/>
          <a:ln w="0">
            <a:noFill/>
            <a:prstDash val="solid"/>
          </a:ln>
        </p:spPr>
      </p:sp>
      <p:sp>
        <p:nvSpPr>
          <p:cNvPr id="18" name="Home GPU 16384 CUDA cores-value"/>
          <p:cNvSpPr>
            <a:spLocks noGrp="1"/>
          </p:cNvSpPr>
          <p:nvPr/>
        </p:nvSpPr>
        <p:spPr>
          <a:xfrm>
            <a:off x="11277600" y="4762500"/>
            <a:ext cx="9525" cy="9525"/>
          </a:xfrm>
          <a:prstGeom prst="rect">
            <a:avLst/>
          </a:prstGeom>
          <a:noFill/>
          <a:ln w="0">
            <a:noFill/>
            <a:prstDash val="solid"/>
          </a:ln>
        </p:spPr>
        <p:txBody>
          <a:bodyPr wrap="square" lIns="47625" tIns="28575" rIns="47625" bIns="28575">
            <a:normAutofit/>
          </a:bodyPr>
          <a:lstStyle/>
          <a:p>
            <a:pPr algn="r">
              <a:buNone/>
              <a:defRPr sz="1725" b="1">
                <a:solidFill>
                  <a:srgbClr val="FFFFFF"/>
                </a:solidFill>
              </a:defRPr>
            </a:pPr>
            <a:endParaRPr sz="1725" b="1">
              <a:solidFill>
                <a:srgbClr val="FFFFFF"/>
              </a:solidFill>
            </a:endParaRPr>
          </a:p>
        </p:txBody>
      </p:sp>
      <p:sp>
        <p:nvSpPr>
          <p:cNvPr id="19" name="Server GPU 14592 CUDA cores"/>
          <p:cNvSpPr>
            <a:spLocks noGrp="1"/>
          </p:cNvSpPr>
          <p:nvPr/>
        </p:nvSpPr>
        <p:spPr>
          <a:xfrm>
            <a:off x="11296650" y="4762500"/>
            <a:ext cx="9525" cy="9525"/>
          </a:xfrm>
          <a:prstGeom prst="roundRect">
            <a:avLst>
              <a:gd name="adj" fmla="val 42857"/>
            </a:avLst>
          </a:prstGeom>
          <a:noFill/>
          <a:ln w="0">
            <a:noFill/>
            <a:prstDash val="solid"/>
          </a:ln>
        </p:spPr>
      </p:sp>
      <p:sp>
        <p:nvSpPr>
          <p:cNvPr id="20" name="Server GPU 14592 CUDA cores-value"/>
          <p:cNvSpPr>
            <a:spLocks noGrp="1"/>
          </p:cNvSpPr>
          <p:nvPr/>
        </p:nvSpPr>
        <p:spPr>
          <a:xfrm>
            <a:off x="11315700" y="4762500"/>
            <a:ext cx="9525" cy="9525"/>
          </a:xfrm>
          <a:prstGeom prst="rect">
            <a:avLst/>
          </a:prstGeom>
          <a:noFill/>
          <a:ln w="0">
            <a:noFill/>
            <a:prstDash val="solid"/>
          </a:ln>
        </p:spPr>
        <p:txBody>
          <a:bodyPr wrap="square" lIns="47625" tIns="28575" rIns="47625" bIns="28575">
            <a:normAutofit/>
          </a:bodyPr>
          <a:lstStyle/>
          <a:p>
            <a:pPr algn="r">
              <a:buNone/>
              <a:defRPr sz="1725" b="1">
                <a:solidFill>
                  <a:srgbClr val="FFFFFF"/>
                </a:solidFill>
              </a:defRPr>
            </a:pPr>
            <a:endParaRPr sz="1725" b="1">
              <a:solidFill>
                <a:srgbClr val="FFFFFF"/>
              </a:solidFill>
            </a:endParaRPr>
          </a:p>
        </p:txBody>
      </p:sp>
      <p:sp>
        <p:nvSpPr>
          <p:cNvPr id="22" name="GPU shared scale note"/>
          <p:cNvSpPr>
            <a:spLocks noGrp="1"/>
          </p:cNvSpPr>
          <p:nvPr/>
        </p:nvSpPr>
        <p:spPr>
          <a:xfrm>
            <a:off x="11334750" y="4762500"/>
            <a:ext cx="9525" cy="9525"/>
          </a:xfrm>
          <a:prstGeom prst="rect">
            <a:avLst/>
          </a:prstGeom>
          <a:noFill/>
          <a:ln w="0">
            <a:noFill/>
            <a:prstDash val="solid"/>
          </a:ln>
        </p:spPr>
        <p:txBody>
          <a:bodyPr wrap="square" lIns="47625" tIns="28575" rIns="47625" bIns="28575">
            <a:normAutofit/>
          </a:bodyPr>
          <a:lstStyle/>
          <a:p>
            <a:pPr algn="ctr">
              <a:buNone/>
              <a:defRPr sz="975">
                <a:solidFill>
                  <a:srgbClr val="899096"/>
                </a:solidFill>
              </a:defRPr>
            </a:pPr>
            <a:endParaRPr sz="975">
              <a:solidFill>
                <a:srgbClr val="899096"/>
              </a:solidFill>
            </a:endParaRPr>
          </a:p>
        </p:txBody>
      </p:sp>
      <p:sp>
        <p:nvSpPr>
          <p:cNvPr id="23" name="CPU comparison frame"/>
          <p:cNvSpPr>
            <a:spLocks noGrp="1"/>
          </p:cNvSpPr>
          <p:nvPr/>
        </p:nvSpPr>
        <p:spPr>
          <a:xfrm>
            <a:off x="742950" y="1676400"/>
            <a:ext cx="5067300" cy="3295650"/>
          </a:xfrm>
          <a:prstGeom prst="roundRect">
            <a:avLst>
              <a:gd name="adj" fmla="val 3468"/>
            </a:avLst>
          </a:prstGeom>
          <a:noFill/>
          <a:ln w="9525">
            <a:solidFill>
              <a:srgbClr val="A894B1"/>
            </a:solidFill>
            <a:prstDash val="solid"/>
          </a:ln>
        </p:spPr>
      </p:sp>
      <p:sp>
        <p:nvSpPr>
          <p:cNvPr id="24" name="GPU comparison frame"/>
          <p:cNvSpPr>
            <a:spLocks noGrp="1"/>
          </p:cNvSpPr>
          <p:nvPr/>
        </p:nvSpPr>
        <p:spPr>
          <a:xfrm>
            <a:off x="6381750" y="1676400"/>
            <a:ext cx="5067300" cy="3295650"/>
          </a:xfrm>
          <a:prstGeom prst="roundRect">
            <a:avLst>
              <a:gd name="adj" fmla="val 3468"/>
            </a:avLst>
          </a:prstGeom>
          <a:noFill/>
          <a:ln w="9525">
            <a:solidFill>
              <a:srgbClr val="1E8E94"/>
            </a:solidFill>
            <a:prstDash val="solid"/>
          </a:ln>
        </p:spPr>
      </p:sp>
      <p:sp>
        <p:nvSpPr>
          <p:cNvPr id="25" name="CPU category tag"/>
          <p:cNvSpPr>
            <a:spLocks noGrp="1"/>
          </p:cNvSpPr>
          <p:nvPr/>
        </p:nvSpPr>
        <p:spPr>
          <a:xfrm>
            <a:off x="4229100" y="1876425"/>
            <a:ext cx="1257300" cy="285750"/>
          </a:xfrm>
          <a:prstGeom prst="roundRect">
            <a:avLst>
              <a:gd name="adj" fmla="val 26667"/>
            </a:avLst>
          </a:prstGeom>
          <a:solidFill>
            <a:srgbClr val="F5EDF7"/>
          </a:solidFill>
          <a:ln w="7620">
            <a:solidFill>
              <a:srgbClr val="A894B1"/>
            </a:solidFill>
            <a:prstDash val="solid"/>
          </a:ln>
        </p:spPr>
        <p:txBody>
          <a:bodyPr wrap="square" lIns="47625" tIns="28575" rIns="47625" bIns="28575" anchor="ctr">
            <a:normAutofit/>
          </a:bodyPr>
          <a:lstStyle/>
          <a:p>
            <a:pPr algn="ctr">
              <a:defRPr sz="1050" b="1">
                <a:solidFill>
                  <a:srgbClr val="660874"/>
                </a:solidFill>
                <a:latin typeface="Source Han Sans CN"/>
                <a:ea typeface="Source Han Sans CN"/>
                <a:cs typeface="Source Han Sans CN"/>
              </a:defRPr>
            </a:pPr>
            <a:r>
              <a:rPr sz="1050" b="1">
                <a:solidFill>
                  <a:srgbClr val="660874"/>
                </a:solidFill>
                <a:latin typeface="Source Han Sans CN"/>
                <a:ea typeface="Source Han Sans CN"/>
                <a:cs typeface="Source Han Sans CN"/>
              </a:rPr>
              <a:t>通用处理器</a:t>
            </a:r>
            <a:endParaRPr sz="1050" b="1">
              <a:solidFill>
                <a:srgbClr val="660874"/>
              </a:solidFill>
              <a:latin typeface="Source Han Sans CN"/>
              <a:ea typeface="Source Han Sans CN"/>
              <a:cs typeface="Source Han Sans CN"/>
            </a:endParaRPr>
          </a:p>
        </p:txBody>
      </p:sp>
      <p:sp>
        <p:nvSpPr>
          <p:cNvPr id="26" name="GPU category tag"/>
          <p:cNvSpPr>
            <a:spLocks noGrp="1"/>
          </p:cNvSpPr>
          <p:nvPr/>
        </p:nvSpPr>
        <p:spPr>
          <a:xfrm>
            <a:off x="9839325" y="1876425"/>
            <a:ext cx="1257300" cy="285750"/>
          </a:xfrm>
          <a:prstGeom prst="roundRect">
            <a:avLst>
              <a:gd name="adj" fmla="val 26667"/>
            </a:avLst>
          </a:prstGeom>
          <a:solidFill>
            <a:srgbClr val="EAF6F5"/>
          </a:solidFill>
          <a:ln w="7620">
            <a:solidFill>
              <a:srgbClr val="1E8E94"/>
            </a:solidFill>
            <a:prstDash val="solid"/>
          </a:ln>
        </p:spPr>
        <p:txBody>
          <a:bodyPr wrap="square" lIns="47625" tIns="28575" rIns="47625" bIns="28575" anchor="ctr">
            <a:normAutofit/>
          </a:bodyPr>
          <a:lstStyle/>
          <a:p>
            <a:pPr algn="ctr">
              <a:defRPr sz="1050" b="1">
                <a:solidFill>
                  <a:srgbClr val="147988"/>
                </a:solidFill>
                <a:latin typeface="Source Han Sans CN"/>
                <a:ea typeface="Source Han Sans CN"/>
                <a:cs typeface="Source Han Sans CN"/>
              </a:defRPr>
            </a:pPr>
            <a:r>
              <a:rPr sz="1050" b="1">
                <a:solidFill>
                  <a:srgbClr val="147988"/>
                </a:solidFill>
                <a:latin typeface="Source Han Sans CN"/>
                <a:ea typeface="Source Han Sans CN"/>
                <a:cs typeface="Source Han Sans CN"/>
              </a:rPr>
              <a:t>公开案例</a:t>
            </a:r>
            <a:endParaRPr sz="1050" b="1">
              <a:solidFill>
                <a:srgbClr val="147988"/>
              </a:solidFill>
              <a:latin typeface="Source Han Sans CN"/>
              <a:ea typeface="Source Han Sans CN"/>
              <a:cs typeface="Source Han Sans CN"/>
            </a:endParaRPr>
          </a:p>
        </p:txBody>
      </p:sp>
      <p:sp>
        <p:nvSpPr>
          <p:cNvPr id="27" name="CPU workload label"/>
          <p:cNvSpPr>
            <a:spLocks noGrp="1"/>
          </p:cNvSpPr>
          <p:nvPr/>
        </p:nvSpPr>
        <p:spPr>
          <a:xfrm>
            <a:off x="990600" y="2476500"/>
            <a:ext cx="1676400" cy="247650"/>
          </a:xfrm>
          <a:prstGeom prst="rect">
            <a:avLst/>
          </a:prstGeom>
          <a:noFill/>
          <a:ln w="0">
            <a:noFill/>
            <a:prstDash val="solid"/>
          </a:ln>
        </p:spPr>
        <p:txBody>
          <a:bodyPr wrap="square" lIns="47625" tIns="28575" rIns="47625" bIns="28575" anchor="ctr">
            <a:normAutofit/>
          </a:bodyPr>
          <a:lstStyle/>
          <a:p>
            <a:pPr algn="ctr">
              <a:defRPr sz="1125" b="1">
                <a:solidFill>
                  <a:srgbClr val="6F7782"/>
                </a:solidFill>
                <a:latin typeface="Source Han Sans CN"/>
                <a:ea typeface="Source Han Sans CN"/>
                <a:cs typeface="Source Han Sans CN"/>
              </a:defRPr>
            </a:pPr>
            <a:r>
              <a:rPr sz="1125" b="1">
                <a:solidFill>
                  <a:srgbClr val="6F7782"/>
                </a:solidFill>
                <a:latin typeface="Source Han Sans CN"/>
                <a:ea typeface="Source Han Sans CN"/>
                <a:cs typeface="Source Han Sans CN"/>
              </a:rPr>
              <a:t>同一 FEP 计算任务</a:t>
            </a:r>
            <a:endParaRPr sz="1125" b="1">
              <a:solidFill>
                <a:srgbClr val="6F7782"/>
              </a:solidFill>
              <a:latin typeface="Source Han Sans CN"/>
              <a:ea typeface="Source Han Sans CN"/>
              <a:cs typeface="Source Han Sans CN"/>
            </a:endParaRPr>
          </a:p>
        </p:txBody>
      </p:sp>
      <p:sp>
        <p:nvSpPr>
          <p:cNvPr id="28" name="CPU performance metric"/>
          <p:cNvSpPr>
            <a:spLocks noGrp="1"/>
          </p:cNvSpPr>
          <p:nvPr/>
        </p:nvSpPr>
        <p:spPr>
          <a:xfrm>
            <a:off x="990600" y="2724150"/>
            <a:ext cx="1676400" cy="666750"/>
          </a:xfrm>
          <a:prstGeom prst="rect">
            <a:avLst/>
          </a:prstGeom>
          <a:noFill/>
          <a:ln w="0">
            <a:noFill/>
            <a:prstDash val="solid"/>
          </a:ln>
        </p:spPr>
        <p:txBody>
          <a:bodyPr wrap="square" lIns="47625" tIns="28575" rIns="47625" bIns="28575" anchor="ctr">
            <a:normAutofit/>
          </a:bodyPr>
          <a:lstStyle/>
          <a:p>
            <a:pPr algn="ctr">
              <a:defRPr sz="3600" b="1">
                <a:solidFill>
                  <a:srgbClr val="660874"/>
                </a:solidFill>
                <a:latin typeface="Source Han Sans CN"/>
                <a:ea typeface="Source Han Sans CN"/>
                <a:cs typeface="Source Han Sans CN"/>
              </a:defRPr>
            </a:pPr>
            <a:r>
              <a:rPr sz="3600" b="1">
                <a:solidFill>
                  <a:srgbClr val="660874"/>
                </a:solidFill>
                <a:latin typeface="Source Han Sans CN"/>
                <a:ea typeface="Source Han Sans CN"/>
                <a:cs typeface="Source Han Sans CN"/>
              </a:rPr>
              <a:t>1×</a:t>
            </a:r>
            <a:endParaRPr sz="3600" b="1">
              <a:solidFill>
                <a:srgbClr val="660874"/>
              </a:solidFill>
              <a:latin typeface="Source Han Sans CN"/>
              <a:ea typeface="Source Han Sans CN"/>
              <a:cs typeface="Source Han Sans CN"/>
            </a:endParaRPr>
          </a:p>
        </p:txBody>
      </p:sp>
      <p:sp>
        <p:nvSpPr>
          <p:cNvPr id="29" name="CPU performance label"/>
          <p:cNvSpPr>
            <a:spLocks noGrp="1"/>
          </p:cNvSpPr>
          <p:nvPr/>
        </p:nvSpPr>
        <p:spPr>
          <a:xfrm>
            <a:off x="990600" y="3352800"/>
            <a:ext cx="1676400" cy="266700"/>
          </a:xfrm>
          <a:prstGeom prst="rect">
            <a:avLst/>
          </a:prstGeom>
          <a:noFill/>
          <a:ln w="0">
            <a:noFill/>
            <a:prstDash val="solid"/>
          </a:ln>
        </p:spPr>
        <p:txBody>
          <a:bodyPr wrap="square" lIns="47625" tIns="28575" rIns="47625" bIns="28575" anchor="ctr">
            <a:normAutofit/>
          </a:bodyPr>
          <a:lstStyle/>
          <a:p>
            <a:pPr algn="ctr">
              <a:defRPr sz="1125" b="1">
                <a:solidFill>
                  <a:srgbClr val="660874"/>
                </a:solidFill>
                <a:latin typeface="Source Han Sans CN"/>
                <a:ea typeface="Source Han Sans CN"/>
                <a:cs typeface="Source Han Sans CN"/>
              </a:defRPr>
            </a:pPr>
            <a:r>
              <a:rPr sz="1125" b="1">
                <a:solidFill>
                  <a:srgbClr val="660874"/>
                </a:solidFill>
                <a:latin typeface="Source Han Sans CN"/>
                <a:ea typeface="Source Han Sans CN"/>
                <a:cs typeface="Source Han Sans CN"/>
              </a:rPr>
              <a:t>性能参考基线</a:t>
            </a:r>
            <a:endParaRPr sz="1125" b="1">
              <a:solidFill>
                <a:srgbClr val="660874"/>
              </a:solidFill>
              <a:latin typeface="Source Han Sans CN"/>
              <a:ea typeface="Source Han Sans CN"/>
              <a:cs typeface="Source Han Sans CN"/>
            </a:endParaRPr>
          </a:p>
        </p:txBody>
      </p:sp>
      <p:sp>
        <p:nvSpPr>
          <p:cNvPr id="30" name="CPU core concept frame"/>
          <p:cNvSpPr>
            <a:spLocks noGrp="1"/>
          </p:cNvSpPr>
          <p:nvPr/>
        </p:nvSpPr>
        <p:spPr>
          <a:xfrm>
            <a:off x="2876550" y="2400300"/>
            <a:ext cx="2647950" cy="1885950"/>
          </a:xfrm>
          <a:prstGeom prst="roundRect">
            <a:avLst>
              <a:gd name="adj" fmla="val 5051"/>
            </a:avLst>
          </a:prstGeom>
          <a:noFill/>
          <a:ln w="9525">
            <a:solidFill>
              <a:srgbClr val="A894B1"/>
            </a:solidFill>
            <a:prstDash val="solid"/>
          </a:ln>
        </p:spPr>
      </p:sp>
      <p:sp>
        <p:nvSpPr>
          <p:cNvPr id="31" name="CPU concept title"/>
          <p:cNvSpPr>
            <a:spLocks noGrp="1"/>
          </p:cNvSpPr>
          <p:nvPr/>
        </p:nvSpPr>
        <p:spPr>
          <a:xfrm>
            <a:off x="2990850" y="2486025"/>
            <a:ext cx="2419350" cy="228600"/>
          </a:xfrm>
          <a:prstGeom prst="rect">
            <a:avLst/>
          </a:prstGeom>
          <a:noFill/>
          <a:ln w="0">
            <a:noFill/>
            <a:prstDash val="solid"/>
          </a:ln>
        </p:spPr>
        <p:txBody>
          <a:bodyPr wrap="square" lIns="47625" tIns="28575" rIns="47625" bIns="28575" anchor="ctr">
            <a:normAutofit/>
          </a:bodyPr>
          <a:lstStyle/>
          <a:p>
            <a:pPr algn="ctr">
              <a:defRPr sz="1050" b="1">
                <a:solidFill>
                  <a:srgbClr val="660874"/>
                </a:solidFill>
                <a:latin typeface="Source Han Sans CN"/>
                <a:ea typeface="Source Han Sans CN"/>
                <a:cs typeface="Source Han Sans CN"/>
              </a:defRPr>
            </a:pPr>
            <a:r>
              <a:rPr sz="1050" b="1">
                <a:solidFill>
                  <a:srgbClr val="660874"/>
                </a:solidFill>
                <a:latin typeface="Source Han Sans CN"/>
                <a:ea typeface="Source Han Sans CN"/>
                <a:cs typeface="Source Han Sans CN"/>
              </a:rPr>
              <a:t>128 个物理核心</a:t>
            </a:r>
            <a:endParaRPr sz="1050" b="1">
              <a:solidFill>
                <a:srgbClr val="660874"/>
              </a:solidFill>
              <a:latin typeface="Source Han Sans CN"/>
              <a:ea typeface="Source Han Sans CN"/>
              <a:cs typeface="Source Han Sans CN"/>
            </a:endParaRPr>
          </a:p>
        </p:txBody>
      </p:sp>
      <p:sp>
        <p:nvSpPr>
          <p:cNvPr id="32" name="CPU four-core group 0"/>
          <p:cNvSpPr>
            <a:spLocks noGrp="1"/>
          </p:cNvSpPr>
          <p:nvPr/>
        </p:nvSpPr>
        <p:spPr>
          <a:xfrm>
            <a:off x="3162300" y="2809875"/>
            <a:ext cx="200025" cy="200025"/>
          </a:xfrm>
          <a:prstGeom prst="roundRect">
            <a:avLst>
              <a:gd name="adj" fmla="val 14286"/>
            </a:avLst>
          </a:prstGeom>
          <a:solidFill>
            <a:srgbClr val="F5EDF7"/>
          </a:solidFill>
          <a:ln w="7620">
            <a:solidFill>
              <a:srgbClr val="A894B1"/>
            </a:solidFill>
            <a:prstDash val="solid"/>
          </a:ln>
        </p:spPr>
      </p:sp>
      <p:sp>
        <p:nvSpPr>
          <p:cNvPr id="33" name="CPU four-core group 1"/>
          <p:cNvSpPr>
            <a:spLocks noGrp="1"/>
          </p:cNvSpPr>
          <p:nvPr/>
        </p:nvSpPr>
        <p:spPr>
          <a:xfrm>
            <a:off x="3419475" y="2809875"/>
            <a:ext cx="200025" cy="200025"/>
          </a:xfrm>
          <a:prstGeom prst="roundRect">
            <a:avLst>
              <a:gd name="adj" fmla="val 14286"/>
            </a:avLst>
          </a:prstGeom>
          <a:solidFill>
            <a:srgbClr val="F5EDF7"/>
          </a:solidFill>
          <a:ln w="7620">
            <a:solidFill>
              <a:srgbClr val="A894B1"/>
            </a:solidFill>
            <a:prstDash val="solid"/>
          </a:ln>
        </p:spPr>
      </p:sp>
      <p:sp>
        <p:nvSpPr>
          <p:cNvPr id="34" name="CPU four-core group 2"/>
          <p:cNvSpPr>
            <a:spLocks noGrp="1"/>
          </p:cNvSpPr>
          <p:nvPr/>
        </p:nvSpPr>
        <p:spPr>
          <a:xfrm>
            <a:off x="3676650" y="2809875"/>
            <a:ext cx="200025" cy="200025"/>
          </a:xfrm>
          <a:prstGeom prst="roundRect">
            <a:avLst>
              <a:gd name="adj" fmla="val 14286"/>
            </a:avLst>
          </a:prstGeom>
          <a:solidFill>
            <a:srgbClr val="F5EDF7"/>
          </a:solidFill>
          <a:ln w="7620">
            <a:solidFill>
              <a:srgbClr val="A894B1"/>
            </a:solidFill>
            <a:prstDash val="solid"/>
          </a:ln>
        </p:spPr>
      </p:sp>
      <p:sp>
        <p:nvSpPr>
          <p:cNvPr id="35" name="CPU four-core group 3"/>
          <p:cNvSpPr>
            <a:spLocks noGrp="1"/>
          </p:cNvSpPr>
          <p:nvPr/>
        </p:nvSpPr>
        <p:spPr>
          <a:xfrm>
            <a:off x="3933825" y="2809875"/>
            <a:ext cx="200025" cy="200025"/>
          </a:xfrm>
          <a:prstGeom prst="roundRect">
            <a:avLst>
              <a:gd name="adj" fmla="val 14286"/>
            </a:avLst>
          </a:prstGeom>
          <a:solidFill>
            <a:srgbClr val="F5EDF7"/>
          </a:solidFill>
          <a:ln w="7620">
            <a:solidFill>
              <a:srgbClr val="A894B1"/>
            </a:solidFill>
            <a:prstDash val="solid"/>
          </a:ln>
        </p:spPr>
      </p:sp>
      <p:sp>
        <p:nvSpPr>
          <p:cNvPr id="36" name="CPU four-core group 4"/>
          <p:cNvSpPr>
            <a:spLocks noGrp="1"/>
          </p:cNvSpPr>
          <p:nvPr/>
        </p:nvSpPr>
        <p:spPr>
          <a:xfrm>
            <a:off x="4191000" y="2809875"/>
            <a:ext cx="200025" cy="200025"/>
          </a:xfrm>
          <a:prstGeom prst="roundRect">
            <a:avLst>
              <a:gd name="adj" fmla="val 14286"/>
            </a:avLst>
          </a:prstGeom>
          <a:solidFill>
            <a:srgbClr val="F5EDF7"/>
          </a:solidFill>
          <a:ln w="7620">
            <a:solidFill>
              <a:srgbClr val="A894B1"/>
            </a:solidFill>
            <a:prstDash val="solid"/>
          </a:ln>
        </p:spPr>
      </p:sp>
      <p:sp>
        <p:nvSpPr>
          <p:cNvPr id="37" name="CPU four-core group 5"/>
          <p:cNvSpPr>
            <a:spLocks noGrp="1"/>
          </p:cNvSpPr>
          <p:nvPr/>
        </p:nvSpPr>
        <p:spPr>
          <a:xfrm>
            <a:off x="4448175" y="2809875"/>
            <a:ext cx="200025" cy="200025"/>
          </a:xfrm>
          <a:prstGeom prst="roundRect">
            <a:avLst>
              <a:gd name="adj" fmla="val 14286"/>
            </a:avLst>
          </a:prstGeom>
          <a:solidFill>
            <a:srgbClr val="F5EDF7"/>
          </a:solidFill>
          <a:ln w="7620">
            <a:solidFill>
              <a:srgbClr val="A894B1"/>
            </a:solidFill>
            <a:prstDash val="solid"/>
          </a:ln>
        </p:spPr>
      </p:sp>
      <p:sp>
        <p:nvSpPr>
          <p:cNvPr id="38" name="CPU four-core group 6"/>
          <p:cNvSpPr>
            <a:spLocks noGrp="1"/>
          </p:cNvSpPr>
          <p:nvPr/>
        </p:nvSpPr>
        <p:spPr>
          <a:xfrm>
            <a:off x="4705350" y="2809875"/>
            <a:ext cx="200025" cy="200025"/>
          </a:xfrm>
          <a:prstGeom prst="roundRect">
            <a:avLst>
              <a:gd name="adj" fmla="val 14286"/>
            </a:avLst>
          </a:prstGeom>
          <a:solidFill>
            <a:srgbClr val="F5EDF7"/>
          </a:solidFill>
          <a:ln w="7620">
            <a:solidFill>
              <a:srgbClr val="A894B1"/>
            </a:solidFill>
            <a:prstDash val="solid"/>
          </a:ln>
        </p:spPr>
      </p:sp>
      <p:sp>
        <p:nvSpPr>
          <p:cNvPr id="39" name="CPU four-core group 7"/>
          <p:cNvSpPr>
            <a:spLocks noGrp="1"/>
          </p:cNvSpPr>
          <p:nvPr/>
        </p:nvSpPr>
        <p:spPr>
          <a:xfrm>
            <a:off x="4962525" y="2809875"/>
            <a:ext cx="200025" cy="200025"/>
          </a:xfrm>
          <a:prstGeom prst="roundRect">
            <a:avLst>
              <a:gd name="adj" fmla="val 14286"/>
            </a:avLst>
          </a:prstGeom>
          <a:solidFill>
            <a:srgbClr val="F5EDF7"/>
          </a:solidFill>
          <a:ln w="7620">
            <a:solidFill>
              <a:srgbClr val="A894B1"/>
            </a:solidFill>
            <a:prstDash val="solid"/>
          </a:ln>
        </p:spPr>
      </p:sp>
      <p:sp>
        <p:nvSpPr>
          <p:cNvPr id="40" name="CPU four-core group 8"/>
          <p:cNvSpPr>
            <a:spLocks noGrp="1"/>
          </p:cNvSpPr>
          <p:nvPr/>
        </p:nvSpPr>
        <p:spPr>
          <a:xfrm>
            <a:off x="3162300" y="3067050"/>
            <a:ext cx="200025" cy="200025"/>
          </a:xfrm>
          <a:prstGeom prst="roundRect">
            <a:avLst>
              <a:gd name="adj" fmla="val 14286"/>
            </a:avLst>
          </a:prstGeom>
          <a:solidFill>
            <a:srgbClr val="F5EDF7"/>
          </a:solidFill>
          <a:ln w="7620">
            <a:solidFill>
              <a:srgbClr val="A894B1"/>
            </a:solidFill>
            <a:prstDash val="solid"/>
          </a:ln>
        </p:spPr>
      </p:sp>
      <p:sp>
        <p:nvSpPr>
          <p:cNvPr id="41" name="CPU four-core group 9"/>
          <p:cNvSpPr>
            <a:spLocks noGrp="1"/>
          </p:cNvSpPr>
          <p:nvPr/>
        </p:nvSpPr>
        <p:spPr>
          <a:xfrm>
            <a:off x="3419475" y="3067050"/>
            <a:ext cx="200025" cy="200025"/>
          </a:xfrm>
          <a:prstGeom prst="roundRect">
            <a:avLst>
              <a:gd name="adj" fmla="val 14286"/>
            </a:avLst>
          </a:prstGeom>
          <a:solidFill>
            <a:srgbClr val="F5EDF7"/>
          </a:solidFill>
          <a:ln w="7620">
            <a:solidFill>
              <a:srgbClr val="A894B1"/>
            </a:solidFill>
            <a:prstDash val="solid"/>
          </a:ln>
        </p:spPr>
      </p:sp>
      <p:sp>
        <p:nvSpPr>
          <p:cNvPr id="42" name="CPU four-core group 10"/>
          <p:cNvSpPr>
            <a:spLocks noGrp="1"/>
          </p:cNvSpPr>
          <p:nvPr/>
        </p:nvSpPr>
        <p:spPr>
          <a:xfrm>
            <a:off x="3676650" y="3067050"/>
            <a:ext cx="200025" cy="200025"/>
          </a:xfrm>
          <a:prstGeom prst="roundRect">
            <a:avLst>
              <a:gd name="adj" fmla="val 14286"/>
            </a:avLst>
          </a:prstGeom>
          <a:solidFill>
            <a:srgbClr val="F5EDF7"/>
          </a:solidFill>
          <a:ln w="7620">
            <a:solidFill>
              <a:srgbClr val="A894B1"/>
            </a:solidFill>
            <a:prstDash val="solid"/>
          </a:ln>
        </p:spPr>
      </p:sp>
      <p:sp>
        <p:nvSpPr>
          <p:cNvPr id="43" name="CPU four-core group 11"/>
          <p:cNvSpPr>
            <a:spLocks noGrp="1"/>
          </p:cNvSpPr>
          <p:nvPr/>
        </p:nvSpPr>
        <p:spPr>
          <a:xfrm>
            <a:off x="3933825" y="3067050"/>
            <a:ext cx="200025" cy="200025"/>
          </a:xfrm>
          <a:prstGeom prst="roundRect">
            <a:avLst>
              <a:gd name="adj" fmla="val 14286"/>
            </a:avLst>
          </a:prstGeom>
          <a:solidFill>
            <a:srgbClr val="F5EDF7"/>
          </a:solidFill>
          <a:ln w="7620">
            <a:solidFill>
              <a:srgbClr val="A894B1"/>
            </a:solidFill>
            <a:prstDash val="solid"/>
          </a:ln>
        </p:spPr>
      </p:sp>
      <p:sp>
        <p:nvSpPr>
          <p:cNvPr id="44" name="CPU four-core group 12"/>
          <p:cNvSpPr>
            <a:spLocks noGrp="1"/>
          </p:cNvSpPr>
          <p:nvPr/>
        </p:nvSpPr>
        <p:spPr>
          <a:xfrm>
            <a:off x="4191000" y="3067050"/>
            <a:ext cx="200025" cy="200025"/>
          </a:xfrm>
          <a:prstGeom prst="roundRect">
            <a:avLst>
              <a:gd name="adj" fmla="val 14286"/>
            </a:avLst>
          </a:prstGeom>
          <a:solidFill>
            <a:srgbClr val="F5EDF7"/>
          </a:solidFill>
          <a:ln w="7620">
            <a:solidFill>
              <a:srgbClr val="A894B1"/>
            </a:solidFill>
            <a:prstDash val="solid"/>
          </a:ln>
        </p:spPr>
      </p:sp>
      <p:sp>
        <p:nvSpPr>
          <p:cNvPr id="45" name="CPU four-core group 13"/>
          <p:cNvSpPr>
            <a:spLocks noGrp="1"/>
          </p:cNvSpPr>
          <p:nvPr/>
        </p:nvSpPr>
        <p:spPr>
          <a:xfrm>
            <a:off x="4448175" y="3067050"/>
            <a:ext cx="200025" cy="200025"/>
          </a:xfrm>
          <a:prstGeom prst="roundRect">
            <a:avLst>
              <a:gd name="adj" fmla="val 14286"/>
            </a:avLst>
          </a:prstGeom>
          <a:solidFill>
            <a:srgbClr val="F5EDF7"/>
          </a:solidFill>
          <a:ln w="7620">
            <a:solidFill>
              <a:srgbClr val="A894B1"/>
            </a:solidFill>
            <a:prstDash val="solid"/>
          </a:ln>
        </p:spPr>
      </p:sp>
      <p:sp>
        <p:nvSpPr>
          <p:cNvPr id="46" name="CPU four-core group 14"/>
          <p:cNvSpPr>
            <a:spLocks noGrp="1"/>
          </p:cNvSpPr>
          <p:nvPr/>
        </p:nvSpPr>
        <p:spPr>
          <a:xfrm>
            <a:off x="4705350" y="3067050"/>
            <a:ext cx="200025" cy="200025"/>
          </a:xfrm>
          <a:prstGeom prst="roundRect">
            <a:avLst>
              <a:gd name="adj" fmla="val 14286"/>
            </a:avLst>
          </a:prstGeom>
          <a:solidFill>
            <a:srgbClr val="F5EDF7"/>
          </a:solidFill>
          <a:ln w="7620">
            <a:solidFill>
              <a:srgbClr val="A894B1"/>
            </a:solidFill>
            <a:prstDash val="solid"/>
          </a:ln>
        </p:spPr>
      </p:sp>
      <p:sp>
        <p:nvSpPr>
          <p:cNvPr id="47" name="CPU four-core group 15"/>
          <p:cNvSpPr>
            <a:spLocks noGrp="1"/>
          </p:cNvSpPr>
          <p:nvPr/>
        </p:nvSpPr>
        <p:spPr>
          <a:xfrm>
            <a:off x="4962525" y="3067050"/>
            <a:ext cx="200025" cy="200025"/>
          </a:xfrm>
          <a:prstGeom prst="roundRect">
            <a:avLst>
              <a:gd name="adj" fmla="val 14286"/>
            </a:avLst>
          </a:prstGeom>
          <a:solidFill>
            <a:srgbClr val="F5EDF7"/>
          </a:solidFill>
          <a:ln w="7620">
            <a:solidFill>
              <a:srgbClr val="A894B1"/>
            </a:solidFill>
            <a:prstDash val="solid"/>
          </a:ln>
        </p:spPr>
      </p:sp>
      <p:sp>
        <p:nvSpPr>
          <p:cNvPr id="48" name="CPU four-core group 16"/>
          <p:cNvSpPr>
            <a:spLocks noGrp="1"/>
          </p:cNvSpPr>
          <p:nvPr/>
        </p:nvSpPr>
        <p:spPr>
          <a:xfrm>
            <a:off x="3162300" y="3324225"/>
            <a:ext cx="200025" cy="200025"/>
          </a:xfrm>
          <a:prstGeom prst="roundRect">
            <a:avLst>
              <a:gd name="adj" fmla="val 14286"/>
            </a:avLst>
          </a:prstGeom>
          <a:solidFill>
            <a:srgbClr val="F5EDF7"/>
          </a:solidFill>
          <a:ln w="7620">
            <a:solidFill>
              <a:srgbClr val="A894B1"/>
            </a:solidFill>
            <a:prstDash val="solid"/>
          </a:ln>
        </p:spPr>
      </p:sp>
      <p:sp>
        <p:nvSpPr>
          <p:cNvPr id="49" name="CPU four-core group 17"/>
          <p:cNvSpPr>
            <a:spLocks noGrp="1"/>
          </p:cNvSpPr>
          <p:nvPr/>
        </p:nvSpPr>
        <p:spPr>
          <a:xfrm>
            <a:off x="3419475" y="3324225"/>
            <a:ext cx="200025" cy="200025"/>
          </a:xfrm>
          <a:prstGeom prst="roundRect">
            <a:avLst>
              <a:gd name="adj" fmla="val 14286"/>
            </a:avLst>
          </a:prstGeom>
          <a:solidFill>
            <a:srgbClr val="F5EDF7"/>
          </a:solidFill>
          <a:ln w="7620">
            <a:solidFill>
              <a:srgbClr val="A894B1"/>
            </a:solidFill>
            <a:prstDash val="solid"/>
          </a:ln>
        </p:spPr>
      </p:sp>
      <p:sp>
        <p:nvSpPr>
          <p:cNvPr id="50" name="CPU four-core group 18"/>
          <p:cNvSpPr>
            <a:spLocks noGrp="1"/>
          </p:cNvSpPr>
          <p:nvPr/>
        </p:nvSpPr>
        <p:spPr>
          <a:xfrm>
            <a:off x="3676650" y="3324225"/>
            <a:ext cx="200025" cy="200025"/>
          </a:xfrm>
          <a:prstGeom prst="roundRect">
            <a:avLst>
              <a:gd name="adj" fmla="val 14286"/>
            </a:avLst>
          </a:prstGeom>
          <a:solidFill>
            <a:srgbClr val="F5EDF7"/>
          </a:solidFill>
          <a:ln w="7620">
            <a:solidFill>
              <a:srgbClr val="A894B1"/>
            </a:solidFill>
            <a:prstDash val="solid"/>
          </a:ln>
        </p:spPr>
      </p:sp>
      <p:sp>
        <p:nvSpPr>
          <p:cNvPr id="51" name="CPU four-core group 19"/>
          <p:cNvSpPr>
            <a:spLocks noGrp="1"/>
          </p:cNvSpPr>
          <p:nvPr/>
        </p:nvSpPr>
        <p:spPr>
          <a:xfrm>
            <a:off x="3933825" y="3324225"/>
            <a:ext cx="200025" cy="200025"/>
          </a:xfrm>
          <a:prstGeom prst="roundRect">
            <a:avLst>
              <a:gd name="adj" fmla="val 14286"/>
            </a:avLst>
          </a:prstGeom>
          <a:solidFill>
            <a:srgbClr val="F5EDF7"/>
          </a:solidFill>
          <a:ln w="7620">
            <a:solidFill>
              <a:srgbClr val="A894B1"/>
            </a:solidFill>
            <a:prstDash val="solid"/>
          </a:ln>
        </p:spPr>
      </p:sp>
      <p:sp>
        <p:nvSpPr>
          <p:cNvPr id="52" name="CPU four-core group 20"/>
          <p:cNvSpPr>
            <a:spLocks noGrp="1"/>
          </p:cNvSpPr>
          <p:nvPr/>
        </p:nvSpPr>
        <p:spPr>
          <a:xfrm>
            <a:off x="4191000" y="3324225"/>
            <a:ext cx="200025" cy="200025"/>
          </a:xfrm>
          <a:prstGeom prst="roundRect">
            <a:avLst>
              <a:gd name="adj" fmla="val 14286"/>
            </a:avLst>
          </a:prstGeom>
          <a:solidFill>
            <a:srgbClr val="F5EDF7"/>
          </a:solidFill>
          <a:ln w="7620">
            <a:solidFill>
              <a:srgbClr val="A894B1"/>
            </a:solidFill>
            <a:prstDash val="solid"/>
          </a:ln>
        </p:spPr>
      </p:sp>
      <p:sp>
        <p:nvSpPr>
          <p:cNvPr id="53" name="CPU four-core group 21"/>
          <p:cNvSpPr>
            <a:spLocks noGrp="1"/>
          </p:cNvSpPr>
          <p:nvPr/>
        </p:nvSpPr>
        <p:spPr>
          <a:xfrm>
            <a:off x="4448175" y="3324225"/>
            <a:ext cx="200025" cy="200025"/>
          </a:xfrm>
          <a:prstGeom prst="roundRect">
            <a:avLst>
              <a:gd name="adj" fmla="val 14286"/>
            </a:avLst>
          </a:prstGeom>
          <a:solidFill>
            <a:srgbClr val="F5EDF7"/>
          </a:solidFill>
          <a:ln w="7620">
            <a:solidFill>
              <a:srgbClr val="A894B1"/>
            </a:solidFill>
            <a:prstDash val="solid"/>
          </a:ln>
        </p:spPr>
      </p:sp>
      <p:sp>
        <p:nvSpPr>
          <p:cNvPr id="54" name="CPU four-core group 22"/>
          <p:cNvSpPr>
            <a:spLocks noGrp="1"/>
          </p:cNvSpPr>
          <p:nvPr/>
        </p:nvSpPr>
        <p:spPr>
          <a:xfrm>
            <a:off x="4705350" y="3324225"/>
            <a:ext cx="200025" cy="200025"/>
          </a:xfrm>
          <a:prstGeom prst="roundRect">
            <a:avLst>
              <a:gd name="adj" fmla="val 14286"/>
            </a:avLst>
          </a:prstGeom>
          <a:solidFill>
            <a:srgbClr val="F5EDF7"/>
          </a:solidFill>
          <a:ln w="7620">
            <a:solidFill>
              <a:srgbClr val="A894B1"/>
            </a:solidFill>
            <a:prstDash val="solid"/>
          </a:ln>
        </p:spPr>
      </p:sp>
      <p:sp>
        <p:nvSpPr>
          <p:cNvPr id="55" name="CPU four-core group 23"/>
          <p:cNvSpPr>
            <a:spLocks noGrp="1"/>
          </p:cNvSpPr>
          <p:nvPr/>
        </p:nvSpPr>
        <p:spPr>
          <a:xfrm>
            <a:off x="4962525" y="3324225"/>
            <a:ext cx="200025" cy="200025"/>
          </a:xfrm>
          <a:prstGeom prst="roundRect">
            <a:avLst>
              <a:gd name="adj" fmla="val 14286"/>
            </a:avLst>
          </a:prstGeom>
          <a:solidFill>
            <a:srgbClr val="F5EDF7"/>
          </a:solidFill>
          <a:ln w="7620">
            <a:solidFill>
              <a:srgbClr val="A894B1"/>
            </a:solidFill>
            <a:prstDash val="solid"/>
          </a:ln>
        </p:spPr>
      </p:sp>
      <p:sp>
        <p:nvSpPr>
          <p:cNvPr id="56" name="CPU four-core group 24"/>
          <p:cNvSpPr>
            <a:spLocks noGrp="1"/>
          </p:cNvSpPr>
          <p:nvPr/>
        </p:nvSpPr>
        <p:spPr>
          <a:xfrm>
            <a:off x="3162300" y="3581400"/>
            <a:ext cx="200025" cy="200025"/>
          </a:xfrm>
          <a:prstGeom prst="roundRect">
            <a:avLst>
              <a:gd name="adj" fmla="val 14286"/>
            </a:avLst>
          </a:prstGeom>
          <a:solidFill>
            <a:srgbClr val="EAD9EE"/>
          </a:solidFill>
          <a:ln w="7620">
            <a:solidFill>
              <a:srgbClr val="A894B1"/>
            </a:solidFill>
            <a:prstDash val="solid"/>
          </a:ln>
        </p:spPr>
      </p:sp>
      <p:sp>
        <p:nvSpPr>
          <p:cNvPr id="57" name="CPU four-core group 25"/>
          <p:cNvSpPr>
            <a:spLocks noGrp="1"/>
          </p:cNvSpPr>
          <p:nvPr/>
        </p:nvSpPr>
        <p:spPr>
          <a:xfrm>
            <a:off x="3419475" y="3581400"/>
            <a:ext cx="200025" cy="200025"/>
          </a:xfrm>
          <a:prstGeom prst="roundRect">
            <a:avLst>
              <a:gd name="adj" fmla="val 14286"/>
            </a:avLst>
          </a:prstGeom>
          <a:solidFill>
            <a:srgbClr val="EAD9EE"/>
          </a:solidFill>
          <a:ln w="7620">
            <a:solidFill>
              <a:srgbClr val="A894B1"/>
            </a:solidFill>
            <a:prstDash val="solid"/>
          </a:ln>
        </p:spPr>
      </p:sp>
      <p:sp>
        <p:nvSpPr>
          <p:cNvPr id="58" name="CPU four-core group 26"/>
          <p:cNvSpPr>
            <a:spLocks noGrp="1"/>
          </p:cNvSpPr>
          <p:nvPr/>
        </p:nvSpPr>
        <p:spPr>
          <a:xfrm>
            <a:off x="3676650" y="3581400"/>
            <a:ext cx="200025" cy="200025"/>
          </a:xfrm>
          <a:prstGeom prst="roundRect">
            <a:avLst>
              <a:gd name="adj" fmla="val 14286"/>
            </a:avLst>
          </a:prstGeom>
          <a:solidFill>
            <a:srgbClr val="EAD9EE"/>
          </a:solidFill>
          <a:ln w="7620">
            <a:solidFill>
              <a:srgbClr val="A894B1"/>
            </a:solidFill>
            <a:prstDash val="solid"/>
          </a:ln>
        </p:spPr>
      </p:sp>
      <p:sp>
        <p:nvSpPr>
          <p:cNvPr id="59" name="CPU four-core group 27"/>
          <p:cNvSpPr>
            <a:spLocks noGrp="1"/>
          </p:cNvSpPr>
          <p:nvPr/>
        </p:nvSpPr>
        <p:spPr>
          <a:xfrm>
            <a:off x="3933825" y="3581400"/>
            <a:ext cx="200025" cy="200025"/>
          </a:xfrm>
          <a:prstGeom prst="roundRect">
            <a:avLst>
              <a:gd name="adj" fmla="val 14286"/>
            </a:avLst>
          </a:prstGeom>
          <a:solidFill>
            <a:srgbClr val="EAD9EE"/>
          </a:solidFill>
          <a:ln w="7620">
            <a:solidFill>
              <a:srgbClr val="A894B1"/>
            </a:solidFill>
            <a:prstDash val="solid"/>
          </a:ln>
        </p:spPr>
      </p:sp>
      <p:sp>
        <p:nvSpPr>
          <p:cNvPr id="60" name="CPU four-core group 28"/>
          <p:cNvSpPr>
            <a:spLocks noGrp="1"/>
          </p:cNvSpPr>
          <p:nvPr/>
        </p:nvSpPr>
        <p:spPr>
          <a:xfrm>
            <a:off x="4191000" y="3581400"/>
            <a:ext cx="200025" cy="200025"/>
          </a:xfrm>
          <a:prstGeom prst="roundRect">
            <a:avLst>
              <a:gd name="adj" fmla="val 14286"/>
            </a:avLst>
          </a:prstGeom>
          <a:solidFill>
            <a:srgbClr val="EAD9EE"/>
          </a:solidFill>
          <a:ln w="7620">
            <a:solidFill>
              <a:srgbClr val="A894B1"/>
            </a:solidFill>
            <a:prstDash val="solid"/>
          </a:ln>
        </p:spPr>
      </p:sp>
      <p:sp>
        <p:nvSpPr>
          <p:cNvPr id="61" name="CPU four-core group 29"/>
          <p:cNvSpPr>
            <a:spLocks noGrp="1"/>
          </p:cNvSpPr>
          <p:nvPr/>
        </p:nvSpPr>
        <p:spPr>
          <a:xfrm>
            <a:off x="4448175" y="3581400"/>
            <a:ext cx="200025" cy="200025"/>
          </a:xfrm>
          <a:prstGeom prst="roundRect">
            <a:avLst>
              <a:gd name="adj" fmla="val 14286"/>
            </a:avLst>
          </a:prstGeom>
          <a:solidFill>
            <a:srgbClr val="EAD9EE"/>
          </a:solidFill>
          <a:ln w="7620">
            <a:solidFill>
              <a:srgbClr val="A894B1"/>
            </a:solidFill>
            <a:prstDash val="solid"/>
          </a:ln>
        </p:spPr>
      </p:sp>
      <p:sp>
        <p:nvSpPr>
          <p:cNvPr id="62" name="CPU four-core group 30"/>
          <p:cNvSpPr>
            <a:spLocks noGrp="1"/>
          </p:cNvSpPr>
          <p:nvPr/>
        </p:nvSpPr>
        <p:spPr>
          <a:xfrm>
            <a:off x="4705350" y="3581400"/>
            <a:ext cx="200025" cy="200025"/>
          </a:xfrm>
          <a:prstGeom prst="roundRect">
            <a:avLst>
              <a:gd name="adj" fmla="val 14286"/>
            </a:avLst>
          </a:prstGeom>
          <a:solidFill>
            <a:srgbClr val="EAD9EE"/>
          </a:solidFill>
          <a:ln w="7620">
            <a:solidFill>
              <a:srgbClr val="A894B1"/>
            </a:solidFill>
            <a:prstDash val="solid"/>
          </a:ln>
        </p:spPr>
      </p:sp>
      <p:sp>
        <p:nvSpPr>
          <p:cNvPr id="63" name="CPU four-core group 31"/>
          <p:cNvSpPr>
            <a:spLocks noGrp="1"/>
          </p:cNvSpPr>
          <p:nvPr/>
        </p:nvSpPr>
        <p:spPr>
          <a:xfrm>
            <a:off x="4962525" y="3581400"/>
            <a:ext cx="200025" cy="200025"/>
          </a:xfrm>
          <a:prstGeom prst="roundRect">
            <a:avLst>
              <a:gd name="adj" fmla="val 14286"/>
            </a:avLst>
          </a:prstGeom>
          <a:solidFill>
            <a:srgbClr val="EAD9EE"/>
          </a:solidFill>
          <a:ln w="7620">
            <a:solidFill>
              <a:srgbClr val="A894B1"/>
            </a:solidFill>
            <a:prstDash val="solid"/>
          </a:ln>
        </p:spPr>
      </p:sp>
      <p:sp>
        <p:nvSpPr>
          <p:cNvPr id="64" name="CPU core grid caption"/>
          <p:cNvSpPr>
            <a:spLocks noGrp="1"/>
          </p:cNvSpPr>
          <p:nvPr/>
        </p:nvSpPr>
        <p:spPr>
          <a:xfrm>
            <a:off x="2990850" y="3905250"/>
            <a:ext cx="2419350" cy="266700"/>
          </a:xfrm>
          <a:prstGeom prst="rect">
            <a:avLst/>
          </a:prstGeom>
          <a:noFill/>
          <a:ln w="0">
            <a:noFill/>
            <a:prstDash val="solid"/>
          </a:ln>
        </p:spPr>
        <p:txBody>
          <a:bodyPr wrap="square" lIns="47625" tIns="28575" rIns="47625" bIns="28575" anchor="ctr">
            <a:normAutofit/>
          </a:bodyPr>
          <a:lstStyle/>
          <a:p>
            <a:pPr algn="ctr">
              <a:defRPr sz="1050" b="1">
                <a:solidFill>
                  <a:srgbClr val="660874"/>
                </a:solidFill>
                <a:latin typeface="Source Han Sans CN"/>
                <a:ea typeface="Source Han Sans CN"/>
                <a:cs typeface="Source Han Sans CN"/>
              </a:defRPr>
            </a:pPr>
            <a:r>
              <a:rPr sz="1050" b="1">
                <a:solidFill>
                  <a:srgbClr val="660874"/>
                </a:solidFill>
                <a:latin typeface="Source Han Sans CN"/>
                <a:ea typeface="Source Han Sans CN"/>
                <a:cs typeface="Source Han Sans CN"/>
              </a:rPr>
              <a:t>32 格 × 4 核 = 128 核</a:t>
            </a:r>
            <a:endParaRPr sz="1050" b="1">
              <a:solidFill>
                <a:srgbClr val="660874"/>
              </a:solidFill>
              <a:latin typeface="Source Han Sans CN"/>
              <a:ea typeface="Source Han Sans CN"/>
              <a:cs typeface="Source Han Sans CN"/>
            </a:endParaRPr>
          </a:p>
        </p:txBody>
      </p:sp>
      <p:sp>
        <p:nvSpPr>
          <p:cNvPr id="65" name="GPU workload label"/>
          <p:cNvSpPr>
            <a:spLocks noGrp="1"/>
          </p:cNvSpPr>
          <p:nvPr/>
        </p:nvSpPr>
        <p:spPr>
          <a:xfrm>
            <a:off x="6629400" y="2476500"/>
            <a:ext cx="1676400" cy="247650"/>
          </a:xfrm>
          <a:prstGeom prst="rect">
            <a:avLst/>
          </a:prstGeom>
          <a:noFill/>
          <a:ln w="0">
            <a:noFill/>
            <a:prstDash val="solid"/>
          </a:ln>
        </p:spPr>
        <p:txBody>
          <a:bodyPr wrap="square" lIns="47625" tIns="28575" rIns="47625" bIns="28575" anchor="ctr">
            <a:normAutofit/>
          </a:bodyPr>
          <a:lstStyle/>
          <a:p>
            <a:pPr algn="ctr">
              <a:defRPr sz="1125" b="1">
                <a:solidFill>
                  <a:srgbClr val="6F7782"/>
                </a:solidFill>
                <a:latin typeface="Source Han Sans CN"/>
                <a:ea typeface="Source Han Sans CN"/>
                <a:cs typeface="Source Han Sans CN"/>
              </a:defRPr>
            </a:pPr>
            <a:r>
              <a:rPr sz="1125" b="1">
                <a:solidFill>
                  <a:srgbClr val="6F7782"/>
                </a:solidFill>
                <a:latin typeface="Source Han Sans CN"/>
                <a:ea typeface="Source Han Sans CN"/>
                <a:cs typeface="Source Han Sans CN"/>
              </a:rPr>
              <a:t>同一 FEP 计算任务</a:t>
            </a:r>
            <a:endParaRPr sz="1125" b="1">
              <a:solidFill>
                <a:srgbClr val="6F7782"/>
              </a:solidFill>
              <a:latin typeface="Source Han Sans CN"/>
              <a:ea typeface="Source Han Sans CN"/>
              <a:cs typeface="Source Han Sans CN"/>
            </a:endParaRPr>
          </a:p>
        </p:txBody>
      </p:sp>
      <p:sp>
        <p:nvSpPr>
          <p:cNvPr id="66" name="GPU performance metric"/>
          <p:cNvSpPr>
            <a:spLocks noGrp="1"/>
          </p:cNvSpPr>
          <p:nvPr/>
        </p:nvSpPr>
        <p:spPr>
          <a:xfrm>
            <a:off x="6629400" y="2724150"/>
            <a:ext cx="1676400" cy="666750"/>
          </a:xfrm>
          <a:prstGeom prst="rect">
            <a:avLst/>
          </a:prstGeom>
          <a:noFill/>
          <a:ln w="0">
            <a:noFill/>
            <a:prstDash val="solid"/>
          </a:ln>
        </p:spPr>
        <p:txBody>
          <a:bodyPr wrap="square" lIns="47625" tIns="28575" rIns="47625" bIns="28575" anchor="ctr">
            <a:normAutofit/>
          </a:bodyPr>
          <a:lstStyle/>
          <a:p>
            <a:pPr algn="ctr">
              <a:defRPr sz="3600" b="1">
                <a:solidFill>
                  <a:srgbClr val="1E8E94"/>
                </a:solidFill>
                <a:latin typeface="Source Han Sans CN"/>
                <a:ea typeface="Source Han Sans CN"/>
                <a:cs typeface="Source Han Sans CN"/>
              </a:defRPr>
            </a:pPr>
            <a:r>
              <a:rPr sz="3600" b="1">
                <a:solidFill>
                  <a:srgbClr val="1E8E94"/>
                </a:solidFill>
                <a:latin typeface="Source Han Sans CN"/>
                <a:ea typeface="Source Han Sans CN"/>
                <a:cs typeface="Source Han Sans CN"/>
              </a:rPr>
              <a:t>&gt;3×</a:t>
            </a:r>
            <a:endParaRPr sz="3600" b="1">
              <a:solidFill>
                <a:srgbClr val="1E8E94"/>
              </a:solidFill>
              <a:latin typeface="Source Han Sans CN"/>
              <a:ea typeface="Source Han Sans CN"/>
              <a:cs typeface="Source Han Sans CN"/>
            </a:endParaRPr>
          </a:p>
        </p:txBody>
      </p:sp>
      <p:sp>
        <p:nvSpPr>
          <p:cNvPr id="67" name="GPU performance label"/>
          <p:cNvSpPr>
            <a:spLocks noGrp="1"/>
          </p:cNvSpPr>
          <p:nvPr/>
        </p:nvSpPr>
        <p:spPr>
          <a:xfrm>
            <a:off x="6629400" y="3352800"/>
            <a:ext cx="1676400" cy="266700"/>
          </a:xfrm>
          <a:prstGeom prst="rect">
            <a:avLst/>
          </a:prstGeom>
          <a:noFill/>
          <a:ln w="0">
            <a:noFill/>
            <a:prstDash val="solid"/>
          </a:ln>
        </p:spPr>
        <p:txBody>
          <a:bodyPr wrap="square" lIns="47625" tIns="28575" rIns="47625" bIns="28575" anchor="ctr">
            <a:normAutofit/>
          </a:bodyPr>
          <a:lstStyle/>
          <a:p>
            <a:pPr algn="ctr">
              <a:defRPr sz="1125" b="1">
                <a:solidFill>
                  <a:srgbClr val="147988"/>
                </a:solidFill>
                <a:latin typeface="Source Han Sans CN"/>
                <a:ea typeface="Source Han Sans CN"/>
                <a:cs typeface="Source Han Sans CN"/>
              </a:defRPr>
            </a:pPr>
            <a:r>
              <a:rPr sz="1125" b="1">
                <a:solidFill>
                  <a:srgbClr val="147988"/>
                </a:solidFill>
                <a:latin typeface="Source Han Sans CN"/>
                <a:ea typeface="Source Han Sans CN"/>
                <a:cs typeface="Source Han Sans CN"/>
              </a:rPr>
              <a:t>同一任务性能</a:t>
            </a:r>
            <a:endParaRPr sz="1125" b="1">
              <a:solidFill>
                <a:srgbClr val="147988"/>
              </a:solidFill>
              <a:latin typeface="Source Han Sans CN"/>
              <a:ea typeface="Source Han Sans CN"/>
              <a:cs typeface="Source Han Sans CN"/>
            </a:endParaRPr>
          </a:p>
        </p:txBody>
      </p:sp>
      <p:sp>
        <p:nvSpPr>
          <p:cNvPr id="68" name="GPU thread concept frame"/>
          <p:cNvSpPr>
            <a:spLocks noGrp="1"/>
          </p:cNvSpPr>
          <p:nvPr/>
        </p:nvSpPr>
        <p:spPr>
          <a:xfrm>
            <a:off x="8515350" y="2400300"/>
            <a:ext cx="2647950" cy="1885950"/>
          </a:xfrm>
          <a:prstGeom prst="roundRect">
            <a:avLst>
              <a:gd name="adj" fmla="val 5051"/>
            </a:avLst>
          </a:prstGeom>
          <a:noFill/>
          <a:ln w="9525">
            <a:solidFill>
              <a:srgbClr val="1E8E94"/>
            </a:solidFill>
            <a:prstDash val="solid"/>
          </a:ln>
        </p:spPr>
      </p:sp>
      <p:sp>
        <p:nvSpPr>
          <p:cNvPr id="69" name="GPU concept title"/>
          <p:cNvSpPr>
            <a:spLocks noGrp="1"/>
          </p:cNvSpPr>
          <p:nvPr/>
        </p:nvSpPr>
        <p:spPr>
          <a:xfrm>
            <a:off x="8629650" y="2486025"/>
            <a:ext cx="2419350" cy="228600"/>
          </a:xfrm>
          <a:prstGeom prst="rect">
            <a:avLst/>
          </a:prstGeom>
          <a:noFill/>
          <a:ln w="0">
            <a:noFill/>
            <a:prstDash val="solid"/>
          </a:ln>
        </p:spPr>
        <p:txBody>
          <a:bodyPr wrap="square" lIns="47625" tIns="28575" rIns="47625" bIns="28575" anchor="ctr">
            <a:normAutofit/>
          </a:bodyPr>
          <a:lstStyle/>
          <a:p>
            <a:pPr algn="ctr">
              <a:defRPr sz="1050" b="1">
                <a:solidFill>
                  <a:srgbClr val="147988"/>
                </a:solidFill>
                <a:latin typeface="Source Han Sans CN"/>
                <a:ea typeface="Source Han Sans CN"/>
                <a:cs typeface="Source Han Sans CN"/>
              </a:defRPr>
            </a:pPr>
            <a:r>
              <a:rPr sz="1050" b="1">
                <a:solidFill>
                  <a:srgbClr val="147988"/>
                </a:solidFill>
                <a:latin typeface="Source Han Sans CN"/>
                <a:ea typeface="Source Han Sans CN"/>
                <a:cs typeface="Source Han Sans CN"/>
              </a:rPr>
              <a:t>1 个 Wave = 64 个 lane</a:t>
            </a:r>
            <a:endParaRPr sz="1050" b="1">
              <a:solidFill>
                <a:srgbClr val="147988"/>
              </a:solidFill>
              <a:latin typeface="Source Han Sans CN"/>
              <a:ea typeface="Source Han Sans CN"/>
              <a:cs typeface="Source Han Sans CN"/>
            </a:endParaRPr>
          </a:p>
        </p:txBody>
      </p:sp>
      <p:sp>
        <p:nvSpPr>
          <p:cNvPr id="70" name="GPU wave lane 0-0"/>
          <p:cNvSpPr>
            <a:spLocks noGrp="1"/>
          </p:cNvSpPr>
          <p:nvPr/>
        </p:nvSpPr>
        <p:spPr>
          <a:xfrm>
            <a:off x="9163050" y="2752725"/>
            <a:ext cx="133350" cy="133350"/>
          </a:xfrm>
          <a:prstGeom prst="roundRect">
            <a:avLst>
              <a:gd name="adj" fmla="val 14286"/>
            </a:avLst>
          </a:prstGeom>
          <a:solidFill>
            <a:srgbClr val="EAF6F5"/>
          </a:solidFill>
          <a:ln w="6668">
            <a:solidFill>
              <a:srgbClr val="8DC7C9"/>
            </a:solidFill>
            <a:prstDash val="solid"/>
          </a:ln>
        </p:spPr>
      </p:sp>
      <p:sp>
        <p:nvSpPr>
          <p:cNvPr id="71" name="GPU wave lane 0-1"/>
          <p:cNvSpPr>
            <a:spLocks noGrp="1"/>
          </p:cNvSpPr>
          <p:nvPr/>
        </p:nvSpPr>
        <p:spPr>
          <a:xfrm>
            <a:off x="9334500" y="2752725"/>
            <a:ext cx="133350" cy="133350"/>
          </a:xfrm>
          <a:prstGeom prst="roundRect">
            <a:avLst>
              <a:gd name="adj" fmla="val 14286"/>
            </a:avLst>
          </a:prstGeom>
          <a:solidFill>
            <a:srgbClr val="EAF6F5"/>
          </a:solidFill>
          <a:ln w="6668">
            <a:solidFill>
              <a:srgbClr val="8DC7C9"/>
            </a:solidFill>
            <a:prstDash val="solid"/>
          </a:ln>
        </p:spPr>
      </p:sp>
      <p:sp>
        <p:nvSpPr>
          <p:cNvPr id="72" name="GPU wave lane 0-2"/>
          <p:cNvSpPr>
            <a:spLocks noGrp="1"/>
          </p:cNvSpPr>
          <p:nvPr/>
        </p:nvSpPr>
        <p:spPr>
          <a:xfrm>
            <a:off x="9505950" y="2752725"/>
            <a:ext cx="133350" cy="133350"/>
          </a:xfrm>
          <a:prstGeom prst="roundRect">
            <a:avLst>
              <a:gd name="adj" fmla="val 14286"/>
            </a:avLst>
          </a:prstGeom>
          <a:solidFill>
            <a:srgbClr val="EAF6F5"/>
          </a:solidFill>
          <a:ln w="6668">
            <a:solidFill>
              <a:srgbClr val="8DC7C9"/>
            </a:solidFill>
            <a:prstDash val="solid"/>
          </a:ln>
        </p:spPr>
      </p:sp>
      <p:sp>
        <p:nvSpPr>
          <p:cNvPr id="73" name="GPU wave lane 0-3"/>
          <p:cNvSpPr>
            <a:spLocks noGrp="1"/>
          </p:cNvSpPr>
          <p:nvPr/>
        </p:nvSpPr>
        <p:spPr>
          <a:xfrm>
            <a:off x="9677400" y="2752725"/>
            <a:ext cx="133350" cy="133350"/>
          </a:xfrm>
          <a:prstGeom prst="roundRect">
            <a:avLst>
              <a:gd name="adj" fmla="val 14286"/>
            </a:avLst>
          </a:prstGeom>
          <a:solidFill>
            <a:srgbClr val="EAF6F5"/>
          </a:solidFill>
          <a:ln w="6668">
            <a:solidFill>
              <a:srgbClr val="8DC7C9"/>
            </a:solidFill>
            <a:prstDash val="solid"/>
          </a:ln>
        </p:spPr>
      </p:sp>
      <p:sp>
        <p:nvSpPr>
          <p:cNvPr id="74" name="GPU wave lane 0-4"/>
          <p:cNvSpPr>
            <a:spLocks noGrp="1"/>
          </p:cNvSpPr>
          <p:nvPr/>
        </p:nvSpPr>
        <p:spPr>
          <a:xfrm>
            <a:off x="9848850" y="2752725"/>
            <a:ext cx="133350" cy="133350"/>
          </a:xfrm>
          <a:prstGeom prst="roundRect">
            <a:avLst>
              <a:gd name="adj" fmla="val 14286"/>
            </a:avLst>
          </a:prstGeom>
          <a:solidFill>
            <a:srgbClr val="EAF6F5"/>
          </a:solidFill>
          <a:ln w="6668">
            <a:solidFill>
              <a:srgbClr val="8DC7C9"/>
            </a:solidFill>
            <a:prstDash val="solid"/>
          </a:ln>
        </p:spPr>
      </p:sp>
      <p:sp>
        <p:nvSpPr>
          <p:cNvPr id="75" name="GPU wave lane 0-5"/>
          <p:cNvSpPr>
            <a:spLocks noGrp="1"/>
          </p:cNvSpPr>
          <p:nvPr/>
        </p:nvSpPr>
        <p:spPr>
          <a:xfrm>
            <a:off x="10020300" y="2752725"/>
            <a:ext cx="133350" cy="133350"/>
          </a:xfrm>
          <a:prstGeom prst="roundRect">
            <a:avLst>
              <a:gd name="adj" fmla="val 14286"/>
            </a:avLst>
          </a:prstGeom>
          <a:solidFill>
            <a:srgbClr val="EAF6F5"/>
          </a:solidFill>
          <a:ln w="6668">
            <a:solidFill>
              <a:srgbClr val="8DC7C9"/>
            </a:solidFill>
            <a:prstDash val="solid"/>
          </a:ln>
        </p:spPr>
      </p:sp>
      <p:sp>
        <p:nvSpPr>
          <p:cNvPr id="76" name="GPU wave lane 0-6"/>
          <p:cNvSpPr>
            <a:spLocks noGrp="1"/>
          </p:cNvSpPr>
          <p:nvPr/>
        </p:nvSpPr>
        <p:spPr>
          <a:xfrm>
            <a:off x="10191750" y="2752725"/>
            <a:ext cx="133350" cy="133350"/>
          </a:xfrm>
          <a:prstGeom prst="roundRect">
            <a:avLst>
              <a:gd name="adj" fmla="val 14286"/>
            </a:avLst>
          </a:prstGeom>
          <a:solidFill>
            <a:srgbClr val="EAF6F5"/>
          </a:solidFill>
          <a:ln w="6668">
            <a:solidFill>
              <a:srgbClr val="8DC7C9"/>
            </a:solidFill>
            <a:prstDash val="solid"/>
          </a:ln>
        </p:spPr>
      </p:sp>
      <p:sp>
        <p:nvSpPr>
          <p:cNvPr id="77" name="GPU wave lane 0-7"/>
          <p:cNvSpPr>
            <a:spLocks noGrp="1"/>
          </p:cNvSpPr>
          <p:nvPr/>
        </p:nvSpPr>
        <p:spPr>
          <a:xfrm>
            <a:off x="10363200" y="2752725"/>
            <a:ext cx="133350" cy="133350"/>
          </a:xfrm>
          <a:prstGeom prst="roundRect">
            <a:avLst>
              <a:gd name="adj" fmla="val 14286"/>
            </a:avLst>
          </a:prstGeom>
          <a:solidFill>
            <a:srgbClr val="EAF6F5"/>
          </a:solidFill>
          <a:ln w="6668">
            <a:solidFill>
              <a:srgbClr val="8DC7C9"/>
            </a:solidFill>
            <a:prstDash val="solid"/>
          </a:ln>
        </p:spPr>
      </p:sp>
      <p:sp>
        <p:nvSpPr>
          <p:cNvPr id="78" name="GPU wave lane 1-0"/>
          <p:cNvSpPr>
            <a:spLocks noGrp="1"/>
          </p:cNvSpPr>
          <p:nvPr/>
        </p:nvSpPr>
        <p:spPr>
          <a:xfrm>
            <a:off x="9163050" y="2924175"/>
            <a:ext cx="133350" cy="133350"/>
          </a:xfrm>
          <a:prstGeom prst="roundRect">
            <a:avLst>
              <a:gd name="adj" fmla="val 14286"/>
            </a:avLst>
          </a:prstGeom>
          <a:solidFill>
            <a:srgbClr val="EAF6F5"/>
          </a:solidFill>
          <a:ln w="6668">
            <a:solidFill>
              <a:srgbClr val="8DC7C9"/>
            </a:solidFill>
            <a:prstDash val="solid"/>
          </a:ln>
        </p:spPr>
      </p:sp>
      <p:sp>
        <p:nvSpPr>
          <p:cNvPr id="79" name="GPU wave lane 1-1"/>
          <p:cNvSpPr>
            <a:spLocks noGrp="1"/>
          </p:cNvSpPr>
          <p:nvPr/>
        </p:nvSpPr>
        <p:spPr>
          <a:xfrm>
            <a:off x="9334500" y="2924175"/>
            <a:ext cx="133350" cy="133350"/>
          </a:xfrm>
          <a:prstGeom prst="roundRect">
            <a:avLst>
              <a:gd name="adj" fmla="val 14286"/>
            </a:avLst>
          </a:prstGeom>
          <a:solidFill>
            <a:srgbClr val="EAF6F5"/>
          </a:solidFill>
          <a:ln w="6668">
            <a:solidFill>
              <a:srgbClr val="8DC7C9"/>
            </a:solidFill>
            <a:prstDash val="solid"/>
          </a:ln>
        </p:spPr>
      </p:sp>
      <p:sp>
        <p:nvSpPr>
          <p:cNvPr id="80" name="GPU wave lane 1-2"/>
          <p:cNvSpPr>
            <a:spLocks noGrp="1"/>
          </p:cNvSpPr>
          <p:nvPr/>
        </p:nvSpPr>
        <p:spPr>
          <a:xfrm>
            <a:off x="9505950" y="2924175"/>
            <a:ext cx="133350" cy="133350"/>
          </a:xfrm>
          <a:prstGeom prst="roundRect">
            <a:avLst>
              <a:gd name="adj" fmla="val 14286"/>
            </a:avLst>
          </a:prstGeom>
          <a:solidFill>
            <a:srgbClr val="EAF6F5"/>
          </a:solidFill>
          <a:ln w="6668">
            <a:solidFill>
              <a:srgbClr val="8DC7C9"/>
            </a:solidFill>
            <a:prstDash val="solid"/>
          </a:ln>
        </p:spPr>
      </p:sp>
      <p:sp>
        <p:nvSpPr>
          <p:cNvPr id="81" name="GPU wave lane 1-3"/>
          <p:cNvSpPr>
            <a:spLocks noGrp="1"/>
          </p:cNvSpPr>
          <p:nvPr/>
        </p:nvSpPr>
        <p:spPr>
          <a:xfrm>
            <a:off x="9677400" y="2924175"/>
            <a:ext cx="133350" cy="133350"/>
          </a:xfrm>
          <a:prstGeom prst="roundRect">
            <a:avLst>
              <a:gd name="adj" fmla="val 14286"/>
            </a:avLst>
          </a:prstGeom>
          <a:solidFill>
            <a:srgbClr val="EAF6F5"/>
          </a:solidFill>
          <a:ln w="6668">
            <a:solidFill>
              <a:srgbClr val="8DC7C9"/>
            </a:solidFill>
            <a:prstDash val="solid"/>
          </a:ln>
        </p:spPr>
      </p:sp>
      <p:sp>
        <p:nvSpPr>
          <p:cNvPr id="82" name="GPU wave lane 1-4"/>
          <p:cNvSpPr>
            <a:spLocks noGrp="1"/>
          </p:cNvSpPr>
          <p:nvPr/>
        </p:nvSpPr>
        <p:spPr>
          <a:xfrm>
            <a:off x="9848850" y="2924175"/>
            <a:ext cx="133350" cy="133350"/>
          </a:xfrm>
          <a:prstGeom prst="roundRect">
            <a:avLst>
              <a:gd name="adj" fmla="val 14286"/>
            </a:avLst>
          </a:prstGeom>
          <a:solidFill>
            <a:srgbClr val="EAF6F5"/>
          </a:solidFill>
          <a:ln w="6668">
            <a:solidFill>
              <a:srgbClr val="8DC7C9"/>
            </a:solidFill>
            <a:prstDash val="solid"/>
          </a:ln>
        </p:spPr>
      </p:sp>
      <p:sp>
        <p:nvSpPr>
          <p:cNvPr id="83" name="GPU wave lane 1-5"/>
          <p:cNvSpPr>
            <a:spLocks noGrp="1"/>
          </p:cNvSpPr>
          <p:nvPr/>
        </p:nvSpPr>
        <p:spPr>
          <a:xfrm>
            <a:off x="10020300" y="2924175"/>
            <a:ext cx="133350" cy="133350"/>
          </a:xfrm>
          <a:prstGeom prst="roundRect">
            <a:avLst>
              <a:gd name="adj" fmla="val 14286"/>
            </a:avLst>
          </a:prstGeom>
          <a:solidFill>
            <a:srgbClr val="EAF6F5"/>
          </a:solidFill>
          <a:ln w="6668">
            <a:solidFill>
              <a:srgbClr val="8DC7C9"/>
            </a:solidFill>
            <a:prstDash val="solid"/>
          </a:ln>
        </p:spPr>
      </p:sp>
      <p:sp>
        <p:nvSpPr>
          <p:cNvPr id="84" name="GPU wave lane 1-6"/>
          <p:cNvSpPr>
            <a:spLocks noGrp="1"/>
          </p:cNvSpPr>
          <p:nvPr/>
        </p:nvSpPr>
        <p:spPr>
          <a:xfrm>
            <a:off x="10191750" y="2924175"/>
            <a:ext cx="133350" cy="133350"/>
          </a:xfrm>
          <a:prstGeom prst="roundRect">
            <a:avLst>
              <a:gd name="adj" fmla="val 14286"/>
            </a:avLst>
          </a:prstGeom>
          <a:solidFill>
            <a:srgbClr val="EAF6F5"/>
          </a:solidFill>
          <a:ln w="6668">
            <a:solidFill>
              <a:srgbClr val="8DC7C9"/>
            </a:solidFill>
            <a:prstDash val="solid"/>
          </a:ln>
        </p:spPr>
      </p:sp>
      <p:sp>
        <p:nvSpPr>
          <p:cNvPr id="85" name="GPU wave lane 1-7"/>
          <p:cNvSpPr>
            <a:spLocks noGrp="1"/>
          </p:cNvSpPr>
          <p:nvPr/>
        </p:nvSpPr>
        <p:spPr>
          <a:xfrm>
            <a:off x="10363200" y="2924175"/>
            <a:ext cx="133350" cy="133350"/>
          </a:xfrm>
          <a:prstGeom prst="roundRect">
            <a:avLst>
              <a:gd name="adj" fmla="val 14286"/>
            </a:avLst>
          </a:prstGeom>
          <a:solidFill>
            <a:srgbClr val="EAF6F5"/>
          </a:solidFill>
          <a:ln w="6668">
            <a:solidFill>
              <a:srgbClr val="8DC7C9"/>
            </a:solidFill>
            <a:prstDash val="solid"/>
          </a:ln>
        </p:spPr>
      </p:sp>
      <p:sp>
        <p:nvSpPr>
          <p:cNvPr id="86" name="GPU wave lane 2-0"/>
          <p:cNvSpPr>
            <a:spLocks noGrp="1"/>
          </p:cNvSpPr>
          <p:nvPr/>
        </p:nvSpPr>
        <p:spPr>
          <a:xfrm>
            <a:off x="9163050" y="3095625"/>
            <a:ext cx="133350" cy="133350"/>
          </a:xfrm>
          <a:prstGeom prst="roundRect">
            <a:avLst>
              <a:gd name="adj" fmla="val 14286"/>
            </a:avLst>
          </a:prstGeom>
          <a:solidFill>
            <a:srgbClr val="EAF6F5"/>
          </a:solidFill>
          <a:ln w="6668">
            <a:solidFill>
              <a:srgbClr val="8DC7C9"/>
            </a:solidFill>
            <a:prstDash val="solid"/>
          </a:ln>
        </p:spPr>
      </p:sp>
      <p:sp>
        <p:nvSpPr>
          <p:cNvPr id="87" name="GPU wave lane 2-1"/>
          <p:cNvSpPr>
            <a:spLocks noGrp="1"/>
          </p:cNvSpPr>
          <p:nvPr/>
        </p:nvSpPr>
        <p:spPr>
          <a:xfrm>
            <a:off x="9334500" y="3095625"/>
            <a:ext cx="133350" cy="133350"/>
          </a:xfrm>
          <a:prstGeom prst="roundRect">
            <a:avLst>
              <a:gd name="adj" fmla="val 14286"/>
            </a:avLst>
          </a:prstGeom>
          <a:solidFill>
            <a:srgbClr val="EAF6F5"/>
          </a:solidFill>
          <a:ln w="6668">
            <a:solidFill>
              <a:srgbClr val="8DC7C9"/>
            </a:solidFill>
            <a:prstDash val="solid"/>
          </a:ln>
        </p:spPr>
      </p:sp>
      <p:sp>
        <p:nvSpPr>
          <p:cNvPr id="88" name="GPU wave lane 2-2"/>
          <p:cNvSpPr>
            <a:spLocks noGrp="1"/>
          </p:cNvSpPr>
          <p:nvPr/>
        </p:nvSpPr>
        <p:spPr>
          <a:xfrm>
            <a:off x="9505950" y="3095625"/>
            <a:ext cx="133350" cy="133350"/>
          </a:xfrm>
          <a:prstGeom prst="roundRect">
            <a:avLst>
              <a:gd name="adj" fmla="val 14286"/>
            </a:avLst>
          </a:prstGeom>
          <a:solidFill>
            <a:srgbClr val="EAF6F5"/>
          </a:solidFill>
          <a:ln w="6668">
            <a:solidFill>
              <a:srgbClr val="8DC7C9"/>
            </a:solidFill>
            <a:prstDash val="solid"/>
          </a:ln>
        </p:spPr>
      </p:sp>
      <p:sp>
        <p:nvSpPr>
          <p:cNvPr id="89" name="GPU wave lane 2-3"/>
          <p:cNvSpPr>
            <a:spLocks noGrp="1"/>
          </p:cNvSpPr>
          <p:nvPr/>
        </p:nvSpPr>
        <p:spPr>
          <a:xfrm>
            <a:off x="9677400" y="3095625"/>
            <a:ext cx="133350" cy="133350"/>
          </a:xfrm>
          <a:prstGeom prst="roundRect">
            <a:avLst>
              <a:gd name="adj" fmla="val 14286"/>
            </a:avLst>
          </a:prstGeom>
          <a:solidFill>
            <a:srgbClr val="EAF6F5"/>
          </a:solidFill>
          <a:ln w="6668">
            <a:solidFill>
              <a:srgbClr val="8DC7C9"/>
            </a:solidFill>
            <a:prstDash val="solid"/>
          </a:ln>
        </p:spPr>
      </p:sp>
      <p:sp>
        <p:nvSpPr>
          <p:cNvPr id="90" name="GPU wave lane 2-4"/>
          <p:cNvSpPr>
            <a:spLocks noGrp="1"/>
          </p:cNvSpPr>
          <p:nvPr/>
        </p:nvSpPr>
        <p:spPr>
          <a:xfrm>
            <a:off x="9848850" y="3095625"/>
            <a:ext cx="133350" cy="133350"/>
          </a:xfrm>
          <a:prstGeom prst="roundRect">
            <a:avLst>
              <a:gd name="adj" fmla="val 14286"/>
            </a:avLst>
          </a:prstGeom>
          <a:solidFill>
            <a:srgbClr val="EAF6F5"/>
          </a:solidFill>
          <a:ln w="6668">
            <a:solidFill>
              <a:srgbClr val="8DC7C9"/>
            </a:solidFill>
            <a:prstDash val="solid"/>
          </a:ln>
        </p:spPr>
      </p:sp>
      <p:sp>
        <p:nvSpPr>
          <p:cNvPr id="91" name="GPU wave lane 2-5"/>
          <p:cNvSpPr>
            <a:spLocks noGrp="1"/>
          </p:cNvSpPr>
          <p:nvPr/>
        </p:nvSpPr>
        <p:spPr>
          <a:xfrm>
            <a:off x="10020300" y="3095625"/>
            <a:ext cx="133350" cy="133350"/>
          </a:xfrm>
          <a:prstGeom prst="roundRect">
            <a:avLst>
              <a:gd name="adj" fmla="val 14286"/>
            </a:avLst>
          </a:prstGeom>
          <a:solidFill>
            <a:srgbClr val="EAF6F5"/>
          </a:solidFill>
          <a:ln w="6668">
            <a:solidFill>
              <a:srgbClr val="8DC7C9"/>
            </a:solidFill>
            <a:prstDash val="solid"/>
          </a:ln>
        </p:spPr>
      </p:sp>
      <p:sp>
        <p:nvSpPr>
          <p:cNvPr id="92" name="GPU wave lane 2-6"/>
          <p:cNvSpPr>
            <a:spLocks noGrp="1"/>
          </p:cNvSpPr>
          <p:nvPr/>
        </p:nvSpPr>
        <p:spPr>
          <a:xfrm>
            <a:off x="10191750" y="3095625"/>
            <a:ext cx="133350" cy="133350"/>
          </a:xfrm>
          <a:prstGeom prst="roundRect">
            <a:avLst>
              <a:gd name="adj" fmla="val 14286"/>
            </a:avLst>
          </a:prstGeom>
          <a:solidFill>
            <a:srgbClr val="EAF6F5"/>
          </a:solidFill>
          <a:ln w="6668">
            <a:solidFill>
              <a:srgbClr val="8DC7C9"/>
            </a:solidFill>
            <a:prstDash val="solid"/>
          </a:ln>
        </p:spPr>
      </p:sp>
      <p:sp>
        <p:nvSpPr>
          <p:cNvPr id="93" name="GPU wave lane 2-7"/>
          <p:cNvSpPr>
            <a:spLocks noGrp="1"/>
          </p:cNvSpPr>
          <p:nvPr/>
        </p:nvSpPr>
        <p:spPr>
          <a:xfrm>
            <a:off x="10363200" y="3095625"/>
            <a:ext cx="133350" cy="133350"/>
          </a:xfrm>
          <a:prstGeom prst="roundRect">
            <a:avLst>
              <a:gd name="adj" fmla="val 14286"/>
            </a:avLst>
          </a:prstGeom>
          <a:solidFill>
            <a:srgbClr val="EAF6F5"/>
          </a:solidFill>
          <a:ln w="6668">
            <a:solidFill>
              <a:srgbClr val="8DC7C9"/>
            </a:solidFill>
            <a:prstDash val="solid"/>
          </a:ln>
        </p:spPr>
      </p:sp>
      <p:sp>
        <p:nvSpPr>
          <p:cNvPr id="94" name="GPU wave lane 3-0"/>
          <p:cNvSpPr>
            <a:spLocks noGrp="1"/>
          </p:cNvSpPr>
          <p:nvPr/>
        </p:nvSpPr>
        <p:spPr>
          <a:xfrm>
            <a:off x="9163050" y="3267075"/>
            <a:ext cx="133350" cy="133350"/>
          </a:xfrm>
          <a:prstGeom prst="roundRect">
            <a:avLst>
              <a:gd name="adj" fmla="val 14286"/>
            </a:avLst>
          </a:prstGeom>
          <a:solidFill>
            <a:srgbClr val="1E8E94"/>
          </a:solidFill>
          <a:ln w="6668">
            <a:solidFill>
              <a:srgbClr val="147988"/>
            </a:solidFill>
            <a:prstDash val="solid"/>
          </a:ln>
        </p:spPr>
      </p:sp>
      <p:sp>
        <p:nvSpPr>
          <p:cNvPr id="95" name="GPU wave lane 3-1"/>
          <p:cNvSpPr>
            <a:spLocks noGrp="1"/>
          </p:cNvSpPr>
          <p:nvPr/>
        </p:nvSpPr>
        <p:spPr>
          <a:xfrm>
            <a:off x="9334500" y="3267075"/>
            <a:ext cx="133350" cy="133350"/>
          </a:xfrm>
          <a:prstGeom prst="roundRect">
            <a:avLst>
              <a:gd name="adj" fmla="val 14286"/>
            </a:avLst>
          </a:prstGeom>
          <a:solidFill>
            <a:srgbClr val="1E8E94"/>
          </a:solidFill>
          <a:ln w="6668">
            <a:solidFill>
              <a:srgbClr val="147988"/>
            </a:solidFill>
            <a:prstDash val="solid"/>
          </a:ln>
        </p:spPr>
      </p:sp>
      <p:sp>
        <p:nvSpPr>
          <p:cNvPr id="96" name="GPU wave lane 3-2"/>
          <p:cNvSpPr>
            <a:spLocks noGrp="1"/>
          </p:cNvSpPr>
          <p:nvPr/>
        </p:nvSpPr>
        <p:spPr>
          <a:xfrm>
            <a:off x="9505950" y="3267075"/>
            <a:ext cx="133350" cy="133350"/>
          </a:xfrm>
          <a:prstGeom prst="roundRect">
            <a:avLst>
              <a:gd name="adj" fmla="val 14286"/>
            </a:avLst>
          </a:prstGeom>
          <a:solidFill>
            <a:srgbClr val="1E8E94"/>
          </a:solidFill>
          <a:ln w="6668">
            <a:solidFill>
              <a:srgbClr val="147988"/>
            </a:solidFill>
            <a:prstDash val="solid"/>
          </a:ln>
        </p:spPr>
      </p:sp>
      <p:sp>
        <p:nvSpPr>
          <p:cNvPr id="97" name="GPU wave lane 3-3"/>
          <p:cNvSpPr>
            <a:spLocks noGrp="1"/>
          </p:cNvSpPr>
          <p:nvPr/>
        </p:nvSpPr>
        <p:spPr>
          <a:xfrm>
            <a:off x="9677400" y="3267075"/>
            <a:ext cx="133350" cy="133350"/>
          </a:xfrm>
          <a:prstGeom prst="roundRect">
            <a:avLst>
              <a:gd name="adj" fmla="val 14286"/>
            </a:avLst>
          </a:prstGeom>
          <a:solidFill>
            <a:srgbClr val="1E8E94"/>
          </a:solidFill>
          <a:ln w="6668">
            <a:solidFill>
              <a:srgbClr val="147988"/>
            </a:solidFill>
            <a:prstDash val="solid"/>
          </a:ln>
        </p:spPr>
      </p:sp>
      <p:sp>
        <p:nvSpPr>
          <p:cNvPr id="98" name="GPU wave lane 3-4"/>
          <p:cNvSpPr>
            <a:spLocks noGrp="1"/>
          </p:cNvSpPr>
          <p:nvPr/>
        </p:nvSpPr>
        <p:spPr>
          <a:xfrm>
            <a:off x="9848850" y="3267075"/>
            <a:ext cx="133350" cy="133350"/>
          </a:xfrm>
          <a:prstGeom prst="roundRect">
            <a:avLst>
              <a:gd name="adj" fmla="val 14286"/>
            </a:avLst>
          </a:prstGeom>
          <a:solidFill>
            <a:srgbClr val="1E8E94"/>
          </a:solidFill>
          <a:ln w="6668">
            <a:solidFill>
              <a:srgbClr val="147988"/>
            </a:solidFill>
            <a:prstDash val="solid"/>
          </a:ln>
        </p:spPr>
      </p:sp>
      <p:sp>
        <p:nvSpPr>
          <p:cNvPr id="99" name="GPU wave lane 3-5"/>
          <p:cNvSpPr>
            <a:spLocks noGrp="1"/>
          </p:cNvSpPr>
          <p:nvPr/>
        </p:nvSpPr>
        <p:spPr>
          <a:xfrm>
            <a:off x="10020300" y="3267075"/>
            <a:ext cx="133350" cy="133350"/>
          </a:xfrm>
          <a:prstGeom prst="roundRect">
            <a:avLst>
              <a:gd name="adj" fmla="val 14286"/>
            </a:avLst>
          </a:prstGeom>
          <a:solidFill>
            <a:srgbClr val="1E8E94"/>
          </a:solidFill>
          <a:ln w="6668">
            <a:solidFill>
              <a:srgbClr val="147988"/>
            </a:solidFill>
            <a:prstDash val="solid"/>
          </a:ln>
        </p:spPr>
      </p:sp>
      <p:sp>
        <p:nvSpPr>
          <p:cNvPr id="100" name="GPU wave lane 3-6"/>
          <p:cNvSpPr>
            <a:spLocks noGrp="1"/>
          </p:cNvSpPr>
          <p:nvPr/>
        </p:nvSpPr>
        <p:spPr>
          <a:xfrm>
            <a:off x="10191750" y="3267075"/>
            <a:ext cx="133350" cy="133350"/>
          </a:xfrm>
          <a:prstGeom prst="roundRect">
            <a:avLst>
              <a:gd name="adj" fmla="val 14286"/>
            </a:avLst>
          </a:prstGeom>
          <a:solidFill>
            <a:srgbClr val="1E8E94"/>
          </a:solidFill>
          <a:ln w="6668">
            <a:solidFill>
              <a:srgbClr val="147988"/>
            </a:solidFill>
            <a:prstDash val="solid"/>
          </a:ln>
        </p:spPr>
      </p:sp>
      <p:sp>
        <p:nvSpPr>
          <p:cNvPr id="101" name="GPU wave lane 3-7"/>
          <p:cNvSpPr>
            <a:spLocks noGrp="1"/>
          </p:cNvSpPr>
          <p:nvPr/>
        </p:nvSpPr>
        <p:spPr>
          <a:xfrm>
            <a:off x="10363200" y="3267075"/>
            <a:ext cx="133350" cy="133350"/>
          </a:xfrm>
          <a:prstGeom prst="roundRect">
            <a:avLst>
              <a:gd name="adj" fmla="val 14286"/>
            </a:avLst>
          </a:prstGeom>
          <a:solidFill>
            <a:srgbClr val="1E8E94"/>
          </a:solidFill>
          <a:ln w="6668">
            <a:solidFill>
              <a:srgbClr val="147988"/>
            </a:solidFill>
            <a:prstDash val="solid"/>
          </a:ln>
        </p:spPr>
      </p:sp>
      <p:sp>
        <p:nvSpPr>
          <p:cNvPr id="102" name="GPU wave lane 4-0"/>
          <p:cNvSpPr>
            <a:spLocks noGrp="1"/>
          </p:cNvSpPr>
          <p:nvPr/>
        </p:nvSpPr>
        <p:spPr>
          <a:xfrm>
            <a:off x="9163050" y="3438525"/>
            <a:ext cx="133350" cy="133350"/>
          </a:xfrm>
          <a:prstGeom prst="roundRect">
            <a:avLst>
              <a:gd name="adj" fmla="val 14286"/>
            </a:avLst>
          </a:prstGeom>
          <a:solidFill>
            <a:srgbClr val="EAF6F5"/>
          </a:solidFill>
          <a:ln w="6668">
            <a:solidFill>
              <a:srgbClr val="8DC7C9"/>
            </a:solidFill>
            <a:prstDash val="solid"/>
          </a:ln>
        </p:spPr>
      </p:sp>
      <p:sp>
        <p:nvSpPr>
          <p:cNvPr id="103" name="GPU wave lane 4-1"/>
          <p:cNvSpPr>
            <a:spLocks noGrp="1"/>
          </p:cNvSpPr>
          <p:nvPr/>
        </p:nvSpPr>
        <p:spPr>
          <a:xfrm>
            <a:off x="9334500" y="3438525"/>
            <a:ext cx="133350" cy="133350"/>
          </a:xfrm>
          <a:prstGeom prst="roundRect">
            <a:avLst>
              <a:gd name="adj" fmla="val 14286"/>
            </a:avLst>
          </a:prstGeom>
          <a:solidFill>
            <a:srgbClr val="EAF6F5"/>
          </a:solidFill>
          <a:ln w="6668">
            <a:solidFill>
              <a:srgbClr val="8DC7C9"/>
            </a:solidFill>
            <a:prstDash val="solid"/>
          </a:ln>
        </p:spPr>
      </p:sp>
      <p:sp>
        <p:nvSpPr>
          <p:cNvPr id="104" name="GPU wave lane 4-2"/>
          <p:cNvSpPr>
            <a:spLocks noGrp="1"/>
          </p:cNvSpPr>
          <p:nvPr/>
        </p:nvSpPr>
        <p:spPr>
          <a:xfrm>
            <a:off x="9505950" y="3438525"/>
            <a:ext cx="133350" cy="133350"/>
          </a:xfrm>
          <a:prstGeom prst="roundRect">
            <a:avLst>
              <a:gd name="adj" fmla="val 14286"/>
            </a:avLst>
          </a:prstGeom>
          <a:solidFill>
            <a:srgbClr val="EAF6F5"/>
          </a:solidFill>
          <a:ln w="6668">
            <a:solidFill>
              <a:srgbClr val="8DC7C9"/>
            </a:solidFill>
            <a:prstDash val="solid"/>
          </a:ln>
        </p:spPr>
      </p:sp>
      <p:sp>
        <p:nvSpPr>
          <p:cNvPr id="105" name="GPU wave lane 4-3"/>
          <p:cNvSpPr>
            <a:spLocks noGrp="1"/>
          </p:cNvSpPr>
          <p:nvPr/>
        </p:nvSpPr>
        <p:spPr>
          <a:xfrm>
            <a:off x="9677400" y="3438525"/>
            <a:ext cx="133350" cy="133350"/>
          </a:xfrm>
          <a:prstGeom prst="roundRect">
            <a:avLst>
              <a:gd name="adj" fmla="val 14286"/>
            </a:avLst>
          </a:prstGeom>
          <a:solidFill>
            <a:srgbClr val="EAF6F5"/>
          </a:solidFill>
          <a:ln w="6668">
            <a:solidFill>
              <a:srgbClr val="8DC7C9"/>
            </a:solidFill>
            <a:prstDash val="solid"/>
          </a:ln>
        </p:spPr>
      </p:sp>
      <p:sp>
        <p:nvSpPr>
          <p:cNvPr id="106" name="GPU wave lane 4-4"/>
          <p:cNvSpPr>
            <a:spLocks noGrp="1"/>
          </p:cNvSpPr>
          <p:nvPr/>
        </p:nvSpPr>
        <p:spPr>
          <a:xfrm>
            <a:off x="9848850" y="3438525"/>
            <a:ext cx="133350" cy="133350"/>
          </a:xfrm>
          <a:prstGeom prst="roundRect">
            <a:avLst>
              <a:gd name="adj" fmla="val 14286"/>
            </a:avLst>
          </a:prstGeom>
          <a:solidFill>
            <a:srgbClr val="EAF6F5"/>
          </a:solidFill>
          <a:ln w="6668">
            <a:solidFill>
              <a:srgbClr val="8DC7C9"/>
            </a:solidFill>
            <a:prstDash val="solid"/>
          </a:ln>
        </p:spPr>
      </p:sp>
      <p:sp>
        <p:nvSpPr>
          <p:cNvPr id="107" name="GPU wave lane 4-5"/>
          <p:cNvSpPr>
            <a:spLocks noGrp="1"/>
          </p:cNvSpPr>
          <p:nvPr/>
        </p:nvSpPr>
        <p:spPr>
          <a:xfrm>
            <a:off x="10020300" y="3438525"/>
            <a:ext cx="133350" cy="133350"/>
          </a:xfrm>
          <a:prstGeom prst="roundRect">
            <a:avLst>
              <a:gd name="adj" fmla="val 14286"/>
            </a:avLst>
          </a:prstGeom>
          <a:solidFill>
            <a:srgbClr val="EAF6F5"/>
          </a:solidFill>
          <a:ln w="6668">
            <a:solidFill>
              <a:srgbClr val="8DC7C9"/>
            </a:solidFill>
            <a:prstDash val="solid"/>
          </a:ln>
        </p:spPr>
      </p:sp>
      <p:sp>
        <p:nvSpPr>
          <p:cNvPr id="108" name="GPU wave lane 4-6"/>
          <p:cNvSpPr>
            <a:spLocks noGrp="1"/>
          </p:cNvSpPr>
          <p:nvPr/>
        </p:nvSpPr>
        <p:spPr>
          <a:xfrm>
            <a:off x="10191750" y="3438525"/>
            <a:ext cx="133350" cy="133350"/>
          </a:xfrm>
          <a:prstGeom prst="roundRect">
            <a:avLst>
              <a:gd name="adj" fmla="val 14286"/>
            </a:avLst>
          </a:prstGeom>
          <a:solidFill>
            <a:srgbClr val="EAF6F5"/>
          </a:solidFill>
          <a:ln w="6668">
            <a:solidFill>
              <a:srgbClr val="8DC7C9"/>
            </a:solidFill>
            <a:prstDash val="solid"/>
          </a:ln>
        </p:spPr>
      </p:sp>
      <p:sp>
        <p:nvSpPr>
          <p:cNvPr id="109" name="GPU wave lane 4-7"/>
          <p:cNvSpPr>
            <a:spLocks noGrp="1"/>
          </p:cNvSpPr>
          <p:nvPr/>
        </p:nvSpPr>
        <p:spPr>
          <a:xfrm>
            <a:off x="10363200" y="3438525"/>
            <a:ext cx="133350" cy="133350"/>
          </a:xfrm>
          <a:prstGeom prst="roundRect">
            <a:avLst>
              <a:gd name="adj" fmla="val 14286"/>
            </a:avLst>
          </a:prstGeom>
          <a:solidFill>
            <a:srgbClr val="EAF6F5"/>
          </a:solidFill>
          <a:ln w="6668">
            <a:solidFill>
              <a:srgbClr val="8DC7C9"/>
            </a:solidFill>
            <a:prstDash val="solid"/>
          </a:ln>
        </p:spPr>
      </p:sp>
      <p:sp>
        <p:nvSpPr>
          <p:cNvPr id="110" name="GPU wave lane 5-0"/>
          <p:cNvSpPr>
            <a:spLocks noGrp="1"/>
          </p:cNvSpPr>
          <p:nvPr/>
        </p:nvSpPr>
        <p:spPr>
          <a:xfrm>
            <a:off x="9163050" y="3609975"/>
            <a:ext cx="133350" cy="133350"/>
          </a:xfrm>
          <a:prstGeom prst="roundRect">
            <a:avLst>
              <a:gd name="adj" fmla="val 14286"/>
            </a:avLst>
          </a:prstGeom>
          <a:solidFill>
            <a:srgbClr val="EAF6F5"/>
          </a:solidFill>
          <a:ln w="6668">
            <a:solidFill>
              <a:srgbClr val="8DC7C9"/>
            </a:solidFill>
            <a:prstDash val="solid"/>
          </a:ln>
        </p:spPr>
      </p:sp>
      <p:sp>
        <p:nvSpPr>
          <p:cNvPr id="111" name="GPU wave lane 5-1"/>
          <p:cNvSpPr>
            <a:spLocks noGrp="1"/>
          </p:cNvSpPr>
          <p:nvPr/>
        </p:nvSpPr>
        <p:spPr>
          <a:xfrm>
            <a:off x="9334500" y="3609975"/>
            <a:ext cx="133350" cy="133350"/>
          </a:xfrm>
          <a:prstGeom prst="roundRect">
            <a:avLst>
              <a:gd name="adj" fmla="val 14286"/>
            </a:avLst>
          </a:prstGeom>
          <a:solidFill>
            <a:srgbClr val="EAF6F5"/>
          </a:solidFill>
          <a:ln w="6668">
            <a:solidFill>
              <a:srgbClr val="8DC7C9"/>
            </a:solidFill>
            <a:prstDash val="solid"/>
          </a:ln>
        </p:spPr>
      </p:sp>
      <p:sp>
        <p:nvSpPr>
          <p:cNvPr id="112" name="GPU wave lane 5-2"/>
          <p:cNvSpPr>
            <a:spLocks noGrp="1"/>
          </p:cNvSpPr>
          <p:nvPr/>
        </p:nvSpPr>
        <p:spPr>
          <a:xfrm>
            <a:off x="9505950" y="3609975"/>
            <a:ext cx="133350" cy="133350"/>
          </a:xfrm>
          <a:prstGeom prst="roundRect">
            <a:avLst>
              <a:gd name="adj" fmla="val 14286"/>
            </a:avLst>
          </a:prstGeom>
          <a:solidFill>
            <a:srgbClr val="EAF6F5"/>
          </a:solidFill>
          <a:ln w="6668">
            <a:solidFill>
              <a:srgbClr val="8DC7C9"/>
            </a:solidFill>
            <a:prstDash val="solid"/>
          </a:ln>
        </p:spPr>
      </p:sp>
      <p:sp>
        <p:nvSpPr>
          <p:cNvPr id="113" name="GPU wave lane 5-3"/>
          <p:cNvSpPr>
            <a:spLocks noGrp="1"/>
          </p:cNvSpPr>
          <p:nvPr/>
        </p:nvSpPr>
        <p:spPr>
          <a:xfrm>
            <a:off x="9677400" y="3609975"/>
            <a:ext cx="133350" cy="133350"/>
          </a:xfrm>
          <a:prstGeom prst="roundRect">
            <a:avLst>
              <a:gd name="adj" fmla="val 14286"/>
            </a:avLst>
          </a:prstGeom>
          <a:solidFill>
            <a:srgbClr val="EAF6F5"/>
          </a:solidFill>
          <a:ln w="6668">
            <a:solidFill>
              <a:srgbClr val="8DC7C9"/>
            </a:solidFill>
            <a:prstDash val="solid"/>
          </a:ln>
        </p:spPr>
      </p:sp>
      <p:sp>
        <p:nvSpPr>
          <p:cNvPr id="114" name="GPU wave lane 5-4"/>
          <p:cNvSpPr>
            <a:spLocks noGrp="1"/>
          </p:cNvSpPr>
          <p:nvPr/>
        </p:nvSpPr>
        <p:spPr>
          <a:xfrm>
            <a:off x="9848850" y="3609975"/>
            <a:ext cx="133350" cy="133350"/>
          </a:xfrm>
          <a:prstGeom prst="roundRect">
            <a:avLst>
              <a:gd name="adj" fmla="val 14286"/>
            </a:avLst>
          </a:prstGeom>
          <a:solidFill>
            <a:srgbClr val="EAF6F5"/>
          </a:solidFill>
          <a:ln w="6668">
            <a:solidFill>
              <a:srgbClr val="8DC7C9"/>
            </a:solidFill>
            <a:prstDash val="solid"/>
          </a:ln>
        </p:spPr>
      </p:sp>
      <p:sp>
        <p:nvSpPr>
          <p:cNvPr id="115" name="GPU wave lane 5-5"/>
          <p:cNvSpPr>
            <a:spLocks noGrp="1"/>
          </p:cNvSpPr>
          <p:nvPr/>
        </p:nvSpPr>
        <p:spPr>
          <a:xfrm>
            <a:off x="10020300" y="3609975"/>
            <a:ext cx="133350" cy="133350"/>
          </a:xfrm>
          <a:prstGeom prst="roundRect">
            <a:avLst>
              <a:gd name="adj" fmla="val 14286"/>
            </a:avLst>
          </a:prstGeom>
          <a:solidFill>
            <a:srgbClr val="EAF6F5"/>
          </a:solidFill>
          <a:ln w="6668">
            <a:solidFill>
              <a:srgbClr val="8DC7C9"/>
            </a:solidFill>
            <a:prstDash val="solid"/>
          </a:ln>
        </p:spPr>
      </p:sp>
      <p:sp>
        <p:nvSpPr>
          <p:cNvPr id="116" name="GPU wave lane 5-6"/>
          <p:cNvSpPr>
            <a:spLocks noGrp="1"/>
          </p:cNvSpPr>
          <p:nvPr/>
        </p:nvSpPr>
        <p:spPr>
          <a:xfrm>
            <a:off x="10191750" y="3609975"/>
            <a:ext cx="133350" cy="133350"/>
          </a:xfrm>
          <a:prstGeom prst="roundRect">
            <a:avLst>
              <a:gd name="adj" fmla="val 14286"/>
            </a:avLst>
          </a:prstGeom>
          <a:solidFill>
            <a:srgbClr val="EAF6F5"/>
          </a:solidFill>
          <a:ln w="6668">
            <a:solidFill>
              <a:srgbClr val="8DC7C9"/>
            </a:solidFill>
            <a:prstDash val="solid"/>
          </a:ln>
        </p:spPr>
      </p:sp>
      <p:sp>
        <p:nvSpPr>
          <p:cNvPr id="117" name="GPU wave lane 5-7"/>
          <p:cNvSpPr>
            <a:spLocks noGrp="1"/>
          </p:cNvSpPr>
          <p:nvPr/>
        </p:nvSpPr>
        <p:spPr>
          <a:xfrm>
            <a:off x="10363200" y="3609975"/>
            <a:ext cx="133350" cy="133350"/>
          </a:xfrm>
          <a:prstGeom prst="roundRect">
            <a:avLst>
              <a:gd name="adj" fmla="val 14286"/>
            </a:avLst>
          </a:prstGeom>
          <a:solidFill>
            <a:srgbClr val="EAF6F5"/>
          </a:solidFill>
          <a:ln w="6668">
            <a:solidFill>
              <a:srgbClr val="8DC7C9"/>
            </a:solidFill>
            <a:prstDash val="solid"/>
          </a:ln>
        </p:spPr>
      </p:sp>
      <p:sp>
        <p:nvSpPr>
          <p:cNvPr id="118" name="GPU wave lane 6-0"/>
          <p:cNvSpPr>
            <a:spLocks noGrp="1"/>
          </p:cNvSpPr>
          <p:nvPr/>
        </p:nvSpPr>
        <p:spPr>
          <a:xfrm>
            <a:off x="9163050" y="3781425"/>
            <a:ext cx="133350" cy="133350"/>
          </a:xfrm>
          <a:prstGeom prst="roundRect">
            <a:avLst>
              <a:gd name="adj" fmla="val 14286"/>
            </a:avLst>
          </a:prstGeom>
          <a:solidFill>
            <a:srgbClr val="EAF6F5"/>
          </a:solidFill>
          <a:ln w="6668">
            <a:solidFill>
              <a:srgbClr val="8DC7C9"/>
            </a:solidFill>
            <a:prstDash val="solid"/>
          </a:ln>
        </p:spPr>
      </p:sp>
      <p:sp>
        <p:nvSpPr>
          <p:cNvPr id="119" name="GPU wave lane 6-1"/>
          <p:cNvSpPr>
            <a:spLocks noGrp="1"/>
          </p:cNvSpPr>
          <p:nvPr/>
        </p:nvSpPr>
        <p:spPr>
          <a:xfrm>
            <a:off x="9334500" y="3781425"/>
            <a:ext cx="133350" cy="133350"/>
          </a:xfrm>
          <a:prstGeom prst="roundRect">
            <a:avLst>
              <a:gd name="adj" fmla="val 14286"/>
            </a:avLst>
          </a:prstGeom>
          <a:solidFill>
            <a:srgbClr val="EAF6F5"/>
          </a:solidFill>
          <a:ln w="6668">
            <a:solidFill>
              <a:srgbClr val="8DC7C9"/>
            </a:solidFill>
            <a:prstDash val="solid"/>
          </a:ln>
        </p:spPr>
      </p:sp>
      <p:sp>
        <p:nvSpPr>
          <p:cNvPr id="120" name="GPU wave lane 6-2"/>
          <p:cNvSpPr>
            <a:spLocks noGrp="1"/>
          </p:cNvSpPr>
          <p:nvPr/>
        </p:nvSpPr>
        <p:spPr>
          <a:xfrm>
            <a:off x="9505950" y="3781425"/>
            <a:ext cx="133350" cy="133350"/>
          </a:xfrm>
          <a:prstGeom prst="roundRect">
            <a:avLst>
              <a:gd name="adj" fmla="val 14286"/>
            </a:avLst>
          </a:prstGeom>
          <a:solidFill>
            <a:srgbClr val="EAF6F5"/>
          </a:solidFill>
          <a:ln w="6668">
            <a:solidFill>
              <a:srgbClr val="8DC7C9"/>
            </a:solidFill>
            <a:prstDash val="solid"/>
          </a:ln>
        </p:spPr>
      </p:sp>
      <p:sp>
        <p:nvSpPr>
          <p:cNvPr id="121" name="GPU wave lane 6-3"/>
          <p:cNvSpPr>
            <a:spLocks noGrp="1"/>
          </p:cNvSpPr>
          <p:nvPr/>
        </p:nvSpPr>
        <p:spPr>
          <a:xfrm>
            <a:off x="9677400" y="3781425"/>
            <a:ext cx="133350" cy="133350"/>
          </a:xfrm>
          <a:prstGeom prst="roundRect">
            <a:avLst>
              <a:gd name="adj" fmla="val 14286"/>
            </a:avLst>
          </a:prstGeom>
          <a:solidFill>
            <a:srgbClr val="EAF6F5"/>
          </a:solidFill>
          <a:ln w="6668">
            <a:solidFill>
              <a:srgbClr val="8DC7C9"/>
            </a:solidFill>
            <a:prstDash val="solid"/>
          </a:ln>
        </p:spPr>
      </p:sp>
      <p:sp>
        <p:nvSpPr>
          <p:cNvPr id="122" name="GPU wave lane 6-4"/>
          <p:cNvSpPr>
            <a:spLocks noGrp="1"/>
          </p:cNvSpPr>
          <p:nvPr/>
        </p:nvSpPr>
        <p:spPr>
          <a:xfrm>
            <a:off x="9848850" y="3781425"/>
            <a:ext cx="133350" cy="133350"/>
          </a:xfrm>
          <a:prstGeom prst="roundRect">
            <a:avLst>
              <a:gd name="adj" fmla="val 14286"/>
            </a:avLst>
          </a:prstGeom>
          <a:solidFill>
            <a:srgbClr val="EAF6F5"/>
          </a:solidFill>
          <a:ln w="6668">
            <a:solidFill>
              <a:srgbClr val="8DC7C9"/>
            </a:solidFill>
            <a:prstDash val="solid"/>
          </a:ln>
        </p:spPr>
      </p:sp>
      <p:sp>
        <p:nvSpPr>
          <p:cNvPr id="123" name="GPU wave lane 6-5"/>
          <p:cNvSpPr>
            <a:spLocks noGrp="1"/>
          </p:cNvSpPr>
          <p:nvPr/>
        </p:nvSpPr>
        <p:spPr>
          <a:xfrm>
            <a:off x="10020300" y="3781425"/>
            <a:ext cx="133350" cy="133350"/>
          </a:xfrm>
          <a:prstGeom prst="roundRect">
            <a:avLst>
              <a:gd name="adj" fmla="val 14286"/>
            </a:avLst>
          </a:prstGeom>
          <a:solidFill>
            <a:srgbClr val="EAF6F5"/>
          </a:solidFill>
          <a:ln w="6668">
            <a:solidFill>
              <a:srgbClr val="8DC7C9"/>
            </a:solidFill>
            <a:prstDash val="solid"/>
          </a:ln>
        </p:spPr>
      </p:sp>
      <p:sp>
        <p:nvSpPr>
          <p:cNvPr id="124" name="GPU wave lane 6-6"/>
          <p:cNvSpPr>
            <a:spLocks noGrp="1"/>
          </p:cNvSpPr>
          <p:nvPr/>
        </p:nvSpPr>
        <p:spPr>
          <a:xfrm>
            <a:off x="10191750" y="3781425"/>
            <a:ext cx="133350" cy="133350"/>
          </a:xfrm>
          <a:prstGeom prst="roundRect">
            <a:avLst>
              <a:gd name="adj" fmla="val 14286"/>
            </a:avLst>
          </a:prstGeom>
          <a:solidFill>
            <a:srgbClr val="EAF6F5"/>
          </a:solidFill>
          <a:ln w="6668">
            <a:solidFill>
              <a:srgbClr val="8DC7C9"/>
            </a:solidFill>
            <a:prstDash val="solid"/>
          </a:ln>
        </p:spPr>
      </p:sp>
      <p:sp>
        <p:nvSpPr>
          <p:cNvPr id="125" name="GPU wave lane 6-7"/>
          <p:cNvSpPr>
            <a:spLocks noGrp="1"/>
          </p:cNvSpPr>
          <p:nvPr/>
        </p:nvSpPr>
        <p:spPr>
          <a:xfrm>
            <a:off x="10363200" y="3781425"/>
            <a:ext cx="133350" cy="133350"/>
          </a:xfrm>
          <a:prstGeom prst="roundRect">
            <a:avLst>
              <a:gd name="adj" fmla="val 14286"/>
            </a:avLst>
          </a:prstGeom>
          <a:solidFill>
            <a:srgbClr val="EAF6F5"/>
          </a:solidFill>
          <a:ln w="6668">
            <a:solidFill>
              <a:srgbClr val="8DC7C9"/>
            </a:solidFill>
            <a:prstDash val="solid"/>
          </a:ln>
        </p:spPr>
      </p:sp>
      <p:sp>
        <p:nvSpPr>
          <p:cNvPr id="126" name="GPU wave lane 7-0"/>
          <p:cNvSpPr>
            <a:spLocks noGrp="1"/>
          </p:cNvSpPr>
          <p:nvPr/>
        </p:nvSpPr>
        <p:spPr>
          <a:xfrm>
            <a:off x="9163050" y="3952875"/>
            <a:ext cx="133350" cy="133350"/>
          </a:xfrm>
          <a:prstGeom prst="roundRect">
            <a:avLst>
              <a:gd name="adj" fmla="val 14286"/>
            </a:avLst>
          </a:prstGeom>
          <a:solidFill>
            <a:srgbClr val="EAF6F5"/>
          </a:solidFill>
          <a:ln w="6668">
            <a:solidFill>
              <a:srgbClr val="8DC7C9"/>
            </a:solidFill>
            <a:prstDash val="solid"/>
          </a:ln>
        </p:spPr>
      </p:sp>
      <p:sp>
        <p:nvSpPr>
          <p:cNvPr id="127" name="GPU wave lane 7-1"/>
          <p:cNvSpPr>
            <a:spLocks noGrp="1"/>
          </p:cNvSpPr>
          <p:nvPr/>
        </p:nvSpPr>
        <p:spPr>
          <a:xfrm>
            <a:off x="9334500" y="3952875"/>
            <a:ext cx="133350" cy="133350"/>
          </a:xfrm>
          <a:prstGeom prst="roundRect">
            <a:avLst>
              <a:gd name="adj" fmla="val 14286"/>
            </a:avLst>
          </a:prstGeom>
          <a:solidFill>
            <a:srgbClr val="EAF6F5"/>
          </a:solidFill>
          <a:ln w="6668">
            <a:solidFill>
              <a:srgbClr val="8DC7C9"/>
            </a:solidFill>
            <a:prstDash val="solid"/>
          </a:ln>
        </p:spPr>
      </p:sp>
      <p:sp>
        <p:nvSpPr>
          <p:cNvPr id="128" name="GPU wave lane 7-2"/>
          <p:cNvSpPr>
            <a:spLocks noGrp="1"/>
          </p:cNvSpPr>
          <p:nvPr/>
        </p:nvSpPr>
        <p:spPr>
          <a:xfrm>
            <a:off x="9505950" y="3952875"/>
            <a:ext cx="133350" cy="133350"/>
          </a:xfrm>
          <a:prstGeom prst="roundRect">
            <a:avLst>
              <a:gd name="adj" fmla="val 14286"/>
            </a:avLst>
          </a:prstGeom>
          <a:solidFill>
            <a:srgbClr val="EAF6F5"/>
          </a:solidFill>
          <a:ln w="6668">
            <a:solidFill>
              <a:srgbClr val="8DC7C9"/>
            </a:solidFill>
            <a:prstDash val="solid"/>
          </a:ln>
        </p:spPr>
      </p:sp>
      <p:sp>
        <p:nvSpPr>
          <p:cNvPr id="129" name="GPU wave lane 7-3"/>
          <p:cNvSpPr>
            <a:spLocks noGrp="1"/>
          </p:cNvSpPr>
          <p:nvPr/>
        </p:nvSpPr>
        <p:spPr>
          <a:xfrm>
            <a:off x="9677400" y="3952875"/>
            <a:ext cx="133350" cy="133350"/>
          </a:xfrm>
          <a:prstGeom prst="roundRect">
            <a:avLst>
              <a:gd name="adj" fmla="val 14286"/>
            </a:avLst>
          </a:prstGeom>
          <a:solidFill>
            <a:srgbClr val="EAF6F5"/>
          </a:solidFill>
          <a:ln w="6668">
            <a:solidFill>
              <a:srgbClr val="8DC7C9"/>
            </a:solidFill>
            <a:prstDash val="solid"/>
          </a:ln>
        </p:spPr>
      </p:sp>
      <p:sp>
        <p:nvSpPr>
          <p:cNvPr id="130" name="GPU wave lane 7-4"/>
          <p:cNvSpPr>
            <a:spLocks noGrp="1"/>
          </p:cNvSpPr>
          <p:nvPr/>
        </p:nvSpPr>
        <p:spPr>
          <a:xfrm>
            <a:off x="9848850" y="3952875"/>
            <a:ext cx="133350" cy="133350"/>
          </a:xfrm>
          <a:prstGeom prst="roundRect">
            <a:avLst>
              <a:gd name="adj" fmla="val 14286"/>
            </a:avLst>
          </a:prstGeom>
          <a:solidFill>
            <a:srgbClr val="EAF6F5"/>
          </a:solidFill>
          <a:ln w="6668">
            <a:solidFill>
              <a:srgbClr val="8DC7C9"/>
            </a:solidFill>
            <a:prstDash val="solid"/>
          </a:ln>
        </p:spPr>
      </p:sp>
      <p:sp>
        <p:nvSpPr>
          <p:cNvPr id="131" name="GPU wave lane 7-5"/>
          <p:cNvSpPr>
            <a:spLocks noGrp="1"/>
          </p:cNvSpPr>
          <p:nvPr/>
        </p:nvSpPr>
        <p:spPr>
          <a:xfrm>
            <a:off x="10020300" y="3952875"/>
            <a:ext cx="133350" cy="133350"/>
          </a:xfrm>
          <a:prstGeom prst="roundRect">
            <a:avLst>
              <a:gd name="adj" fmla="val 14286"/>
            </a:avLst>
          </a:prstGeom>
          <a:solidFill>
            <a:srgbClr val="EAF6F5"/>
          </a:solidFill>
          <a:ln w="6668">
            <a:solidFill>
              <a:srgbClr val="8DC7C9"/>
            </a:solidFill>
            <a:prstDash val="solid"/>
          </a:ln>
        </p:spPr>
      </p:sp>
      <p:sp>
        <p:nvSpPr>
          <p:cNvPr id="132" name="GPU wave lane 7-6"/>
          <p:cNvSpPr>
            <a:spLocks noGrp="1"/>
          </p:cNvSpPr>
          <p:nvPr/>
        </p:nvSpPr>
        <p:spPr>
          <a:xfrm>
            <a:off x="10191750" y="3952875"/>
            <a:ext cx="133350" cy="133350"/>
          </a:xfrm>
          <a:prstGeom prst="roundRect">
            <a:avLst>
              <a:gd name="adj" fmla="val 14286"/>
            </a:avLst>
          </a:prstGeom>
          <a:solidFill>
            <a:srgbClr val="EAF6F5"/>
          </a:solidFill>
          <a:ln w="6668">
            <a:solidFill>
              <a:srgbClr val="8DC7C9"/>
            </a:solidFill>
            <a:prstDash val="solid"/>
          </a:ln>
        </p:spPr>
      </p:sp>
      <p:sp>
        <p:nvSpPr>
          <p:cNvPr id="133" name="GPU wave lane 7-7"/>
          <p:cNvSpPr>
            <a:spLocks noGrp="1"/>
          </p:cNvSpPr>
          <p:nvPr/>
        </p:nvSpPr>
        <p:spPr>
          <a:xfrm>
            <a:off x="10363200" y="3952875"/>
            <a:ext cx="133350" cy="133350"/>
          </a:xfrm>
          <a:prstGeom prst="roundRect">
            <a:avLst>
              <a:gd name="adj" fmla="val 14286"/>
            </a:avLst>
          </a:prstGeom>
          <a:solidFill>
            <a:srgbClr val="EAF6F5"/>
          </a:solidFill>
          <a:ln w="6668">
            <a:solidFill>
              <a:srgbClr val="8DC7C9"/>
            </a:solidFill>
            <a:prstDash val="solid"/>
          </a:ln>
        </p:spPr>
      </p:sp>
      <p:sp>
        <p:nvSpPr>
          <p:cNvPr id="134" name="GPU concept caption"/>
          <p:cNvSpPr>
            <a:spLocks noGrp="1"/>
          </p:cNvSpPr>
          <p:nvPr/>
        </p:nvSpPr>
        <p:spPr>
          <a:xfrm>
            <a:off x="8629650" y="4019550"/>
            <a:ext cx="2419350" cy="209550"/>
          </a:xfrm>
          <a:prstGeom prst="rect">
            <a:avLst/>
          </a:prstGeom>
          <a:noFill/>
          <a:ln w="0">
            <a:noFill/>
            <a:prstDash val="solid"/>
          </a:ln>
        </p:spPr>
        <p:txBody>
          <a:bodyPr wrap="square" lIns="47625" tIns="28575" rIns="47625" bIns="28575" anchor="ctr">
            <a:normAutofit fontScale="95238"/>
          </a:bodyPr>
          <a:lstStyle/>
          <a:p>
            <a:pPr algn="ctr">
              <a:defRPr sz="1050" b="1">
                <a:solidFill>
                  <a:srgbClr val="147988"/>
                </a:solidFill>
                <a:latin typeface="Source Han Sans CN"/>
                <a:ea typeface="Source Han Sans CN"/>
                <a:cs typeface="Source Han Sans CN"/>
              </a:defRPr>
            </a:pPr>
            <a:r>
              <a:rPr sz="1050" b="1">
                <a:solidFill>
                  <a:srgbClr val="147988"/>
                </a:solidFill>
                <a:latin typeface="Source Han Sans CN"/>
                <a:ea typeface="Source Han Sans CN"/>
                <a:cs typeface="Source Han Sans CN"/>
              </a:rPr>
              <a:t>线程按 64 个 lane 成组执行</a:t>
            </a:r>
            <a:endParaRPr sz="1050" b="1">
              <a:solidFill>
                <a:srgbClr val="147988"/>
              </a:solidFill>
              <a:latin typeface="Source Han Sans CN"/>
              <a:ea typeface="Source Han Sans CN"/>
              <a:cs typeface="Source Han Sans C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V2 Title"/>
          <p:cNvSpPr>
            <a:spLocks noGrp="1"/>
          </p:cNvSpPr>
          <p:nvPr/>
        </p:nvSpPr>
        <p:spPr>
          <a:xfrm>
            <a:off x="333375" y="95250"/>
            <a:ext cx="10058400" cy="657225"/>
          </a:xfrm>
          <a:prstGeom prst="rect">
            <a:avLst/>
          </a:prstGeom>
          <a:noFill/>
          <a:ln w="0">
            <a:noFill/>
          </a:ln>
        </p:spPr>
        <p:txBody>
          <a:bodyPr anchor="ctr"/>
          <a:lstStyle/>
          <a:p>
            <a:pPr algn="l">
              <a:buNone/>
              <a:defRPr sz="3200" b="1">
                <a:solidFill>
                  <a:srgbClr val="000000"/>
                </a:solidFill>
                <a:latin typeface="Source Han Sans CN"/>
                <a:ea typeface="Source Han Sans CN"/>
                <a:cs typeface="Source Han Sans CN"/>
              </a:defRPr>
            </a:pPr>
            <a:r>
              <a:rPr sz="3200" b="1">
                <a:solidFill>
                  <a:srgbClr val="000000"/>
                </a:solidFill>
                <a:latin typeface="Source Han Sans CN"/>
                <a:ea typeface="Source Han Sans CN"/>
                <a:cs typeface="Source Han Sans CN"/>
              </a:rPr>
              <a:t>线程从 Grid 逐级组织到 Block 与 Thread</a:t>
            </a:r>
            <a:endParaRPr sz="3200" b="1">
              <a:solidFill>
                <a:srgbClr val="000000"/>
              </a:solidFill>
              <a:latin typeface="Source Han Sans CN"/>
              <a:ea typeface="Source Han Sans CN"/>
              <a:cs typeface="Source Han Sans CN"/>
            </a:endParaRPr>
          </a:p>
        </p:txBody>
      </p:sp>
      <p:sp>
        <p:nvSpPr>
          <p:cNvPr id="2" name="V2 Subtitle"/>
          <p:cNvSpPr>
            <a:spLocks noGrp="1"/>
          </p:cNvSpPr>
          <p:nvPr/>
        </p:nvSpPr>
        <p:spPr>
          <a:xfrm>
            <a:off x="838200" y="1047750"/>
            <a:ext cx="10420350" cy="400050"/>
          </a:xfrm>
          <a:prstGeom prst="rect">
            <a:avLst/>
          </a:prstGeom>
          <a:noFill/>
          <a:ln w="0">
            <a:noFill/>
          </a:ln>
        </p:spPr>
        <p:txBody>
          <a:bodyPr anchor="ctr"/>
          <a:lstStyle/>
          <a:p>
            <a:pPr algn="l">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Wave 是硬件成组执行线程的粒度；lane 表示线程在 Wave 内的位置</a:t>
            </a:r>
            <a:endParaRPr sz="1500" b="1">
              <a:solidFill>
                <a:srgbClr val="660874"/>
              </a:solidFill>
              <a:latin typeface="Source Han Sans CN"/>
              <a:ea typeface="Source Han Sans CN"/>
              <a:cs typeface="Source Han Sans CN"/>
            </a:endParaRPr>
          </a:p>
        </p:txBody>
      </p:sp>
      <p:sp>
        <p:nvSpPr>
          <p:cNvPr id="3" name="V2 Slide Number"/>
          <p:cNvSpPr>
            <a:spLocks noGrp="1"/>
          </p:cNvSpPr>
          <p:nvPr/>
        </p:nvSpPr>
        <p:spPr>
          <a:xfrm>
            <a:off x="9448800" y="6353175"/>
            <a:ext cx="2743200" cy="361950"/>
          </a:xfrm>
          <a:prstGeom prst="rect">
            <a:avLst/>
          </a:prstGeom>
          <a:noFill/>
          <a:ln w="0">
            <a:noFill/>
          </a:ln>
        </p:spPr>
        <p:txBody>
          <a:bodyPr anchor="ctr"/>
          <a:lstStyle/>
          <a:p>
            <a:pPr algn="r">
              <a:buNone/>
              <a:defRPr sz="1200" b="0">
                <a:solidFill>
                  <a:srgbClr val="8B8E93"/>
                </a:solidFill>
                <a:latin typeface="Arial" panose="020B0604020202090204"/>
                <a:ea typeface="Arial" panose="020B0604020202090204"/>
                <a:cs typeface="Arial" panose="020B0604020202090204"/>
              </a:defRPr>
            </a:pPr>
            <a:r>
              <a:rPr sz="1200" b="0">
                <a:solidFill>
                  <a:srgbClr val="8B8E93"/>
                </a:solidFill>
                <a:latin typeface="Arial" panose="020B0604020202090204"/>
                <a:ea typeface="Arial" panose="020B0604020202090204"/>
                <a:cs typeface="Arial" panose="020B0604020202090204"/>
              </a:rPr>
              <a:t>04</a:t>
            </a:r>
            <a:endParaRPr sz="1200" b="0">
              <a:solidFill>
                <a:srgbClr val="8B8E93"/>
              </a:solidFill>
              <a:latin typeface="Arial" panose="020B0604020202090204"/>
              <a:ea typeface="Arial" panose="020B0604020202090204"/>
              <a:cs typeface="Arial" panose="020B0604020202090204"/>
            </a:endParaRPr>
          </a:p>
        </p:txBody>
      </p:sp>
      <p:sp>
        <p:nvSpPr>
          <p:cNvPr id="4" name="矩形 3"/>
          <p:cNvSpPr>
            <a:spLocks noGrp="1"/>
          </p:cNvSpPr>
          <p:nvPr/>
        </p:nvSpPr>
        <p:spPr>
          <a:xfrm>
            <a:off x="3019425" y="1952625"/>
            <a:ext cx="514350" cy="590550"/>
          </a:xfrm>
          <a:prstGeom prst="rect">
            <a:avLst/>
          </a:prstGeom>
          <a:noFill/>
          <a:ln w="0">
            <a:noFill/>
          </a:ln>
        </p:spPr>
        <p:txBody>
          <a:bodyPr wrap="square" lIns="47625" tIns="28575" rIns="47625" bIns="28575" anchor="ctr">
            <a:normAutofit/>
          </a:bodyPr>
          <a:lstStyle/>
          <a:p>
            <a:pPr algn="ctr">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5" name="矩形 4"/>
          <p:cNvSpPr>
            <a:spLocks noGrp="1"/>
          </p:cNvSpPr>
          <p:nvPr/>
        </p:nvSpPr>
        <p:spPr>
          <a:xfrm>
            <a:off x="5724525" y="1952625"/>
            <a:ext cx="514350" cy="590550"/>
          </a:xfrm>
          <a:prstGeom prst="rect">
            <a:avLst/>
          </a:prstGeom>
          <a:noFill/>
          <a:ln w="0">
            <a:noFill/>
          </a:ln>
        </p:spPr>
        <p:txBody>
          <a:bodyPr wrap="square" lIns="47625" tIns="28575" rIns="47625" bIns="28575" anchor="ctr">
            <a:normAutofit/>
          </a:bodyPr>
          <a:lstStyle/>
          <a:p>
            <a:pPr algn="ctr">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6" name="矩形 5"/>
          <p:cNvSpPr>
            <a:spLocks noGrp="1"/>
          </p:cNvSpPr>
          <p:nvPr/>
        </p:nvSpPr>
        <p:spPr>
          <a:xfrm>
            <a:off x="8429625" y="1952625"/>
            <a:ext cx="514350" cy="590550"/>
          </a:xfrm>
          <a:prstGeom prst="rect">
            <a:avLst/>
          </a:prstGeom>
          <a:noFill/>
          <a:ln w="0">
            <a:noFill/>
          </a:ln>
        </p:spPr>
        <p:txBody>
          <a:bodyPr wrap="square" lIns="47625" tIns="28575" rIns="47625" bIns="28575" anchor="ctr">
            <a:normAutofit/>
          </a:bodyPr>
          <a:lstStyle/>
          <a:p>
            <a:pPr algn="ctr">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7" name="矩形: 圆角 6"/>
          <p:cNvSpPr>
            <a:spLocks noGrp="1"/>
          </p:cNvSpPr>
          <p:nvPr/>
        </p:nvSpPr>
        <p:spPr>
          <a:xfrm>
            <a:off x="876300" y="1581150"/>
            <a:ext cx="2095500" cy="1381125"/>
          </a:xfrm>
          <a:prstGeom prst="roundRect">
            <a:avLst>
              <a:gd name="adj" fmla="val 7216"/>
            </a:avLst>
          </a:prstGeom>
          <a:noFill/>
          <a:ln w="9525">
            <a:solidFill>
              <a:srgbClr val="660874"/>
            </a:solidFill>
            <a:prstDash val="solid"/>
          </a:ln>
        </p:spPr>
      </p:sp>
      <p:sp>
        <p:nvSpPr>
          <p:cNvPr id="8" name="矩形 7"/>
          <p:cNvSpPr>
            <a:spLocks noGrp="1"/>
          </p:cNvSpPr>
          <p:nvPr/>
        </p:nvSpPr>
        <p:spPr>
          <a:xfrm>
            <a:off x="990600" y="1714500"/>
            <a:ext cx="1866900" cy="400050"/>
          </a:xfrm>
          <a:prstGeom prst="rect">
            <a:avLst/>
          </a:prstGeom>
          <a:noFill/>
          <a:ln w="0">
            <a:noFill/>
          </a:ln>
        </p:spPr>
        <p:txBody>
          <a:bodyPr wrap="square" lIns="47625" tIns="28575" rIns="47625" bIns="28575" anchor="ctr">
            <a:normAutofit/>
          </a:bodyPr>
          <a:lstStyle/>
          <a:p>
            <a:pPr algn="ctr">
              <a:buNone/>
              <a:defRPr sz="2100" b="1">
                <a:solidFill>
                  <a:srgbClr val="660874"/>
                </a:solidFill>
                <a:latin typeface="Source Han Sans CN"/>
                <a:ea typeface="Source Han Sans CN"/>
                <a:cs typeface="Source Han Sans CN"/>
              </a:defRPr>
            </a:pPr>
            <a:r>
              <a:rPr sz="2100" b="1">
                <a:solidFill>
                  <a:srgbClr val="660874"/>
                </a:solidFill>
                <a:latin typeface="Source Han Sans CN"/>
                <a:ea typeface="Source Han Sans CN"/>
                <a:cs typeface="Source Han Sans CN"/>
              </a:rPr>
              <a:t>Grid</a:t>
            </a:r>
            <a:endParaRPr sz="2100" b="1">
              <a:solidFill>
                <a:srgbClr val="660874"/>
              </a:solidFill>
              <a:latin typeface="Source Han Sans CN"/>
              <a:ea typeface="Source Han Sans CN"/>
              <a:cs typeface="Source Han Sans CN"/>
            </a:endParaRPr>
          </a:p>
        </p:txBody>
      </p:sp>
      <p:sp>
        <p:nvSpPr>
          <p:cNvPr id="9" name="矩形 8"/>
          <p:cNvSpPr>
            <a:spLocks noGrp="1"/>
          </p:cNvSpPr>
          <p:nvPr/>
        </p:nvSpPr>
        <p:spPr>
          <a:xfrm>
            <a:off x="1019175" y="2133600"/>
            <a:ext cx="1809750" cy="666750"/>
          </a:xfrm>
          <a:prstGeom prst="rect">
            <a:avLst/>
          </a:prstGeom>
          <a:noFill/>
          <a:ln w="0">
            <a:noFill/>
          </a:ln>
        </p:spPr>
        <p:txBody>
          <a:bodyPr wrap="square" lIns="47625" tIns="28575" rIns="47625" bIns="28575" anchor="ctr">
            <a:normAutofit/>
          </a:bodyPr>
          <a:lstStyle/>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一次 kernel 启动</a:t>
            </a:r>
            <a:endParaRPr sz="1125" b="0">
              <a:solidFill>
                <a:srgbClr val="6F7782"/>
              </a:solidFill>
              <a:latin typeface="Source Han Sans CN"/>
              <a:ea typeface="Source Han Sans CN"/>
              <a:cs typeface="Source Han Sans CN"/>
            </a:endParaRPr>
          </a:p>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包含多个 Block</a:t>
            </a:r>
            <a:endParaRPr sz="1125" b="0">
              <a:solidFill>
                <a:srgbClr val="6F7782"/>
              </a:solidFill>
              <a:latin typeface="Source Han Sans CN"/>
              <a:ea typeface="Source Han Sans CN"/>
              <a:cs typeface="Source Han Sans CN"/>
            </a:endParaRPr>
          </a:p>
        </p:txBody>
      </p:sp>
      <p:sp>
        <p:nvSpPr>
          <p:cNvPr id="10" name="矩形: 圆角 9"/>
          <p:cNvSpPr>
            <a:spLocks noGrp="1"/>
          </p:cNvSpPr>
          <p:nvPr/>
        </p:nvSpPr>
        <p:spPr>
          <a:xfrm>
            <a:off x="3581400" y="1581150"/>
            <a:ext cx="2095500" cy="1381125"/>
          </a:xfrm>
          <a:prstGeom prst="roundRect">
            <a:avLst>
              <a:gd name="adj" fmla="val 7216"/>
            </a:avLst>
          </a:prstGeom>
          <a:noFill/>
          <a:ln w="9525">
            <a:solidFill>
              <a:srgbClr val="660874"/>
            </a:solidFill>
            <a:prstDash val="solid"/>
          </a:ln>
        </p:spPr>
      </p:sp>
      <p:sp>
        <p:nvSpPr>
          <p:cNvPr id="11" name="矩形 10"/>
          <p:cNvSpPr>
            <a:spLocks noGrp="1"/>
          </p:cNvSpPr>
          <p:nvPr/>
        </p:nvSpPr>
        <p:spPr>
          <a:xfrm>
            <a:off x="3695700" y="1714500"/>
            <a:ext cx="1866900" cy="400050"/>
          </a:xfrm>
          <a:prstGeom prst="rect">
            <a:avLst/>
          </a:prstGeom>
          <a:noFill/>
          <a:ln w="0">
            <a:noFill/>
          </a:ln>
        </p:spPr>
        <p:txBody>
          <a:bodyPr wrap="square" lIns="47625" tIns="28575" rIns="47625" bIns="28575" anchor="ctr">
            <a:normAutofit/>
          </a:bodyPr>
          <a:lstStyle/>
          <a:p>
            <a:pPr algn="ctr">
              <a:buNone/>
              <a:defRPr sz="2100" b="1">
                <a:solidFill>
                  <a:srgbClr val="660874"/>
                </a:solidFill>
                <a:latin typeface="Source Han Sans CN"/>
                <a:ea typeface="Source Han Sans CN"/>
                <a:cs typeface="Source Han Sans CN"/>
              </a:defRPr>
            </a:pPr>
            <a:r>
              <a:rPr sz="2100" b="1">
                <a:solidFill>
                  <a:srgbClr val="660874"/>
                </a:solidFill>
                <a:latin typeface="Source Han Sans CN"/>
                <a:ea typeface="Source Han Sans CN"/>
                <a:cs typeface="Source Han Sans CN"/>
              </a:rPr>
              <a:t>Block</a:t>
            </a:r>
            <a:endParaRPr sz="2100" b="1">
              <a:solidFill>
                <a:srgbClr val="660874"/>
              </a:solidFill>
              <a:latin typeface="Source Han Sans CN"/>
              <a:ea typeface="Source Han Sans CN"/>
              <a:cs typeface="Source Han Sans CN"/>
            </a:endParaRPr>
          </a:p>
        </p:txBody>
      </p:sp>
      <p:sp>
        <p:nvSpPr>
          <p:cNvPr id="12" name="矩形 11"/>
          <p:cNvSpPr>
            <a:spLocks noGrp="1"/>
          </p:cNvSpPr>
          <p:nvPr/>
        </p:nvSpPr>
        <p:spPr>
          <a:xfrm>
            <a:off x="3724275" y="2133600"/>
            <a:ext cx="1809750" cy="666750"/>
          </a:xfrm>
          <a:prstGeom prst="rect">
            <a:avLst/>
          </a:prstGeom>
          <a:noFill/>
          <a:ln w="0">
            <a:noFill/>
          </a:ln>
        </p:spPr>
        <p:txBody>
          <a:bodyPr wrap="square" lIns="47625" tIns="28575" rIns="47625" bIns="28575" anchor="ctr">
            <a:normAutofit/>
          </a:bodyPr>
          <a:lstStyle/>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线程协作范围</a:t>
            </a:r>
            <a:endParaRPr sz="1125" b="0">
              <a:solidFill>
                <a:srgbClr val="6F7782"/>
              </a:solidFill>
              <a:latin typeface="Source Han Sans CN"/>
              <a:ea typeface="Source Han Sans CN"/>
              <a:cs typeface="Source Han Sans CN"/>
            </a:endParaRPr>
          </a:p>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可同步、可共享数据</a:t>
            </a:r>
            <a:endParaRPr sz="1125" b="0">
              <a:solidFill>
                <a:srgbClr val="6F7782"/>
              </a:solidFill>
              <a:latin typeface="Source Han Sans CN"/>
              <a:ea typeface="Source Han Sans CN"/>
              <a:cs typeface="Source Han Sans CN"/>
            </a:endParaRPr>
          </a:p>
        </p:txBody>
      </p:sp>
      <p:sp>
        <p:nvSpPr>
          <p:cNvPr id="13" name="矩形: 圆角 12"/>
          <p:cNvSpPr>
            <a:spLocks noGrp="1"/>
          </p:cNvSpPr>
          <p:nvPr/>
        </p:nvSpPr>
        <p:spPr>
          <a:xfrm>
            <a:off x="6286500" y="1581150"/>
            <a:ext cx="2095500" cy="1381125"/>
          </a:xfrm>
          <a:prstGeom prst="roundRect">
            <a:avLst>
              <a:gd name="adj" fmla="val 7216"/>
            </a:avLst>
          </a:prstGeom>
          <a:noFill/>
          <a:ln w="9525">
            <a:solidFill>
              <a:srgbClr val="660874"/>
            </a:solidFill>
            <a:prstDash val="solid"/>
          </a:ln>
        </p:spPr>
      </p:sp>
      <p:sp>
        <p:nvSpPr>
          <p:cNvPr id="14" name="矩形 13"/>
          <p:cNvSpPr>
            <a:spLocks noGrp="1"/>
          </p:cNvSpPr>
          <p:nvPr/>
        </p:nvSpPr>
        <p:spPr>
          <a:xfrm>
            <a:off x="6400800" y="1714500"/>
            <a:ext cx="1866900" cy="400050"/>
          </a:xfrm>
          <a:prstGeom prst="rect">
            <a:avLst/>
          </a:prstGeom>
          <a:noFill/>
          <a:ln w="0">
            <a:noFill/>
          </a:ln>
        </p:spPr>
        <p:txBody>
          <a:bodyPr wrap="square" lIns="47625" tIns="28575" rIns="47625" bIns="28575" anchor="ctr">
            <a:normAutofit/>
          </a:bodyPr>
          <a:lstStyle/>
          <a:p>
            <a:pPr algn="ctr">
              <a:buNone/>
              <a:defRPr sz="2100" b="1">
                <a:solidFill>
                  <a:srgbClr val="660874"/>
                </a:solidFill>
                <a:latin typeface="Source Han Sans CN"/>
                <a:ea typeface="Source Han Sans CN"/>
                <a:cs typeface="Source Han Sans CN"/>
              </a:defRPr>
            </a:pPr>
            <a:r>
              <a:rPr sz="2100" b="1">
                <a:solidFill>
                  <a:srgbClr val="660874"/>
                </a:solidFill>
                <a:latin typeface="Source Han Sans CN"/>
                <a:ea typeface="Source Han Sans CN"/>
                <a:cs typeface="Source Han Sans CN"/>
              </a:rPr>
              <a:t>Thread</a:t>
            </a:r>
            <a:endParaRPr sz="2100" b="1">
              <a:solidFill>
                <a:srgbClr val="660874"/>
              </a:solidFill>
              <a:latin typeface="Source Han Sans CN"/>
              <a:ea typeface="Source Han Sans CN"/>
              <a:cs typeface="Source Han Sans CN"/>
            </a:endParaRPr>
          </a:p>
        </p:txBody>
      </p:sp>
      <p:sp>
        <p:nvSpPr>
          <p:cNvPr id="15" name="矩形 14"/>
          <p:cNvSpPr>
            <a:spLocks noGrp="1"/>
          </p:cNvSpPr>
          <p:nvPr/>
        </p:nvSpPr>
        <p:spPr>
          <a:xfrm>
            <a:off x="6429375" y="2133600"/>
            <a:ext cx="1809750" cy="666750"/>
          </a:xfrm>
          <a:prstGeom prst="rect">
            <a:avLst/>
          </a:prstGeom>
          <a:noFill/>
          <a:ln w="0">
            <a:noFill/>
          </a:ln>
        </p:spPr>
        <p:txBody>
          <a:bodyPr wrap="square" lIns="47625" tIns="28575" rIns="47625" bIns="28575" anchor="ctr">
            <a:normAutofit/>
          </a:bodyPr>
          <a:lstStyle/>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最小执行线程</a:t>
            </a:r>
            <a:endParaRPr sz="1125" b="0">
              <a:solidFill>
                <a:srgbClr val="6F7782"/>
              </a:solidFill>
              <a:latin typeface="Source Han Sans CN"/>
              <a:ea typeface="Source Han Sans CN"/>
              <a:cs typeface="Source Han Sans CN"/>
            </a:endParaRPr>
          </a:p>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处理局部数据</a:t>
            </a:r>
            <a:endParaRPr sz="1125" b="0">
              <a:solidFill>
                <a:srgbClr val="6F7782"/>
              </a:solidFill>
              <a:latin typeface="Source Han Sans CN"/>
              <a:ea typeface="Source Han Sans CN"/>
              <a:cs typeface="Source Han Sans CN"/>
            </a:endParaRPr>
          </a:p>
        </p:txBody>
      </p:sp>
      <p:sp>
        <p:nvSpPr>
          <p:cNvPr id="16" name="矩形: 圆角 15"/>
          <p:cNvSpPr>
            <a:spLocks noGrp="1"/>
          </p:cNvSpPr>
          <p:nvPr/>
        </p:nvSpPr>
        <p:spPr>
          <a:xfrm>
            <a:off x="8991600" y="1581150"/>
            <a:ext cx="2095500" cy="1381125"/>
          </a:xfrm>
          <a:prstGeom prst="roundRect">
            <a:avLst>
              <a:gd name="adj" fmla="val 7216"/>
            </a:avLst>
          </a:prstGeom>
          <a:noFill/>
          <a:ln w="9525">
            <a:solidFill>
              <a:srgbClr val="1E8E94"/>
            </a:solidFill>
            <a:prstDash val="solid"/>
          </a:ln>
        </p:spPr>
      </p:sp>
      <p:sp>
        <p:nvSpPr>
          <p:cNvPr id="17" name="矩形 16"/>
          <p:cNvSpPr>
            <a:spLocks noGrp="1"/>
          </p:cNvSpPr>
          <p:nvPr/>
        </p:nvSpPr>
        <p:spPr>
          <a:xfrm>
            <a:off x="9105900" y="1714500"/>
            <a:ext cx="1866900" cy="400050"/>
          </a:xfrm>
          <a:prstGeom prst="rect">
            <a:avLst/>
          </a:prstGeom>
          <a:noFill/>
          <a:ln w="0">
            <a:noFill/>
          </a:ln>
        </p:spPr>
        <p:txBody>
          <a:bodyPr wrap="square" lIns="47625" tIns="28575" rIns="47625" bIns="28575" anchor="ctr">
            <a:normAutofit/>
          </a:bodyPr>
          <a:lstStyle/>
          <a:p>
            <a:pPr algn="ctr">
              <a:buNone/>
              <a:defRPr sz="2100" b="1">
                <a:solidFill>
                  <a:srgbClr val="1E8E94"/>
                </a:solidFill>
                <a:latin typeface="Source Han Sans CN"/>
                <a:ea typeface="Source Han Sans CN"/>
                <a:cs typeface="Source Han Sans CN"/>
              </a:defRPr>
            </a:pPr>
            <a:r>
              <a:rPr sz="2100" b="1">
                <a:solidFill>
                  <a:srgbClr val="1E8E94"/>
                </a:solidFill>
                <a:latin typeface="Source Han Sans CN"/>
                <a:ea typeface="Source Han Sans CN"/>
                <a:cs typeface="Source Han Sans CN"/>
              </a:rPr>
              <a:t>Wave</a:t>
            </a:r>
            <a:endParaRPr sz="2100" b="1">
              <a:solidFill>
                <a:srgbClr val="1E8E94"/>
              </a:solidFill>
              <a:latin typeface="Source Han Sans CN"/>
              <a:ea typeface="Source Han Sans CN"/>
              <a:cs typeface="Source Han Sans CN"/>
            </a:endParaRPr>
          </a:p>
        </p:txBody>
      </p:sp>
      <p:sp>
        <p:nvSpPr>
          <p:cNvPr id="18" name="矩形 17"/>
          <p:cNvSpPr>
            <a:spLocks noGrp="1"/>
          </p:cNvSpPr>
          <p:nvPr/>
        </p:nvSpPr>
        <p:spPr>
          <a:xfrm>
            <a:off x="9134475" y="2133600"/>
            <a:ext cx="1809750" cy="666750"/>
          </a:xfrm>
          <a:prstGeom prst="rect">
            <a:avLst/>
          </a:prstGeom>
          <a:noFill/>
          <a:ln w="0">
            <a:noFill/>
          </a:ln>
        </p:spPr>
        <p:txBody>
          <a:bodyPr wrap="square" lIns="47625" tIns="28575" rIns="47625" bIns="28575" anchor="ctr">
            <a:normAutofit/>
          </a:bodyPr>
          <a:lstStyle/>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由多个 lane 组成</a:t>
            </a:r>
            <a:endParaRPr sz="1125" b="0">
              <a:solidFill>
                <a:srgbClr val="6F7782"/>
              </a:solidFill>
              <a:latin typeface="Source Han Sans CN"/>
              <a:ea typeface="Source Han Sans CN"/>
              <a:cs typeface="Source Han Sans CN"/>
            </a:endParaRPr>
          </a:p>
          <a:p>
            <a:pPr algn="ctr">
              <a:buNone/>
              <a:defRPr sz="1125" b="0">
                <a:solidFill>
                  <a:srgbClr val="6F7782"/>
                </a:solidFill>
                <a:latin typeface="Source Han Sans CN"/>
                <a:ea typeface="Source Han Sans CN"/>
                <a:cs typeface="Source Han Sans CN"/>
              </a:defRPr>
            </a:pPr>
            <a:r>
              <a:rPr sz="1125" b="0">
                <a:solidFill>
                  <a:srgbClr val="6F7782"/>
                </a:solidFill>
                <a:latin typeface="Source Han Sans CN"/>
                <a:ea typeface="Source Han Sans CN"/>
                <a:cs typeface="Source Han Sans CN"/>
              </a:rPr>
              <a:t>lane 是组内编号</a:t>
            </a:r>
            <a:endParaRPr sz="1125" b="0">
              <a:solidFill>
                <a:srgbClr val="6F7782"/>
              </a:solidFill>
              <a:latin typeface="Source Han Sans CN"/>
              <a:ea typeface="Source Han Sans CN"/>
              <a:cs typeface="Source Han Sans CN"/>
            </a:endParaRPr>
          </a:p>
        </p:txBody>
      </p:sp>
      <p:sp>
        <p:nvSpPr>
          <p:cNvPr id="21" name="矩形 20"/>
          <p:cNvSpPr>
            <a:spLocks noGrp="1"/>
          </p:cNvSpPr>
          <p:nvPr/>
        </p:nvSpPr>
        <p:spPr>
          <a:xfrm>
            <a:off x="838200" y="3009900"/>
            <a:ext cx="10515600" cy="323850"/>
          </a:xfrm>
          <a:prstGeom prst="rect">
            <a:avLst/>
          </a:prstGeom>
          <a:noFill/>
          <a:ln w="0">
            <a:noFill/>
          </a:ln>
        </p:spPr>
        <p:txBody>
          <a:bodyPr wrap="square" lIns="47625" tIns="28575" rIns="47625" bIns="28575" anchor="ctr">
            <a:normAutofit/>
          </a:bodyPr>
          <a:lstStyle/>
          <a:p>
            <a:pPr algn="ctr">
              <a:buNone/>
              <a:defRPr sz="1200" b="1">
                <a:solidFill>
                  <a:srgbClr val="D63B57"/>
                </a:solidFill>
                <a:latin typeface="Source Han Sans CN"/>
                <a:ea typeface="Source Han Sans CN"/>
                <a:cs typeface="Source Han Sans CN"/>
              </a:defRPr>
            </a:pPr>
            <a:r>
              <a:rPr sz="1200" b="1">
                <a:solidFill>
                  <a:srgbClr val="D63B57"/>
                </a:solidFill>
                <a:latin typeface="Source Han Sans CN"/>
                <a:ea typeface="Source Han Sans CN"/>
                <a:cs typeface="Source Han Sans CN"/>
              </a:rPr>
              <a:t>曦云系列 GPU：wave size = 64（lane 0–63）；其他硬件可能不同</a:t>
            </a:r>
            <a:endParaRPr sz="1200" b="1">
              <a:solidFill>
                <a:srgbClr val="D63B57"/>
              </a:solidFill>
              <a:latin typeface="Source Han Sans CN"/>
              <a:ea typeface="Source Han Sans CN"/>
              <a:cs typeface="Source Han Sans CN"/>
            </a:endParaRPr>
          </a:p>
        </p:txBody>
      </p:sp>
      <p:sp>
        <p:nvSpPr>
          <p:cNvPr id="23" name="Hierarchy detail frame"/>
          <p:cNvSpPr>
            <a:spLocks noGrp="1"/>
          </p:cNvSpPr>
          <p:nvPr/>
        </p:nvSpPr>
        <p:spPr>
          <a:xfrm>
            <a:off x="266700" y="3390900"/>
            <a:ext cx="11658600" cy="2686050"/>
          </a:xfrm>
          <a:prstGeom prst="roundRect">
            <a:avLst>
              <a:gd name="adj" fmla="val 4255"/>
            </a:avLst>
          </a:prstGeom>
          <a:noFill/>
          <a:ln w="9525">
            <a:solidFill>
              <a:srgbClr val="A894B1"/>
            </a:solidFill>
            <a:prstDash val="solid"/>
          </a:ln>
        </p:spPr>
      </p:sp>
      <p:sp>
        <p:nvSpPr>
          <p:cNvPr id="24" name="Step 1"/>
          <p:cNvSpPr>
            <a:spLocks noGrp="1"/>
          </p:cNvSpPr>
          <p:nvPr/>
        </p:nvSpPr>
        <p:spPr>
          <a:xfrm>
            <a:off x="457200" y="3514725"/>
            <a:ext cx="2190750" cy="295275"/>
          </a:xfrm>
          <a:prstGeom prst="rect">
            <a:avLst/>
          </a:prstGeom>
          <a:noFill/>
          <a:ln w="0">
            <a:noFill/>
            <a:prstDash val="solid"/>
          </a:ln>
        </p:spPr>
        <p:txBody>
          <a:bodyPr wrap="square" lIns="19050" tIns="9525" rIns="19050" bIns="9525" anchor="ctr">
            <a:normAutofit/>
          </a:bodyPr>
          <a:lstStyle/>
          <a:p>
            <a:pPr algn="l">
              <a:defRPr sz="975" b="1">
                <a:solidFill>
                  <a:srgbClr val="660874"/>
                </a:solidFill>
                <a:latin typeface="Source Han Sans CN"/>
                <a:ea typeface="Source Han Sans CN"/>
                <a:cs typeface="Source Han Sans CN"/>
              </a:defRPr>
            </a:pPr>
            <a:r>
              <a:rPr sz="975" b="1">
                <a:solidFill>
                  <a:srgbClr val="660874"/>
                </a:solidFill>
                <a:latin typeface="Source Han Sans CN"/>
                <a:ea typeface="Source Han Sans CN"/>
                <a:cs typeface="Source Han Sans CN"/>
              </a:rPr>
              <a:t>① kernel 启动形成 Grid</a:t>
            </a:r>
            <a:endParaRPr sz="975" b="1">
              <a:solidFill>
                <a:srgbClr val="660874"/>
              </a:solidFill>
              <a:latin typeface="Source Han Sans CN"/>
              <a:ea typeface="Source Han Sans CN"/>
              <a:cs typeface="Source Han Sans CN"/>
            </a:endParaRPr>
          </a:p>
        </p:txBody>
      </p:sp>
      <p:sp>
        <p:nvSpPr>
          <p:cNvPr id="25" name="Step 2"/>
          <p:cNvSpPr>
            <a:spLocks noGrp="1"/>
          </p:cNvSpPr>
          <p:nvPr/>
        </p:nvSpPr>
        <p:spPr>
          <a:xfrm>
            <a:off x="2990850" y="3514725"/>
            <a:ext cx="1809750" cy="295275"/>
          </a:xfrm>
          <a:prstGeom prst="rect">
            <a:avLst/>
          </a:prstGeom>
          <a:noFill/>
          <a:ln w="0">
            <a:noFill/>
            <a:prstDash val="solid"/>
          </a:ln>
        </p:spPr>
        <p:txBody>
          <a:bodyPr wrap="square" lIns="19050" tIns="9525" rIns="19050" bIns="9525" anchor="ctr">
            <a:normAutofit/>
          </a:bodyPr>
          <a:lstStyle/>
          <a:p>
            <a:pPr algn="l">
              <a:defRPr sz="975" b="1">
                <a:solidFill>
                  <a:srgbClr val="660874"/>
                </a:solidFill>
                <a:latin typeface="Source Han Sans CN"/>
                <a:ea typeface="Source Han Sans CN"/>
                <a:cs typeface="Source Han Sans CN"/>
              </a:defRPr>
            </a:pPr>
            <a:r>
              <a:rPr sz="975" b="1">
                <a:solidFill>
                  <a:srgbClr val="660874"/>
                </a:solidFill>
                <a:latin typeface="Source Han Sans CN"/>
                <a:ea typeface="Source Han Sans CN"/>
                <a:cs typeface="Source Han Sans CN"/>
              </a:rPr>
              <a:t>② Grid 包含 Block</a:t>
            </a:r>
            <a:endParaRPr sz="975" b="1">
              <a:solidFill>
                <a:srgbClr val="660874"/>
              </a:solidFill>
              <a:latin typeface="Source Han Sans CN"/>
              <a:ea typeface="Source Han Sans CN"/>
              <a:cs typeface="Source Han Sans CN"/>
            </a:endParaRPr>
          </a:p>
        </p:txBody>
      </p:sp>
      <p:sp>
        <p:nvSpPr>
          <p:cNvPr id="26" name="Step 3"/>
          <p:cNvSpPr>
            <a:spLocks noGrp="1"/>
          </p:cNvSpPr>
          <p:nvPr/>
        </p:nvSpPr>
        <p:spPr>
          <a:xfrm>
            <a:off x="5143500" y="3514725"/>
            <a:ext cx="2190750" cy="295275"/>
          </a:xfrm>
          <a:prstGeom prst="rect">
            <a:avLst/>
          </a:prstGeom>
          <a:noFill/>
          <a:ln w="0">
            <a:noFill/>
            <a:prstDash val="solid"/>
          </a:ln>
        </p:spPr>
        <p:txBody>
          <a:bodyPr wrap="square" lIns="19050" tIns="9525" rIns="19050" bIns="9525" anchor="ctr">
            <a:normAutofit/>
          </a:bodyPr>
          <a:lstStyle/>
          <a:p>
            <a:pPr algn="l">
              <a:defRPr sz="975" b="1">
                <a:solidFill>
                  <a:srgbClr val="660874"/>
                </a:solidFill>
                <a:latin typeface="Source Han Sans CN"/>
                <a:ea typeface="Source Han Sans CN"/>
                <a:cs typeface="Source Han Sans CN"/>
              </a:defRPr>
            </a:pPr>
            <a:r>
              <a:rPr sz="975" b="1">
                <a:solidFill>
                  <a:srgbClr val="660874"/>
                </a:solidFill>
                <a:latin typeface="Source Han Sans CN"/>
                <a:ea typeface="Source Han Sans CN"/>
                <a:cs typeface="Source Han Sans CN"/>
              </a:rPr>
              <a:t>③ Block 包含 Thread</a:t>
            </a:r>
            <a:endParaRPr sz="975" b="1">
              <a:solidFill>
                <a:srgbClr val="660874"/>
              </a:solidFill>
              <a:latin typeface="Source Han Sans CN"/>
              <a:ea typeface="Source Han Sans CN"/>
              <a:cs typeface="Source Han Sans CN"/>
            </a:endParaRPr>
          </a:p>
        </p:txBody>
      </p:sp>
      <p:sp>
        <p:nvSpPr>
          <p:cNvPr id="27" name="Step 4"/>
          <p:cNvSpPr>
            <a:spLocks noGrp="1"/>
          </p:cNvSpPr>
          <p:nvPr/>
        </p:nvSpPr>
        <p:spPr>
          <a:xfrm>
            <a:off x="7658100" y="3514725"/>
            <a:ext cx="1666875" cy="295275"/>
          </a:xfrm>
          <a:prstGeom prst="rect">
            <a:avLst/>
          </a:prstGeom>
          <a:noFill/>
          <a:ln w="0">
            <a:noFill/>
            <a:prstDash val="solid"/>
          </a:ln>
        </p:spPr>
        <p:txBody>
          <a:bodyPr wrap="square" lIns="19050" tIns="9525" rIns="19050" bIns="9525" anchor="ctr">
            <a:normAutofit/>
          </a:bodyPr>
          <a:lstStyle/>
          <a:p>
            <a:pPr algn="l">
              <a:defRPr sz="975" b="1">
                <a:solidFill>
                  <a:srgbClr val="1E8E94"/>
                </a:solidFill>
                <a:latin typeface="Source Han Sans CN"/>
                <a:ea typeface="Source Han Sans CN"/>
                <a:cs typeface="Source Han Sans CN"/>
              </a:defRPr>
            </a:pPr>
            <a:r>
              <a:rPr sz="975" b="1">
                <a:solidFill>
                  <a:srgbClr val="1E8E94"/>
                </a:solidFill>
                <a:latin typeface="Source Han Sans CN"/>
                <a:ea typeface="Source Han Sans CN"/>
                <a:cs typeface="Source Han Sans CN"/>
              </a:rPr>
              <a:t>④ 线程组成 Wave</a:t>
            </a:r>
            <a:endParaRPr sz="975" b="1">
              <a:solidFill>
                <a:srgbClr val="1E8E94"/>
              </a:solidFill>
              <a:latin typeface="Source Han Sans CN"/>
              <a:ea typeface="Source Han Sans CN"/>
              <a:cs typeface="Source Han Sans CN"/>
            </a:endParaRPr>
          </a:p>
        </p:txBody>
      </p:sp>
      <p:sp>
        <p:nvSpPr>
          <p:cNvPr id="28" name="Step 5"/>
          <p:cNvSpPr>
            <a:spLocks noGrp="1"/>
          </p:cNvSpPr>
          <p:nvPr/>
        </p:nvSpPr>
        <p:spPr>
          <a:xfrm>
            <a:off x="9620250" y="3514725"/>
            <a:ext cx="2095500" cy="295275"/>
          </a:xfrm>
          <a:prstGeom prst="rect">
            <a:avLst/>
          </a:prstGeom>
          <a:noFill/>
          <a:ln w="0">
            <a:noFill/>
            <a:prstDash val="solid"/>
          </a:ln>
        </p:spPr>
        <p:txBody>
          <a:bodyPr wrap="square" lIns="19050" tIns="9525" rIns="19050" bIns="9525" anchor="ctr">
            <a:normAutofit/>
          </a:bodyPr>
          <a:lstStyle/>
          <a:p>
            <a:pPr algn="l">
              <a:defRPr sz="975" b="1">
                <a:solidFill>
                  <a:srgbClr val="1E8E94"/>
                </a:solidFill>
                <a:latin typeface="Source Han Sans CN"/>
                <a:ea typeface="Source Han Sans CN"/>
                <a:cs typeface="Source Han Sans CN"/>
              </a:defRPr>
            </a:pPr>
            <a:r>
              <a:rPr sz="975" b="1">
                <a:solidFill>
                  <a:srgbClr val="1E8E94"/>
                </a:solidFill>
                <a:latin typeface="Source Han Sans CN"/>
                <a:ea typeface="Source Han Sans CN"/>
                <a:cs typeface="Source Han Sans CN"/>
              </a:rPr>
              <a:t>⑤ lane 是组内位置</a:t>
            </a:r>
            <a:endParaRPr sz="975" b="1">
              <a:solidFill>
                <a:srgbClr val="1E8E94"/>
              </a:solidFill>
              <a:latin typeface="Source Han Sans CN"/>
              <a:ea typeface="Source Han Sans CN"/>
              <a:cs typeface="Source Han Sans CN"/>
            </a:endParaRPr>
          </a:p>
        </p:txBody>
      </p:sp>
      <p:sp>
        <p:nvSpPr>
          <p:cNvPr id="29" name="Grid zoom panel"/>
          <p:cNvSpPr>
            <a:spLocks noGrp="1"/>
          </p:cNvSpPr>
          <p:nvPr/>
        </p:nvSpPr>
        <p:spPr>
          <a:xfrm>
            <a:off x="457200" y="3857625"/>
            <a:ext cx="2190750" cy="1571625"/>
          </a:xfrm>
          <a:prstGeom prst="roundRect">
            <a:avLst>
              <a:gd name="adj" fmla="val 6061"/>
            </a:avLst>
          </a:prstGeom>
          <a:noFill/>
          <a:ln w="11430">
            <a:solidFill>
              <a:srgbClr val="660874"/>
            </a:solidFill>
            <a:prstDash val="solid"/>
          </a:ln>
        </p:spPr>
      </p:sp>
      <p:sp>
        <p:nvSpPr>
          <p:cNvPr id="30" name="Grid zoom title"/>
          <p:cNvSpPr>
            <a:spLocks noGrp="1"/>
          </p:cNvSpPr>
          <p:nvPr/>
        </p:nvSpPr>
        <p:spPr>
          <a:xfrm>
            <a:off x="571500" y="3905250"/>
            <a:ext cx="1962150" cy="247650"/>
          </a:xfrm>
          <a:prstGeom prst="rect">
            <a:avLst/>
          </a:prstGeom>
          <a:noFill/>
          <a:ln w="0">
            <a:noFill/>
            <a:prstDash val="solid"/>
          </a:ln>
        </p:spPr>
        <p:txBody>
          <a:bodyPr wrap="square" lIns="47625" tIns="28575" rIns="47625" bIns="28575" anchor="ctr">
            <a:normAutofit fontScale="98039"/>
          </a:bodyPr>
          <a:lstStyle/>
          <a:p>
            <a:pPr algn="ctr">
              <a:defRPr sz="1275" b="1">
                <a:solidFill>
                  <a:srgbClr val="660874"/>
                </a:solidFill>
                <a:latin typeface="Source Han Sans CN"/>
                <a:ea typeface="Source Han Sans CN"/>
                <a:cs typeface="Source Han Sans CN"/>
              </a:defRPr>
            </a:pPr>
            <a:r>
              <a:rPr sz="1275" b="1">
                <a:solidFill>
                  <a:srgbClr val="660874"/>
                </a:solidFill>
                <a:latin typeface="Source Han Sans CN"/>
                <a:ea typeface="Source Han Sans CN"/>
                <a:cs typeface="Source Han Sans CN"/>
              </a:rPr>
              <a:t>Grid</a:t>
            </a:r>
            <a:endParaRPr sz="1275" b="1">
              <a:solidFill>
                <a:srgbClr val="660874"/>
              </a:solidFill>
              <a:latin typeface="Source Han Sans CN"/>
              <a:ea typeface="Source Han Sans CN"/>
              <a:cs typeface="Source Han Sans CN"/>
            </a:endParaRPr>
          </a:p>
        </p:txBody>
      </p:sp>
      <p:sp>
        <p:nvSpPr>
          <p:cNvPr id="31" name="Grid Block 0"/>
          <p:cNvSpPr>
            <a:spLocks noGrp="1"/>
          </p:cNvSpPr>
          <p:nvPr/>
        </p:nvSpPr>
        <p:spPr>
          <a:xfrm>
            <a:off x="581025" y="421957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B0</a:t>
            </a:r>
            <a:endParaRPr sz="825" b="0">
              <a:solidFill>
                <a:srgbClr val="660874"/>
              </a:solidFill>
              <a:latin typeface="Source Han Sans CN"/>
              <a:ea typeface="Source Han Sans CN"/>
              <a:cs typeface="Source Han Sans CN"/>
            </a:endParaRPr>
          </a:p>
        </p:txBody>
      </p:sp>
      <p:sp>
        <p:nvSpPr>
          <p:cNvPr id="32" name="Grid Block 1"/>
          <p:cNvSpPr>
            <a:spLocks noGrp="1"/>
          </p:cNvSpPr>
          <p:nvPr/>
        </p:nvSpPr>
        <p:spPr>
          <a:xfrm>
            <a:off x="1057275" y="4219575"/>
            <a:ext cx="419100" cy="266700"/>
          </a:xfrm>
          <a:prstGeom prst="roundRect">
            <a:avLst>
              <a:gd name="adj" fmla="val 17857"/>
            </a:avLst>
          </a:prstGeom>
          <a:solidFill>
            <a:srgbClr val="E8D6EE"/>
          </a:solidFill>
          <a:ln w="19050">
            <a:solidFill>
              <a:srgbClr val="660874"/>
            </a:solidFill>
            <a:prstDash val="solid"/>
          </a:ln>
        </p:spPr>
        <p:txBody>
          <a:bodyPr wrap="square" lIns="19050" tIns="9525" rIns="19050" bIns="9525" anchor="ctr">
            <a:normAutofit/>
          </a:bodyPr>
          <a:lstStyle/>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B1</a:t>
            </a:r>
            <a:endParaRPr sz="825" b="1">
              <a:solidFill>
                <a:srgbClr val="660874"/>
              </a:solidFill>
              <a:latin typeface="Source Han Sans CN"/>
              <a:ea typeface="Source Han Sans CN"/>
              <a:cs typeface="Source Han Sans CN"/>
            </a:endParaRPr>
          </a:p>
        </p:txBody>
      </p:sp>
      <p:sp>
        <p:nvSpPr>
          <p:cNvPr id="33" name="Grid Block 2"/>
          <p:cNvSpPr>
            <a:spLocks noGrp="1"/>
          </p:cNvSpPr>
          <p:nvPr/>
        </p:nvSpPr>
        <p:spPr>
          <a:xfrm>
            <a:off x="1533525" y="421957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B2</a:t>
            </a:r>
            <a:endParaRPr sz="825" b="0">
              <a:solidFill>
                <a:srgbClr val="660874"/>
              </a:solidFill>
              <a:latin typeface="Source Han Sans CN"/>
              <a:ea typeface="Source Han Sans CN"/>
              <a:cs typeface="Source Han Sans CN"/>
            </a:endParaRPr>
          </a:p>
        </p:txBody>
      </p:sp>
      <p:sp>
        <p:nvSpPr>
          <p:cNvPr id="34" name="Grid Block 3"/>
          <p:cNvSpPr>
            <a:spLocks noGrp="1"/>
          </p:cNvSpPr>
          <p:nvPr/>
        </p:nvSpPr>
        <p:spPr>
          <a:xfrm>
            <a:off x="2009775" y="421957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B3</a:t>
            </a:r>
            <a:endParaRPr sz="825" b="0">
              <a:solidFill>
                <a:srgbClr val="660874"/>
              </a:solidFill>
              <a:latin typeface="Source Han Sans CN"/>
              <a:ea typeface="Source Han Sans CN"/>
              <a:cs typeface="Source Han Sans CN"/>
            </a:endParaRPr>
          </a:p>
        </p:txBody>
      </p:sp>
      <p:sp>
        <p:nvSpPr>
          <p:cNvPr id="35" name="Grid Block 4"/>
          <p:cNvSpPr>
            <a:spLocks noGrp="1"/>
          </p:cNvSpPr>
          <p:nvPr/>
        </p:nvSpPr>
        <p:spPr>
          <a:xfrm>
            <a:off x="581025" y="4572000"/>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B4</a:t>
            </a:r>
            <a:endParaRPr sz="825" b="0">
              <a:solidFill>
                <a:srgbClr val="660874"/>
              </a:solidFill>
              <a:latin typeface="Source Han Sans CN"/>
              <a:ea typeface="Source Han Sans CN"/>
              <a:cs typeface="Source Han Sans CN"/>
            </a:endParaRPr>
          </a:p>
        </p:txBody>
      </p:sp>
      <p:sp>
        <p:nvSpPr>
          <p:cNvPr id="36" name="Grid Block 5"/>
          <p:cNvSpPr>
            <a:spLocks noGrp="1"/>
          </p:cNvSpPr>
          <p:nvPr/>
        </p:nvSpPr>
        <p:spPr>
          <a:xfrm>
            <a:off x="1057275" y="4572000"/>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B5</a:t>
            </a:r>
            <a:endParaRPr sz="825" b="0">
              <a:solidFill>
                <a:srgbClr val="660874"/>
              </a:solidFill>
              <a:latin typeface="Source Han Sans CN"/>
              <a:ea typeface="Source Han Sans CN"/>
              <a:cs typeface="Source Han Sans CN"/>
            </a:endParaRPr>
          </a:p>
        </p:txBody>
      </p:sp>
      <p:sp>
        <p:nvSpPr>
          <p:cNvPr id="37" name="Grid Block 6"/>
          <p:cNvSpPr>
            <a:spLocks noGrp="1"/>
          </p:cNvSpPr>
          <p:nvPr/>
        </p:nvSpPr>
        <p:spPr>
          <a:xfrm>
            <a:off x="1533525" y="4572000"/>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B6</a:t>
            </a:r>
            <a:endParaRPr sz="825" b="0">
              <a:solidFill>
                <a:srgbClr val="660874"/>
              </a:solidFill>
              <a:latin typeface="Source Han Sans CN"/>
              <a:ea typeface="Source Han Sans CN"/>
              <a:cs typeface="Source Han Sans CN"/>
            </a:endParaRPr>
          </a:p>
        </p:txBody>
      </p:sp>
      <p:sp>
        <p:nvSpPr>
          <p:cNvPr id="38" name="Grid Block 7"/>
          <p:cNvSpPr>
            <a:spLocks noGrp="1"/>
          </p:cNvSpPr>
          <p:nvPr/>
        </p:nvSpPr>
        <p:spPr>
          <a:xfrm>
            <a:off x="2009775" y="4572000"/>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B7</a:t>
            </a:r>
            <a:endParaRPr sz="825" b="0">
              <a:solidFill>
                <a:srgbClr val="660874"/>
              </a:solidFill>
              <a:latin typeface="Source Han Sans CN"/>
              <a:ea typeface="Source Han Sans CN"/>
              <a:cs typeface="Source Han Sans CN"/>
            </a:endParaRPr>
          </a:p>
        </p:txBody>
      </p:sp>
      <p:sp>
        <p:nvSpPr>
          <p:cNvPr id="39" name="Grid Block 8"/>
          <p:cNvSpPr>
            <a:spLocks noGrp="1"/>
          </p:cNvSpPr>
          <p:nvPr/>
        </p:nvSpPr>
        <p:spPr>
          <a:xfrm>
            <a:off x="581025" y="492442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B8</a:t>
            </a:r>
            <a:endParaRPr sz="825" b="0">
              <a:solidFill>
                <a:srgbClr val="660874"/>
              </a:solidFill>
              <a:latin typeface="Source Han Sans CN"/>
              <a:ea typeface="Source Han Sans CN"/>
              <a:cs typeface="Source Han Sans CN"/>
            </a:endParaRPr>
          </a:p>
        </p:txBody>
      </p:sp>
      <p:sp>
        <p:nvSpPr>
          <p:cNvPr id="40" name="Grid Block 9"/>
          <p:cNvSpPr>
            <a:spLocks noGrp="1"/>
          </p:cNvSpPr>
          <p:nvPr/>
        </p:nvSpPr>
        <p:spPr>
          <a:xfrm>
            <a:off x="1057275" y="492442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B9</a:t>
            </a:r>
            <a:endParaRPr sz="825" b="0">
              <a:solidFill>
                <a:srgbClr val="660874"/>
              </a:solidFill>
              <a:latin typeface="Source Han Sans CN"/>
              <a:ea typeface="Source Han Sans CN"/>
              <a:cs typeface="Source Han Sans CN"/>
            </a:endParaRPr>
          </a:p>
        </p:txBody>
      </p:sp>
      <p:sp>
        <p:nvSpPr>
          <p:cNvPr id="41" name="Grid Block 10"/>
          <p:cNvSpPr>
            <a:spLocks noGrp="1"/>
          </p:cNvSpPr>
          <p:nvPr/>
        </p:nvSpPr>
        <p:spPr>
          <a:xfrm>
            <a:off x="1533525" y="492442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B10</a:t>
            </a:r>
            <a:endParaRPr sz="825" b="0">
              <a:solidFill>
                <a:srgbClr val="660874"/>
              </a:solidFill>
              <a:latin typeface="Source Han Sans CN"/>
              <a:ea typeface="Source Han Sans CN"/>
              <a:cs typeface="Source Han Sans CN"/>
            </a:endParaRPr>
          </a:p>
        </p:txBody>
      </p:sp>
      <p:sp>
        <p:nvSpPr>
          <p:cNvPr id="42" name="Grid Block 11"/>
          <p:cNvSpPr>
            <a:spLocks noGrp="1"/>
          </p:cNvSpPr>
          <p:nvPr/>
        </p:nvSpPr>
        <p:spPr>
          <a:xfrm>
            <a:off x="2009775" y="4924425"/>
            <a:ext cx="419100" cy="266700"/>
          </a:xfrm>
          <a:prstGeom prst="roundRect">
            <a:avLst>
              <a:gd name="adj" fmla="val 17857"/>
            </a:avLst>
          </a:prstGeom>
          <a:solidFill>
            <a:srgbClr val="F5EDF7"/>
          </a:solidFill>
          <a:ln w="9525">
            <a:solidFill>
              <a:srgbClr val="A894B1"/>
            </a:solidFill>
            <a:prstDash val="solid"/>
          </a:ln>
        </p:spPr>
        <p:txBody>
          <a:bodyPr wrap="square" lIns="19050" tIns="9525" rIns="19050" bIns="9525" anchor="ctr">
            <a:normAutofit/>
          </a:bodyPr>
          <a:lstStyle/>
          <a:p>
            <a:pPr algn="ctr">
              <a:defRPr sz="825" b="0">
                <a:solidFill>
                  <a:srgbClr val="660874"/>
                </a:solidFill>
                <a:latin typeface="Source Han Sans CN"/>
                <a:ea typeface="Source Han Sans CN"/>
                <a:cs typeface="Source Han Sans CN"/>
              </a:defRPr>
            </a:pPr>
            <a:r>
              <a:rPr sz="825" b="0">
                <a:solidFill>
                  <a:srgbClr val="660874"/>
                </a:solidFill>
                <a:latin typeface="Source Han Sans CN"/>
                <a:ea typeface="Source Han Sans CN"/>
                <a:cs typeface="Source Han Sans CN"/>
              </a:rPr>
              <a:t>B11</a:t>
            </a:r>
            <a:endParaRPr sz="825" b="0">
              <a:solidFill>
                <a:srgbClr val="660874"/>
              </a:solidFill>
              <a:latin typeface="Source Han Sans CN"/>
              <a:ea typeface="Source Han Sans CN"/>
              <a:cs typeface="Source Han Sans CN"/>
            </a:endParaRPr>
          </a:p>
        </p:txBody>
      </p:sp>
      <p:sp>
        <p:nvSpPr>
          <p:cNvPr id="43" name="Grid ellipsis"/>
          <p:cNvSpPr>
            <a:spLocks noGrp="1"/>
          </p:cNvSpPr>
          <p:nvPr/>
        </p:nvSpPr>
        <p:spPr>
          <a:xfrm>
            <a:off x="571500" y="5219700"/>
            <a:ext cx="1962150" cy="171450"/>
          </a:xfrm>
          <a:prstGeom prst="rect">
            <a:avLst/>
          </a:prstGeom>
          <a:noFill/>
          <a:ln w="0">
            <a:noFill/>
            <a:prstDash val="solid"/>
          </a:ln>
        </p:spPr>
        <p:txBody>
          <a:bodyPr wrap="square" lIns="47625" tIns="28575" rIns="47625" bIns="28575" anchor="ctr">
            <a:normAutofit fontScale="62500"/>
          </a:bodyPr>
          <a:lstStyle/>
          <a:p>
            <a:pPr algn="ctr">
              <a:defRPr sz="1200" b="1">
                <a:solidFill>
                  <a:srgbClr val="660874"/>
                </a:solidFill>
                <a:latin typeface="Source Han Sans CN"/>
                <a:ea typeface="Source Han Sans CN"/>
                <a:cs typeface="Source Han Sans CN"/>
              </a:defRPr>
            </a:pPr>
            <a:r>
              <a:rPr sz="1200" b="1">
                <a:solidFill>
                  <a:srgbClr val="660874"/>
                </a:solidFill>
                <a:latin typeface="Source Han Sans CN"/>
                <a:ea typeface="Source Han Sans CN"/>
                <a:cs typeface="Source Han Sans CN"/>
              </a:rPr>
              <a:t>…</a:t>
            </a:r>
            <a:endParaRPr sz="1200" b="1">
              <a:solidFill>
                <a:srgbClr val="660874"/>
              </a:solidFill>
              <a:latin typeface="Source Han Sans CN"/>
              <a:ea typeface="Source Han Sans CN"/>
              <a:cs typeface="Source Han Sans CN"/>
            </a:endParaRPr>
          </a:p>
        </p:txBody>
      </p:sp>
      <p:sp>
        <p:nvSpPr>
          <p:cNvPr id="44" name="Block zoom panel"/>
          <p:cNvSpPr>
            <a:spLocks noGrp="1"/>
          </p:cNvSpPr>
          <p:nvPr/>
        </p:nvSpPr>
        <p:spPr>
          <a:xfrm>
            <a:off x="2990850" y="3857625"/>
            <a:ext cx="1809750" cy="1571625"/>
          </a:xfrm>
          <a:prstGeom prst="roundRect">
            <a:avLst>
              <a:gd name="adj" fmla="val 6061"/>
            </a:avLst>
          </a:prstGeom>
          <a:noFill/>
          <a:ln w="11430">
            <a:solidFill>
              <a:srgbClr val="660874"/>
            </a:solidFill>
            <a:prstDash val="solid"/>
          </a:ln>
        </p:spPr>
      </p:sp>
      <p:sp>
        <p:nvSpPr>
          <p:cNvPr id="45" name="Block zoom title"/>
          <p:cNvSpPr>
            <a:spLocks noGrp="1"/>
          </p:cNvSpPr>
          <p:nvPr/>
        </p:nvSpPr>
        <p:spPr>
          <a:xfrm>
            <a:off x="3105150" y="3905250"/>
            <a:ext cx="1581150" cy="247650"/>
          </a:xfrm>
          <a:prstGeom prst="rect">
            <a:avLst/>
          </a:prstGeom>
          <a:noFill/>
          <a:ln w="0">
            <a:noFill/>
            <a:prstDash val="solid"/>
          </a:ln>
        </p:spPr>
        <p:txBody>
          <a:bodyPr wrap="square" lIns="47625" tIns="28575" rIns="47625" bIns="28575" anchor="ctr">
            <a:normAutofit fontScale="98039"/>
          </a:bodyPr>
          <a:lstStyle/>
          <a:p>
            <a:pPr algn="ctr">
              <a:defRPr sz="1275" b="1">
                <a:solidFill>
                  <a:srgbClr val="660874"/>
                </a:solidFill>
                <a:latin typeface="Source Han Sans CN"/>
                <a:ea typeface="Source Han Sans CN"/>
                <a:cs typeface="Source Han Sans CN"/>
              </a:defRPr>
            </a:pPr>
            <a:r>
              <a:rPr sz="1275" b="1">
                <a:solidFill>
                  <a:srgbClr val="660874"/>
                </a:solidFill>
                <a:latin typeface="Source Han Sans CN"/>
                <a:ea typeface="Source Han Sans CN"/>
                <a:cs typeface="Source Han Sans CN"/>
              </a:rPr>
              <a:t>Block 1</a:t>
            </a:r>
            <a:endParaRPr sz="1275" b="1">
              <a:solidFill>
                <a:srgbClr val="660874"/>
              </a:solidFill>
              <a:latin typeface="Source Han Sans CN"/>
              <a:ea typeface="Source Han Sans CN"/>
              <a:cs typeface="Source Han Sans CN"/>
            </a:endParaRPr>
          </a:p>
        </p:txBody>
      </p:sp>
      <p:sp>
        <p:nvSpPr>
          <p:cNvPr id="46" name="Thread dot 0-0"/>
          <p:cNvSpPr>
            <a:spLocks noGrp="1"/>
          </p:cNvSpPr>
          <p:nvPr/>
        </p:nvSpPr>
        <p:spPr>
          <a:xfrm>
            <a:off x="3200400" y="4295775"/>
            <a:ext cx="85725" cy="85725"/>
          </a:xfrm>
          <a:prstGeom prst="ellipse">
            <a:avLst/>
          </a:prstGeom>
          <a:solidFill>
            <a:srgbClr val="CFAED8"/>
          </a:solidFill>
          <a:ln w="0">
            <a:solidFill>
              <a:srgbClr val="CFAED8"/>
            </a:solidFill>
            <a:prstDash val="solid"/>
          </a:ln>
        </p:spPr>
      </p:sp>
      <p:sp>
        <p:nvSpPr>
          <p:cNvPr id="47" name="Thread dot 0-1"/>
          <p:cNvSpPr>
            <a:spLocks noGrp="1"/>
          </p:cNvSpPr>
          <p:nvPr/>
        </p:nvSpPr>
        <p:spPr>
          <a:xfrm>
            <a:off x="3429000" y="4295775"/>
            <a:ext cx="85725" cy="85725"/>
          </a:xfrm>
          <a:prstGeom prst="ellipse">
            <a:avLst/>
          </a:prstGeom>
          <a:solidFill>
            <a:srgbClr val="CFAED8"/>
          </a:solidFill>
          <a:ln w="0">
            <a:solidFill>
              <a:srgbClr val="CFAED8"/>
            </a:solidFill>
            <a:prstDash val="solid"/>
          </a:ln>
        </p:spPr>
      </p:sp>
      <p:sp>
        <p:nvSpPr>
          <p:cNvPr id="48" name="Thread dot 0-2"/>
          <p:cNvSpPr>
            <a:spLocks noGrp="1"/>
          </p:cNvSpPr>
          <p:nvPr/>
        </p:nvSpPr>
        <p:spPr>
          <a:xfrm>
            <a:off x="3657600" y="4295775"/>
            <a:ext cx="85725" cy="85725"/>
          </a:xfrm>
          <a:prstGeom prst="ellipse">
            <a:avLst/>
          </a:prstGeom>
          <a:solidFill>
            <a:srgbClr val="CFAED8"/>
          </a:solidFill>
          <a:ln w="0">
            <a:solidFill>
              <a:srgbClr val="CFAED8"/>
            </a:solidFill>
            <a:prstDash val="solid"/>
          </a:ln>
        </p:spPr>
      </p:sp>
      <p:sp>
        <p:nvSpPr>
          <p:cNvPr id="49" name="Thread dot 0-3"/>
          <p:cNvSpPr>
            <a:spLocks noGrp="1"/>
          </p:cNvSpPr>
          <p:nvPr/>
        </p:nvSpPr>
        <p:spPr>
          <a:xfrm>
            <a:off x="3886200" y="4295775"/>
            <a:ext cx="85725" cy="85725"/>
          </a:xfrm>
          <a:prstGeom prst="ellipse">
            <a:avLst/>
          </a:prstGeom>
          <a:solidFill>
            <a:srgbClr val="CFAED8"/>
          </a:solidFill>
          <a:ln w="0">
            <a:solidFill>
              <a:srgbClr val="CFAED8"/>
            </a:solidFill>
            <a:prstDash val="solid"/>
          </a:ln>
        </p:spPr>
      </p:sp>
      <p:sp>
        <p:nvSpPr>
          <p:cNvPr id="50" name="Thread dot 0-4"/>
          <p:cNvSpPr>
            <a:spLocks noGrp="1"/>
          </p:cNvSpPr>
          <p:nvPr/>
        </p:nvSpPr>
        <p:spPr>
          <a:xfrm>
            <a:off x="4114800" y="4295775"/>
            <a:ext cx="85725" cy="85725"/>
          </a:xfrm>
          <a:prstGeom prst="ellipse">
            <a:avLst/>
          </a:prstGeom>
          <a:solidFill>
            <a:srgbClr val="CFAED8"/>
          </a:solidFill>
          <a:ln w="0">
            <a:solidFill>
              <a:srgbClr val="CFAED8"/>
            </a:solidFill>
            <a:prstDash val="solid"/>
          </a:ln>
        </p:spPr>
      </p:sp>
      <p:sp>
        <p:nvSpPr>
          <p:cNvPr id="51" name="Thread dot 0-5"/>
          <p:cNvSpPr>
            <a:spLocks noGrp="1"/>
          </p:cNvSpPr>
          <p:nvPr/>
        </p:nvSpPr>
        <p:spPr>
          <a:xfrm>
            <a:off x="4343400" y="4295775"/>
            <a:ext cx="85725" cy="85725"/>
          </a:xfrm>
          <a:prstGeom prst="ellipse">
            <a:avLst/>
          </a:prstGeom>
          <a:solidFill>
            <a:srgbClr val="CFAED8"/>
          </a:solidFill>
          <a:ln w="0">
            <a:solidFill>
              <a:srgbClr val="CFAED8"/>
            </a:solidFill>
            <a:prstDash val="solid"/>
          </a:ln>
        </p:spPr>
      </p:sp>
      <p:sp>
        <p:nvSpPr>
          <p:cNvPr id="52" name="Thread dot 1-0"/>
          <p:cNvSpPr>
            <a:spLocks noGrp="1"/>
          </p:cNvSpPr>
          <p:nvPr/>
        </p:nvSpPr>
        <p:spPr>
          <a:xfrm>
            <a:off x="3200400" y="4533900"/>
            <a:ext cx="85725" cy="85725"/>
          </a:xfrm>
          <a:prstGeom prst="ellipse">
            <a:avLst/>
          </a:prstGeom>
          <a:solidFill>
            <a:srgbClr val="CFAED8"/>
          </a:solidFill>
          <a:ln w="0">
            <a:solidFill>
              <a:srgbClr val="CFAED8"/>
            </a:solidFill>
            <a:prstDash val="solid"/>
          </a:ln>
        </p:spPr>
      </p:sp>
      <p:sp>
        <p:nvSpPr>
          <p:cNvPr id="53" name="Thread dot 1-1"/>
          <p:cNvSpPr>
            <a:spLocks noGrp="1"/>
          </p:cNvSpPr>
          <p:nvPr/>
        </p:nvSpPr>
        <p:spPr>
          <a:xfrm>
            <a:off x="3429000" y="4533900"/>
            <a:ext cx="85725" cy="85725"/>
          </a:xfrm>
          <a:prstGeom prst="ellipse">
            <a:avLst/>
          </a:prstGeom>
          <a:solidFill>
            <a:srgbClr val="CFAED8"/>
          </a:solidFill>
          <a:ln w="0">
            <a:solidFill>
              <a:srgbClr val="CFAED8"/>
            </a:solidFill>
            <a:prstDash val="solid"/>
          </a:ln>
        </p:spPr>
      </p:sp>
      <p:sp>
        <p:nvSpPr>
          <p:cNvPr id="54" name="Thread dot 1-2"/>
          <p:cNvSpPr>
            <a:spLocks noGrp="1"/>
          </p:cNvSpPr>
          <p:nvPr/>
        </p:nvSpPr>
        <p:spPr>
          <a:xfrm>
            <a:off x="3657600" y="4533900"/>
            <a:ext cx="85725" cy="85725"/>
          </a:xfrm>
          <a:prstGeom prst="ellipse">
            <a:avLst/>
          </a:prstGeom>
          <a:solidFill>
            <a:srgbClr val="CFAED8"/>
          </a:solidFill>
          <a:ln w="0">
            <a:solidFill>
              <a:srgbClr val="CFAED8"/>
            </a:solidFill>
            <a:prstDash val="solid"/>
          </a:ln>
        </p:spPr>
      </p:sp>
      <p:sp>
        <p:nvSpPr>
          <p:cNvPr id="55" name="Thread dot 1-3"/>
          <p:cNvSpPr>
            <a:spLocks noGrp="1"/>
          </p:cNvSpPr>
          <p:nvPr/>
        </p:nvSpPr>
        <p:spPr>
          <a:xfrm>
            <a:off x="3886200" y="4533900"/>
            <a:ext cx="85725" cy="85725"/>
          </a:xfrm>
          <a:prstGeom prst="ellipse">
            <a:avLst/>
          </a:prstGeom>
          <a:solidFill>
            <a:srgbClr val="CFAED8"/>
          </a:solidFill>
          <a:ln w="0">
            <a:solidFill>
              <a:srgbClr val="CFAED8"/>
            </a:solidFill>
            <a:prstDash val="solid"/>
          </a:ln>
        </p:spPr>
      </p:sp>
      <p:sp>
        <p:nvSpPr>
          <p:cNvPr id="56" name="Thread dot 1-4"/>
          <p:cNvSpPr>
            <a:spLocks noGrp="1"/>
          </p:cNvSpPr>
          <p:nvPr/>
        </p:nvSpPr>
        <p:spPr>
          <a:xfrm>
            <a:off x="4114800" y="4533900"/>
            <a:ext cx="85725" cy="85725"/>
          </a:xfrm>
          <a:prstGeom prst="ellipse">
            <a:avLst/>
          </a:prstGeom>
          <a:solidFill>
            <a:srgbClr val="CFAED8"/>
          </a:solidFill>
          <a:ln w="0">
            <a:solidFill>
              <a:srgbClr val="CFAED8"/>
            </a:solidFill>
            <a:prstDash val="solid"/>
          </a:ln>
        </p:spPr>
      </p:sp>
      <p:sp>
        <p:nvSpPr>
          <p:cNvPr id="57" name="Thread dot 1-5"/>
          <p:cNvSpPr>
            <a:spLocks noGrp="1"/>
          </p:cNvSpPr>
          <p:nvPr/>
        </p:nvSpPr>
        <p:spPr>
          <a:xfrm>
            <a:off x="4343400" y="4533900"/>
            <a:ext cx="85725" cy="85725"/>
          </a:xfrm>
          <a:prstGeom prst="ellipse">
            <a:avLst/>
          </a:prstGeom>
          <a:solidFill>
            <a:srgbClr val="CFAED8"/>
          </a:solidFill>
          <a:ln w="0">
            <a:solidFill>
              <a:srgbClr val="CFAED8"/>
            </a:solidFill>
            <a:prstDash val="solid"/>
          </a:ln>
        </p:spPr>
      </p:sp>
      <p:sp>
        <p:nvSpPr>
          <p:cNvPr id="58" name="Thread dot 2-0"/>
          <p:cNvSpPr>
            <a:spLocks noGrp="1"/>
          </p:cNvSpPr>
          <p:nvPr/>
        </p:nvSpPr>
        <p:spPr>
          <a:xfrm>
            <a:off x="3200400" y="4772025"/>
            <a:ext cx="85725" cy="85725"/>
          </a:xfrm>
          <a:prstGeom prst="ellipse">
            <a:avLst/>
          </a:prstGeom>
          <a:solidFill>
            <a:srgbClr val="CFAED8"/>
          </a:solidFill>
          <a:ln w="0">
            <a:solidFill>
              <a:srgbClr val="CFAED8"/>
            </a:solidFill>
            <a:prstDash val="solid"/>
          </a:ln>
        </p:spPr>
      </p:sp>
      <p:sp>
        <p:nvSpPr>
          <p:cNvPr id="59" name="Thread dot 2-1"/>
          <p:cNvSpPr>
            <a:spLocks noGrp="1"/>
          </p:cNvSpPr>
          <p:nvPr/>
        </p:nvSpPr>
        <p:spPr>
          <a:xfrm>
            <a:off x="3429000" y="4772025"/>
            <a:ext cx="85725" cy="85725"/>
          </a:xfrm>
          <a:prstGeom prst="ellipse">
            <a:avLst/>
          </a:prstGeom>
          <a:solidFill>
            <a:srgbClr val="CFAED8"/>
          </a:solidFill>
          <a:ln w="0">
            <a:solidFill>
              <a:srgbClr val="CFAED8"/>
            </a:solidFill>
            <a:prstDash val="solid"/>
          </a:ln>
        </p:spPr>
      </p:sp>
      <p:sp>
        <p:nvSpPr>
          <p:cNvPr id="60" name="Thread dot 2-2"/>
          <p:cNvSpPr>
            <a:spLocks noGrp="1"/>
          </p:cNvSpPr>
          <p:nvPr/>
        </p:nvSpPr>
        <p:spPr>
          <a:xfrm>
            <a:off x="3657600" y="4772025"/>
            <a:ext cx="85725" cy="85725"/>
          </a:xfrm>
          <a:prstGeom prst="ellipse">
            <a:avLst/>
          </a:prstGeom>
          <a:solidFill>
            <a:srgbClr val="CFAED8"/>
          </a:solidFill>
          <a:ln w="0">
            <a:solidFill>
              <a:srgbClr val="CFAED8"/>
            </a:solidFill>
            <a:prstDash val="solid"/>
          </a:ln>
        </p:spPr>
      </p:sp>
      <p:sp>
        <p:nvSpPr>
          <p:cNvPr id="61" name="Thread dot 2-3"/>
          <p:cNvSpPr>
            <a:spLocks noGrp="1"/>
          </p:cNvSpPr>
          <p:nvPr/>
        </p:nvSpPr>
        <p:spPr>
          <a:xfrm>
            <a:off x="3886200" y="4772025"/>
            <a:ext cx="85725" cy="85725"/>
          </a:xfrm>
          <a:prstGeom prst="ellipse">
            <a:avLst/>
          </a:prstGeom>
          <a:solidFill>
            <a:srgbClr val="CFAED8"/>
          </a:solidFill>
          <a:ln w="0">
            <a:solidFill>
              <a:srgbClr val="CFAED8"/>
            </a:solidFill>
            <a:prstDash val="solid"/>
          </a:ln>
        </p:spPr>
      </p:sp>
      <p:sp>
        <p:nvSpPr>
          <p:cNvPr id="62" name="Thread dot 2-4"/>
          <p:cNvSpPr>
            <a:spLocks noGrp="1"/>
          </p:cNvSpPr>
          <p:nvPr/>
        </p:nvSpPr>
        <p:spPr>
          <a:xfrm>
            <a:off x="4114800" y="4772025"/>
            <a:ext cx="85725" cy="85725"/>
          </a:xfrm>
          <a:prstGeom prst="ellipse">
            <a:avLst/>
          </a:prstGeom>
          <a:solidFill>
            <a:srgbClr val="CFAED8"/>
          </a:solidFill>
          <a:ln w="0">
            <a:solidFill>
              <a:srgbClr val="CFAED8"/>
            </a:solidFill>
            <a:prstDash val="solid"/>
          </a:ln>
        </p:spPr>
      </p:sp>
      <p:sp>
        <p:nvSpPr>
          <p:cNvPr id="63" name="Thread dot 2-5"/>
          <p:cNvSpPr>
            <a:spLocks noGrp="1"/>
          </p:cNvSpPr>
          <p:nvPr/>
        </p:nvSpPr>
        <p:spPr>
          <a:xfrm>
            <a:off x="4343400" y="4772025"/>
            <a:ext cx="85725" cy="85725"/>
          </a:xfrm>
          <a:prstGeom prst="ellipse">
            <a:avLst/>
          </a:prstGeom>
          <a:solidFill>
            <a:srgbClr val="CFAED8"/>
          </a:solidFill>
          <a:ln w="0">
            <a:solidFill>
              <a:srgbClr val="CFAED8"/>
            </a:solidFill>
            <a:prstDash val="solid"/>
          </a:ln>
        </p:spPr>
      </p:sp>
      <p:sp>
        <p:nvSpPr>
          <p:cNvPr id="64" name="Thread dot 3-0"/>
          <p:cNvSpPr>
            <a:spLocks noGrp="1"/>
          </p:cNvSpPr>
          <p:nvPr/>
        </p:nvSpPr>
        <p:spPr>
          <a:xfrm>
            <a:off x="3200400" y="5010150"/>
            <a:ext cx="85725" cy="85725"/>
          </a:xfrm>
          <a:prstGeom prst="ellipse">
            <a:avLst/>
          </a:prstGeom>
          <a:solidFill>
            <a:srgbClr val="77C6CD"/>
          </a:solidFill>
          <a:ln w="0">
            <a:solidFill>
              <a:srgbClr val="1E8E94"/>
            </a:solidFill>
            <a:prstDash val="solid"/>
          </a:ln>
        </p:spPr>
      </p:sp>
      <p:sp>
        <p:nvSpPr>
          <p:cNvPr id="65" name="Thread dot 3-1"/>
          <p:cNvSpPr>
            <a:spLocks noGrp="1"/>
          </p:cNvSpPr>
          <p:nvPr/>
        </p:nvSpPr>
        <p:spPr>
          <a:xfrm>
            <a:off x="3429000" y="5010150"/>
            <a:ext cx="85725" cy="85725"/>
          </a:xfrm>
          <a:prstGeom prst="ellipse">
            <a:avLst/>
          </a:prstGeom>
          <a:solidFill>
            <a:srgbClr val="77C6CD"/>
          </a:solidFill>
          <a:ln w="0">
            <a:solidFill>
              <a:srgbClr val="1E8E94"/>
            </a:solidFill>
            <a:prstDash val="solid"/>
          </a:ln>
        </p:spPr>
      </p:sp>
      <p:sp>
        <p:nvSpPr>
          <p:cNvPr id="66" name="Thread dot 3-2"/>
          <p:cNvSpPr>
            <a:spLocks noGrp="1"/>
          </p:cNvSpPr>
          <p:nvPr/>
        </p:nvSpPr>
        <p:spPr>
          <a:xfrm>
            <a:off x="3657600" y="5010150"/>
            <a:ext cx="85725" cy="85725"/>
          </a:xfrm>
          <a:prstGeom prst="ellipse">
            <a:avLst/>
          </a:prstGeom>
          <a:solidFill>
            <a:srgbClr val="77C6CD"/>
          </a:solidFill>
          <a:ln w="0">
            <a:solidFill>
              <a:srgbClr val="1E8E94"/>
            </a:solidFill>
            <a:prstDash val="solid"/>
          </a:ln>
        </p:spPr>
      </p:sp>
      <p:sp>
        <p:nvSpPr>
          <p:cNvPr id="67" name="Thread dot 3-3"/>
          <p:cNvSpPr>
            <a:spLocks noGrp="1"/>
          </p:cNvSpPr>
          <p:nvPr/>
        </p:nvSpPr>
        <p:spPr>
          <a:xfrm>
            <a:off x="3886200" y="5010150"/>
            <a:ext cx="85725" cy="85725"/>
          </a:xfrm>
          <a:prstGeom prst="ellipse">
            <a:avLst/>
          </a:prstGeom>
          <a:solidFill>
            <a:srgbClr val="77C6CD"/>
          </a:solidFill>
          <a:ln w="0">
            <a:solidFill>
              <a:srgbClr val="1E8E94"/>
            </a:solidFill>
            <a:prstDash val="solid"/>
          </a:ln>
        </p:spPr>
      </p:sp>
      <p:sp>
        <p:nvSpPr>
          <p:cNvPr id="68" name="Thread dot 3-4"/>
          <p:cNvSpPr>
            <a:spLocks noGrp="1"/>
          </p:cNvSpPr>
          <p:nvPr/>
        </p:nvSpPr>
        <p:spPr>
          <a:xfrm>
            <a:off x="4114800" y="5010150"/>
            <a:ext cx="85725" cy="85725"/>
          </a:xfrm>
          <a:prstGeom prst="ellipse">
            <a:avLst/>
          </a:prstGeom>
          <a:solidFill>
            <a:srgbClr val="77C6CD"/>
          </a:solidFill>
          <a:ln w="0">
            <a:solidFill>
              <a:srgbClr val="1E8E94"/>
            </a:solidFill>
            <a:prstDash val="solid"/>
          </a:ln>
        </p:spPr>
      </p:sp>
      <p:sp>
        <p:nvSpPr>
          <p:cNvPr id="69" name="Thread dot 3-5"/>
          <p:cNvSpPr>
            <a:spLocks noGrp="1"/>
          </p:cNvSpPr>
          <p:nvPr/>
        </p:nvSpPr>
        <p:spPr>
          <a:xfrm>
            <a:off x="4343400" y="5010150"/>
            <a:ext cx="85725" cy="85725"/>
          </a:xfrm>
          <a:prstGeom prst="ellipse">
            <a:avLst/>
          </a:prstGeom>
          <a:solidFill>
            <a:srgbClr val="77C6CD"/>
          </a:solidFill>
          <a:ln w="0">
            <a:solidFill>
              <a:srgbClr val="1E8E94"/>
            </a:solidFill>
            <a:prstDash val="solid"/>
          </a:ln>
        </p:spPr>
      </p:sp>
      <p:sp>
        <p:nvSpPr>
          <p:cNvPr id="70" name="Block thread note"/>
          <p:cNvSpPr>
            <a:spLocks noGrp="1"/>
          </p:cNvSpPr>
          <p:nvPr/>
        </p:nvSpPr>
        <p:spPr>
          <a:xfrm>
            <a:off x="3105150" y="5210175"/>
            <a:ext cx="1581150" cy="171450"/>
          </a:xfrm>
          <a:prstGeom prst="rect">
            <a:avLst/>
          </a:prstGeom>
          <a:noFill/>
          <a:ln w="0">
            <a:noFill/>
            <a:prstDash val="solid"/>
          </a:ln>
        </p:spPr>
        <p:txBody>
          <a:bodyPr wrap="square" lIns="47625" tIns="28575" rIns="47625" bIns="28575" anchor="ctr">
            <a:normAutofit fontScale="90909"/>
          </a:bodyPr>
          <a:lstStyle/>
          <a:p>
            <a:pPr algn="ctr">
              <a:defRPr sz="825">
                <a:solidFill>
                  <a:srgbClr val="6F7782"/>
                </a:solidFill>
                <a:latin typeface="Source Han Sans CN"/>
                <a:ea typeface="Source Han Sans CN"/>
                <a:cs typeface="Source Han Sans CN"/>
              </a:defRPr>
            </a:pPr>
            <a:r>
              <a:rPr sz="825">
                <a:solidFill>
                  <a:srgbClr val="6F7782"/>
                </a:solidFill>
                <a:latin typeface="Source Han Sans CN"/>
                <a:ea typeface="Source Han Sans CN"/>
                <a:cs typeface="Source Han Sans CN"/>
              </a:rPr>
              <a:t>每个点代表一个 Thread</a:t>
            </a:r>
            <a:endParaRPr sz="825">
              <a:solidFill>
                <a:srgbClr val="6F7782"/>
              </a:solidFill>
              <a:latin typeface="Source Han Sans CN"/>
              <a:ea typeface="Source Han Sans CN"/>
              <a:cs typeface="Source Han Sans CN"/>
            </a:endParaRPr>
          </a:p>
        </p:txBody>
      </p:sp>
      <p:sp>
        <p:nvSpPr>
          <p:cNvPr id="71" name="Thread zoom panel"/>
          <p:cNvSpPr>
            <a:spLocks noGrp="1"/>
          </p:cNvSpPr>
          <p:nvPr/>
        </p:nvSpPr>
        <p:spPr>
          <a:xfrm>
            <a:off x="5143500" y="3857625"/>
            <a:ext cx="2190750" cy="1571625"/>
          </a:xfrm>
          <a:prstGeom prst="roundRect">
            <a:avLst>
              <a:gd name="adj" fmla="val 6061"/>
            </a:avLst>
          </a:prstGeom>
          <a:noFill/>
          <a:ln w="11430">
            <a:solidFill>
              <a:srgbClr val="660874"/>
            </a:solidFill>
            <a:prstDash val="solid"/>
          </a:ln>
        </p:spPr>
      </p:sp>
      <p:sp>
        <p:nvSpPr>
          <p:cNvPr id="72" name="Thread zoom title"/>
          <p:cNvSpPr>
            <a:spLocks noGrp="1"/>
          </p:cNvSpPr>
          <p:nvPr/>
        </p:nvSpPr>
        <p:spPr>
          <a:xfrm>
            <a:off x="5257800" y="3905250"/>
            <a:ext cx="1962150" cy="247650"/>
          </a:xfrm>
          <a:prstGeom prst="rect">
            <a:avLst/>
          </a:prstGeom>
          <a:noFill/>
          <a:ln w="0">
            <a:noFill/>
            <a:prstDash val="solid"/>
          </a:ln>
        </p:spPr>
        <p:txBody>
          <a:bodyPr wrap="square" lIns="47625" tIns="28575" rIns="47625" bIns="28575" anchor="ctr">
            <a:normAutofit fontScale="98039"/>
          </a:bodyPr>
          <a:lstStyle/>
          <a:p>
            <a:pPr algn="ctr">
              <a:defRPr sz="1275" b="1">
                <a:solidFill>
                  <a:srgbClr val="660874"/>
                </a:solidFill>
                <a:latin typeface="Source Han Sans CN"/>
                <a:ea typeface="Source Han Sans CN"/>
                <a:cs typeface="Source Han Sans CN"/>
              </a:defRPr>
            </a:pPr>
            <a:r>
              <a:rPr sz="1275" b="1">
                <a:solidFill>
                  <a:srgbClr val="660874"/>
                </a:solidFill>
                <a:latin typeface="Source Han Sans CN"/>
                <a:ea typeface="Source Han Sans CN"/>
                <a:cs typeface="Source Han Sans CN"/>
              </a:rPr>
              <a:t>Thread ID</a:t>
            </a:r>
            <a:endParaRPr sz="1275" b="1">
              <a:solidFill>
                <a:srgbClr val="660874"/>
              </a:solidFill>
              <a:latin typeface="Source Han Sans CN"/>
              <a:ea typeface="Source Han Sans CN"/>
              <a:cs typeface="Source Han Sans CN"/>
            </a:endParaRPr>
          </a:p>
        </p:txBody>
      </p:sp>
      <p:sp>
        <p:nvSpPr>
          <p:cNvPr id="73" name="Thread cell 0-0"/>
          <p:cNvSpPr>
            <a:spLocks noGrp="1"/>
          </p:cNvSpPr>
          <p:nvPr/>
        </p:nvSpPr>
        <p:spPr>
          <a:xfrm>
            <a:off x="5276850" y="4219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T0</a:t>
            </a:r>
            <a:endParaRPr sz="750" b="0">
              <a:solidFill>
                <a:srgbClr val="2B2F36"/>
              </a:solidFill>
              <a:latin typeface="Source Han Sans CN"/>
              <a:ea typeface="Source Han Sans CN"/>
              <a:cs typeface="Source Han Sans CN"/>
            </a:endParaRPr>
          </a:p>
        </p:txBody>
      </p:sp>
      <p:sp>
        <p:nvSpPr>
          <p:cNvPr id="74" name="Thread cell 0-1"/>
          <p:cNvSpPr>
            <a:spLocks noGrp="1"/>
          </p:cNvSpPr>
          <p:nvPr/>
        </p:nvSpPr>
        <p:spPr>
          <a:xfrm>
            <a:off x="5657850" y="4219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T1</a:t>
            </a:r>
            <a:endParaRPr sz="750" b="0">
              <a:solidFill>
                <a:srgbClr val="2B2F36"/>
              </a:solidFill>
              <a:latin typeface="Source Han Sans CN"/>
              <a:ea typeface="Source Han Sans CN"/>
              <a:cs typeface="Source Han Sans CN"/>
            </a:endParaRPr>
          </a:p>
        </p:txBody>
      </p:sp>
      <p:sp>
        <p:nvSpPr>
          <p:cNvPr id="75" name="Thread cell 0-2"/>
          <p:cNvSpPr>
            <a:spLocks noGrp="1"/>
          </p:cNvSpPr>
          <p:nvPr/>
        </p:nvSpPr>
        <p:spPr>
          <a:xfrm>
            <a:off x="6038850" y="4219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T2</a:t>
            </a:r>
            <a:endParaRPr sz="750" b="0">
              <a:solidFill>
                <a:srgbClr val="2B2F36"/>
              </a:solidFill>
              <a:latin typeface="Source Han Sans CN"/>
              <a:ea typeface="Source Han Sans CN"/>
              <a:cs typeface="Source Han Sans CN"/>
            </a:endParaRPr>
          </a:p>
        </p:txBody>
      </p:sp>
      <p:sp>
        <p:nvSpPr>
          <p:cNvPr id="76" name="Thread cell 0-3"/>
          <p:cNvSpPr>
            <a:spLocks noGrp="1"/>
          </p:cNvSpPr>
          <p:nvPr/>
        </p:nvSpPr>
        <p:spPr>
          <a:xfrm>
            <a:off x="6419850" y="4219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T3</a:t>
            </a:r>
            <a:endParaRPr sz="750" b="0">
              <a:solidFill>
                <a:srgbClr val="2B2F36"/>
              </a:solidFill>
              <a:latin typeface="Source Han Sans CN"/>
              <a:ea typeface="Source Han Sans CN"/>
              <a:cs typeface="Source Han Sans CN"/>
            </a:endParaRPr>
          </a:p>
        </p:txBody>
      </p:sp>
      <p:sp>
        <p:nvSpPr>
          <p:cNvPr id="77" name="Thread cell 0-4"/>
          <p:cNvSpPr>
            <a:spLocks noGrp="1"/>
          </p:cNvSpPr>
          <p:nvPr/>
        </p:nvSpPr>
        <p:spPr>
          <a:xfrm>
            <a:off x="6800850" y="4219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a:t>
            </a:r>
            <a:endParaRPr sz="750" b="0">
              <a:solidFill>
                <a:srgbClr val="2B2F36"/>
              </a:solidFill>
              <a:latin typeface="Source Han Sans CN"/>
              <a:ea typeface="Source Han Sans CN"/>
              <a:cs typeface="Source Han Sans CN"/>
            </a:endParaRPr>
          </a:p>
        </p:txBody>
      </p:sp>
      <p:sp>
        <p:nvSpPr>
          <p:cNvPr id="78" name="Thread cell 1-0"/>
          <p:cNvSpPr>
            <a:spLocks noGrp="1"/>
          </p:cNvSpPr>
          <p:nvPr/>
        </p:nvSpPr>
        <p:spPr>
          <a:xfrm>
            <a:off x="5276850" y="4600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T16</a:t>
            </a:r>
            <a:endParaRPr sz="750" b="0">
              <a:solidFill>
                <a:srgbClr val="2B2F36"/>
              </a:solidFill>
              <a:latin typeface="Source Han Sans CN"/>
              <a:ea typeface="Source Han Sans CN"/>
              <a:cs typeface="Source Han Sans CN"/>
            </a:endParaRPr>
          </a:p>
        </p:txBody>
      </p:sp>
      <p:sp>
        <p:nvSpPr>
          <p:cNvPr id="79" name="Thread cell 1-1"/>
          <p:cNvSpPr>
            <a:spLocks noGrp="1"/>
          </p:cNvSpPr>
          <p:nvPr/>
        </p:nvSpPr>
        <p:spPr>
          <a:xfrm>
            <a:off x="5657850" y="4600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T17</a:t>
            </a:r>
            <a:endParaRPr sz="750" b="0">
              <a:solidFill>
                <a:srgbClr val="2B2F36"/>
              </a:solidFill>
              <a:latin typeface="Source Han Sans CN"/>
              <a:ea typeface="Source Han Sans CN"/>
              <a:cs typeface="Source Han Sans CN"/>
            </a:endParaRPr>
          </a:p>
        </p:txBody>
      </p:sp>
      <p:sp>
        <p:nvSpPr>
          <p:cNvPr id="80" name="Thread cell 1-2"/>
          <p:cNvSpPr>
            <a:spLocks noGrp="1"/>
          </p:cNvSpPr>
          <p:nvPr/>
        </p:nvSpPr>
        <p:spPr>
          <a:xfrm>
            <a:off x="6038850" y="4600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T18</a:t>
            </a:r>
            <a:endParaRPr sz="750" b="0">
              <a:solidFill>
                <a:srgbClr val="2B2F36"/>
              </a:solidFill>
              <a:latin typeface="Source Han Sans CN"/>
              <a:ea typeface="Source Han Sans CN"/>
              <a:cs typeface="Source Han Sans CN"/>
            </a:endParaRPr>
          </a:p>
        </p:txBody>
      </p:sp>
      <p:sp>
        <p:nvSpPr>
          <p:cNvPr id="81" name="Thread cell 1-3"/>
          <p:cNvSpPr>
            <a:spLocks noGrp="1"/>
          </p:cNvSpPr>
          <p:nvPr/>
        </p:nvSpPr>
        <p:spPr>
          <a:xfrm>
            <a:off x="6419850" y="4600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T19</a:t>
            </a:r>
            <a:endParaRPr sz="750" b="0">
              <a:solidFill>
                <a:srgbClr val="2B2F36"/>
              </a:solidFill>
              <a:latin typeface="Source Han Sans CN"/>
              <a:ea typeface="Source Han Sans CN"/>
              <a:cs typeface="Source Han Sans CN"/>
            </a:endParaRPr>
          </a:p>
        </p:txBody>
      </p:sp>
      <p:sp>
        <p:nvSpPr>
          <p:cNvPr id="82" name="Thread cell 1-4"/>
          <p:cNvSpPr>
            <a:spLocks noGrp="1"/>
          </p:cNvSpPr>
          <p:nvPr/>
        </p:nvSpPr>
        <p:spPr>
          <a:xfrm>
            <a:off x="6800850" y="4600575"/>
            <a:ext cx="323850" cy="285750"/>
          </a:xfrm>
          <a:prstGeom prst="roundRect">
            <a:avLst>
              <a:gd name="adj" fmla="val 16667"/>
            </a:avLst>
          </a:prstGeom>
          <a:solidFill>
            <a:srgbClr val="FFFFFF"/>
          </a:solidFill>
          <a:ln w="9525">
            <a:solidFill>
              <a:srgbClr val="CDBBD3"/>
            </a:solidFill>
            <a:prstDash val="solid"/>
          </a:ln>
        </p:spPr>
        <p:txBody>
          <a:bodyPr wrap="square" lIns="19050" tIns="9525" rIns="19050" bIns="9525" anchor="ctr">
            <a:normAutofit/>
          </a:bodyPr>
          <a:lstStyle/>
          <a:p>
            <a:pPr algn="ctr">
              <a:defRPr sz="750" b="0">
                <a:solidFill>
                  <a:srgbClr val="2B2F36"/>
                </a:solidFill>
                <a:latin typeface="Source Han Sans CN"/>
                <a:ea typeface="Source Han Sans CN"/>
                <a:cs typeface="Source Han Sans CN"/>
              </a:defRPr>
            </a:pPr>
            <a:r>
              <a:rPr sz="750" b="0">
                <a:solidFill>
                  <a:srgbClr val="2B2F36"/>
                </a:solidFill>
                <a:latin typeface="Source Han Sans CN"/>
                <a:ea typeface="Source Han Sans CN"/>
                <a:cs typeface="Source Han Sans CN"/>
              </a:rPr>
              <a:t>…</a:t>
            </a:r>
            <a:endParaRPr sz="750" b="0">
              <a:solidFill>
                <a:srgbClr val="2B2F36"/>
              </a:solidFill>
              <a:latin typeface="Source Han Sans CN"/>
              <a:ea typeface="Source Han Sans CN"/>
              <a:cs typeface="Source Han Sans CN"/>
            </a:endParaRPr>
          </a:p>
        </p:txBody>
      </p:sp>
      <p:sp>
        <p:nvSpPr>
          <p:cNvPr id="83" name="Thread cell 2-0"/>
          <p:cNvSpPr>
            <a:spLocks noGrp="1"/>
          </p:cNvSpPr>
          <p:nvPr/>
        </p:nvSpPr>
        <p:spPr>
          <a:xfrm>
            <a:off x="5276850" y="4981575"/>
            <a:ext cx="323850" cy="285750"/>
          </a:xfrm>
          <a:prstGeom prst="roundRect">
            <a:avLst>
              <a:gd name="adj" fmla="val 16667"/>
            </a:avLst>
          </a:prstGeom>
          <a:solidFill>
            <a:srgbClr val="EAF6F5"/>
          </a:solidFill>
          <a:ln w="14288">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T48</a:t>
            </a:r>
            <a:endParaRPr sz="750" b="1">
              <a:solidFill>
                <a:srgbClr val="147988"/>
              </a:solidFill>
              <a:latin typeface="Source Han Sans CN"/>
              <a:ea typeface="Source Han Sans CN"/>
              <a:cs typeface="Source Han Sans CN"/>
            </a:endParaRPr>
          </a:p>
        </p:txBody>
      </p:sp>
      <p:sp>
        <p:nvSpPr>
          <p:cNvPr id="84" name="Thread cell 2-1"/>
          <p:cNvSpPr>
            <a:spLocks noGrp="1"/>
          </p:cNvSpPr>
          <p:nvPr/>
        </p:nvSpPr>
        <p:spPr>
          <a:xfrm>
            <a:off x="5657850" y="4981575"/>
            <a:ext cx="323850" cy="285750"/>
          </a:xfrm>
          <a:prstGeom prst="roundRect">
            <a:avLst>
              <a:gd name="adj" fmla="val 16667"/>
            </a:avLst>
          </a:prstGeom>
          <a:solidFill>
            <a:srgbClr val="EAF6F5"/>
          </a:solidFill>
          <a:ln w="14288">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T49</a:t>
            </a:r>
            <a:endParaRPr sz="750" b="1">
              <a:solidFill>
                <a:srgbClr val="147988"/>
              </a:solidFill>
              <a:latin typeface="Source Han Sans CN"/>
              <a:ea typeface="Source Han Sans CN"/>
              <a:cs typeface="Source Han Sans CN"/>
            </a:endParaRPr>
          </a:p>
        </p:txBody>
      </p:sp>
      <p:sp>
        <p:nvSpPr>
          <p:cNvPr id="85" name="Thread cell 2-2"/>
          <p:cNvSpPr>
            <a:spLocks noGrp="1"/>
          </p:cNvSpPr>
          <p:nvPr/>
        </p:nvSpPr>
        <p:spPr>
          <a:xfrm>
            <a:off x="6038850" y="4981575"/>
            <a:ext cx="323850" cy="285750"/>
          </a:xfrm>
          <a:prstGeom prst="roundRect">
            <a:avLst>
              <a:gd name="adj" fmla="val 16667"/>
            </a:avLst>
          </a:prstGeom>
          <a:solidFill>
            <a:srgbClr val="EAF6F5"/>
          </a:solidFill>
          <a:ln w="14288">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T50</a:t>
            </a:r>
            <a:endParaRPr sz="750" b="1">
              <a:solidFill>
                <a:srgbClr val="147988"/>
              </a:solidFill>
              <a:latin typeface="Source Han Sans CN"/>
              <a:ea typeface="Source Han Sans CN"/>
              <a:cs typeface="Source Han Sans CN"/>
            </a:endParaRPr>
          </a:p>
        </p:txBody>
      </p:sp>
      <p:sp>
        <p:nvSpPr>
          <p:cNvPr id="86" name="Thread cell 2-3"/>
          <p:cNvSpPr>
            <a:spLocks noGrp="1"/>
          </p:cNvSpPr>
          <p:nvPr/>
        </p:nvSpPr>
        <p:spPr>
          <a:xfrm>
            <a:off x="6419850" y="4981575"/>
            <a:ext cx="323850" cy="285750"/>
          </a:xfrm>
          <a:prstGeom prst="roundRect">
            <a:avLst>
              <a:gd name="adj" fmla="val 16667"/>
            </a:avLst>
          </a:prstGeom>
          <a:solidFill>
            <a:srgbClr val="EAF6F5"/>
          </a:solidFill>
          <a:ln w="14288">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T51</a:t>
            </a:r>
            <a:endParaRPr sz="750" b="1">
              <a:solidFill>
                <a:srgbClr val="147988"/>
              </a:solidFill>
              <a:latin typeface="Source Han Sans CN"/>
              <a:ea typeface="Source Han Sans CN"/>
              <a:cs typeface="Source Han Sans CN"/>
            </a:endParaRPr>
          </a:p>
        </p:txBody>
      </p:sp>
      <p:sp>
        <p:nvSpPr>
          <p:cNvPr id="87" name="Thread cell 2-4"/>
          <p:cNvSpPr>
            <a:spLocks noGrp="1"/>
          </p:cNvSpPr>
          <p:nvPr/>
        </p:nvSpPr>
        <p:spPr>
          <a:xfrm>
            <a:off x="6800850" y="4981575"/>
            <a:ext cx="323850" cy="285750"/>
          </a:xfrm>
          <a:prstGeom prst="roundRect">
            <a:avLst>
              <a:gd name="adj" fmla="val 16667"/>
            </a:avLst>
          </a:prstGeom>
          <a:solidFill>
            <a:srgbClr val="EAF6F5"/>
          </a:solidFill>
          <a:ln w="14288">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a:t>
            </a:r>
            <a:endParaRPr sz="750" b="1">
              <a:solidFill>
                <a:srgbClr val="147988"/>
              </a:solidFill>
              <a:latin typeface="Source Han Sans CN"/>
              <a:ea typeface="Source Han Sans CN"/>
              <a:cs typeface="Source Han Sans CN"/>
            </a:endParaRPr>
          </a:p>
        </p:txBody>
      </p:sp>
      <p:sp>
        <p:nvSpPr>
          <p:cNvPr id="88" name="Wave zoom panel"/>
          <p:cNvSpPr>
            <a:spLocks noGrp="1"/>
          </p:cNvSpPr>
          <p:nvPr/>
        </p:nvSpPr>
        <p:spPr>
          <a:xfrm>
            <a:off x="7658100" y="4048125"/>
            <a:ext cx="1666875" cy="1190625"/>
          </a:xfrm>
          <a:prstGeom prst="roundRect">
            <a:avLst>
              <a:gd name="adj" fmla="val 8000"/>
            </a:avLst>
          </a:prstGeom>
          <a:noFill/>
          <a:ln w="11430">
            <a:solidFill>
              <a:srgbClr val="1E8E94"/>
            </a:solidFill>
            <a:prstDash val="solid"/>
          </a:ln>
        </p:spPr>
      </p:sp>
      <p:sp>
        <p:nvSpPr>
          <p:cNvPr id="89" name="Wave zoom title"/>
          <p:cNvSpPr>
            <a:spLocks noGrp="1"/>
          </p:cNvSpPr>
          <p:nvPr/>
        </p:nvSpPr>
        <p:spPr>
          <a:xfrm>
            <a:off x="7753350" y="4105275"/>
            <a:ext cx="1476375" cy="228600"/>
          </a:xfrm>
          <a:prstGeom prst="rect">
            <a:avLst/>
          </a:prstGeom>
          <a:noFill/>
          <a:ln w="0">
            <a:noFill/>
            <a:prstDash val="solid"/>
          </a:ln>
        </p:spPr>
        <p:txBody>
          <a:bodyPr wrap="square" lIns="47625" tIns="28575" rIns="47625" bIns="28575" anchor="ctr">
            <a:normAutofit/>
          </a:bodyPr>
          <a:lstStyle/>
          <a:p>
            <a:pPr algn="ctr">
              <a:defRPr sz="975" b="1">
                <a:solidFill>
                  <a:srgbClr val="1E8E94"/>
                </a:solidFill>
                <a:latin typeface="Source Han Sans CN"/>
                <a:ea typeface="Source Han Sans CN"/>
                <a:cs typeface="Source Han Sans CN"/>
              </a:defRPr>
            </a:pPr>
            <a:r>
              <a:rPr sz="975" b="1">
                <a:solidFill>
                  <a:srgbClr val="1E8E94"/>
                </a:solidFill>
                <a:latin typeface="Source Han Sans CN"/>
                <a:ea typeface="Source Han Sans CN"/>
                <a:cs typeface="Source Han Sans CN"/>
              </a:rPr>
              <a:t>Wave（示例 4 lane）</a:t>
            </a:r>
            <a:endParaRPr sz="975" b="1">
              <a:solidFill>
                <a:srgbClr val="1E8E94"/>
              </a:solidFill>
              <a:latin typeface="Source Han Sans CN"/>
              <a:ea typeface="Source Han Sans CN"/>
              <a:cs typeface="Source Han Sans CN"/>
            </a:endParaRPr>
          </a:p>
        </p:txBody>
      </p:sp>
      <p:sp>
        <p:nvSpPr>
          <p:cNvPr id="90" name="Wave cell 0"/>
          <p:cNvSpPr>
            <a:spLocks noGrp="1"/>
          </p:cNvSpPr>
          <p:nvPr/>
        </p:nvSpPr>
        <p:spPr>
          <a:xfrm>
            <a:off x="7781925" y="4524375"/>
            <a:ext cx="295275" cy="323850"/>
          </a:xfrm>
          <a:prstGeom prst="roundRect">
            <a:avLst>
              <a:gd name="adj" fmla="val 16129"/>
            </a:avLst>
          </a:prstGeom>
          <a:solidFill>
            <a:srgbClr val="FFFFFF"/>
          </a:solidFill>
          <a:ln w="9525">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T48</a:t>
            </a:r>
            <a:endParaRPr sz="750" b="1">
              <a:solidFill>
                <a:srgbClr val="147988"/>
              </a:solidFill>
              <a:latin typeface="Source Han Sans CN"/>
              <a:ea typeface="Source Han Sans CN"/>
              <a:cs typeface="Source Han Sans CN"/>
            </a:endParaRPr>
          </a:p>
        </p:txBody>
      </p:sp>
      <p:sp>
        <p:nvSpPr>
          <p:cNvPr id="91" name="Wave cell 1"/>
          <p:cNvSpPr>
            <a:spLocks noGrp="1"/>
          </p:cNvSpPr>
          <p:nvPr/>
        </p:nvSpPr>
        <p:spPr>
          <a:xfrm>
            <a:off x="8134350" y="4524375"/>
            <a:ext cx="295275" cy="323850"/>
          </a:xfrm>
          <a:prstGeom prst="roundRect">
            <a:avLst>
              <a:gd name="adj" fmla="val 16129"/>
            </a:avLst>
          </a:prstGeom>
          <a:solidFill>
            <a:srgbClr val="FFFFFF"/>
          </a:solidFill>
          <a:ln w="9525">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T49</a:t>
            </a:r>
            <a:endParaRPr sz="750" b="1">
              <a:solidFill>
                <a:srgbClr val="147988"/>
              </a:solidFill>
              <a:latin typeface="Source Han Sans CN"/>
              <a:ea typeface="Source Han Sans CN"/>
              <a:cs typeface="Source Han Sans CN"/>
            </a:endParaRPr>
          </a:p>
        </p:txBody>
      </p:sp>
      <p:sp>
        <p:nvSpPr>
          <p:cNvPr id="92" name="Wave cell 2"/>
          <p:cNvSpPr>
            <a:spLocks noGrp="1"/>
          </p:cNvSpPr>
          <p:nvPr/>
        </p:nvSpPr>
        <p:spPr>
          <a:xfrm>
            <a:off x="8486775" y="4524375"/>
            <a:ext cx="295275" cy="323850"/>
          </a:xfrm>
          <a:prstGeom prst="roundRect">
            <a:avLst>
              <a:gd name="adj" fmla="val 16129"/>
            </a:avLst>
          </a:prstGeom>
          <a:solidFill>
            <a:srgbClr val="FFFFFF"/>
          </a:solidFill>
          <a:ln w="9525">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T50</a:t>
            </a:r>
            <a:endParaRPr sz="750" b="1">
              <a:solidFill>
                <a:srgbClr val="147988"/>
              </a:solidFill>
              <a:latin typeface="Source Han Sans CN"/>
              <a:ea typeface="Source Han Sans CN"/>
              <a:cs typeface="Source Han Sans CN"/>
            </a:endParaRPr>
          </a:p>
        </p:txBody>
      </p:sp>
      <p:sp>
        <p:nvSpPr>
          <p:cNvPr id="93" name="Wave cell 3"/>
          <p:cNvSpPr>
            <a:spLocks noGrp="1"/>
          </p:cNvSpPr>
          <p:nvPr/>
        </p:nvSpPr>
        <p:spPr>
          <a:xfrm>
            <a:off x="8839200" y="4524375"/>
            <a:ext cx="295275" cy="323850"/>
          </a:xfrm>
          <a:prstGeom prst="roundRect">
            <a:avLst>
              <a:gd name="adj" fmla="val 16129"/>
            </a:avLst>
          </a:prstGeom>
          <a:solidFill>
            <a:srgbClr val="FFFFFF"/>
          </a:solidFill>
          <a:ln w="9525">
            <a:solidFill>
              <a:srgbClr val="1E8E94"/>
            </a:solidFill>
            <a:prstDash val="solid"/>
          </a:ln>
        </p:spPr>
        <p:txBody>
          <a:bodyPr wrap="square" lIns="19050" tIns="9525" rIns="19050" bIns="952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T51</a:t>
            </a:r>
            <a:endParaRPr sz="750" b="1">
              <a:solidFill>
                <a:srgbClr val="147988"/>
              </a:solidFill>
              <a:latin typeface="Source Han Sans CN"/>
              <a:ea typeface="Source Han Sans CN"/>
              <a:cs typeface="Source Han Sans CN"/>
            </a:endParaRPr>
          </a:p>
        </p:txBody>
      </p:sp>
      <p:sp>
        <p:nvSpPr>
          <p:cNvPr id="94" name="Lane zoom panel"/>
          <p:cNvSpPr>
            <a:spLocks noGrp="1"/>
          </p:cNvSpPr>
          <p:nvPr/>
        </p:nvSpPr>
        <p:spPr>
          <a:xfrm>
            <a:off x="9620250" y="3857625"/>
            <a:ext cx="2095500" cy="1571625"/>
          </a:xfrm>
          <a:prstGeom prst="roundRect">
            <a:avLst>
              <a:gd name="adj" fmla="val 6061"/>
            </a:avLst>
          </a:prstGeom>
          <a:noFill/>
          <a:ln w="11430">
            <a:solidFill>
              <a:srgbClr val="1E8E94"/>
            </a:solidFill>
            <a:prstDash val="solid"/>
          </a:ln>
        </p:spPr>
      </p:sp>
      <p:sp>
        <p:nvSpPr>
          <p:cNvPr id="95" name="Lane zoom title"/>
          <p:cNvSpPr>
            <a:spLocks noGrp="1"/>
          </p:cNvSpPr>
          <p:nvPr/>
        </p:nvSpPr>
        <p:spPr>
          <a:xfrm>
            <a:off x="9734550" y="3905250"/>
            <a:ext cx="1866900" cy="247650"/>
          </a:xfrm>
          <a:prstGeom prst="rect">
            <a:avLst/>
          </a:prstGeom>
          <a:noFill/>
          <a:ln w="0">
            <a:noFill/>
            <a:prstDash val="solid"/>
          </a:ln>
        </p:spPr>
        <p:txBody>
          <a:bodyPr wrap="square" lIns="47625" tIns="28575" rIns="47625" bIns="28575" anchor="ctr">
            <a:normAutofit/>
          </a:bodyPr>
          <a:lstStyle/>
          <a:p>
            <a:pPr algn="ctr">
              <a:defRPr sz="1050" b="1">
                <a:solidFill>
                  <a:srgbClr val="1E8E94"/>
                </a:solidFill>
                <a:latin typeface="Source Han Sans CN"/>
                <a:ea typeface="Source Han Sans CN"/>
                <a:cs typeface="Source Han Sans CN"/>
              </a:defRPr>
            </a:pPr>
            <a:r>
              <a:rPr sz="1050" b="1">
                <a:solidFill>
                  <a:srgbClr val="1E8E94"/>
                </a:solidFill>
                <a:latin typeface="Source Han Sans CN"/>
                <a:ea typeface="Source Han Sans CN"/>
                <a:cs typeface="Source Han Sans CN"/>
              </a:rPr>
              <a:t>lane = Wave 内的位置</a:t>
            </a:r>
            <a:endParaRPr sz="1050" b="1">
              <a:solidFill>
                <a:srgbClr val="1E8E94"/>
              </a:solidFill>
              <a:latin typeface="Source Han Sans CN"/>
              <a:ea typeface="Source Han Sans CN"/>
              <a:cs typeface="Source Han Sans CN"/>
            </a:endParaRPr>
          </a:p>
        </p:txBody>
      </p:sp>
      <p:sp>
        <p:nvSpPr>
          <p:cNvPr id="96" name="Lane label 0"/>
          <p:cNvSpPr>
            <a:spLocks noGrp="1"/>
          </p:cNvSpPr>
          <p:nvPr/>
        </p:nvSpPr>
        <p:spPr>
          <a:xfrm>
            <a:off x="9791700" y="4257675"/>
            <a:ext cx="381000" cy="209550"/>
          </a:xfrm>
          <a:prstGeom prst="rect">
            <a:avLst/>
          </a:prstGeom>
          <a:noFill/>
          <a:ln w="0">
            <a:noFill/>
            <a:prstDash val="solid"/>
          </a:ln>
        </p:spPr>
        <p:txBody>
          <a:bodyPr wrap="square" lIns="47625" tIns="28575" rIns="47625" bIns="2857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lane 0</a:t>
            </a:r>
            <a:endParaRPr sz="750" b="1">
              <a:solidFill>
                <a:srgbClr val="147988"/>
              </a:solidFill>
              <a:latin typeface="Source Han Sans CN"/>
              <a:ea typeface="Source Han Sans CN"/>
              <a:cs typeface="Source Han Sans CN"/>
            </a:endParaRPr>
          </a:p>
        </p:txBody>
      </p:sp>
      <p:sp>
        <p:nvSpPr>
          <p:cNvPr id="97" name="Lane thread 0"/>
          <p:cNvSpPr>
            <a:spLocks noGrp="1"/>
          </p:cNvSpPr>
          <p:nvPr/>
        </p:nvSpPr>
        <p:spPr>
          <a:xfrm>
            <a:off x="9810750" y="4686300"/>
            <a:ext cx="342900" cy="352425"/>
          </a:xfrm>
          <a:prstGeom prst="roundRect">
            <a:avLst>
              <a:gd name="adj" fmla="val 13889"/>
            </a:avLst>
          </a:prstGeom>
          <a:solidFill>
            <a:srgbClr val="FFFFFF"/>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T48</a:t>
            </a:r>
            <a:endParaRPr sz="825" b="1">
              <a:solidFill>
                <a:srgbClr val="147988"/>
              </a:solidFill>
              <a:latin typeface="Source Han Sans CN"/>
              <a:ea typeface="Source Han Sans CN"/>
              <a:cs typeface="Source Han Sans CN"/>
            </a:endParaRPr>
          </a:p>
        </p:txBody>
      </p:sp>
      <p:sp>
        <p:nvSpPr>
          <p:cNvPr id="98" name="Lane arrow 0"/>
          <p:cNvSpPr>
            <a:spLocks noGrp="1"/>
          </p:cNvSpPr>
          <p:nvPr/>
        </p:nvSpPr>
        <p:spPr>
          <a:xfrm>
            <a:off x="9858375" y="4438650"/>
            <a:ext cx="247650" cy="228600"/>
          </a:xfrm>
          <a:prstGeom prst="rect">
            <a:avLst/>
          </a:prstGeom>
          <a:noFill/>
          <a:ln w="0">
            <a:noFill/>
            <a:prstDash val="solid"/>
          </a:ln>
        </p:spPr>
        <p:txBody>
          <a:bodyPr wrap="square" lIns="47625" tIns="28575" rIns="47625" bIns="28575" anchor="ctr">
            <a:normAutofit fontScale="83333"/>
          </a:bodyPr>
          <a:lstStyle/>
          <a:p>
            <a:pPr algn="ctr">
              <a:defRPr sz="1350">
                <a:solidFill>
                  <a:srgbClr val="1E8E94"/>
                </a:solidFill>
                <a:latin typeface="Source Han Sans CN"/>
                <a:ea typeface="Source Han Sans CN"/>
                <a:cs typeface="Source Han Sans CN"/>
              </a:defRPr>
            </a:pPr>
            <a:r>
              <a:rPr sz="1350">
                <a:solidFill>
                  <a:srgbClr val="1E8E94"/>
                </a:solidFill>
                <a:latin typeface="Source Han Sans CN"/>
                <a:ea typeface="Source Han Sans CN"/>
                <a:cs typeface="Source Han Sans CN"/>
              </a:rPr>
              <a:t>↓</a:t>
            </a:r>
            <a:endParaRPr sz="1350">
              <a:solidFill>
                <a:srgbClr val="1E8E94"/>
              </a:solidFill>
              <a:latin typeface="Source Han Sans CN"/>
              <a:ea typeface="Source Han Sans CN"/>
              <a:cs typeface="Source Han Sans CN"/>
            </a:endParaRPr>
          </a:p>
        </p:txBody>
      </p:sp>
      <p:sp>
        <p:nvSpPr>
          <p:cNvPr id="99" name="Lane label 1"/>
          <p:cNvSpPr>
            <a:spLocks noGrp="1"/>
          </p:cNvSpPr>
          <p:nvPr/>
        </p:nvSpPr>
        <p:spPr>
          <a:xfrm>
            <a:off x="10239375" y="4257675"/>
            <a:ext cx="381000" cy="209550"/>
          </a:xfrm>
          <a:prstGeom prst="rect">
            <a:avLst/>
          </a:prstGeom>
          <a:noFill/>
          <a:ln w="0">
            <a:noFill/>
            <a:prstDash val="solid"/>
          </a:ln>
        </p:spPr>
        <p:txBody>
          <a:bodyPr wrap="square" lIns="47625" tIns="28575" rIns="47625" bIns="2857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lane 1</a:t>
            </a:r>
            <a:endParaRPr sz="750" b="1">
              <a:solidFill>
                <a:srgbClr val="147988"/>
              </a:solidFill>
              <a:latin typeface="Source Han Sans CN"/>
              <a:ea typeface="Source Han Sans CN"/>
              <a:cs typeface="Source Han Sans CN"/>
            </a:endParaRPr>
          </a:p>
        </p:txBody>
      </p:sp>
      <p:sp>
        <p:nvSpPr>
          <p:cNvPr id="100" name="Lane thread 1"/>
          <p:cNvSpPr>
            <a:spLocks noGrp="1"/>
          </p:cNvSpPr>
          <p:nvPr/>
        </p:nvSpPr>
        <p:spPr>
          <a:xfrm>
            <a:off x="10258425" y="4686300"/>
            <a:ext cx="342900" cy="352425"/>
          </a:xfrm>
          <a:prstGeom prst="roundRect">
            <a:avLst>
              <a:gd name="adj" fmla="val 13889"/>
            </a:avLst>
          </a:prstGeom>
          <a:solidFill>
            <a:srgbClr val="FFFFFF"/>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T49</a:t>
            </a:r>
            <a:endParaRPr sz="825" b="1">
              <a:solidFill>
                <a:srgbClr val="147988"/>
              </a:solidFill>
              <a:latin typeface="Source Han Sans CN"/>
              <a:ea typeface="Source Han Sans CN"/>
              <a:cs typeface="Source Han Sans CN"/>
            </a:endParaRPr>
          </a:p>
        </p:txBody>
      </p:sp>
      <p:sp>
        <p:nvSpPr>
          <p:cNvPr id="101" name="Lane arrow 1"/>
          <p:cNvSpPr>
            <a:spLocks noGrp="1"/>
          </p:cNvSpPr>
          <p:nvPr/>
        </p:nvSpPr>
        <p:spPr>
          <a:xfrm>
            <a:off x="10306050" y="4438650"/>
            <a:ext cx="247650" cy="228600"/>
          </a:xfrm>
          <a:prstGeom prst="rect">
            <a:avLst/>
          </a:prstGeom>
          <a:noFill/>
          <a:ln w="0">
            <a:noFill/>
            <a:prstDash val="solid"/>
          </a:ln>
        </p:spPr>
        <p:txBody>
          <a:bodyPr wrap="square" lIns="47625" tIns="28575" rIns="47625" bIns="28575" anchor="ctr">
            <a:normAutofit fontScale="83333"/>
          </a:bodyPr>
          <a:lstStyle/>
          <a:p>
            <a:pPr algn="ctr">
              <a:defRPr sz="1350">
                <a:solidFill>
                  <a:srgbClr val="1E8E94"/>
                </a:solidFill>
                <a:latin typeface="Source Han Sans CN"/>
                <a:ea typeface="Source Han Sans CN"/>
                <a:cs typeface="Source Han Sans CN"/>
              </a:defRPr>
            </a:pPr>
            <a:r>
              <a:rPr sz="1350">
                <a:solidFill>
                  <a:srgbClr val="1E8E94"/>
                </a:solidFill>
                <a:latin typeface="Source Han Sans CN"/>
                <a:ea typeface="Source Han Sans CN"/>
                <a:cs typeface="Source Han Sans CN"/>
              </a:rPr>
              <a:t>↓</a:t>
            </a:r>
            <a:endParaRPr sz="1350">
              <a:solidFill>
                <a:srgbClr val="1E8E94"/>
              </a:solidFill>
              <a:latin typeface="Source Han Sans CN"/>
              <a:ea typeface="Source Han Sans CN"/>
              <a:cs typeface="Source Han Sans CN"/>
            </a:endParaRPr>
          </a:p>
        </p:txBody>
      </p:sp>
      <p:sp>
        <p:nvSpPr>
          <p:cNvPr id="102" name="Lane label 2"/>
          <p:cNvSpPr>
            <a:spLocks noGrp="1"/>
          </p:cNvSpPr>
          <p:nvPr/>
        </p:nvSpPr>
        <p:spPr>
          <a:xfrm>
            <a:off x="10687050" y="4257675"/>
            <a:ext cx="381000" cy="209550"/>
          </a:xfrm>
          <a:prstGeom prst="rect">
            <a:avLst/>
          </a:prstGeom>
          <a:noFill/>
          <a:ln w="0">
            <a:noFill/>
            <a:prstDash val="solid"/>
          </a:ln>
        </p:spPr>
        <p:txBody>
          <a:bodyPr wrap="square" lIns="47625" tIns="28575" rIns="47625" bIns="2857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lane 2</a:t>
            </a:r>
            <a:endParaRPr sz="750" b="1">
              <a:solidFill>
                <a:srgbClr val="147988"/>
              </a:solidFill>
              <a:latin typeface="Source Han Sans CN"/>
              <a:ea typeface="Source Han Sans CN"/>
              <a:cs typeface="Source Han Sans CN"/>
            </a:endParaRPr>
          </a:p>
        </p:txBody>
      </p:sp>
      <p:sp>
        <p:nvSpPr>
          <p:cNvPr id="103" name="Lane thread 2"/>
          <p:cNvSpPr>
            <a:spLocks noGrp="1"/>
          </p:cNvSpPr>
          <p:nvPr/>
        </p:nvSpPr>
        <p:spPr>
          <a:xfrm>
            <a:off x="10706100" y="4686300"/>
            <a:ext cx="342900" cy="352425"/>
          </a:xfrm>
          <a:prstGeom prst="roundRect">
            <a:avLst>
              <a:gd name="adj" fmla="val 13889"/>
            </a:avLst>
          </a:prstGeom>
          <a:solidFill>
            <a:srgbClr val="FFFFFF"/>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T50</a:t>
            </a:r>
            <a:endParaRPr sz="825" b="1">
              <a:solidFill>
                <a:srgbClr val="147988"/>
              </a:solidFill>
              <a:latin typeface="Source Han Sans CN"/>
              <a:ea typeface="Source Han Sans CN"/>
              <a:cs typeface="Source Han Sans CN"/>
            </a:endParaRPr>
          </a:p>
        </p:txBody>
      </p:sp>
      <p:sp>
        <p:nvSpPr>
          <p:cNvPr id="104" name="Lane arrow 2"/>
          <p:cNvSpPr>
            <a:spLocks noGrp="1"/>
          </p:cNvSpPr>
          <p:nvPr/>
        </p:nvSpPr>
        <p:spPr>
          <a:xfrm>
            <a:off x="10753725" y="4438650"/>
            <a:ext cx="247650" cy="228600"/>
          </a:xfrm>
          <a:prstGeom prst="rect">
            <a:avLst/>
          </a:prstGeom>
          <a:noFill/>
          <a:ln w="0">
            <a:noFill/>
            <a:prstDash val="solid"/>
          </a:ln>
        </p:spPr>
        <p:txBody>
          <a:bodyPr wrap="square" lIns="47625" tIns="28575" rIns="47625" bIns="28575" anchor="ctr">
            <a:normAutofit fontScale="83333"/>
          </a:bodyPr>
          <a:lstStyle/>
          <a:p>
            <a:pPr algn="ctr">
              <a:defRPr sz="1350">
                <a:solidFill>
                  <a:srgbClr val="1E8E94"/>
                </a:solidFill>
                <a:latin typeface="Source Han Sans CN"/>
                <a:ea typeface="Source Han Sans CN"/>
                <a:cs typeface="Source Han Sans CN"/>
              </a:defRPr>
            </a:pPr>
            <a:r>
              <a:rPr sz="1350">
                <a:solidFill>
                  <a:srgbClr val="1E8E94"/>
                </a:solidFill>
                <a:latin typeface="Source Han Sans CN"/>
                <a:ea typeface="Source Han Sans CN"/>
                <a:cs typeface="Source Han Sans CN"/>
              </a:rPr>
              <a:t>↓</a:t>
            </a:r>
            <a:endParaRPr sz="1350">
              <a:solidFill>
                <a:srgbClr val="1E8E94"/>
              </a:solidFill>
              <a:latin typeface="Source Han Sans CN"/>
              <a:ea typeface="Source Han Sans CN"/>
              <a:cs typeface="Source Han Sans CN"/>
            </a:endParaRPr>
          </a:p>
        </p:txBody>
      </p:sp>
      <p:sp>
        <p:nvSpPr>
          <p:cNvPr id="105" name="Lane label 3"/>
          <p:cNvSpPr>
            <a:spLocks noGrp="1"/>
          </p:cNvSpPr>
          <p:nvPr/>
        </p:nvSpPr>
        <p:spPr>
          <a:xfrm>
            <a:off x="11134725" y="4257675"/>
            <a:ext cx="381000" cy="209550"/>
          </a:xfrm>
          <a:prstGeom prst="rect">
            <a:avLst/>
          </a:prstGeom>
          <a:noFill/>
          <a:ln w="0">
            <a:noFill/>
            <a:prstDash val="solid"/>
          </a:ln>
        </p:spPr>
        <p:txBody>
          <a:bodyPr wrap="square" lIns="47625" tIns="28575" rIns="47625" bIns="28575" anchor="ctr">
            <a:normAutofit/>
          </a:bodyPr>
          <a:lstStyle/>
          <a:p>
            <a:pPr algn="ctr">
              <a:defRPr sz="750" b="1">
                <a:solidFill>
                  <a:srgbClr val="147988"/>
                </a:solidFill>
                <a:latin typeface="Source Han Sans CN"/>
                <a:ea typeface="Source Han Sans CN"/>
                <a:cs typeface="Source Han Sans CN"/>
              </a:defRPr>
            </a:pPr>
            <a:r>
              <a:rPr sz="750" b="1">
                <a:solidFill>
                  <a:srgbClr val="147988"/>
                </a:solidFill>
                <a:latin typeface="Source Han Sans CN"/>
                <a:ea typeface="Source Han Sans CN"/>
                <a:cs typeface="Source Han Sans CN"/>
              </a:rPr>
              <a:t>lane 3</a:t>
            </a:r>
            <a:endParaRPr sz="750" b="1">
              <a:solidFill>
                <a:srgbClr val="147988"/>
              </a:solidFill>
              <a:latin typeface="Source Han Sans CN"/>
              <a:ea typeface="Source Han Sans CN"/>
              <a:cs typeface="Source Han Sans CN"/>
            </a:endParaRPr>
          </a:p>
        </p:txBody>
      </p:sp>
      <p:sp>
        <p:nvSpPr>
          <p:cNvPr id="106" name="Lane thread 3"/>
          <p:cNvSpPr>
            <a:spLocks noGrp="1"/>
          </p:cNvSpPr>
          <p:nvPr/>
        </p:nvSpPr>
        <p:spPr>
          <a:xfrm>
            <a:off x="11153775" y="4686300"/>
            <a:ext cx="342900" cy="352425"/>
          </a:xfrm>
          <a:prstGeom prst="roundRect">
            <a:avLst>
              <a:gd name="adj" fmla="val 13889"/>
            </a:avLst>
          </a:prstGeom>
          <a:solidFill>
            <a:srgbClr val="FFFFFF"/>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T51</a:t>
            </a:r>
            <a:endParaRPr sz="825" b="1">
              <a:solidFill>
                <a:srgbClr val="147988"/>
              </a:solidFill>
              <a:latin typeface="Source Han Sans CN"/>
              <a:ea typeface="Source Han Sans CN"/>
              <a:cs typeface="Source Han Sans CN"/>
            </a:endParaRPr>
          </a:p>
        </p:txBody>
      </p:sp>
      <p:sp>
        <p:nvSpPr>
          <p:cNvPr id="107" name="Lane arrow 3"/>
          <p:cNvSpPr>
            <a:spLocks noGrp="1"/>
          </p:cNvSpPr>
          <p:nvPr/>
        </p:nvSpPr>
        <p:spPr>
          <a:xfrm>
            <a:off x="11201400" y="4438650"/>
            <a:ext cx="247650" cy="228600"/>
          </a:xfrm>
          <a:prstGeom prst="rect">
            <a:avLst/>
          </a:prstGeom>
          <a:noFill/>
          <a:ln w="0">
            <a:noFill/>
            <a:prstDash val="solid"/>
          </a:ln>
        </p:spPr>
        <p:txBody>
          <a:bodyPr wrap="square" lIns="47625" tIns="28575" rIns="47625" bIns="28575" anchor="ctr">
            <a:normAutofit fontScale="83333"/>
          </a:bodyPr>
          <a:lstStyle/>
          <a:p>
            <a:pPr algn="ctr">
              <a:defRPr sz="1350">
                <a:solidFill>
                  <a:srgbClr val="1E8E94"/>
                </a:solidFill>
                <a:latin typeface="Source Han Sans CN"/>
                <a:ea typeface="Source Han Sans CN"/>
                <a:cs typeface="Source Han Sans CN"/>
              </a:defRPr>
            </a:pPr>
            <a:r>
              <a:rPr sz="1350">
                <a:solidFill>
                  <a:srgbClr val="1E8E94"/>
                </a:solidFill>
                <a:latin typeface="Source Han Sans CN"/>
                <a:ea typeface="Source Han Sans CN"/>
                <a:cs typeface="Source Han Sans CN"/>
              </a:rPr>
              <a:t>↓</a:t>
            </a:r>
            <a:endParaRPr sz="1350">
              <a:solidFill>
                <a:srgbClr val="1E8E94"/>
              </a:solidFill>
              <a:latin typeface="Source Han Sans CN"/>
              <a:ea typeface="Source Han Sans CN"/>
              <a:cs typeface="Source Han Sans CN"/>
            </a:endParaRPr>
          </a:p>
        </p:txBody>
      </p:sp>
      <p:sp>
        <p:nvSpPr>
          <p:cNvPr id="108" name="Grid-to-Block zoom upper"/>
          <p:cNvSpPr>
            <a:spLocks noGrp="1"/>
          </p:cNvSpPr>
          <p:nvPr/>
        </p:nvSpPr>
        <p:spPr>
          <a:xfrm flipV="1">
            <a:off x="1057275" y="4048125"/>
            <a:ext cx="1933575" cy="171450"/>
          </a:xfrm>
          <a:prstGeom prst="line">
            <a:avLst/>
          </a:prstGeom>
          <a:noFill/>
          <a:ln w="12383">
            <a:solidFill>
              <a:srgbClr val="660874"/>
            </a:solidFill>
            <a:prstDash val="dash"/>
          </a:ln>
        </p:spPr>
      </p:sp>
      <p:sp>
        <p:nvSpPr>
          <p:cNvPr id="109" name="Grid-to-Block zoom lower"/>
          <p:cNvSpPr>
            <a:spLocks noGrp="1"/>
          </p:cNvSpPr>
          <p:nvPr/>
        </p:nvSpPr>
        <p:spPr>
          <a:xfrm>
            <a:off x="1057275" y="4486275"/>
            <a:ext cx="1933575" cy="742950"/>
          </a:xfrm>
          <a:prstGeom prst="line">
            <a:avLst/>
          </a:prstGeom>
          <a:noFill/>
          <a:ln w="12383">
            <a:solidFill>
              <a:srgbClr val="660874"/>
            </a:solidFill>
            <a:prstDash val="dash"/>
          </a:ln>
        </p:spPr>
      </p:sp>
      <p:sp>
        <p:nvSpPr>
          <p:cNvPr id="110" name="Block-to-Thread zoom upper"/>
          <p:cNvSpPr>
            <a:spLocks noGrp="1"/>
          </p:cNvSpPr>
          <p:nvPr/>
        </p:nvSpPr>
        <p:spPr>
          <a:xfrm flipV="1">
            <a:off x="4629150" y="4200525"/>
            <a:ext cx="514350" cy="95250"/>
          </a:xfrm>
          <a:prstGeom prst="line">
            <a:avLst/>
          </a:prstGeom>
          <a:noFill/>
          <a:ln w="12383">
            <a:solidFill>
              <a:srgbClr val="A894B1"/>
            </a:solidFill>
            <a:prstDash val="dash"/>
          </a:ln>
        </p:spPr>
      </p:sp>
      <p:sp>
        <p:nvSpPr>
          <p:cNvPr id="111" name="Block-to-Thread zoom lower"/>
          <p:cNvSpPr>
            <a:spLocks noGrp="1"/>
          </p:cNvSpPr>
          <p:nvPr/>
        </p:nvSpPr>
        <p:spPr>
          <a:xfrm>
            <a:off x="4629150" y="5095875"/>
            <a:ext cx="514350" cy="0"/>
          </a:xfrm>
          <a:prstGeom prst="line">
            <a:avLst/>
          </a:prstGeom>
          <a:noFill/>
          <a:ln w="12383">
            <a:solidFill>
              <a:srgbClr val="A894B1"/>
            </a:solidFill>
            <a:prstDash val="dash"/>
          </a:ln>
        </p:spPr>
      </p:sp>
      <p:sp>
        <p:nvSpPr>
          <p:cNvPr id="112" name="Thread-to-Wave zoom upper"/>
          <p:cNvSpPr>
            <a:spLocks noGrp="1"/>
          </p:cNvSpPr>
          <p:nvPr/>
        </p:nvSpPr>
        <p:spPr>
          <a:xfrm flipV="1">
            <a:off x="6572250" y="4333875"/>
            <a:ext cx="1085850" cy="647700"/>
          </a:xfrm>
          <a:prstGeom prst="line">
            <a:avLst/>
          </a:prstGeom>
          <a:noFill/>
          <a:ln w="12383">
            <a:solidFill>
              <a:srgbClr val="1E8E94"/>
            </a:solidFill>
            <a:prstDash val="dash"/>
          </a:ln>
        </p:spPr>
      </p:sp>
      <p:sp>
        <p:nvSpPr>
          <p:cNvPr id="113" name="Thread-to-Wave zoom lower"/>
          <p:cNvSpPr>
            <a:spLocks noGrp="1"/>
          </p:cNvSpPr>
          <p:nvPr/>
        </p:nvSpPr>
        <p:spPr>
          <a:xfrm flipV="1">
            <a:off x="6572250" y="5238750"/>
            <a:ext cx="1085850" cy="28575"/>
          </a:xfrm>
          <a:prstGeom prst="line">
            <a:avLst/>
          </a:prstGeom>
          <a:noFill/>
          <a:ln w="12383">
            <a:solidFill>
              <a:srgbClr val="1E8E94"/>
            </a:solidFill>
            <a:prstDash val="dash"/>
          </a:ln>
        </p:spPr>
      </p:sp>
      <p:sp>
        <p:nvSpPr>
          <p:cNvPr id="114" name="Wave-to-Lane zoom upper"/>
          <p:cNvSpPr>
            <a:spLocks noGrp="1"/>
          </p:cNvSpPr>
          <p:nvPr/>
        </p:nvSpPr>
        <p:spPr>
          <a:xfrm flipV="1">
            <a:off x="9324975" y="4200525"/>
            <a:ext cx="295275" cy="76200"/>
          </a:xfrm>
          <a:prstGeom prst="line">
            <a:avLst/>
          </a:prstGeom>
          <a:noFill/>
          <a:ln w="12383">
            <a:solidFill>
              <a:srgbClr val="1E8E94"/>
            </a:solidFill>
            <a:prstDash val="dash"/>
          </a:ln>
        </p:spPr>
      </p:sp>
      <p:sp>
        <p:nvSpPr>
          <p:cNvPr id="115" name="Wave-to-Lane zoom lower"/>
          <p:cNvSpPr>
            <a:spLocks noGrp="1"/>
          </p:cNvSpPr>
          <p:nvPr/>
        </p:nvSpPr>
        <p:spPr>
          <a:xfrm>
            <a:off x="9324975" y="5019675"/>
            <a:ext cx="295275" cy="209550"/>
          </a:xfrm>
          <a:prstGeom prst="line">
            <a:avLst/>
          </a:prstGeom>
          <a:noFill/>
          <a:ln w="12383">
            <a:solidFill>
              <a:srgbClr val="1E8E94"/>
            </a:solidFill>
            <a:prstDash val="dash"/>
          </a:ln>
        </p:spPr>
      </p:sp>
      <p:sp>
        <p:nvSpPr>
          <p:cNvPr id="116" name="Software hierarchy note"/>
          <p:cNvSpPr>
            <a:spLocks noGrp="1"/>
          </p:cNvSpPr>
          <p:nvPr/>
        </p:nvSpPr>
        <p:spPr>
          <a:xfrm>
            <a:off x="457200" y="5600700"/>
            <a:ext cx="4810125" cy="285750"/>
          </a:xfrm>
          <a:prstGeom prst="roundRect">
            <a:avLst>
              <a:gd name="adj" fmla="val 26667"/>
            </a:avLst>
          </a:prstGeom>
          <a:noFill/>
          <a:ln w="9525">
            <a:solidFill>
              <a:srgbClr val="A894B1"/>
            </a:solidFill>
            <a:prstDash val="solid"/>
          </a:ln>
        </p:spPr>
        <p:txBody>
          <a:bodyPr wrap="square" lIns="47625" tIns="28575" rIns="47625" bIns="28575" anchor="ctr">
            <a:normAutofit/>
          </a:bodyPr>
          <a:lstStyle/>
          <a:p>
            <a:pPr algn="ctr">
              <a:defRPr sz="1125" b="1">
                <a:solidFill>
                  <a:srgbClr val="660874"/>
                </a:solidFill>
                <a:latin typeface="Source Han Sans CN"/>
                <a:ea typeface="Source Han Sans CN"/>
                <a:cs typeface="Source Han Sans CN"/>
              </a:defRPr>
            </a:pPr>
            <a:r>
              <a:rPr sz="1125" b="1">
                <a:solidFill>
                  <a:srgbClr val="660874"/>
                </a:solidFill>
                <a:latin typeface="Source Han Sans CN"/>
                <a:ea typeface="Source Han Sans CN"/>
                <a:cs typeface="Source Han Sans CN"/>
              </a:rPr>
              <a:t>软件组织：Grid ＞ Block ＞ Thread</a:t>
            </a:r>
            <a:endParaRPr sz="1125" b="1">
              <a:solidFill>
                <a:srgbClr val="660874"/>
              </a:solidFill>
              <a:latin typeface="Source Han Sans CN"/>
              <a:ea typeface="Source Han Sans CN"/>
              <a:cs typeface="Source Han Sans CN"/>
            </a:endParaRPr>
          </a:p>
        </p:txBody>
      </p:sp>
      <p:sp>
        <p:nvSpPr>
          <p:cNvPr id="117" name="Hardware grouping note"/>
          <p:cNvSpPr>
            <a:spLocks noGrp="1"/>
          </p:cNvSpPr>
          <p:nvPr/>
        </p:nvSpPr>
        <p:spPr>
          <a:xfrm>
            <a:off x="6924675" y="5600700"/>
            <a:ext cx="4791075" cy="285750"/>
          </a:xfrm>
          <a:prstGeom prst="roundRect">
            <a:avLst>
              <a:gd name="adj" fmla="val 26667"/>
            </a:avLst>
          </a:prstGeom>
          <a:noFill/>
          <a:ln w="9525">
            <a:solidFill>
              <a:srgbClr val="1E8E94"/>
            </a:solidFill>
            <a:prstDash val="solid"/>
          </a:ln>
        </p:spPr>
        <p:txBody>
          <a:bodyPr wrap="square" lIns="47625" tIns="28575" rIns="47625" bIns="28575" anchor="ctr">
            <a:normAutofit/>
          </a:bodyPr>
          <a:lstStyle/>
          <a:p>
            <a:pPr algn="ctr">
              <a:defRPr sz="1125" b="1">
                <a:solidFill>
                  <a:srgbClr val="147988"/>
                </a:solidFill>
                <a:latin typeface="Source Han Sans CN"/>
                <a:ea typeface="Source Han Sans CN"/>
                <a:cs typeface="Source Han Sans CN"/>
              </a:defRPr>
            </a:pPr>
            <a:r>
              <a:rPr sz="1125" b="1">
                <a:solidFill>
                  <a:srgbClr val="147988"/>
                </a:solidFill>
                <a:latin typeface="Source Han Sans CN"/>
                <a:ea typeface="Source Han Sans CN"/>
                <a:cs typeface="Source Han Sans CN"/>
              </a:rPr>
              <a:t>硬件执行：若干 Thread 组成 Wave；lane 只是组内编号</a:t>
            </a:r>
            <a:endParaRPr sz="1125" b="1">
              <a:solidFill>
                <a:srgbClr val="147988"/>
              </a:solidFill>
              <a:latin typeface="Source Han Sans CN"/>
              <a:ea typeface="Source Han Sans CN"/>
              <a:cs typeface="Source Han Sans C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V2 Title"/>
          <p:cNvSpPr>
            <a:spLocks noGrp="1"/>
          </p:cNvSpPr>
          <p:nvPr/>
        </p:nvSpPr>
        <p:spPr>
          <a:xfrm>
            <a:off x="333375" y="95250"/>
            <a:ext cx="10058400" cy="657225"/>
          </a:xfrm>
          <a:prstGeom prst="rect">
            <a:avLst/>
          </a:prstGeom>
          <a:noFill/>
          <a:ln w="0">
            <a:noFill/>
          </a:ln>
        </p:spPr>
        <p:txBody>
          <a:bodyPr anchor="ctr"/>
          <a:lstStyle/>
          <a:p>
            <a:pPr algn="l">
              <a:buNone/>
              <a:defRPr sz="3200" b="1">
                <a:solidFill>
                  <a:srgbClr val="000000"/>
                </a:solidFill>
                <a:latin typeface="Source Han Sans CN"/>
                <a:ea typeface="Source Han Sans CN"/>
                <a:cs typeface="Source Han Sans CN"/>
              </a:defRPr>
            </a:pPr>
            <a:r>
              <a:rPr sz="3200" b="1">
                <a:solidFill>
                  <a:srgbClr val="000000"/>
                </a:solidFill>
                <a:latin typeface="Source Han Sans CN"/>
                <a:ea typeface="Source Han Sans CN"/>
                <a:cs typeface="Source Han Sans CN"/>
              </a:rPr>
              <a:t>数据位置决定线程协作的成本</a:t>
            </a:r>
            <a:endParaRPr sz="3200" b="1">
              <a:solidFill>
                <a:srgbClr val="000000"/>
              </a:solidFill>
              <a:latin typeface="Source Han Sans CN"/>
              <a:ea typeface="Source Han Sans CN"/>
              <a:cs typeface="Source Han Sans CN"/>
            </a:endParaRPr>
          </a:p>
        </p:txBody>
      </p:sp>
      <p:sp>
        <p:nvSpPr>
          <p:cNvPr id="2" name="V2 Subtitle"/>
          <p:cNvSpPr>
            <a:spLocks noGrp="1"/>
          </p:cNvSpPr>
          <p:nvPr/>
        </p:nvSpPr>
        <p:spPr>
          <a:xfrm>
            <a:off x="838200" y="1047750"/>
            <a:ext cx="10420350" cy="400050"/>
          </a:xfrm>
          <a:prstGeom prst="rect">
            <a:avLst/>
          </a:prstGeom>
          <a:noFill/>
          <a:ln w="0">
            <a:noFill/>
          </a:ln>
        </p:spPr>
        <p:txBody>
          <a:bodyPr anchor="ctr"/>
          <a:lstStyle/>
          <a:p>
            <a:pPr algn="l">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经典延迟量级：寄存器</a:t>
            </a:r>
            <a:r>
              <a:rPr sz="1500" b="1">
                <a:solidFill>
                  <a:srgbClr val="660874"/>
                </a:solidFill>
                <a:latin typeface="Source Han Sans CN"/>
                <a:ea typeface="Source Han Sans CN"/>
                <a:cs typeface="Source Han Sans CN"/>
              </a:rPr>
              <a:t> &lt; </a:t>
            </a:r>
            <a:r>
              <a:rPr sz="1500" b="1">
                <a:solidFill>
                  <a:srgbClr val="660874"/>
                </a:solidFill>
                <a:latin typeface="Source Han Sans CN"/>
                <a:ea typeface="Source Han Sans CN"/>
                <a:cs typeface="Source Han Sans CN"/>
              </a:rPr>
              <a:t>共享内存</a:t>
            </a:r>
            <a:r>
              <a:rPr sz="1500" b="1">
                <a:solidFill>
                  <a:srgbClr val="660874"/>
                </a:solidFill>
                <a:latin typeface="Source Han Sans CN"/>
                <a:ea typeface="Source Han Sans CN"/>
                <a:cs typeface="Source Han Sans CN"/>
              </a:rPr>
              <a:t> &lt; </a:t>
            </a:r>
            <a:r>
              <a:rPr sz="1500" b="1">
                <a:solidFill>
                  <a:srgbClr val="660874"/>
                </a:solidFill>
                <a:latin typeface="Source Han Sans CN"/>
                <a:ea typeface="Source Han Sans CN"/>
                <a:cs typeface="Source Han Sans CN"/>
              </a:rPr>
              <a:t>全局内存；实际值随架构与缓存状态变化</a:t>
            </a:r>
            <a:endParaRPr sz="1500" b="1">
              <a:solidFill>
                <a:srgbClr val="660874"/>
              </a:solidFill>
              <a:latin typeface="Source Han Sans CN"/>
              <a:ea typeface="Source Han Sans CN"/>
              <a:cs typeface="Source Han Sans CN"/>
            </a:endParaRPr>
          </a:p>
        </p:txBody>
      </p:sp>
      <p:sp>
        <p:nvSpPr>
          <p:cNvPr id="3" name="V2 Slide Number"/>
          <p:cNvSpPr>
            <a:spLocks noGrp="1"/>
          </p:cNvSpPr>
          <p:nvPr/>
        </p:nvSpPr>
        <p:spPr>
          <a:xfrm>
            <a:off x="9448800" y="6353175"/>
            <a:ext cx="2743200" cy="361950"/>
          </a:xfrm>
          <a:prstGeom prst="rect">
            <a:avLst/>
          </a:prstGeom>
          <a:noFill/>
          <a:ln w="0">
            <a:noFill/>
          </a:ln>
        </p:spPr>
        <p:txBody>
          <a:bodyPr anchor="ctr"/>
          <a:lstStyle/>
          <a:p>
            <a:pPr algn="r">
              <a:buNone/>
              <a:defRPr sz="1200" b="0">
                <a:solidFill>
                  <a:srgbClr val="8B8E93"/>
                </a:solidFill>
                <a:latin typeface="Arial" panose="020B0604020202090204"/>
                <a:ea typeface="Arial" panose="020B0604020202090204"/>
                <a:cs typeface="Arial" panose="020B0604020202090204"/>
              </a:defRPr>
            </a:pPr>
            <a:r>
              <a:rPr sz="1200" b="0">
                <a:solidFill>
                  <a:srgbClr val="8B8E93"/>
                </a:solidFill>
                <a:latin typeface="Arial" panose="020B0604020202090204"/>
                <a:ea typeface="Arial" panose="020B0604020202090204"/>
                <a:cs typeface="Arial" panose="020B0604020202090204"/>
              </a:rPr>
              <a:t>05</a:t>
            </a:r>
            <a:endParaRPr sz="1200" b="0">
              <a:solidFill>
                <a:srgbClr val="8B8E93"/>
              </a:solidFill>
              <a:latin typeface="Arial" panose="020B0604020202090204"/>
              <a:ea typeface="Arial" panose="020B0604020202090204"/>
              <a:cs typeface="Arial" panose="020B0604020202090204"/>
            </a:endParaRPr>
          </a:p>
        </p:txBody>
      </p:sp>
      <p:sp>
        <p:nvSpPr>
          <p:cNvPr id="4" name="矩形: 圆角 3"/>
          <p:cNvSpPr>
            <a:spLocks noGrp="1"/>
          </p:cNvSpPr>
          <p:nvPr/>
        </p:nvSpPr>
        <p:spPr>
          <a:xfrm>
            <a:off x="857250" y="1657350"/>
            <a:ext cx="3333750" cy="1981200"/>
          </a:xfrm>
          <a:prstGeom prst="roundRect">
            <a:avLst>
              <a:gd name="adj" fmla="val 5490"/>
            </a:avLst>
          </a:prstGeom>
          <a:noFill/>
          <a:ln w="9525">
            <a:solidFill>
              <a:srgbClr val="660874"/>
            </a:solidFill>
            <a:prstDash val="solid"/>
          </a:ln>
        </p:spPr>
      </p:sp>
      <p:sp>
        <p:nvSpPr>
          <p:cNvPr id="5" name="矩形 4"/>
          <p:cNvSpPr>
            <a:spLocks noGrp="1"/>
          </p:cNvSpPr>
          <p:nvPr/>
        </p:nvSpPr>
        <p:spPr>
          <a:xfrm>
            <a:off x="1047750" y="1809750"/>
            <a:ext cx="2952750" cy="457200"/>
          </a:xfrm>
          <a:prstGeom prst="rect">
            <a:avLst/>
          </a:prstGeom>
          <a:noFill/>
          <a:ln w="0">
            <a:noFill/>
          </a:ln>
        </p:spPr>
        <p:txBody>
          <a:bodyPr wrap="square" lIns="47625" tIns="28575" rIns="47625" bIns="28575" anchor="ctr">
            <a:normAutofit/>
          </a:bodyPr>
          <a:lstStyle/>
          <a:p>
            <a:pPr algn="ctr">
              <a:buNone/>
              <a:defRPr sz="1875" b="1">
                <a:solidFill>
                  <a:srgbClr val="660874"/>
                </a:solidFill>
                <a:latin typeface="Source Han Sans CN"/>
                <a:ea typeface="Source Han Sans CN"/>
                <a:cs typeface="Source Han Sans CN"/>
              </a:defRPr>
            </a:pPr>
            <a:r>
              <a:rPr sz="1875" b="1">
                <a:solidFill>
                  <a:srgbClr val="660874"/>
                </a:solidFill>
                <a:latin typeface="Source Han Sans CN"/>
                <a:ea typeface="Source Han Sans CN"/>
                <a:cs typeface="Source Han Sans CN"/>
              </a:rPr>
              <a:t>寄存器</a:t>
            </a:r>
            <a:endParaRPr sz="1875" b="1">
              <a:solidFill>
                <a:srgbClr val="660874"/>
              </a:solidFill>
              <a:latin typeface="Source Han Sans CN"/>
              <a:ea typeface="Source Han Sans CN"/>
              <a:cs typeface="Source Han Sans CN"/>
            </a:endParaRPr>
          </a:p>
        </p:txBody>
      </p:sp>
      <p:sp>
        <p:nvSpPr>
          <p:cNvPr id="6" name="矩形 5"/>
          <p:cNvSpPr>
            <a:spLocks noGrp="1"/>
          </p:cNvSpPr>
          <p:nvPr/>
        </p:nvSpPr>
        <p:spPr>
          <a:xfrm>
            <a:off x="1047750" y="2276475"/>
            <a:ext cx="2952750" cy="342900"/>
          </a:xfrm>
          <a:prstGeom prst="rect">
            <a:avLst/>
          </a:prstGeom>
          <a:noFill/>
          <a:ln w="0">
            <a:noFill/>
          </a:ln>
        </p:spPr>
        <p:txBody>
          <a:bodyPr wrap="square" lIns="47625" tIns="28575" rIns="47625" bIns="28575" anchor="ctr">
            <a:normAutofit/>
          </a:bodyPr>
          <a:lstStyle/>
          <a:p>
            <a:pPr algn="ctr">
              <a:buNone/>
              <a:defRPr sz="1125" b="1">
                <a:solidFill>
                  <a:srgbClr val="222222"/>
                </a:solidFill>
                <a:latin typeface="Source Han Sans CN"/>
                <a:ea typeface="Source Han Sans CN"/>
                <a:cs typeface="Source Han Sans CN"/>
              </a:defRPr>
            </a:pPr>
            <a:r>
              <a:rPr sz="1125" b="1">
                <a:solidFill>
                  <a:srgbClr val="222222"/>
                </a:solidFill>
                <a:latin typeface="Source Han Sans CN"/>
                <a:ea typeface="Source Han Sans CN"/>
                <a:cs typeface="Source Han Sans CN"/>
              </a:rPr>
              <a:t>线程私有</a:t>
            </a:r>
            <a:endParaRPr sz="1125" b="1">
              <a:solidFill>
                <a:srgbClr val="222222"/>
              </a:solidFill>
              <a:latin typeface="Source Han Sans CN"/>
              <a:ea typeface="Source Han Sans CN"/>
              <a:cs typeface="Source Han Sans CN"/>
            </a:endParaRPr>
          </a:p>
        </p:txBody>
      </p:sp>
      <p:sp>
        <p:nvSpPr>
          <p:cNvPr id="7" name="矩形 6"/>
          <p:cNvSpPr>
            <a:spLocks noGrp="1"/>
          </p:cNvSpPr>
          <p:nvPr/>
        </p:nvSpPr>
        <p:spPr>
          <a:xfrm>
            <a:off x="1095375" y="2647950"/>
            <a:ext cx="2857500" cy="762000"/>
          </a:xfrm>
          <a:prstGeom prst="rect">
            <a:avLst/>
          </a:prstGeom>
          <a:noFill/>
          <a:ln w="0">
            <a:noFill/>
          </a:ln>
        </p:spPr>
        <p:txBody>
          <a:bodyPr wrap="square" lIns="47625" tIns="28575" rIns="47625" bIns="28575" anchor="ctr">
            <a:normAutofit/>
          </a:bodyPr>
          <a:lstStyle/>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 1 cycle</a:t>
            </a:r>
            <a:endParaRPr sz="1050" b="0">
              <a:solidFill>
                <a:srgbClr val="6F7782"/>
              </a:solidFill>
              <a:latin typeface="Source Han Sans CN"/>
              <a:ea typeface="Source Han Sans CN"/>
              <a:cs typeface="Source Han Sans CN"/>
            </a:endParaRPr>
          </a:p>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线程私有，保存局部变量</a:t>
            </a:r>
            <a:endParaRPr sz="1275" b="0">
              <a:solidFill>
                <a:srgbClr val="7B858D"/>
              </a:solidFill>
              <a:latin typeface="Source Han Sans CN"/>
              <a:ea typeface="Source Han Sans CN"/>
              <a:cs typeface="Source Han Sans CN"/>
            </a:endParaRPr>
          </a:p>
        </p:txBody>
      </p:sp>
      <p:sp>
        <p:nvSpPr>
          <p:cNvPr id="8" name="矩形: 圆角 7"/>
          <p:cNvSpPr>
            <a:spLocks noGrp="1"/>
          </p:cNvSpPr>
          <p:nvPr/>
        </p:nvSpPr>
        <p:spPr>
          <a:xfrm>
            <a:off x="4429125" y="1657350"/>
            <a:ext cx="3333750" cy="1981200"/>
          </a:xfrm>
          <a:prstGeom prst="roundRect">
            <a:avLst>
              <a:gd name="adj" fmla="val 5490"/>
            </a:avLst>
          </a:prstGeom>
          <a:noFill/>
          <a:ln w="9525">
            <a:solidFill>
              <a:srgbClr val="1E8E94"/>
            </a:solidFill>
            <a:prstDash val="solid"/>
          </a:ln>
        </p:spPr>
      </p:sp>
      <p:sp>
        <p:nvSpPr>
          <p:cNvPr id="9" name="矩形 8"/>
          <p:cNvSpPr>
            <a:spLocks noGrp="1"/>
          </p:cNvSpPr>
          <p:nvPr/>
        </p:nvSpPr>
        <p:spPr>
          <a:xfrm>
            <a:off x="4619625" y="1809750"/>
            <a:ext cx="2952750" cy="457200"/>
          </a:xfrm>
          <a:prstGeom prst="rect">
            <a:avLst/>
          </a:prstGeom>
          <a:noFill/>
          <a:ln w="0">
            <a:noFill/>
          </a:ln>
        </p:spPr>
        <p:txBody>
          <a:bodyPr wrap="square" lIns="47625" tIns="28575" rIns="47625" bIns="28575" anchor="ctr">
            <a:normAutofit/>
          </a:bodyPr>
          <a:lstStyle/>
          <a:p>
            <a:pPr algn="ctr">
              <a:buNone/>
              <a:defRPr sz="1875" b="1">
                <a:solidFill>
                  <a:srgbClr val="1E8E94"/>
                </a:solidFill>
                <a:latin typeface="Source Han Sans CN"/>
                <a:ea typeface="Source Han Sans CN"/>
                <a:cs typeface="Source Han Sans CN"/>
              </a:defRPr>
            </a:pPr>
            <a:r>
              <a:rPr sz="1875" b="1">
                <a:solidFill>
                  <a:srgbClr val="1E8E94"/>
                </a:solidFill>
                <a:latin typeface="Source Han Sans CN"/>
                <a:ea typeface="Source Han Sans CN"/>
                <a:cs typeface="Source Han Sans CN"/>
              </a:rPr>
              <a:t>共享内存</a:t>
            </a:r>
            <a:endParaRPr sz="1875" b="1">
              <a:solidFill>
                <a:srgbClr val="1E8E94"/>
              </a:solidFill>
              <a:latin typeface="Source Han Sans CN"/>
              <a:ea typeface="Source Han Sans CN"/>
              <a:cs typeface="Source Han Sans CN"/>
            </a:endParaRPr>
          </a:p>
        </p:txBody>
      </p:sp>
      <p:sp>
        <p:nvSpPr>
          <p:cNvPr id="10" name="矩形 9"/>
          <p:cNvSpPr>
            <a:spLocks noGrp="1"/>
          </p:cNvSpPr>
          <p:nvPr/>
        </p:nvSpPr>
        <p:spPr>
          <a:xfrm>
            <a:off x="4619625" y="2276475"/>
            <a:ext cx="2952750" cy="342900"/>
          </a:xfrm>
          <a:prstGeom prst="rect">
            <a:avLst/>
          </a:prstGeom>
          <a:noFill/>
          <a:ln w="0">
            <a:noFill/>
          </a:ln>
        </p:spPr>
        <p:txBody>
          <a:bodyPr wrap="square" lIns="47625" tIns="28575" rIns="47625" bIns="28575" anchor="ctr">
            <a:normAutofit/>
          </a:bodyPr>
          <a:lstStyle/>
          <a:p>
            <a:pPr algn="ctr">
              <a:buNone/>
              <a:defRPr sz="1125" b="1">
                <a:solidFill>
                  <a:srgbClr val="222222"/>
                </a:solidFill>
                <a:latin typeface="Source Han Sans CN"/>
                <a:ea typeface="Source Han Sans CN"/>
                <a:cs typeface="Source Han Sans CN"/>
              </a:defRPr>
            </a:pPr>
            <a:r>
              <a:rPr sz="1125" b="1">
                <a:solidFill>
                  <a:srgbClr val="222222"/>
                </a:solidFill>
                <a:latin typeface="Source Han Sans CN"/>
                <a:ea typeface="Source Han Sans CN"/>
                <a:cs typeface="Source Han Sans CN"/>
              </a:rPr>
              <a:t>Block 内共享</a:t>
            </a:r>
            <a:endParaRPr sz="1125" b="1">
              <a:solidFill>
                <a:srgbClr val="222222"/>
              </a:solidFill>
              <a:latin typeface="Source Han Sans CN"/>
              <a:ea typeface="Source Han Sans CN"/>
              <a:cs typeface="Source Han Sans CN"/>
            </a:endParaRPr>
          </a:p>
        </p:txBody>
      </p:sp>
      <p:sp>
        <p:nvSpPr>
          <p:cNvPr id="11" name="矩形 10"/>
          <p:cNvSpPr>
            <a:spLocks noGrp="1"/>
          </p:cNvSpPr>
          <p:nvPr/>
        </p:nvSpPr>
        <p:spPr>
          <a:xfrm>
            <a:off x="4667250" y="2647950"/>
            <a:ext cx="2857500" cy="762000"/>
          </a:xfrm>
          <a:prstGeom prst="rect">
            <a:avLst/>
          </a:prstGeom>
          <a:noFill/>
          <a:ln w="0">
            <a:noFill/>
          </a:ln>
        </p:spPr>
        <p:txBody>
          <a:bodyPr wrap="square" lIns="47625" tIns="28575" rIns="47625" bIns="28575" anchor="ctr">
            <a:normAutofit/>
          </a:bodyPr>
          <a:lstStyle/>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 20–30 cycles</a:t>
            </a:r>
            <a:endParaRPr sz="1050" b="0">
              <a:solidFill>
                <a:srgbClr val="6F7782"/>
              </a:solidFill>
              <a:latin typeface="Source Han Sans CN"/>
              <a:ea typeface="Source Han Sans CN"/>
              <a:cs typeface="Source Han Sans CN"/>
            </a:endParaRPr>
          </a:p>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Block 内共享，需要块级同步</a:t>
            </a:r>
            <a:endParaRPr sz="1275" b="0">
              <a:solidFill>
                <a:srgbClr val="7B858D"/>
              </a:solidFill>
              <a:latin typeface="Source Han Sans CN"/>
              <a:ea typeface="Source Han Sans CN"/>
              <a:cs typeface="Source Han Sans CN"/>
            </a:endParaRPr>
          </a:p>
        </p:txBody>
      </p:sp>
      <p:sp>
        <p:nvSpPr>
          <p:cNvPr id="12" name="矩形: 圆角 11"/>
          <p:cNvSpPr>
            <a:spLocks noGrp="1"/>
          </p:cNvSpPr>
          <p:nvPr/>
        </p:nvSpPr>
        <p:spPr>
          <a:xfrm>
            <a:off x="8001000" y="1657350"/>
            <a:ext cx="3333750" cy="1981200"/>
          </a:xfrm>
          <a:prstGeom prst="roundRect">
            <a:avLst>
              <a:gd name="adj" fmla="val 5490"/>
            </a:avLst>
          </a:prstGeom>
          <a:noFill/>
          <a:ln w="9525">
            <a:solidFill>
              <a:srgbClr val="48BB00"/>
            </a:solidFill>
            <a:prstDash val="solid"/>
          </a:ln>
        </p:spPr>
      </p:sp>
      <p:sp>
        <p:nvSpPr>
          <p:cNvPr id="13" name="矩形 12"/>
          <p:cNvSpPr>
            <a:spLocks noGrp="1"/>
          </p:cNvSpPr>
          <p:nvPr/>
        </p:nvSpPr>
        <p:spPr>
          <a:xfrm>
            <a:off x="8191500" y="1809750"/>
            <a:ext cx="2952750" cy="457200"/>
          </a:xfrm>
          <a:prstGeom prst="rect">
            <a:avLst/>
          </a:prstGeom>
          <a:noFill/>
          <a:ln w="0">
            <a:noFill/>
          </a:ln>
        </p:spPr>
        <p:txBody>
          <a:bodyPr wrap="square" lIns="47625" tIns="28575" rIns="47625" bIns="28575" anchor="ctr">
            <a:normAutofit/>
          </a:bodyPr>
          <a:lstStyle/>
          <a:p>
            <a:pPr algn="ctr">
              <a:buNone/>
              <a:defRPr sz="1875" b="1">
                <a:solidFill>
                  <a:srgbClr val="48BB00"/>
                </a:solidFill>
                <a:latin typeface="Source Han Sans CN"/>
                <a:ea typeface="Source Han Sans CN"/>
                <a:cs typeface="Source Han Sans CN"/>
              </a:defRPr>
            </a:pPr>
            <a:r>
              <a:rPr sz="1875" b="1">
                <a:solidFill>
                  <a:srgbClr val="48BB00"/>
                </a:solidFill>
                <a:latin typeface="Source Han Sans CN"/>
                <a:ea typeface="Source Han Sans CN"/>
                <a:cs typeface="Source Han Sans CN"/>
              </a:rPr>
              <a:t>全局内存</a:t>
            </a:r>
            <a:endParaRPr sz="1875" b="1">
              <a:solidFill>
                <a:srgbClr val="48BB00"/>
              </a:solidFill>
              <a:latin typeface="Source Han Sans CN"/>
              <a:ea typeface="Source Han Sans CN"/>
              <a:cs typeface="Source Han Sans CN"/>
            </a:endParaRPr>
          </a:p>
        </p:txBody>
      </p:sp>
      <p:sp>
        <p:nvSpPr>
          <p:cNvPr id="14" name="矩形 13"/>
          <p:cNvSpPr>
            <a:spLocks noGrp="1"/>
          </p:cNvSpPr>
          <p:nvPr/>
        </p:nvSpPr>
        <p:spPr>
          <a:xfrm>
            <a:off x="8191500" y="2276475"/>
            <a:ext cx="2952750" cy="342900"/>
          </a:xfrm>
          <a:prstGeom prst="rect">
            <a:avLst/>
          </a:prstGeom>
          <a:noFill/>
          <a:ln w="0">
            <a:noFill/>
          </a:ln>
        </p:spPr>
        <p:txBody>
          <a:bodyPr wrap="square" lIns="47625" tIns="28575" rIns="47625" bIns="28575" anchor="ctr">
            <a:normAutofit/>
          </a:bodyPr>
          <a:lstStyle/>
          <a:p>
            <a:pPr algn="ctr">
              <a:buNone/>
              <a:defRPr sz="1125" b="1">
                <a:solidFill>
                  <a:srgbClr val="222222"/>
                </a:solidFill>
                <a:latin typeface="Source Han Sans CN"/>
                <a:ea typeface="Source Han Sans CN"/>
                <a:cs typeface="Source Han Sans CN"/>
              </a:defRPr>
            </a:pPr>
            <a:r>
              <a:rPr sz="1125" b="1">
                <a:solidFill>
                  <a:srgbClr val="222222"/>
                </a:solidFill>
                <a:latin typeface="Source Han Sans CN"/>
                <a:ea typeface="Source Han Sans CN"/>
                <a:cs typeface="Source Han Sans CN"/>
              </a:rPr>
              <a:t>设备范围可访问</a:t>
            </a:r>
            <a:endParaRPr sz="1125" b="1">
              <a:solidFill>
                <a:srgbClr val="222222"/>
              </a:solidFill>
              <a:latin typeface="Source Han Sans CN"/>
              <a:ea typeface="Source Han Sans CN"/>
              <a:cs typeface="Source Han Sans CN"/>
            </a:endParaRPr>
          </a:p>
        </p:txBody>
      </p:sp>
      <p:sp>
        <p:nvSpPr>
          <p:cNvPr id="15" name="矩形 14"/>
          <p:cNvSpPr>
            <a:spLocks noGrp="1"/>
          </p:cNvSpPr>
          <p:nvPr/>
        </p:nvSpPr>
        <p:spPr>
          <a:xfrm>
            <a:off x="8239125" y="2647950"/>
            <a:ext cx="2857500" cy="762000"/>
          </a:xfrm>
          <a:prstGeom prst="rect">
            <a:avLst/>
          </a:prstGeom>
          <a:noFill/>
          <a:ln w="0">
            <a:noFill/>
          </a:ln>
        </p:spPr>
        <p:txBody>
          <a:bodyPr wrap="square" lIns="47625" tIns="28575" rIns="47625" bIns="28575" anchor="ctr">
            <a:normAutofit/>
          </a:bodyPr>
          <a:lstStyle/>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 400–800 cycles</a:t>
            </a:r>
            <a:endParaRPr sz="1050" b="0">
              <a:solidFill>
                <a:srgbClr val="6F7782"/>
              </a:solidFill>
              <a:latin typeface="Source Han Sans CN"/>
              <a:ea typeface="Source Han Sans CN"/>
              <a:cs typeface="Source Han Sans CN"/>
            </a:endParaRPr>
          </a:p>
          <a:p>
            <a:pPr algn="ctr">
              <a:buNone/>
              <a:defRPr sz="1050" b="0">
                <a:solidFill>
                  <a:srgbClr val="6F7782"/>
                </a:solidFill>
                <a:latin typeface="Source Han Sans CN"/>
                <a:ea typeface="Source Han Sans CN"/>
                <a:cs typeface="Source Han Sans CN"/>
              </a:defRPr>
            </a:pPr>
            <a:r>
              <a:rPr sz="1050" b="0">
                <a:solidFill>
                  <a:srgbClr val="6F7782"/>
                </a:solidFill>
                <a:latin typeface="Source Han Sans CN"/>
                <a:ea typeface="Source Han Sans CN"/>
                <a:cs typeface="Source Han Sans CN"/>
              </a:rPr>
              <a:t>存放输入与输出，缓存命中会改变延迟</a:t>
            </a:r>
            <a:endParaRPr sz="1050" b="0">
              <a:solidFill>
                <a:srgbClr val="6F7782"/>
              </a:solidFill>
              <a:latin typeface="Source Han Sans CN"/>
              <a:ea typeface="Source Han Sans CN"/>
              <a:cs typeface="Source Han Sans CN"/>
            </a:endParaRPr>
          </a:p>
        </p:txBody>
      </p:sp>
      <p:sp>
        <p:nvSpPr>
          <p:cNvPr id="19" name="矩形 18"/>
          <p:cNvSpPr>
            <a:spLocks noGrp="1"/>
          </p:cNvSpPr>
          <p:nvPr/>
        </p:nvSpPr>
        <p:spPr>
          <a:xfrm>
            <a:off x="1809750" y="3714750"/>
            <a:ext cx="8572500" cy="361950"/>
          </a:xfrm>
          <a:prstGeom prst="rect">
            <a:avLst/>
          </a:prstGeom>
          <a:noFill/>
          <a:ln w="0">
            <a:noFill/>
          </a:ln>
        </p:spPr>
        <p:txBody>
          <a:bodyPr wrap="square" lIns="47625" tIns="28575" rIns="47625" bIns="28575" anchor="ctr">
            <a:normAutofit/>
          </a:bodyPr>
          <a:lstStyle/>
          <a:p>
            <a:pPr algn="ctr">
              <a:buNone/>
              <a:defRPr sz="1200" b="1">
                <a:solidFill>
                  <a:srgbClr val="660874"/>
                </a:solidFill>
                <a:latin typeface="Source Han Sans CN"/>
                <a:ea typeface="Source Han Sans CN"/>
                <a:cs typeface="Source Han Sans CN"/>
              </a:defRPr>
            </a:pPr>
            <a:r>
              <a:rPr sz="1200" b="1">
                <a:solidFill>
                  <a:srgbClr val="660874"/>
                </a:solidFill>
                <a:latin typeface="Source Han Sans CN"/>
                <a:ea typeface="Source Han Sans CN"/>
                <a:cs typeface="Source Han Sans CN"/>
              </a:rPr>
              <a:t>同一 Wave 内优先用 Shuffle；跨 Wave 再借助共享内存</a:t>
            </a:r>
            <a:endParaRPr sz="1425" b="1">
              <a:solidFill>
                <a:srgbClr val="71107E"/>
              </a:solidFill>
              <a:latin typeface="Source Han Sans CN"/>
              <a:ea typeface="Source Han Sans CN"/>
              <a:cs typeface="Source Han Sans CN"/>
            </a:endParaRPr>
          </a:p>
        </p:txBody>
      </p:sp>
      <p:sp>
        <p:nvSpPr>
          <p:cNvPr id="21" name="Softmax reduction example frame"/>
          <p:cNvSpPr>
            <a:spLocks noGrp="1"/>
          </p:cNvSpPr>
          <p:nvPr/>
        </p:nvSpPr>
        <p:spPr>
          <a:xfrm>
            <a:off x="666750" y="4152900"/>
            <a:ext cx="10858500" cy="1809750"/>
          </a:xfrm>
          <a:prstGeom prst="roundRect">
            <a:avLst>
              <a:gd name="adj" fmla="val 6316"/>
            </a:avLst>
          </a:prstGeom>
          <a:noFill/>
          <a:ln w="9525">
            <a:solidFill>
              <a:srgbClr val="A894B1"/>
            </a:solidFill>
            <a:prstDash val="solid"/>
          </a:ln>
        </p:spPr>
      </p:sp>
      <p:sp>
        <p:nvSpPr>
          <p:cNvPr id="22" name="Softmax reduction example title"/>
          <p:cNvSpPr>
            <a:spLocks noGrp="1"/>
          </p:cNvSpPr>
          <p:nvPr/>
        </p:nvSpPr>
        <p:spPr>
          <a:xfrm>
            <a:off x="876300" y="4219575"/>
            <a:ext cx="10439400" cy="285750"/>
          </a:xfrm>
          <a:prstGeom prst="rect">
            <a:avLst/>
          </a:prstGeom>
          <a:noFill/>
          <a:ln w="0">
            <a:noFill/>
            <a:prstDash val="solid"/>
          </a:ln>
        </p:spPr>
        <p:txBody>
          <a:bodyPr wrap="square" lIns="47625" tIns="28575" rIns="47625" bIns="28575" anchor="ctr">
            <a:normAutofit/>
          </a:bodyPr>
          <a:lstStyle/>
          <a:p>
            <a:pPr algn="l">
              <a:defRPr sz="1200" b="1">
                <a:solidFill>
                  <a:srgbClr val="660874"/>
                </a:solidFill>
                <a:latin typeface="Source Han Sans CN"/>
                <a:ea typeface="Source Han Sans CN"/>
                <a:cs typeface="Source Han Sans CN"/>
              </a:defRPr>
            </a:pPr>
            <a:r>
              <a:rPr sz="1200" b="1">
                <a:solidFill>
                  <a:srgbClr val="660874"/>
                </a:solidFill>
                <a:latin typeface="Source Han Sans CN"/>
                <a:ea typeface="Source Han Sans CN"/>
                <a:cs typeface="Source Han Sans CN"/>
              </a:rPr>
              <a:t>Softmax 示例：从 Wave 内到 Block 内的两级归约</a:t>
            </a:r>
            <a:endParaRPr sz="1200" b="1">
              <a:solidFill>
                <a:srgbClr val="660874"/>
              </a:solidFill>
              <a:latin typeface="Source Han Sans CN"/>
              <a:ea typeface="Source Han Sans CN"/>
              <a:cs typeface="Source Han Sans CN"/>
            </a:endParaRPr>
          </a:p>
        </p:txBody>
      </p:sp>
      <p:sp>
        <p:nvSpPr>
          <p:cNvPr id="23" name="Softmax wave arrow 1"/>
          <p:cNvSpPr>
            <a:spLocks noGrp="1"/>
          </p:cNvSpPr>
          <p:nvPr/>
        </p:nvSpPr>
        <p:spPr>
          <a:xfrm>
            <a:off x="4171950" y="4562475"/>
            <a:ext cx="304800" cy="381000"/>
          </a:xfrm>
          <a:prstGeom prst="rect">
            <a:avLst/>
          </a:prstGeom>
          <a:noFill/>
          <a:ln w="0">
            <a:noFill/>
            <a:prstDash val="solid"/>
          </a:ln>
        </p:spPr>
        <p:txBody>
          <a:bodyPr wrap="square" lIns="47625" tIns="28575" rIns="47625" bIns="28575" anchor="ctr">
            <a:normAutofit fontScale="88342"/>
          </a:bodyPr>
          <a:lstStyle/>
          <a:p>
            <a:pPr algn="ctr">
              <a:defRPr sz="1875">
                <a:solidFill>
                  <a:srgbClr val="A894B1"/>
                </a:solidFill>
                <a:latin typeface="Source Han Sans CN"/>
                <a:ea typeface="Source Han Sans CN"/>
                <a:cs typeface="Source Han Sans CN"/>
              </a:defRPr>
            </a:pPr>
            <a:r>
              <a:rPr sz="1875">
                <a:solidFill>
                  <a:srgbClr val="A894B1"/>
                </a:solidFill>
                <a:latin typeface="Source Han Sans CN"/>
                <a:ea typeface="Source Han Sans CN"/>
                <a:cs typeface="Source Han Sans CN"/>
              </a:rPr>
              <a:t>→</a:t>
            </a:r>
            <a:endParaRPr sz="1875">
              <a:solidFill>
                <a:srgbClr val="A894B1"/>
              </a:solidFill>
              <a:latin typeface="Source Han Sans CN"/>
              <a:ea typeface="Source Han Sans CN"/>
              <a:cs typeface="Source Han Sans CN"/>
            </a:endParaRPr>
          </a:p>
        </p:txBody>
      </p:sp>
      <p:sp>
        <p:nvSpPr>
          <p:cNvPr id="24" name="Softmax wave arrow 2"/>
          <p:cNvSpPr>
            <a:spLocks noGrp="1"/>
          </p:cNvSpPr>
          <p:nvPr/>
        </p:nvSpPr>
        <p:spPr>
          <a:xfrm>
            <a:off x="6410325" y="4562475"/>
            <a:ext cx="304800" cy="381000"/>
          </a:xfrm>
          <a:prstGeom prst="rect">
            <a:avLst/>
          </a:prstGeom>
          <a:noFill/>
          <a:ln w="0">
            <a:noFill/>
            <a:prstDash val="solid"/>
          </a:ln>
        </p:spPr>
        <p:txBody>
          <a:bodyPr wrap="square" lIns="47625" tIns="28575" rIns="47625" bIns="28575" anchor="ctr">
            <a:normAutofit fontScale="88342"/>
          </a:bodyPr>
          <a:lstStyle/>
          <a:p>
            <a:pPr algn="ctr">
              <a:defRPr sz="1875">
                <a:solidFill>
                  <a:srgbClr val="1E8E94"/>
                </a:solidFill>
                <a:latin typeface="Source Han Sans CN"/>
                <a:ea typeface="Source Han Sans CN"/>
                <a:cs typeface="Source Han Sans CN"/>
              </a:defRPr>
            </a:pPr>
            <a:r>
              <a:rPr sz="1875">
                <a:solidFill>
                  <a:srgbClr val="1E8E94"/>
                </a:solidFill>
                <a:latin typeface="Source Han Sans CN"/>
                <a:ea typeface="Source Han Sans CN"/>
                <a:cs typeface="Source Han Sans CN"/>
              </a:rPr>
              <a:t>→</a:t>
            </a:r>
            <a:endParaRPr sz="1875">
              <a:solidFill>
                <a:srgbClr val="1E8E94"/>
              </a:solidFill>
              <a:latin typeface="Source Han Sans CN"/>
              <a:ea typeface="Source Han Sans CN"/>
              <a:cs typeface="Source Han Sans CN"/>
            </a:endParaRPr>
          </a:p>
        </p:txBody>
      </p:sp>
      <p:sp>
        <p:nvSpPr>
          <p:cNvPr id="25" name="Softmax block arrow 1"/>
          <p:cNvSpPr>
            <a:spLocks noGrp="1"/>
          </p:cNvSpPr>
          <p:nvPr/>
        </p:nvSpPr>
        <p:spPr>
          <a:xfrm>
            <a:off x="3857625" y="5124450"/>
            <a:ext cx="304800" cy="381000"/>
          </a:xfrm>
          <a:prstGeom prst="rect">
            <a:avLst/>
          </a:prstGeom>
          <a:noFill/>
          <a:ln w="0">
            <a:noFill/>
            <a:prstDash val="solid"/>
          </a:ln>
        </p:spPr>
        <p:txBody>
          <a:bodyPr wrap="square" lIns="47625" tIns="28575" rIns="47625" bIns="28575" anchor="ctr">
            <a:normAutofit fontScale="88342"/>
          </a:bodyPr>
          <a:lstStyle/>
          <a:p>
            <a:pPr algn="ctr">
              <a:defRPr sz="1875">
                <a:solidFill>
                  <a:srgbClr val="A894B1"/>
                </a:solidFill>
                <a:latin typeface="Source Han Sans CN"/>
                <a:ea typeface="Source Han Sans CN"/>
                <a:cs typeface="Source Han Sans CN"/>
              </a:defRPr>
            </a:pPr>
            <a:r>
              <a:rPr sz="1875">
                <a:solidFill>
                  <a:srgbClr val="A894B1"/>
                </a:solidFill>
                <a:latin typeface="Source Han Sans CN"/>
                <a:ea typeface="Source Han Sans CN"/>
                <a:cs typeface="Source Han Sans CN"/>
              </a:rPr>
              <a:t>→</a:t>
            </a:r>
            <a:endParaRPr sz="1875">
              <a:solidFill>
                <a:srgbClr val="A894B1"/>
              </a:solidFill>
              <a:latin typeface="Source Han Sans CN"/>
              <a:ea typeface="Source Han Sans CN"/>
              <a:cs typeface="Source Han Sans CN"/>
            </a:endParaRPr>
          </a:p>
        </p:txBody>
      </p:sp>
      <p:sp>
        <p:nvSpPr>
          <p:cNvPr id="26" name="Softmax block arrow 2"/>
          <p:cNvSpPr>
            <a:spLocks noGrp="1"/>
          </p:cNvSpPr>
          <p:nvPr/>
        </p:nvSpPr>
        <p:spPr>
          <a:xfrm>
            <a:off x="5753100" y="5124450"/>
            <a:ext cx="304800" cy="381000"/>
          </a:xfrm>
          <a:prstGeom prst="rect">
            <a:avLst/>
          </a:prstGeom>
          <a:noFill/>
          <a:ln w="0">
            <a:noFill/>
            <a:prstDash val="solid"/>
          </a:ln>
        </p:spPr>
        <p:txBody>
          <a:bodyPr wrap="square" lIns="47625" tIns="28575" rIns="47625" bIns="28575" anchor="ctr">
            <a:normAutofit fontScale="88342"/>
          </a:bodyPr>
          <a:lstStyle/>
          <a:p>
            <a:pPr algn="ctr">
              <a:defRPr sz="1875">
                <a:solidFill>
                  <a:srgbClr val="1E8E94"/>
                </a:solidFill>
                <a:latin typeface="Source Han Sans CN"/>
                <a:ea typeface="Source Han Sans CN"/>
                <a:cs typeface="Source Han Sans CN"/>
              </a:defRPr>
            </a:pPr>
            <a:r>
              <a:rPr sz="1875">
                <a:solidFill>
                  <a:srgbClr val="1E8E94"/>
                </a:solidFill>
                <a:latin typeface="Source Han Sans CN"/>
                <a:ea typeface="Source Han Sans CN"/>
                <a:cs typeface="Source Han Sans CN"/>
              </a:rPr>
              <a:t>→</a:t>
            </a:r>
            <a:endParaRPr sz="1875">
              <a:solidFill>
                <a:srgbClr val="1E8E94"/>
              </a:solidFill>
              <a:latin typeface="Source Han Sans CN"/>
              <a:ea typeface="Source Han Sans CN"/>
              <a:cs typeface="Source Han Sans CN"/>
            </a:endParaRPr>
          </a:p>
        </p:txBody>
      </p:sp>
      <p:sp>
        <p:nvSpPr>
          <p:cNvPr id="27" name="Softmax block arrow 3"/>
          <p:cNvSpPr>
            <a:spLocks noGrp="1"/>
          </p:cNvSpPr>
          <p:nvPr/>
        </p:nvSpPr>
        <p:spPr>
          <a:xfrm>
            <a:off x="7381875" y="5124450"/>
            <a:ext cx="304800" cy="381000"/>
          </a:xfrm>
          <a:prstGeom prst="rect">
            <a:avLst/>
          </a:prstGeom>
          <a:noFill/>
          <a:ln w="0">
            <a:noFill/>
            <a:prstDash val="solid"/>
          </a:ln>
        </p:spPr>
        <p:txBody>
          <a:bodyPr wrap="square" lIns="47625" tIns="28575" rIns="47625" bIns="28575" anchor="ctr">
            <a:normAutofit fontScale="88342"/>
          </a:bodyPr>
          <a:lstStyle/>
          <a:p>
            <a:pPr algn="ctr">
              <a:defRPr sz="1875">
                <a:solidFill>
                  <a:srgbClr val="48BB00"/>
                </a:solidFill>
                <a:latin typeface="Source Han Sans CN"/>
                <a:ea typeface="Source Han Sans CN"/>
                <a:cs typeface="Source Han Sans CN"/>
              </a:defRPr>
            </a:pPr>
            <a:r>
              <a:rPr sz="1875">
                <a:solidFill>
                  <a:srgbClr val="48BB00"/>
                </a:solidFill>
                <a:latin typeface="Source Han Sans CN"/>
                <a:ea typeface="Source Han Sans CN"/>
                <a:cs typeface="Source Han Sans CN"/>
              </a:rPr>
              <a:t>→</a:t>
            </a:r>
            <a:endParaRPr sz="1875">
              <a:solidFill>
                <a:srgbClr val="48BB00"/>
              </a:solidFill>
              <a:latin typeface="Source Han Sans CN"/>
              <a:ea typeface="Source Han Sans CN"/>
              <a:cs typeface="Source Han Sans CN"/>
            </a:endParaRPr>
          </a:p>
        </p:txBody>
      </p:sp>
      <p:sp>
        <p:nvSpPr>
          <p:cNvPr id="28" name="Softmax wave row label"/>
          <p:cNvSpPr>
            <a:spLocks noGrp="1"/>
          </p:cNvSpPr>
          <p:nvPr/>
        </p:nvSpPr>
        <p:spPr>
          <a:xfrm>
            <a:off x="876300" y="4543425"/>
            <a:ext cx="1285875" cy="419100"/>
          </a:xfrm>
          <a:prstGeom prst="rect">
            <a:avLst/>
          </a:prstGeom>
          <a:noFill/>
          <a:ln w="0">
            <a:noFill/>
            <a:prstDash val="solid"/>
          </a:ln>
        </p:spPr>
        <p:txBody>
          <a:bodyPr wrap="square" lIns="47625" tIns="28575" rIns="47625" bIns="28575" anchor="ctr">
            <a:normAutofit/>
          </a:bodyPr>
          <a:lstStyle/>
          <a:p>
            <a:pPr algn="l">
              <a:defRPr sz="1050" b="1">
                <a:solidFill>
                  <a:srgbClr val="660874"/>
                </a:solidFill>
                <a:latin typeface="Source Han Sans CN"/>
                <a:ea typeface="Source Han Sans CN"/>
                <a:cs typeface="Source Han Sans CN"/>
              </a:defRPr>
            </a:pPr>
            <a:r>
              <a:rPr sz="1050" b="1">
                <a:solidFill>
                  <a:srgbClr val="660874"/>
                </a:solidFill>
                <a:latin typeface="Source Han Sans CN"/>
                <a:ea typeface="Source Han Sans CN"/>
                <a:cs typeface="Source Han Sans CN"/>
              </a:rPr>
              <a:t>① Wave 内归约</a:t>
            </a:r>
            <a:endParaRPr sz="1050" b="1">
              <a:solidFill>
                <a:srgbClr val="660874"/>
              </a:solidFill>
              <a:latin typeface="Source Han Sans CN"/>
              <a:ea typeface="Source Han Sans CN"/>
              <a:cs typeface="Source Han Sans CN"/>
            </a:endParaRPr>
          </a:p>
        </p:txBody>
      </p:sp>
      <p:sp>
        <p:nvSpPr>
          <p:cNvPr id="29" name="Softmax lane value 0"/>
          <p:cNvSpPr>
            <a:spLocks noGrp="1"/>
          </p:cNvSpPr>
          <p:nvPr/>
        </p:nvSpPr>
        <p:spPr>
          <a:xfrm>
            <a:off x="2286000" y="4543425"/>
            <a:ext cx="400050" cy="419100"/>
          </a:xfrm>
          <a:prstGeom prst="roundRect">
            <a:avLst>
              <a:gd name="adj" fmla="val 11905"/>
            </a:avLst>
          </a:prstGeom>
          <a:solidFill>
            <a:srgbClr val="F5EDF7"/>
          </a:solidFill>
          <a:ln w="9525">
            <a:solidFill>
              <a:srgbClr val="A894B1"/>
            </a:solidFill>
            <a:prstDash val="solid"/>
          </a:ln>
        </p:spPr>
        <p:txBody>
          <a:bodyPr wrap="square" lIns="19050" tIns="9525" rIns="19050" bIns="9525" anchor="ctr">
            <a:normAutofit/>
          </a:bodyPr>
          <a:lstStyle/>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L0</a:t>
            </a:r>
            <a:endParaRPr sz="825" b="1">
              <a:solidFill>
                <a:srgbClr val="660874"/>
              </a:solidFill>
              <a:latin typeface="Source Han Sans CN"/>
              <a:ea typeface="Source Han Sans CN"/>
              <a:cs typeface="Source Han Sans CN"/>
            </a:endParaRPr>
          </a:p>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1.2</a:t>
            </a:r>
            <a:endParaRPr sz="825" b="1">
              <a:solidFill>
                <a:srgbClr val="660874"/>
              </a:solidFill>
              <a:latin typeface="Source Han Sans CN"/>
              <a:ea typeface="Source Han Sans CN"/>
              <a:cs typeface="Source Han Sans CN"/>
            </a:endParaRPr>
          </a:p>
        </p:txBody>
      </p:sp>
      <p:sp>
        <p:nvSpPr>
          <p:cNvPr id="30" name="Softmax lane value 1"/>
          <p:cNvSpPr>
            <a:spLocks noGrp="1"/>
          </p:cNvSpPr>
          <p:nvPr/>
        </p:nvSpPr>
        <p:spPr>
          <a:xfrm>
            <a:off x="2762250" y="4543425"/>
            <a:ext cx="400050" cy="419100"/>
          </a:xfrm>
          <a:prstGeom prst="roundRect">
            <a:avLst>
              <a:gd name="adj" fmla="val 11905"/>
            </a:avLst>
          </a:prstGeom>
          <a:solidFill>
            <a:srgbClr val="F5EDF7"/>
          </a:solidFill>
          <a:ln w="9525">
            <a:solidFill>
              <a:srgbClr val="A894B1"/>
            </a:solidFill>
            <a:prstDash val="solid"/>
          </a:ln>
        </p:spPr>
        <p:txBody>
          <a:bodyPr wrap="square" lIns="19050" tIns="9525" rIns="19050" bIns="9525" anchor="ctr">
            <a:normAutofit/>
          </a:bodyPr>
          <a:lstStyle/>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L1</a:t>
            </a:r>
            <a:endParaRPr sz="825" b="1">
              <a:solidFill>
                <a:srgbClr val="660874"/>
              </a:solidFill>
              <a:latin typeface="Source Han Sans CN"/>
              <a:ea typeface="Source Han Sans CN"/>
              <a:cs typeface="Source Han Sans CN"/>
            </a:endParaRPr>
          </a:p>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0.3</a:t>
            </a:r>
            <a:endParaRPr sz="825" b="1">
              <a:solidFill>
                <a:srgbClr val="660874"/>
              </a:solidFill>
              <a:latin typeface="Source Han Sans CN"/>
              <a:ea typeface="Source Han Sans CN"/>
              <a:cs typeface="Source Han Sans CN"/>
            </a:endParaRPr>
          </a:p>
        </p:txBody>
      </p:sp>
      <p:sp>
        <p:nvSpPr>
          <p:cNvPr id="31" name="Softmax lane value 2"/>
          <p:cNvSpPr>
            <a:spLocks noGrp="1"/>
          </p:cNvSpPr>
          <p:nvPr/>
        </p:nvSpPr>
        <p:spPr>
          <a:xfrm>
            <a:off x="3238500" y="4543425"/>
            <a:ext cx="400050" cy="419100"/>
          </a:xfrm>
          <a:prstGeom prst="roundRect">
            <a:avLst>
              <a:gd name="adj" fmla="val 11905"/>
            </a:avLst>
          </a:prstGeom>
          <a:solidFill>
            <a:srgbClr val="F5EDF7"/>
          </a:solidFill>
          <a:ln w="9525">
            <a:solidFill>
              <a:srgbClr val="A894B1"/>
            </a:solidFill>
            <a:prstDash val="solid"/>
          </a:ln>
        </p:spPr>
        <p:txBody>
          <a:bodyPr wrap="square" lIns="19050" tIns="9525" rIns="19050" bIns="9525" anchor="ctr">
            <a:normAutofit/>
          </a:bodyPr>
          <a:lstStyle/>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L2</a:t>
            </a:r>
            <a:endParaRPr sz="825" b="1">
              <a:solidFill>
                <a:srgbClr val="660874"/>
              </a:solidFill>
              <a:latin typeface="Source Han Sans CN"/>
              <a:ea typeface="Source Han Sans CN"/>
              <a:cs typeface="Source Han Sans CN"/>
            </a:endParaRPr>
          </a:p>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2.1</a:t>
            </a:r>
            <a:endParaRPr sz="825" b="1">
              <a:solidFill>
                <a:srgbClr val="660874"/>
              </a:solidFill>
              <a:latin typeface="Source Han Sans CN"/>
              <a:ea typeface="Source Han Sans CN"/>
              <a:cs typeface="Source Han Sans CN"/>
            </a:endParaRPr>
          </a:p>
        </p:txBody>
      </p:sp>
      <p:sp>
        <p:nvSpPr>
          <p:cNvPr id="32" name="Softmax lane value 3"/>
          <p:cNvSpPr>
            <a:spLocks noGrp="1"/>
          </p:cNvSpPr>
          <p:nvPr/>
        </p:nvSpPr>
        <p:spPr>
          <a:xfrm>
            <a:off x="3714750" y="4543425"/>
            <a:ext cx="400050" cy="419100"/>
          </a:xfrm>
          <a:prstGeom prst="roundRect">
            <a:avLst>
              <a:gd name="adj" fmla="val 11905"/>
            </a:avLst>
          </a:prstGeom>
          <a:solidFill>
            <a:srgbClr val="F5EDF7"/>
          </a:solidFill>
          <a:ln w="9525">
            <a:solidFill>
              <a:srgbClr val="A894B1"/>
            </a:solidFill>
            <a:prstDash val="solid"/>
          </a:ln>
        </p:spPr>
        <p:txBody>
          <a:bodyPr wrap="square" lIns="19050" tIns="9525" rIns="19050" bIns="9525" anchor="ctr">
            <a:normAutofit/>
          </a:bodyPr>
          <a:lstStyle/>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L3</a:t>
            </a:r>
            <a:endParaRPr sz="825" b="1">
              <a:solidFill>
                <a:srgbClr val="660874"/>
              </a:solidFill>
              <a:latin typeface="Source Han Sans CN"/>
              <a:ea typeface="Source Han Sans CN"/>
              <a:cs typeface="Source Han Sans CN"/>
            </a:endParaRPr>
          </a:p>
          <a:p>
            <a:pPr algn="ctr">
              <a:defRPr sz="825" b="1">
                <a:solidFill>
                  <a:srgbClr val="660874"/>
                </a:solidFill>
                <a:latin typeface="Source Han Sans CN"/>
                <a:ea typeface="Source Han Sans CN"/>
                <a:cs typeface="Source Han Sans CN"/>
              </a:defRPr>
            </a:pPr>
            <a:r>
              <a:rPr sz="825" b="1">
                <a:solidFill>
                  <a:srgbClr val="660874"/>
                </a:solidFill>
                <a:latin typeface="Source Han Sans CN"/>
                <a:ea typeface="Source Han Sans CN"/>
                <a:cs typeface="Source Han Sans CN"/>
              </a:rPr>
              <a:t>0.8</a:t>
            </a:r>
            <a:endParaRPr sz="825" b="1">
              <a:solidFill>
                <a:srgbClr val="660874"/>
              </a:solidFill>
              <a:latin typeface="Source Han Sans CN"/>
              <a:ea typeface="Source Han Sans CN"/>
              <a:cs typeface="Source Han Sans CN"/>
            </a:endParaRPr>
          </a:p>
        </p:txBody>
      </p:sp>
      <p:sp>
        <p:nvSpPr>
          <p:cNvPr id="33" name="Softmax shuffle step"/>
          <p:cNvSpPr>
            <a:spLocks noGrp="1"/>
          </p:cNvSpPr>
          <p:nvPr/>
        </p:nvSpPr>
        <p:spPr>
          <a:xfrm>
            <a:off x="4572000" y="4524375"/>
            <a:ext cx="1762125" cy="457200"/>
          </a:xfrm>
          <a:prstGeom prst="roundRect">
            <a:avLst>
              <a:gd name="adj" fmla="val 16667"/>
            </a:avLst>
          </a:prstGeom>
          <a:solidFill>
            <a:srgbClr val="EAF6F5"/>
          </a:solidFill>
          <a:ln w="9525">
            <a:solidFill>
              <a:srgbClr val="1E8E94"/>
            </a:solidFill>
            <a:prstDash val="solid"/>
          </a:ln>
        </p:spPr>
        <p:txBody>
          <a:bodyPr wrap="square" lIns="47625" tIns="28575" rIns="47625" bIns="28575" anchor="ctr">
            <a:normAutofit/>
          </a:bodyPr>
          <a:lstStyle/>
          <a:p>
            <a:pPr algn="ctr">
              <a:defRPr sz="1125" b="1">
                <a:solidFill>
                  <a:srgbClr val="147988"/>
                </a:solidFill>
                <a:latin typeface="Source Han Sans CN"/>
                <a:ea typeface="Source Han Sans CN"/>
                <a:cs typeface="Source Han Sans CN"/>
              </a:defRPr>
            </a:pPr>
            <a:r>
              <a:rPr sz="1125" b="1">
                <a:solidFill>
                  <a:srgbClr val="147988"/>
                </a:solidFill>
                <a:latin typeface="Source Han Sans CN"/>
                <a:ea typeface="Source Han Sans CN"/>
                <a:cs typeface="Source Han Sans CN"/>
              </a:rPr>
              <a:t>寄存器 Shuffle</a:t>
            </a:r>
            <a:endParaRPr sz="1125" b="1">
              <a:solidFill>
                <a:srgbClr val="147988"/>
              </a:solidFill>
              <a:latin typeface="Source Han Sans CN"/>
              <a:ea typeface="Source Han Sans CN"/>
              <a:cs typeface="Source Han Sans CN"/>
            </a:endParaRPr>
          </a:p>
        </p:txBody>
      </p:sp>
      <p:sp>
        <p:nvSpPr>
          <p:cNvPr id="34" name="Softmax reduction result"/>
          <p:cNvSpPr>
            <a:spLocks noGrp="1"/>
          </p:cNvSpPr>
          <p:nvPr/>
        </p:nvSpPr>
        <p:spPr>
          <a:xfrm>
            <a:off x="6810375" y="4524375"/>
            <a:ext cx="1571625" cy="457200"/>
          </a:xfrm>
          <a:prstGeom prst="roundRect">
            <a:avLst>
              <a:gd name="adj" fmla="val 16667"/>
            </a:avLst>
          </a:prstGeom>
          <a:solidFill>
            <a:srgbClr val="FFFFFF"/>
          </a:solidFill>
          <a:ln w="9525">
            <a:solidFill>
              <a:srgbClr val="1E8E94"/>
            </a:solidFill>
            <a:prstDash val="solid"/>
          </a:ln>
        </p:spPr>
        <p:txBody>
          <a:bodyPr wrap="square" lIns="47625" tIns="28575" rIns="47625" bIns="28575" anchor="ctr">
            <a:normAutofit/>
          </a:bodyPr>
          <a:lstStyle/>
          <a:p>
            <a:pPr algn="ctr">
              <a:defRPr sz="1350" b="1">
                <a:solidFill>
                  <a:srgbClr val="147988"/>
                </a:solidFill>
                <a:latin typeface="Source Han Sans CN"/>
                <a:ea typeface="Source Han Sans CN"/>
                <a:cs typeface="Source Han Sans CN"/>
              </a:defRPr>
            </a:pPr>
            <a:r>
              <a:rPr sz="1350" b="1">
                <a:solidFill>
                  <a:srgbClr val="147988"/>
                </a:solidFill>
                <a:latin typeface="Source Han Sans CN"/>
                <a:ea typeface="Source Han Sans CN"/>
                <a:cs typeface="Source Han Sans CN"/>
              </a:rPr>
              <a:t>Wave max = 2.1</a:t>
            </a:r>
            <a:endParaRPr sz="1350" b="1">
              <a:solidFill>
                <a:srgbClr val="147988"/>
              </a:solidFill>
              <a:latin typeface="Source Han Sans CN"/>
              <a:ea typeface="Source Han Sans CN"/>
              <a:cs typeface="Source Han Sans CN"/>
            </a:endParaRPr>
          </a:p>
        </p:txBody>
      </p:sp>
      <p:sp>
        <p:nvSpPr>
          <p:cNvPr id="35" name="Softmax wave scope note"/>
          <p:cNvSpPr>
            <a:spLocks noGrp="1"/>
          </p:cNvSpPr>
          <p:nvPr/>
        </p:nvSpPr>
        <p:spPr>
          <a:xfrm>
            <a:off x="8572500" y="4524375"/>
            <a:ext cx="2667000" cy="457200"/>
          </a:xfrm>
          <a:prstGeom prst="roundRect">
            <a:avLst>
              <a:gd name="adj" fmla="val 16667"/>
            </a:avLst>
          </a:prstGeom>
          <a:solidFill>
            <a:srgbClr val="EAF6F5"/>
          </a:solidFill>
          <a:ln w="7620">
            <a:solidFill>
              <a:srgbClr val="8DC7C9"/>
            </a:solidFill>
            <a:prstDash val="solid"/>
          </a:ln>
        </p:spPr>
        <p:txBody>
          <a:bodyPr wrap="square" lIns="47625" tIns="28575" rIns="47625" bIns="28575" anchor="ctr">
            <a:normAutofit/>
          </a:bodyPr>
          <a:lstStyle/>
          <a:p>
            <a:pPr algn="ctr">
              <a:defRPr sz="975" b="1">
                <a:solidFill>
                  <a:srgbClr val="147988"/>
                </a:solidFill>
                <a:latin typeface="Source Han Sans CN"/>
                <a:ea typeface="Source Han Sans CN"/>
                <a:cs typeface="Source Han Sans CN"/>
              </a:defRPr>
            </a:pPr>
            <a:r>
              <a:rPr sz="975" b="1">
                <a:solidFill>
                  <a:srgbClr val="147988"/>
                </a:solidFill>
                <a:latin typeface="Source Han Sans CN"/>
                <a:ea typeface="Source Han Sans CN"/>
                <a:cs typeface="Source Han Sans CN"/>
              </a:rPr>
              <a:t>同一 Wave 内交换</a:t>
            </a:r>
            <a:endParaRPr sz="975" b="1">
              <a:solidFill>
                <a:srgbClr val="147988"/>
              </a:solidFill>
              <a:latin typeface="Source Han Sans CN"/>
              <a:ea typeface="Source Han Sans CN"/>
              <a:cs typeface="Source Han Sans CN"/>
            </a:endParaRPr>
          </a:p>
          <a:p>
            <a:pPr algn="ctr">
              <a:defRPr sz="975" b="1">
                <a:solidFill>
                  <a:srgbClr val="147988"/>
                </a:solidFill>
                <a:latin typeface="Source Han Sans CN"/>
                <a:ea typeface="Source Han Sans CN"/>
                <a:cs typeface="Source Han Sans CN"/>
              </a:defRPr>
            </a:pPr>
            <a:r>
              <a:rPr sz="975" b="1">
                <a:solidFill>
                  <a:srgbClr val="147988"/>
                </a:solidFill>
                <a:latin typeface="Source Han Sans CN"/>
                <a:ea typeface="Source Han Sans CN"/>
                <a:cs typeface="Source Han Sans CN"/>
              </a:rPr>
              <a:t>无需写入共享内存</a:t>
            </a:r>
            <a:endParaRPr sz="975" b="1">
              <a:solidFill>
                <a:srgbClr val="147988"/>
              </a:solidFill>
              <a:latin typeface="Source Han Sans CN"/>
              <a:ea typeface="Source Han Sans CN"/>
              <a:cs typeface="Source Han Sans CN"/>
            </a:endParaRPr>
          </a:p>
        </p:txBody>
      </p:sp>
      <p:sp>
        <p:nvSpPr>
          <p:cNvPr id="36" name="Softmax block row label"/>
          <p:cNvSpPr>
            <a:spLocks noGrp="1"/>
          </p:cNvSpPr>
          <p:nvPr/>
        </p:nvSpPr>
        <p:spPr>
          <a:xfrm>
            <a:off x="876300" y="5105400"/>
            <a:ext cx="1285875" cy="419100"/>
          </a:xfrm>
          <a:prstGeom prst="rect">
            <a:avLst/>
          </a:prstGeom>
          <a:noFill/>
          <a:ln w="0">
            <a:noFill/>
            <a:prstDash val="solid"/>
          </a:ln>
        </p:spPr>
        <p:txBody>
          <a:bodyPr wrap="square" lIns="47625" tIns="28575" rIns="47625" bIns="28575" anchor="ctr">
            <a:normAutofit/>
          </a:bodyPr>
          <a:lstStyle/>
          <a:p>
            <a:pPr algn="l">
              <a:defRPr sz="1050" b="1">
                <a:solidFill>
                  <a:srgbClr val="660874"/>
                </a:solidFill>
                <a:latin typeface="Source Han Sans CN"/>
                <a:ea typeface="Source Han Sans CN"/>
                <a:cs typeface="Source Han Sans CN"/>
              </a:defRPr>
            </a:pPr>
            <a:r>
              <a:rPr sz="1050" b="1">
                <a:solidFill>
                  <a:srgbClr val="660874"/>
                </a:solidFill>
                <a:latin typeface="Source Han Sans CN"/>
                <a:ea typeface="Source Han Sans CN"/>
                <a:cs typeface="Source Han Sans CN"/>
              </a:rPr>
              <a:t>② Block 内归约</a:t>
            </a:r>
            <a:endParaRPr sz="1050" b="1">
              <a:solidFill>
                <a:srgbClr val="660874"/>
              </a:solidFill>
              <a:latin typeface="Source Han Sans CN"/>
              <a:ea typeface="Source Han Sans CN"/>
              <a:cs typeface="Source Han Sans CN"/>
            </a:endParaRPr>
          </a:p>
        </p:txBody>
      </p:sp>
      <p:sp>
        <p:nvSpPr>
          <p:cNvPr id="37" name="Softmax wave partial 0"/>
          <p:cNvSpPr>
            <a:spLocks noGrp="1"/>
          </p:cNvSpPr>
          <p:nvPr/>
        </p:nvSpPr>
        <p:spPr>
          <a:xfrm>
            <a:off x="2286000" y="5095875"/>
            <a:ext cx="438150" cy="419100"/>
          </a:xfrm>
          <a:prstGeom prst="roundRect">
            <a:avLst>
              <a:gd name="adj" fmla="val 11364"/>
            </a:avLst>
          </a:prstGeom>
          <a:solidFill>
            <a:srgbClr val="EAF6F5"/>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W0</a:t>
            </a:r>
            <a:endParaRPr sz="825" b="1">
              <a:solidFill>
                <a:srgbClr val="147988"/>
              </a:solidFill>
              <a:latin typeface="Source Han Sans CN"/>
              <a:ea typeface="Source Han Sans CN"/>
              <a:cs typeface="Source Han Sans CN"/>
            </a:endParaRPr>
          </a:p>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2.1</a:t>
            </a:r>
            <a:endParaRPr sz="825" b="1">
              <a:solidFill>
                <a:srgbClr val="147988"/>
              </a:solidFill>
              <a:latin typeface="Source Han Sans CN"/>
              <a:ea typeface="Source Han Sans CN"/>
              <a:cs typeface="Source Han Sans CN"/>
            </a:endParaRPr>
          </a:p>
        </p:txBody>
      </p:sp>
      <p:sp>
        <p:nvSpPr>
          <p:cNvPr id="38" name="Softmax wave partial 1"/>
          <p:cNvSpPr>
            <a:spLocks noGrp="1"/>
          </p:cNvSpPr>
          <p:nvPr/>
        </p:nvSpPr>
        <p:spPr>
          <a:xfrm>
            <a:off x="2809875" y="5095875"/>
            <a:ext cx="438150" cy="419100"/>
          </a:xfrm>
          <a:prstGeom prst="roundRect">
            <a:avLst>
              <a:gd name="adj" fmla="val 11364"/>
            </a:avLst>
          </a:prstGeom>
          <a:solidFill>
            <a:srgbClr val="EAF6F5"/>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W1</a:t>
            </a:r>
            <a:endParaRPr sz="825" b="1">
              <a:solidFill>
                <a:srgbClr val="147988"/>
              </a:solidFill>
              <a:latin typeface="Source Han Sans CN"/>
              <a:ea typeface="Source Han Sans CN"/>
              <a:cs typeface="Source Han Sans CN"/>
            </a:endParaRPr>
          </a:p>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1.7</a:t>
            </a:r>
            <a:endParaRPr sz="825" b="1">
              <a:solidFill>
                <a:srgbClr val="147988"/>
              </a:solidFill>
              <a:latin typeface="Source Han Sans CN"/>
              <a:ea typeface="Source Han Sans CN"/>
              <a:cs typeface="Source Han Sans CN"/>
            </a:endParaRPr>
          </a:p>
        </p:txBody>
      </p:sp>
      <p:sp>
        <p:nvSpPr>
          <p:cNvPr id="39" name="Softmax wave partial 2"/>
          <p:cNvSpPr>
            <a:spLocks noGrp="1"/>
          </p:cNvSpPr>
          <p:nvPr/>
        </p:nvSpPr>
        <p:spPr>
          <a:xfrm>
            <a:off x="3333750" y="5095875"/>
            <a:ext cx="438150" cy="419100"/>
          </a:xfrm>
          <a:prstGeom prst="roundRect">
            <a:avLst>
              <a:gd name="adj" fmla="val 11364"/>
            </a:avLst>
          </a:prstGeom>
          <a:solidFill>
            <a:srgbClr val="EAF6F5"/>
          </a:solidFill>
          <a:ln w="9525">
            <a:solidFill>
              <a:srgbClr val="1E8E94"/>
            </a:solidFill>
            <a:prstDash val="solid"/>
          </a:ln>
        </p:spPr>
        <p:txBody>
          <a:bodyPr wrap="square" lIns="19050" tIns="9525" rIns="19050" bIns="9525" anchor="ctr">
            <a:normAutofit/>
          </a:bodyPr>
          <a:lstStyle/>
          <a:p>
            <a:pPr algn="ctr">
              <a:defRPr sz="825" b="1">
                <a:solidFill>
                  <a:srgbClr val="147988"/>
                </a:solidFill>
                <a:latin typeface="Source Han Sans CN"/>
                <a:ea typeface="Source Han Sans CN"/>
                <a:cs typeface="Source Han Sans CN"/>
              </a:defRPr>
            </a:pPr>
            <a:r>
              <a:rPr sz="825" b="1">
                <a:solidFill>
                  <a:srgbClr val="147988"/>
                </a:solidFill>
                <a:latin typeface="Source Han Sans CN"/>
                <a:ea typeface="Source Han Sans CN"/>
                <a:cs typeface="Source Han Sans CN"/>
              </a:rPr>
              <a:t>…</a:t>
            </a:r>
            <a:endParaRPr sz="825" b="1">
              <a:solidFill>
                <a:srgbClr val="147988"/>
              </a:solidFill>
              <a:latin typeface="Source Han Sans CN"/>
              <a:ea typeface="Source Han Sans CN"/>
              <a:cs typeface="Source Han Sans CN"/>
            </a:endParaRPr>
          </a:p>
        </p:txBody>
      </p:sp>
      <p:sp>
        <p:nvSpPr>
          <p:cNvPr id="40" name="Softmax shared memory step"/>
          <p:cNvSpPr>
            <a:spLocks noGrp="1"/>
          </p:cNvSpPr>
          <p:nvPr/>
        </p:nvSpPr>
        <p:spPr>
          <a:xfrm>
            <a:off x="4267200" y="5076825"/>
            <a:ext cx="1428750" cy="457200"/>
          </a:xfrm>
          <a:prstGeom prst="roundRect">
            <a:avLst>
              <a:gd name="adj" fmla="val 16667"/>
            </a:avLst>
          </a:prstGeom>
          <a:solidFill>
            <a:srgbClr val="EAF6F5"/>
          </a:solidFill>
          <a:ln w="9525">
            <a:solidFill>
              <a:srgbClr val="1E8E94"/>
            </a:solidFill>
            <a:prstDash val="solid"/>
          </a:ln>
        </p:spPr>
        <p:txBody>
          <a:bodyPr wrap="square" lIns="47625" tIns="28575" rIns="47625" bIns="28575" anchor="ctr">
            <a:normAutofit/>
          </a:bodyPr>
          <a:lstStyle/>
          <a:p>
            <a:pPr algn="ctr">
              <a:defRPr sz="1125" b="1">
                <a:solidFill>
                  <a:srgbClr val="147988"/>
                </a:solidFill>
                <a:latin typeface="Source Han Sans CN"/>
                <a:ea typeface="Source Han Sans CN"/>
                <a:cs typeface="Source Han Sans CN"/>
              </a:defRPr>
            </a:pPr>
            <a:r>
              <a:rPr sz="1125" b="1">
                <a:solidFill>
                  <a:srgbClr val="147988"/>
                </a:solidFill>
                <a:latin typeface="Source Han Sans CN"/>
                <a:ea typeface="Source Han Sans CN"/>
                <a:cs typeface="Source Han Sans CN"/>
              </a:rPr>
              <a:t>共享内存</a:t>
            </a:r>
            <a:endParaRPr sz="1125" b="1">
              <a:solidFill>
                <a:srgbClr val="147988"/>
              </a:solidFill>
              <a:latin typeface="Source Han Sans CN"/>
              <a:ea typeface="Source Han Sans CN"/>
              <a:cs typeface="Source Han Sans CN"/>
            </a:endParaRPr>
          </a:p>
        </p:txBody>
      </p:sp>
      <p:sp>
        <p:nvSpPr>
          <p:cNvPr id="41" name="Softmax block sync step"/>
          <p:cNvSpPr>
            <a:spLocks noGrp="1"/>
          </p:cNvSpPr>
          <p:nvPr/>
        </p:nvSpPr>
        <p:spPr>
          <a:xfrm>
            <a:off x="6143625" y="5076825"/>
            <a:ext cx="1190625" cy="457200"/>
          </a:xfrm>
          <a:prstGeom prst="roundRect">
            <a:avLst>
              <a:gd name="adj" fmla="val 16667"/>
            </a:avLst>
          </a:prstGeom>
          <a:solidFill>
            <a:srgbClr val="FFFFFF"/>
          </a:solidFill>
          <a:ln w="9525">
            <a:solidFill>
              <a:srgbClr val="A894B1"/>
            </a:solidFill>
            <a:prstDash val="solid"/>
          </a:ln>
        </p:spPr>
        <p:txBody>
          <a:bodyPr wrap="square" lIns="47625" tIns="28575" rIns="47625" bIns="28575" anchor="ctr">
            <a:normAutofit/>
          </a:bodyPr>
          <a:lstStyle/>
          <a:p>
            <a:pPr algn="ctr">
              <a:defRPr sz="1125" b="1">
                <a:solidFill>
                  <a:srgbClr val="660874"/>
                </a:solidFill>
                <a:latin typeface="Source Han Sans CN"/>
                <a:ea typeface="Source Han Sans CN"/>
                <a:cs typeface="Source Han Sans CN"/>
              </a:defRPr>
            </a:pPr>
            <a:r>
              <a:rPr sz="1125" b="1">
                <a:solidFill>
                  <a:srgbClr val="660874"/>
                </a:solidFill>
                <a:latin typeface="Source Han Sans CN"/>
                <a:ea typeface="Source Han Sans CN"/>
                <a:cs typeface="Source Han Sans CN"/>
              </a:rPr>
              <a:t>块级同步</a:t>
            </a:r>
            <a:endParaRPr sz="1125" b="1">
              <a:solidFill>
                <a:srgbClr val="660874"/>
              </a:solidFill>
              <a:latin typeface="Source Han Sans CN"/>
              <a:ea typeface="Source Han Sans CN"/>
              <a:cs typeface="Source Han Sans CN"/>
            </a:endParaRPr>
          </a:p>
        </p:txBody>
      </p:sp>
      <p:sp>
        <p:nvSpPr>
          <p:cNvPr id="42" name="Softmax block result"/>
          <p:cNvSpPr>
            <a:spLocks noGrp="1"/>
          </p:cNvSpPr>
          <p:nvPr/>
        </p:nvSpPr>
        <p:spPr>
          <a:xfrm>
            <a:off x="7791450" y="5076825"/>
            <a:ext cx="1809750" cy="457200"/>
          </a:xfrm>
          <a:prstGeom prst="roundRect">
            <a:avLst>
              <a:gd name="adj" fmla="val 16667"/>
            </a:avLst>
          </a:prstGeom>
          <a:solidFill>
            <a:srgbClr val="F2F9ED"/>
          </a:solidFill>
          <a:ln w="9525">
            <a:solidFill>
              <a:srgbClr val="48BB00"/>
            </a:solidFill>
            <a:prstDash val="solid"/>
          </a:ln>
        </p:spPr>
        <p:txBody>
          <a:bodyPr wrap="square" lIns="47625" tIns="28575" rIns="47625" bIns="28575" anchor="ctr">
            <a:normAutofit/>
          </a:bodyPr>
          <a:lstStyle/>
          <a:p>
            <a:pPr algn="ctr">
              <a:defRPr sz="1350" b="1">
                <a:solidFill>
                  <a:srgbClr val="48BB00"/>
                </a:solidFill>
                <a:latin typeface="Source Han Sans CN"/>
                <a:ea typeface="Source Han Sans CN"/>
                <a:cs typeface="Source Han Sans CN"/>
              </a:defRPr>
            </a:pPr>
            <a:r>
              <a:rPr sz="1350" b="1">
                <a:solidFill>
                  <a:srgbClr val="48BB00"/>
                </a:solidFill>
                <a:latin typeface="Source Han Sans CN"/>
                <a:ea typeface="Source Han Sans CN"/>
                <a:cs typeface="Source Han Sans CN"/>
              </a:rPr>
              <a:t>Block max = 2.1</a:t>
            </a:r>
            <a:endParaRPr sz="1350" b="1">
              <a:solidFill>
                <a:srgbClr val="48BB00"/>
              </a:solidFill>
              <a:latin typeface="Source Han Sans CN"/>
              <a:ea typeface="Source Han Sans CN"/>
              <a:cs typeface="Source Han Sans CN"/>
            </a:endParaRPr>
          </a:p>
        </p:txBody>
      </p:sp>
      <p:sp>
        <p:nvSpPr>
          <p:cNvPr id="43" name="Softmax global memory divider"/>
          <p:cNvSpPr>
            <a:spLocks noGrp="1"/>
          </p:cNvSpPr>
          <p:nvPr/>
        </p:nvSpPr>
        <p:spPr>
          <a:xfrm>
            <a:off x="2286000" y="5600700"/>
            <a:ext cx="8286750" cy="0"/>
          </a:xfrm>
          <a:prstGeom prst="line">
            <a:avLst/>
          </a:prstGeom>
          <a:noFill/>
          <a:ln w="9525">
            <a:solidFill>
              <a:srgbClr val="E5E6E9"/>
            </a:solidFill>
            <a:prstDash val="solid"/>
          </a:ln>
        </p:spPr>
      </p:sp>
      <p:sp>
        <p:nvSpPr>
          <p:cNvPr id="44" name="Softmax cross block note"/>
          <p:cNvSpPr>
            <a:spLocks noGrp="1"/>
          </p:cNvSpPr>
          <p:nvPr/>
        </p:nvSpPr>
        <p:spPr>
          <a:xfrm>
            <a:off x="2286000" y="5619750"/>
            <a:ext cx="8286750" cy="257175"/>
          </a:xfrm>
          <a:prstGeom prst="rect">
            <a:avLst/>
          </a:prstGeom>
          <a:noFill/>
          <a:ln w="0">
            <a:noFill/>
            <a:prstDash val="solid"/>
          </a:ln>
        </p:spPr>
        <p:txBody>
          <a:bodyPr wrap="square" lIns="47625" tIns="28575" rIns="47625" bIns="28575" anchor="ctr">
            <a:normAutofit/>
          </a:bodyPr>
          <a:lstStyle/>
          <a:p>
            <a:pPr algn="ctr">
              <a:defRPr sz="975" b="1">
                <a:solidFill>
                  <a:srgbClr val="6F7782"/>
                </a:solidFill>
                <a:latin typeface="Source Han Sans CN"/>
                <a:ea typeface="Source Han Sans CN"/>
                <a:cs typeface="Source Han Sans CN"/>
              </a:defRPr>
            </a:pPr>
            <a:r>
              <a:rPr sz="975" b="1">
                <a:solidFill>
                  <a:srgbClr val="6F7782"/>
                </a:solidFill>
                <a:latin typeface="Source Han Sans CN"/>
                <a:ea typeface="Source Han Sans CN"/>
                <a:cs typeface="Source Han Sans CN"/>
              </a:rPr>
              <a:t>跨 Block：部分结果写回全局内存 → 后续 kernel 继续归约</a:t>
            </a:r>
            <a:endParaRPr sz="975" b="1">
              <a:solidFill>
                <a:srgbClr val="6F7782"/>
              </a:solidFill>
              <a:latin typeface="Source Han Sans CN"/>
              <a:ea typeface="Source Han Sans CN"/>
              <a:cs typeface="Source Han Sans C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一个自定义的 kernel，什么时候值得接回模型？</a:t>
            </a: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06</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143000" y="1581150"/>
            <a:ext cx="2381250" cy="552450"/>
          </a:xfrm>
          <a:prstGeom prst="rect">
            <a:avLst/>
          </a:prstGeom>
          <a:noFill/>
          <a:ln w="0">
            <a:noFill/>
            <a:prstDash val="solid"/>
          </a:ln>
        </p:spPr>
        <p:txBody>
          <a:bodyPr wrap="square" lIns="47625" tIns="28575" rIns="47625" bIns="28575" anchor="ctr">
            <a:normAutofit/>
          </a:bodyPr>
          <a:lstStyle/>
          <a:p>
            <a:pPr algn="ctr">
              <a:lnSpc>
                <a:spcPct val="108000"/>
              </a:lnSpc>
              <a:buNone/>
              <a:defRPr sz="2250" b="1">
                <a:solidFill>
                  <a:srgbClr val="660874"/>
                </a:solidFill>
                <a:latin typeface="Source Han Sans CN"/>
                <a:ea typeface="Source Han Sans CN"/>
                <a:cs typeface="Source Han Sans CN"/>
              </a:defRPr>
            </a:pPr>
            <a:r>
              <a:rPr sz="2250" b="1">
                <a:solidFill>
                  <a:srgbClr val="660874"/>
                </a:solidFill>
                <a:latin typeface="Source Han Sans CN"/>
                <a:ea typeface="Source Han Sans CN"/>
                <a:cs typeface="Source Han Sans CN"/>
              </a:rPr>
              <a:t>正确</a:t>
            </a:r>
            <a:endParaRPr sz="2250" b="1">
              <a:solidFill>
                <a:srgbClr val="660874"/>
              </a:solidFill>
              <a:latin typeface="Source Han Sans CN"/>
              <a:ea typeface="Source Han Sans CN"/>
              <a:cs typeface="Source Han Sans CN"/>
            </a:endParaRPr>
          </a:p>
        </p:txBody>
      </p:sp>
      <p:sp>
        <p:nvSpPr>
          <p:cNvPr id="6" name="Rectangle 5"/>
          <p:cNvSpPr>
            <a:spLocks noGrp="1"/>
          </p:cNvSpPr>
          <p:nvPr/>
        </p:nvSpPr>
        <p:spPr>
          <a:xfrm>
            <a:off x="4905375" y="1581150"/>
            <a:ext cx="2381250" cy="552450"/>
          </a:xfrm>
          <a:prstGeom prst="rect">
            <a:avLst/>
          </a:prstGeom>
          <a:noFill/>
          <a:ln w="0">
            <a:noFill/>
            <a:prstDash val="solid"/>
          </a:ln>
        </p:spPr>
        <p:txBody>
          <a:bodyPr wrap="square" lIns="47625" tIns="28575" rIns="47625" bIns="28575" anchor="ctr">
            <a:normAutofit/>
          </a:bodyPr>
          <a:lstStyle/>
          <a:p>
            <a:pPr algn="ctr">
              <a:lnSpc>
                <a:spcPct val="108000"/>
              </a:lnSpc>
              <a:buNone/>
              <a:defRPr sz="2250" b="1">
                <a:solidFill>
                  <a:srgbClr val="1E8E94"/>
                </a:solidFill>
                <a:latin typeface="Source Han Sans CN"/>
                <a:ea typeface="Source Han Sans CN"/>
                <a:cs typeface="Source Han Sans CN"/>
              </a:defRPr>
            </a:pPr>
            <a:r>
              <a:rPr sz="2250" b="1">
                <a:solidFill>
                  <a:srgbClr val="1E8E94"/>
                </a:solidFill>
                <a:latin typeface="Source Han Sans CN"/>
                <a:ea typeface="Source Han Sans CN"/>
                <a:cs typeface="Source Han Sans CN"/>
              </a:rPr>
              <a:t>更快</a:t>
            </a:r>
            <a:endParaRPr sz="2250" b="1">
              <a:solidFill>
                <a:srgbClr val="1E8E94"/>
              </a:solidFill>
              <a:latin typeface="Source Han Sans CN"/>
              <a:ea typeface="Source Han Sans CN"/>
              <a:cs typeface="Source Han Sans CN"/>
            </a:endParaRPr>
          </a:p>
        </p:txBody>
      </p:sp>
      <p:sp>
        <p:nvSpPr>
          <p:cNvPr id="7" name="Rectangle 6"/>
          <p:cNvSpPr>
            <a:spLocks noGrp="1"/>
          </p:cNvSpPr>
          <p:nvPr/>
        </p:nvSpPr>
        <p:spPr>
          <a:xfrm>
            <a:off x="8667750" y="1581150"/>
            <a:ext cx="2381250" cy="552450"/>
          </a:xfrm>
          <a:prstGeom prst="rect">
            <a:avLst/>
          </a:prstGeom>
          <a:noFill/>
          <a:ln w="0">
            <a:noFill/>
            <a:prstDash val="solid"/>
          </a:ln>
        </p:spPr>
        <p:txBody>
          <a:bodyPr wrap="square" lIns="47625" tIns="28575" rIns="47625" bIns="28575" anchor="ctr">
            <a:normAutofit/>
          </a:bodyPr>
          <a:lstStyle/>
          <a:p>
            <a:pPr algn="ctr">
              <a:lnSpc>
                <a:spcPct val="108000"/>
              </a:lnSpc>
              <a:buNone/>
              <a:defRPr sz="2250" b="1">
                <a:solidFill>
                  <a:srgbClr val="48BB00"/>
                </a:solidFill>
                <a:latin typeface="Source Han Sans CN"/>
                <a:ea typeface="Source Han Sans CN"/>
                <a:cs typeface="Source Han Sans CN"/>
              </a:defRPr>
            </a:pPr>
            <a:r>
              <a:rPr sz="2250" b="1">
                <a:solidFill>
                  <a:srgbClr val="48BB00"/>
                </a:solidFill>
                <a:latin typeface="Source Han Sans CN"/>
                <a:ea typeface="Source Han Sans CN"/>
                <a:cs typeface="Source Han Sans CN"/>
              </a:rPr>
              <a:t>可接入</a:t>
            </a:r>
            <a:endParaRPr sz="2250" b="1">
              <a:solidFill>
                <a:srgbClr val="48BB00"/>
              </a:solidFill>
              <a:latin typeface="Source Han Sans CN"/>
              <a:ea typeface="Source Han Sans CN"/>
              <a:cs typeface="Source Han Sans CN"/>
            </a:endParaRPr>
          </a:p>
        </p:txBody>
      </p:sp>
      <p:sp>
        <p:nvSpPr>
          <p:cNvPr id="8" name="Rectangle 7"/>
          <p:cNvSpPr>
            <a:spLocks noGrp="1"/>
          </p:cNvSpPr>
          <p:nvPr/>
        </p:nvSpPr>
        <p:spPr>
          <a:xfrm>
            <a:off x="1143000" y="2152650"/>
            <a:ext cx="2381250" cy="609600"/>
          </a:xfrm>
          <a:prstGeom prst="rect">
            <a:avLst/>
          </a:prstGeom>
          <a:noFill/>
          <a:ln w="0">
            <a:noFill/>
            <a:prstDash val="solid"/>
          </a:ln>
        </p:spPr>
        <p:txBody>
          <a:bodyPr wrap="square" lIns="47625" tIns="28575" rIns="47625" bIns="28575" anchor="ctr">
            <a:normAutofit/>
          </a:bodyPr>
          <a:lstStyle/>
          <a:p>
            <a:pPr algn="ctr">
              <a:lnSpc>
                <a:spcPct val="108000"/>
              </a:lnSpc>
              <a:buNone/>
              <a:defRPr sz="1350" b="0">
                <a:solidFill>
                  <a:srgbClr val="6F7782"/>
                </a:solidFill>
                <a:latin typeface="Source Han Sans CN"/>
                <a:ea typeface="Source Han Sans CN"/>
                <a:cs typeface="Source Han Sans CN"/>
              </a:defRPr>
            </a:pPr>
            <a:r>
              <a:rPr sz="1350" b="0">
                <a:solidFill>
                  <a:srgbClr val="6F7782"/>
                </a:solidFill>
                <a:latin typeface="Source Han Sans CN"/>
                <a:ea typeface="Source Han Sans CN"/>
                <a:cs typeface="Source Han Sans CN"/>
              </a:rPr>
              <a:t>数值稳定</a:t>
            </a:r>
            <a:endParaRPr sz="1350" b="0">
              <a:solidFill>
                <a:srgbClr val="6F7782"/>
              </a:solidFill>
              <a:latin typeface="Source Han Sans CN"/>
              <a:ea typeface="Source Han Sans CN"/>
              <a:cs typeface="Source Han Sans CN"/>
            </a:endParaRPr>
          </a:p>
          <a:p>
            <a:pPr algn="ctr">
              <a:lnSpc>
                <a:spcPct val="108000"/>
              </a:lnSpc>
              <a:buNone/>
              <a:defRPr sz="1350" b="0">
                <a:solidFill>
                  <a:srgbClr val="6F7782"/>
                </a:solidFill>
                <a:latin typeface="Source Han Sans CN"/>
                <a:ea typeface="Source Han Sans CN"/>
                <a:cs typeface="Source Han Sans CN"/>
              </a:defRPr>
            </a:pPr>
            <a:r>
              <a:rPr sz="1350" b="0">
                <a:solidFill>
                  <a:srgbClr val="6F7782"/>
                </a:solidFill>
                <a:latin typeface="Source Han Sans CN"/>
                <a:ea typeface="Source Han Sans CN"/>
                <a:cs typeface="Source Han Sans CN"/>
              </a:rPr>
              <a:t>边界明确</a:t>
            </a:r>
            <a:endParaRPr sz="1350" b="0">
              <a:solidFill>
                <a:srgbClr val="6F7782"/>
              </a:solidFill>
              <a:latin typeface="Source Han Sans CN"/>
              <a:ea typeface="Source Han Sans CN"/>
              <a:cs typeface="Source Han Sans CN"/>
            </a:endParaRPr>
          </a:p>
        </p:txBody>
      </p:sp>
      <p:sp>
        <p:nvSpPr>
          <p:cNvPr id="9" name="Rectangle 8"/>
          <p:cNvSpPr>
            <a:spLocks noGrp="1"/>
          </p:cNvSpPr>
          <p:nvPr/>
        </p:nvSpPr>
        <p:spPr>
          <a:xfrm>
            <a:off x="4905375" y="2152650"/>
            <a:ext cx="2381250" cy="609600"/>
          </a:xfrm>
          <a:prstGeom prst="rect">
            <a:avLst/>
          </a:prstGeom>
          <a:noFill/>
          <a:ln w="0">
            <a:noFill/>
            <a:prstDash val="solid"/>
          </a:ln>
        </p:spPr>
        <p:txBody>
          <a:bodyPr wrap="square" lIns="47625" tIns="28575" rIns="47625" bIns="28575" anchor="ctr">
            <a:normAutofit/>
          </a:bodyPr>
          <a:lstStyle/>
          <a:p>
            <a:pPr algn="ctr">
              <a:lnSpc>
                <a:spcPct val="108000"/>
              </a:lnSpc>
              <a:buNone/>
              <a:defRPr sz="1350" b="0">
                <a:solidFill>
                  <a:srgbClr val="6F7782"/>
                </a:solidFill>
                <a:latin typeface="Source Han Sans CN"/>
                <a:ea typeface="Source Han Sans CN"/>
                <a:cs typeface="Source Han Sans CN"/>
              </a:defRPr>
            </a:pPr>
            <a:r>
              <a:rPr sz="1350" b="0">
                <a:solidFill>
                  <a:srgbClr val="6F7782"/>
                </a:solidFill>
                <a:latin typeface="Source Han Sans CN"/>
                <a:ea typeface="Source Han Sans CN"/>
                <a:cs typeface="Source Han Sans CN"/>
              </a:rPr>
              <a:t>目标硬件</a:t>
            </a:r>
            <a:endParaRPr sz="1350" b="0">
              <a:solidFill>
                <a:srgbClr val="6F7782"/>
              </a:solidFill>
              <a:latin typeface="Source Han Sans CN"/>
              <a:ea typeface="Source Han Sans CN"/>
              <a:cs typeface="Source Han Sans CN"/>
            </a:endParaRPr>
          </a:p>
          <a:p>
            <a:pPr algn="ctr">
              <a:lnSpc>
                <a:spcPct val="108000"/>
              </a:lnSpc>
              <a:buNone/>
              <a:defRPr sz="1350" b="0">
                <a:solidFill>
                  <a:srgbClr val="6F7782"/>
                </a:solidFill>
                <a:latin typeface="Source Han Sans CN"/>
                <a:ea typeface="Source Han Sans CN"/>
                <a:cs typeface="Source Han Sans CN"/>
              </a:defRPr>
            </a:pPr>
            <a:r>
              <a:rPr sz="1350" b="0">
                <a:solidFill>
                  <a:srgbClr val="6F7782"/>
                </a:solidFill>
                <a:latin typeface="Source Han Sans CN"/>
                <a:ea typeface="Source Han Sans CN"/>
                <a:cs typeface="Source Han Sans CN"/>
              </a:rPr>
              <a:t>真实 shape</a:t>
            </a:r>
            <a:endParaRPr sz="1350" b="0">
              <a:solidFill>
                <a:srgbClr val="6F7782"/>
              </a:solidFill>
              <a:latin typeface="Source Han Sans CN"/>
              <a:ea typeface="Source Han Sans CN"/>
              <a:cs typeface="Source Han Sans CN"/>
            </a:endParaRPr>
          </a:p>
        </p:txBody>
      </p:sp>
      <p:sp>
        <p:nvSpPr>
          <p:cNvPr id="10" name="Rectangle 9"/>
          <p:cNvSpPr>
            <a:spLocks noGrp="1"/>
          </p:cNvSpPr>
          <p:nvPr/>
        </p:nvSpPr>
        <p:spPr>
          <a:xfrm>
            <a:off x="8667750" y="2152650"/>
            <a:ext cx="2381250" cy="609600"/>
          </a:xfrm>
          <a:prstGeom prst="rect">
            <a:avLst/>
          </a:prstGeom>
          <a:noFill/>
          <a:ln w="0">
            <a:noFill/>
            <a:prstDash val="solid"/>
          </a:ln>
        </p:spPr>
        <p:txBody>
          <a:bodyPr wrap="square" lIns="47625" tIns="28575" rIns="47625" bIns="28575" anchor="ctr">
            <a:normAutofit/>
          </a:bodyPr>
          <a:lstStyle/>
          <a:p>
            <a:pPr algn="ctr">
              <a:lnSpc>
                <a:spcPct val="108000"/>
              </a:lnSpc>
              <a:buNone/>
              <a:defRPr sz="1350" b="0">
                <a:solidFill>
                  <a:srgbClr val="6F7782"/>
                </a:solidFill>
                <a:latin typeface="Source Han Sans CN"/>
                <a:ea typeface="Source Han Sans CN"/>
                <a:cs typeface="Source Han Sans CN"/>
              </a:defRPr>
            </a:pPr>
            <a:r>
              <a:rPr sz="1350">
                <a:solidFill>
                  <a:srgbClr val="6F7782"/>
                </a:solidFill>
                <a:latin typeface="Source Han Sans CN"/>
                <a:ea typeface="Source Han Sans CN"/>
                <a:cs typeface="Source Han Sans CN"/>
              </a:rPr>
              <a:t>能进行</a:t>
            </a:r>
            <a:endParaRPr sz="1350">
              <a:solidFill>
                <a:srgbClr val="6F7782"/>
              </a:solidFill>
              <a:latin typeface="Source Han Sans CN"/>
              <a:ea typeface="Source Han Sans CN"/>
              <a:cs typeface="Source Han Sans CN"/>
            </a:endParaRPr>
          </a:p>
          <a:p>
            <a:pPr algn="ctr">
              <a:lnSpc>
                <a:spcPct val="108000"/>
              </a:lnSpc>
              <a:buNone/>
              <a:defRPr sz="1350" b="0">
                <a:solidFill>
                  <a:srgbClr val="6F7782"/>
                </a:solidFill>
                <a:latin typeface="Source Han Sans CN"/>
                <a:ea typeface="Source Han Sans CN"/>
                <a:cs typeface="Source Han Sans CN"/>
              </a:defRPr>
            </a:pPr>
            <a:r>
              <a:rPr sz="1350" b="0">
                <a:solidFill>
                  <a:srgbClr val="6F7782"/>
                </a:solidFill>
                <a:latin typeface="Source Han Sans CN"/>
                <a:ea typeface="Source Han Sans CN"/>
                <a:cs typeface="Source Han Sans CN"/>
              </a:rPr>
              <a:t>端到端验证</a:t>
            </a:r>
            <a:endParaRPr sz="1350" b="0">
              <a:solidFill>
                <a:srgbClr val="6F7782"/>
              </a:solidFill>
              <a:latin typeface="Source Han Sans CN"/>
              <a:ea typeface="Source Han Sans CN"/>
              <a:cs typeface="Source Han Sans CN"/>
            </a:endParaRPr>
          </a:p>
        </p:txBody>
      </p:sp>
      <p:sp>
        <p:nvSpPr>
          <p:cNvPr id="11" name="Rectangle: Rounded Corners 10"/>
          <p:cNvSpPr>
            <a:spLocks noGrp="1"/>
          </p:cNvSpPr>
          <p:nvPr/>
        </p:nvSpPr>
        <p:spPr>
          <a:xfrm>
            <a:off x="2333625" y="2876550"/>
            <a:ext cx="7524750" cy="552450"/>
          </a:xfrm>
          <a:prstGeom prst="roundRect">
            <a:avLst>
              <a:gd name="adj" fmla="val 16667"/>
            </a:avLst>
          </a:prstGeom>
          <a:solidFill>
            <a:srgbClr val="F5EFF7"/>
          </a:solidFill>
          <a:ln w="9525">
            <a:solidFill>
              <a:srgbClr val="660874"/>
            </a:solidFill>
            <a:prstDash val="solid"/>
          </a:ln>
        </p:spPr>
        <p:txBody>
          <a:bodyPr wrap="square" lIns="47625" tIns="28575" rIns="47625" bIns="28575" anchor="ctr">
            <a:normAutofit/>
          </a:bodyPr>
          <a:lstStyle/>
          <a:p>
            <a:pPr algn="ctr">
              <a:buNone/>
              <a:defRPr sz="1425" b="1">
                <a:solidFill>
                  <a:srgbClr val="660874"/>
                </a:solidFill>
                <a:latin typeface="Source Han Sans CN"/>
                <a:ea typeface="Source Han Sans CN"/>
                <a:cs typeface="Source Han Sans CN"/>
              </a:defRPr>
            </a:pPr>
            <a:r>
              <a:rPr sz="1425" b="1">
                <a:solidFill>
                  <a:srgbClr val="660874"/>
                </a:solidFill>
                <a:latin typeface="Source Han Sans CN"/>
                <a:ea typeface="Source Han Sans CN"/>
                <a:cs typeface="Source Han Sans CN"/>
              </a:rPr>
              <a:t>判断不是“能跑就行”：三项都要留下实验证据</a:t>
            </a:r>
            <a:endParaRPr sz="1425" b="1">
              <a:solidFill>
                <a:srgbClr val="660874"/>
              </a:solidFill>
              <a:latin typeface="Source Han Sans CN"/>
              <a:ea typeface="Source Han Sans CN"/>
              <a:cs typeface="Source Han Sans CN"/>
            </a:endParaRPr>
          </a:p>
        </p:txBody>
      </p:sp>
      <p:sp>
        <p:nvSpPr>
          <p:cNvPr id="12" name="Kernel criterion frame 正确"/>
          <p:cNvSpPr>
            <a:spLocks noGrp="1"/>
          </p:cNvSpPr>
          <p:nvPr/>
        </p:nvSpPr>
        <p:spPr>
          <a:xfrm>
            <a:off x="1047750" y="1524000"/>
            <a:ext cx="2571750" cy="1257300"/>
          </a:xfrm>
          <a:prstGeom prst="roundRect">
            <a:avLst>
              <a:gd name="adj" fmla="val 7576"/>
            </a:avLst>
          </a:prstGeom>
          <a:noFill/>
          <a:ln w="10478">
            <a:solidFill>
              <a:srgbClr val="660874"/>
            </a:solidFill>
            <a:prstDash val="solid"/>
          </a:ln>
        </p:spPr>
      </p:sp>
      <p:sp>
        <p:nvSpPr>
          <p:cNvPr id="13" name="Kernel criterion frame 更快"/>
          <p:cNvSpPr>
            <a:spLocks noGrp="1"/>
          </p:cNvSpPr>
          <p:nvPr/>
        </p:nvSpPr>
        <p:spPr>
          <a:xfrm>
            <a:off x="4810125" y="1524000"/>
            <a:ext cx="2571750" cy="1257300"/>
          </a:xfrm>
          <a:prstGeom prst="roundRect">
            <a:avLst>
              <a:gd name="adj" fmla="val 7576"/>
            </a:avLst>
          </a:prstGeom>
          <a:noFill/>
          <a:ln w="10478">
            <a:solidFill>
              <a:srgbClr val="1E8E94"/>
            </a:solidFill>
            <a:prstDash val="solid"/>
          </a:ln>
        </p:spPr>
      </p:sp>
      <p:sp>
        <p:nvSpPr>
          <p:cNvPr id="14" name="Kernel criterion frame 可接入"/>
          <p:cNvSpPr>
            <a:spLocks noGrp="1"/>
          </p:cNvSpPr>
          <p:nvPr/>
        </p:nvSpPr>
        <p:spPr>
          <a:xfrm>
            <a:off x="8572500" y="1524000"/>
            <a:ext cx="2571750" cy="1257300"/>
          </a:xfrm>
          <a:prstGeom prst="roundRect">
            <a:avLst>
              <a:gd name="adj" fmla="val 7576"/>
            </a:avLst>
          </a:prstGeom>
          <a:noFill/>
          <a:ln w="10478">
            <a:solidFill>
              <a:srgbClr val="48BB00"/>
            </a:solidFill>
            <a:prstDash val="solid"/>
          </a:ln>
        </p:spPr>
      </p:sp>
      <p:sp>
        <p:nvSpPr>
          <p:cNvPr id="15" name="Kernel integration checklist frame"/>
          <p:cNvSpPr>
            <a:spLocks noGrp="1"/>
          </p:cNvSpPr>
          <p:nvPr/>
        </p:nvSpPr>
        <p:spPr>
          <a:xfrm>
            <a:off x="838200" y="3638550"/>
            <a:ext cx="10515600" cy="2324100"/>
          </a:xfrm>
          <a:prstGeom prst="roundRect">
            <a:avLst>
              <a:gd name="adj" fmla="val 4918"/>
            </a:avLst>
          </a:prstGeom>
          <a:noFill/>
          <a:ln w="9525">
            <a:solidFill>
              <a:srgbClr val="A894B1"/>
            </a:solidFill>
            <a:prstDash val="solid"/>
          </a:ln>
        </p:spPr>
      </p:sp>
      <p:sp>
        <p:nvSpPr>
          <p:cNvPr id="16" name="Kernel integration checklist title"/>
          <p:cNvSpPr>
            <a:spLocks noGrp="1"/>
          </p:cNvSpPr>
          <p:nvPr/>
        </p:nvSpPr>
        <p:spPr>
          <a:xfrm>
            <a:off x="1047750" y="3752850"/>
            <a:ext cx="10096500" cy="285750"/>
          </a:xfrm>
          <a:prstGeom prst="rect">
            <a:avLst/>
          </a:prstGeom>
          <a:noFill/>
          <a:ln w="0">
            <a:noFill/>
            <a:prstDash val="solid"/>
          </a:ln>
        </p:spPr>
        <p:txBody>
          <a:bodyPr wrap="square" lIns="47625" tIns="28575" rIns="47625" bIns="28575" anchor="ctr">
            <a:normAutofit/>
          </a:bodyPr>
          <a:lstStyle/>
          <a:p>
            <a:pPr algn="l">
              <a:defRPr sz="1275" b="1">
                <a:solidFill>
                  <a:srgbClr val="660874"/>
                </a:solidFill>
                <a:latin typeface="Source Han Sans CN"/>
                <a:ea typeface="Source Han Sans CN"/>
                <a:cs typeface="Source Han Sans CN"/>
              </a:defRPr>
            </a:pPr>
            <a:r>
              <a:rPr sz="1275" b="1">
                <a:solidFill>
                  <a:srgbClr val="660874"/>
                </a:solidFill>
                <a:latin typeface="Source Han Sans CN"/>
                <a:ea typeface="Source Han Sans CN"/>
                <a:cs typeface="Source Han Sans CN"/>
              </a:rPr>
              <a:t>例：评估一个候选 Softmax kernel</a:t>
            </a:r>
            <a:endParaRPr sz="1275" b="1">
              <a:solidFill>
                <a:srgbClr val="660874"/>
              </a:solidFill>
              <a:latin typeface="Source Han Sans CN"/>
              <a:ea typeface="Source Han Sans CN"/>
              <a:cs typeface="Source Han Sans CN"/>
            </a:endParaRPr>
          </a:p>
        </p:txBody>
      </p:sp>
      <p:sp>
        <p:nvSpPr>
          <p:cNvPr id="17" name="Kernel checklist number 1"/>
          <p:cNvSpPr>
            <a:spLocks noGrp="1"/>
          </p:cNvSpPr>
          <p:nvPr/>
        </p:nvSpPr>
        <p:spPr>
          <a:xfrm>
            <a:off x="1095375" y="4152900"/>
            <a:ext cx="323850" cy="323850"/>
          </a:xfrm>
          <a:prstGeom prst="roundRect">
            <a:avLst>
              <a:gd name="adj" fmla="val 14706"/>
            </a:avLst>
          </a:prstGeom>
          <a:solidFill>
            <a:srgbClr val="660874"/>
          </a:solidFill>
          <a:ln w="0">
            <a:solidFill>
              <a:srgbClr val="660874"/>
            </a:solidFill>
            <a:prstDash val="solid"/>
          </a:ln>
        </p:spPr>
        <p:txBody>
          <a:bodyPr wrap="square" lIns="19050" tIns="9525" rIns="19050" bIns="9525" anchor="ctr">
            <a:normAutofit/>
          </a:bodyPr>
          <a:lstStyle/>
          <a:p>
            <a:pPr algn="ctr">
              <a:defRPr sz="1125" b="1">
                <a:solidFill>
                  <a:srgbClr val="FFFFFF"/>
                </a:solidFill>
                <a:latin typeface="Source Han Sans CN"/>
                <a:ea typeface="Source Han Sans CN"/>
                <a:cs typeface="Source Han Sans CN"/>
              </a:defRPr>
            </a:pPr>
            <a:r>
              <a:rPr sz="1125" b="1">
                <a:solidFill>
                  <a:srgbClr val="FFFFFF"/>
                </a:solidFill>
                <a:latin typeface="Source Han Sans CN"/>
                <a:ea typeface="Source Han Sans CN"/>
                <a:cs typeface="Source Han Sans CN"/>
              </a:rPr>
              <a:t>1</a:t>
            </a:r>
            <a:endParaRPr sz="1125" b="1">
              <a:solidFill>
                <a:srgbClr val="FFFFFF"/>
              </a:solidFill>
              <a:latin typeface="Source Han Sans CN"/>
              <a:ea typeface="Source Han Sans CN"/>
              <a:cs typeface="Source Han Sans CN"/>
            </a:endParaRPr>
          </a:p>
        </p:txBody>
      </p:sp>
      <p:sp>
        <p:nvSpPr>
          <p:cNvPr id="18" name="Kernel checklist title 1"/>
          <p:cNvSpPr>
            <a:spLocks noGrp="1"/>
          </p:cNvSpPr>
          <p:nvPr/>
        </p:nvSpPr>
        <p:spPr>
          <a:xfrm>
            <a:off x="1619250" y="4133850"/>
            <a:ext cx="2333625" cy="361950"/>
          </a:xfrm>
          <a:prstGeom prst="rect">
            <a:avLst/>
          </a:prstGeom>
          <a:noFill/>
          <a:ln w="0">
            <a:noFill/>
            <a:prstDash val="solid"/>
          </a:ln>
        </p:spPr>
        <p:txBody>
          <a:bodyPr wrap="square" lIns="47625" tIns="28575" rIns="47625" bIns="28575" anchor="ctr">
            <a:normAutofit/>
          </a:bodyPr>
          <a:lstStyle/>
          <a:p>
            <a:pPr algn="l">
              <a:defRPr sz="1125" b="1">
                <a:solidFill>
                  <a:srgbClr val="660874"/>
                </a:solidFill>
                <a:latin typeface="Source Han Sans CN"/>
                <a:ea typeface="Source Han Sans CN"/>
                <a:cs typeface="Source Han Sans CN"/>
              </a:defRPr>
            </a:pPr>
            <a:r>
              <a:rPr sz="1125" b="1">
                <a:solidFill>
                  <a:srgbClr val="660874"/>
                </a:solidFill>
                <a:latin typeface="Source Han Sans CN"/>
                <a:ea typeface="Source Han Sans CN"/>
                <a:cs typeface="Source Han Sans CN"/>
              </a:rPr>
              <a:t>对比框架实现</a:t>
            </a:r>
            <a:endParaRPr sz="1125" b="1">
              <a:solidFill>
                <a:srgbClr val="660874"/>
              </a:solidFill>
              <a:latin typeface="Source Han Sans CN"/>
              <a:ea typeface="Source Han Sans CN"/>
              <a:cs typeface="Source Han Sans CN"/>
            </a:endParaRPr>
          </a:p>
        </p:txBody>
      </p:sp>
      <p:sp>
        <p:nvSpPr>
          <p:cNvPr id="19" name="Kernel checklist detail 1"/>
          <p:cNvSpPr>
            <a:spLocks noGrp="1"/>
          </p:cNvSpPr>
          <p:nvPr/>
        </p:nvSpPr>
        <p:spPr>
          <a:xfrm>
            <a:off x="4000500" y="4133850"/>
            <a:ext cx="4762500" cy="361950"/>
          </a:xfrm>
          <a:prstGeom prst="rect">
            <a:avLst/>
          </a:prstGeom>
          <a:noFill/>
          <a:ln w="0">
            <a:noFill/>
            <a:prstDash val="solid"/>
          </a:ln>
        </p:spPr>
        <p:txBody>
          <a:bodyPr wrap="square" lIns="47625" tIns="28575" rIns="47625" bIns="28575" anchor="ctr">
            <a:normAutofit/>
          </a:bodyPr>
          <a:lstStyle/>
          <a:p>
            <a:pPr algn="l">
              <a:defRPr sz="1050">
                <a:solidFill>
                  <a:srgbClr val="6F7782"/>
                </a:solidFill>
                <a:latin typeface="Source Han Sans CN"/>
                <a:ea typeface="Source Han Sans CN"/>
                <a:cs typeface="Source Han Sans CN"/>
              </a:defRPr>
            </a:pPr>
            <a:r>
              <a:rPr sz="1050">
                <a:solidFill>
                  <a:srgbClr val="6F7782"/>
                </a:solidFill>
                <a:latin typeface="Source Han Sans CN"/>
                <a:ea typeface="Source Han Sans CN"/>
                <a:cs typeface="Source Han Sans CN"/>
              </a:rPr>
              <a:t>mask、极值、不同 shape 的输出一致</a:t>
            </a:r>
            <a:endParaRPr sz="1050">
              <a:solidFill>
                <a:srgbClr val="6F7782"/>
              </a:solidFill>
              <a:latin typeface="Source Han Sans CN"/>
              <a:ea typeface="Source Han Sans CN"/>
              <a:cs typeface="Source Han Sans CN"/>
            </a:endParaRPr>
          </a:p>
        </p:txBody>
      </p:sp>
      <p:sp>
        <p:nvSpPr>
          <p:cNvPr id="20" name="Kernel checklist evidence 1"/>
          <p:cNvSpPr>
            <a:spLocks noGrp="1"/>
          </p:cNvSpPr>
          <p:nvPr/>
        </p:nvSpPr>
        <p:spPr>
          <a:xfrm>
            <a:off x="8953500" y="4133850"/>
            <a:ext cx="2095500" cy="361950"/>
          </a:xfrm>
          <a:prstGeom prst="roundRect">
            <a:avLst>
              <a:gd name="adj" fmla="val 21053"/>
            </a:avLst>
          </a:prstGeom>
          <a:solidFill>
            <a:srgbClr val="F5EDF7"/>
          </a:solidFill>
          <a:ln w="7620">
            <a:solidFill>
              <a:srgbClr val="660874"/>
            </a:solidFill>
            <a:prstDash val="solid"/>
          </a:ln>
        </p:spPr>
        <p:txBody>
          <a:bodyPr wrap="square" lIns="47625" tIns="28575" rIns="47625" bIns="28575" anchor="ctr">
            <a:normAutofit/>
          </a:bodyPr>
          <a:lstStyle/>
          <a:p>
            <a:pPr algn="ctr">
              <a:defRPr sz="975" b="1">
                <a:solidFill>
                  <a:srgbClr val="6F7782"/>
                </a:solidFill>
                <a:latin typeface="Source Han Sans CN"/>
                <a:ea typeface="Source Han Sans CN"/>
                <a:cs typeface="Source Han Sans CN"/>
              </a:defRPr>
            </a:pPr>
            <a:r>
              <a:rPr sz="975" b="1">
                <a:solidFill>
                  <a:srgbClr val="6F7782"/>
                </a:solidFill>
                <a:latin typeface="Source Han Sans CN"/>
                <a:ea typeface="Source Han Sans CN"/>
                <a:cs typeface="Source Han Sans CN"/>
              </a:rPr>
              <a:t>误差与边界记录</a:t>
            </a:r>
            <a:endParaRPr sz="975" b="1">
              <a:solidFill>
                <a:srgbClr val="6F7782"/>
              </a:solidFill>
              <a:latin typeface="Source Han Sans CN"/>
              <a:ea typeface="Source Han Sans CN"/>
              <a:cs typeface="Source Han Sans CN"/>
            </a:endParaRPr>
          </a:p>
        </p:txBody>
      </p:sp>
      <p:sp>
        <p:nvSpPr>
          <p:cNvPr id="21" name="Kernel checklist number 2"/>
          <p:cNvSpPr>
            <a:spLocks noGrp="1"/>
          </p:cNvSpPr>
          <p:nvPr/>
        </p:nvSpPr>
        <p:spPr>
          <a:xfrm>
            <a:off x="1095375" y="4629150"/>
            <a:ext cx="323850" cy="323850"/>
          </a:xfrm>
          <a:prstGeom prst="roundRect">
            <a:avLst>
              <a:gd name="adj" fmla="val 14706"/>
            </a:avLst>
          </a:prstGeom>
          <a:solidFill>
            <a:srgbClr val="1E8E94"/>
          </a:solidFill>
          <a:ln w="0">
            <a:solidFill>
              <a:srgbClr val="1E8E94"/>
            </a:solidFill>
            <a:prstDash val="solid"/>
          </a:ln>
        </p:spPr>
        <p:txBody>
          <a:bodyPr wrap="square" lIns="19050" tIns="9525" rIns="19050" bIns="9525" anchor="ctr">
            <a:normAutofit/>
          </a:bodyPr>
          <a:lstStyle/>
          <a:p>
            <a:pPr algn="ctr">
              <a:defRPr sz="1125" b="1">
                <a:solidFill>
                  <a:srgbClr val="FFFFFF"/>
                </a:solidFill>
                <a:latin typeface="Source Han Sans CN"/>
                <a:ea typeface="Source Han Sans CN"/>
                <a:cs typeface="Source Han Sans CN"/>
              </a:defRPr>
            </a:pPr>
            <a:r>
              <a:rPr sz="1125" b="1">
                <a:solidFill>
                  <a:srgbClr val="FFFFFF"/>
                </a:solidFill>
                <a:latin typeface="Source Han Sans CN"/>
                <a:ea typeface="Source Han Sans CN"/>
                <a:cs typeface="Source Han Sans CN"/>
              </a:rPr>
              <a:t>2</a:t>
            </a:r>
            <a:endParaRPr sz="1125" b="1">
              <a:solidFill>
                <a:srgbClr val="FFFFFF"/>
              </a:solidFill>
              <a:latin typeface="Source Han Sans CN"/>
              <a:ea typeface="Source Han Sans CN"/>
              <a:cs typeface="Source Han Sans CN"/>
            </a:endParaRPr>
          </a:p>
        </p:txBody>
      </p:sp>
      <p:sp>
        <p:nvSpPr>
          <p:cNvPr id="22" name="Kernel checklist title 2"/>
          <p:cNvSpPr>
            <a:spLocks noGrp="1"/>
          </p:cNvSpPr>
          <p:nvPr/>
        </p:nvSpPr>
        <p:spPr>
          <a:xfrm>
            <a:off x="1619250" y="4610100"/>
            <a:ext cx="2333625" cy="361950"/>
          </a:xfrm>
          <a:prstGeom prst="rect">
            <a:avLst/>
          </a:prstGeom>
          <a:noFill/>
          <a:ln w="0">
            <a:noFill/>
            <a:prstDash val="solid"/>
          </a:ln>
        </p:spPr>
        <p:txBody>
          <a:bodyPr wrap="square" lIns="47625" tIns="28575" rIns="47625" bIns="28575" anchor="ctr">
            <a:normAutofit/>
          </a:bodyPr>
          <a:lstStyle/>
          <a:p>
            <a:pPr algn="l">
              <a:defRPr sz="1125" b="1">
                <a:solidFill>
                  <a:srgbClr val="1E8E94"/>
                </a:solidFill>
                <a:latin typeface="Source Han Sans CN"/>
                <a:ea typeface="Source Han Sans CN"/>
                <a:cs typeface="Source Han Sans CN"/>
              </a:defRPr>
            </a:pPr>
            <a:r>
              <a:rPr sz="1125" b="1">
                <a:solidFill>
                  <a:srgbClr val="1E8E94"/>
                </a:solidFill>
                <a:latin typeface="Source Han Sans CN"/>
                <a:ea typeface="Source Han Sans CN"/>
                <a:cs typeface="Source Han Sans CN"/>
              </a:rPr>
              <a:t>在目标硬件测速</a:t>
            </a:r>
            <a:endParaRPr sz="1125" b="1">
              <a:solidFill>
                <a:srgbClr val="1E8E94"/>
              </a:solidFill>
              <a:latin typeface="Source Han Sans CN"/>
              <a:ea typeface="Source Han Sans CN"/>
              <a:cs typeface="Source Han Sans CN"/>
            </a:endParaRPr>
          </a:p>
        </p:txBody>
      </p:sp>
      <p:sp>
        <p:nvSpPr>
          <p:cNvPr id="23" name="Kernel checklist detail 2"/>
          <p:cNvSpPr>
            <a:spLocks noGrp="1"/>
          </p:cNvSpPr>
          <p:nvPr/>
        </p:nvSpPr>
        <p:spPr>
          <a:xfrm>
            <a:off x="4000500" y="4610100"/>
            <a:ext cx="4762500" cy="361950"/>
          </a:xfrm>
          <a:prstGeom prst="rect">
            <a:avLst/>
          </a:prstGeom>
          <a:noFill/>
          <a:ln w="0">
            <a:noFill/>
            <a:prstDash val="solid"/>
          </a:ln>
        </p:spPr>
        <p:txBody>
          <a:bodyPr wrap="square" lIns="47625" tIns="28575" rIns="47625" bIns="28575" anchor="ctr">
            <a:normAutofit/>
          </a:bodyPr>
          <a:lstStyle/>
          <a:p>
            <a:pPr algn="l">
              <a:defRPr sz="1050">
                <a:solidFill>
                  <a:srgbClr val="6F7782"/>
                </a:solidFill>
                <a:latin typeface="Source Han Sans CN"/>
                <a:ea typeface="Source Han Sans CN"/>
                <a:cs typeface="Source Han Sans CN"/>
              </a:defRPr>
            </a:pPr>
            <a:r>
              <a:rPr sz="1050">
                <a:solidFill>
                  <a:srgbClr val="6F7782"/>
                </a:solidFill>
                <a:latin typeface="Source Han Sans CN"/>
                <a:ea typeface="Source Han Sans CN"/>
                <a:cs typeface="Source Han Sans CN"/>
              </a:rPr>
              <a:t>充分预热后，用真实 shape 比较中位延迟</a:t>
            </a:r>
            <a:endParaRPr sz="1050">
              <a:solidFill>
                <a:srgbClr val="6F7782"/>
              </a:solidFill>
              <a:latin typeface="Source Han Sans CN"/>
              <a:ea typeface="Source Han Sans CN"/>
              <a:cs typeface="Source Han Sans CN"/>
            </a:endParaRPr>
          </a:p>
        </p:txBody>
      </p:sp>
      <p:sp>
        <p:nvSpPr>
          <p:cNvPr id="24" name="Kernel checklist evidence 2"/>
          <p:cNvSpPr>
            <a:spLocks noGrp="1"/>
          </p:cNvSpPr>
          <p:nvPr/>
        </p:nvSpPr>
        <p:spPr>
          <a:xfrm>
            <a:off x="8953500" y="4610100"/>
            <a:ext cx="2095500" cy="361950"/>
          </a:xfrm>
          <a:prstGeom prst="roundRect">
            <a:avLst>
              <a:gd name="adj" fmla="val 21053"/>
            </a:avLst>
          </a:prstGeom>
          <a:solidFill>
            <a:srgbClr val="EAF6F5"/>
          </a:solidFill>
          <a:ln w="7620">
            <a:solidFill>
              <a:srgbClr val="1E8E94"/>
            </a:solidFill>
            <a:prstDash val="solid"/>
          </a:ln>
        </p:spPr>
        <p:txBody>
          <a:bodyPr wrap="square" lIns="47625" tIns="28575" rIns="47625" bIns="28575" anchor="ctr">
            <a:normAutofit/>
          </a:bodyPr>
          <a:lstStyle/>
          <a:p>
            <a:pPr algn="ctr">
              <a:defRPr sz="975" b="1">
                <a:solidFill>
                  <a:srgbClr val="6F7782"/>
                </a:solidFill>
                <a:latin typeface="Source Han Sans CN"/>
                <a:ea typeface="Source Han Sans CN"/>
                <a:cs typeface="Source Han Sans CN"/>
              </a:defRPr>
            </a:pPr>
            <a:r>
              <a:rPr sz="975" b="1">
                <a:solidFill>
                  <a:srgbClr val="6F7782"/>
                </a:solidFill>
                <a:latin typeface="Source Han Sans CN"/>
                <a:ea typeface="Source Han Sans CN"/>
                <a:cs typeface="Source Han Sans CN"/>
              </a:rPr>
              <a:t>性能 CSV</a:t>
            </a:r>
            <a:endParaRPr sz="975" b="1">
              <a:solidFill>
                <a:srgbClr val="6F7782"/>
              </a:solidFill>
              <a:latin typeface="Source Han Sans CN"/>
              <a:ea typeface="Source Han Sans CN"/>
              <a:cs typeface="Source Han Sans CN"/>
            </a:endParaRPr>
          </a:p>
        </p:txBody>
      </p:sp>
      <p:sp>
        <p:nvSpPr>
          <p:cNvPr id="25" name="Kernel checklist number 3"/>
          <p:cNvSpPr>
            <a:spLocks noGrp="1"/>
          </p:cNvSpPr>
          <p:nvPr/>
        </p:nvSpPr>
        <p:spPr>
          <a:xfrm>
            <a:off x="1095375" y="5105400"/>
            <a:ext cx="323850" cy="323850"/>
          </a:xfrm>
          <a:prstGeom prst="roundRect">
            <a:avLst>
              <a:gd name="adj" fmla="val 14706"/>
            </a:avLst>
          </a:prstGeom>
          <a:solidFill>
            <a:srgbClr val="48BB00"/>
          </a:solidFill>
          <a:ln w="0">
            <a:solidFill>
              <a:srgbClr val="48BB00"/>
            </a:solidFill>
            <a:prstDash val="solid"/>
          </a:ln>
        </p:spPr>
        <p:txBody>
          <a:bodyPr wrap="square" lIns="19050" tIns="9525" rIns="19050" bIns="9525" anchor="ctr">
            <a:normAutofit/>
          </a:bodyPr>
          <a:lstStyle/>
          <a:p>
            <a:pPr algn="ctr">
              <a:defRPr sz="1125" b="1">
                <a:solidFill>
                  <a:srgbClr val="FFFFFF"/>
                </a:solidFill>
                <a:latin typeface="Source Han Sans CN"/>
                <a:ea typeface="Source Han Sans CN"/>
                <a:cs typeface="Source Han Sans CN"/>
              </a:defRPr>
            </a:pPr>
            <a:r>
              <a:rPr sz="1125" b="1">
                <a:solidFill>
                  <a:srgbClr val="FFFFFF"/>
                </a:solidFill>
                <a:latin typeface="Source Han Sans CN"/>
                <a:ea typeface="Source Han Sans CN"/>
                <a:cs typeface="Source Han Sans CN"/>
              </a:rPr>
              <a:t>3</a:t>
            </a:r>
            <a:endParaRPr sz="1125" b="1">
              <a:solidFill>
                <a:srgbClr val="FFFFFF"/>
              </a:solidFill>
              <a:latin typeface="Source Han Sans CN"/>
              <a:ea typeface="Source Han Sans CN"/>
              <a:cs typeface="Source Han Sans CN"/>
            </a:endParaRPr>
          </a:p>
        </p:txBody>
      </p:sp>
      <p:sp>
        <p:nvSpPr>
          <p:cNvPr id="26" name="Kernel checklist title 3"/>
          <p:cNvSpPr>
            <a:spLocks noGrp="1"/>
          </p:cNvSpPr>
          <p:nvPr/>
        </p:nvSpPr>
        <p:spPr>
          <a:xfrm>
            <a:off x="1619250" y="5086350"/>
            <a:ext cx="2333625" cy="361950"/>
          </a:xfrm>
          <a:prstGeom prst="rect">
            <a:avLst/>
          </a:prstGeom>
          <a:noFill/>
          <a:ln w="0">
            <a:noFill/>
            <a:prstDash val="solid"/>
          </a:ln>
        </p:spPr>
        <p:txBody>
          <a:bodyPr wrap="square" lIns="47625" tIns="28575" rIns="47625" bIns="28575" anchor="ctr">
            <a:normAutofit/>
          </a:bodyPr>
          <a:lstStyle/>
          <a:p>
            <a:pPr algn="l">
              <a:defRPr sz="1125" b="1">
                <a:solidFill>
                  <a:srgbClr val="48BB00"/>
                </a:solidFill>
                <a:latin typeface="Source Han Sans CN"/>
                <a:ea typeface="Source Han Sans CN"/>
                <a:cs typeface="Source Han Sans CN"/>
              </a:defRPr>
            </a:pPr>
            <a:r>
              <a:rPr sz="1125" b="1">
                <a:solidFill>
                  <a:srgbClr val="48BB00"/>
                </a:solidFill>
                <a:latin typeface="Source Han Sans CN"/>
                <a:ea typeface="Source Han Sans CN"/>
                <a:cs typeface="Source Han Sans CN"/>
              </a:rPr>
              <a:t>接入 PyTorch 扩展</a:t>
            </a:r>
            <a:endParaRPr sz="1125" b="1">
              <a:solidFill>
                <a:srgbClr val="48BB00"/>
              </a:solidFill>
              <a:latin typeface="Source Han Sans CN"/>
              <a:ea typeface="Source Han Sans CN"/>
              <a:cs typeface="Source Han Sans CN"/>
            </a:endParaRPr>
          </a:p>
        </p:txBody>
      </p:sp>
      <p:sp>
        <p:nvSpPr>
          <p:cNvPr id="27" name="Kernel checklist detail 3"/>
          <p:cNvSpPr>
            <a:spLocks noGrp="1"/>
          </p:cNvSpPr>
          <p:nvPr/>
        </p:nvSpPr>
        <p:spPr>
          <a:xfrm>
            <a:off x="4000500" y="5086350"/>
            <a:ext cx="4762500" cy="361950"/>
          </a:xfrm>
          <a:prstGeom prst="rect">
            <a:avLst/>
          </a:prstGeom>
          <a:noFill/>
          <a:ln w="0">
            <a:noFill/>
            <a:prstDash val="solid"/>
          </a:ln>
        </p:spPr>
        <p:txBody>
          <a:bodyPr wrap="square" lIns="47625" tIns="28575" rIns="47625" bIns="28575" anchor="ctr">
            <a:normAutofit/>
          </a:bodyPr>
          <a:lstStyle/>
          <a:p>
            <a:pPr algn="l">
              <a:defRPr sz="1050">
                <a:solidFill>
                  <a:srgbClr val="6F7782"/>
                </a:solidFill>
                <a:latin typeface="Source Han Sans CN"/>
                <a:ea typeface="Source Han Sans CN"/>
                <a:cs typeface="Source Han Sans CN"/>
              </a:defRPr>
            </a:pPr>
            <a:r>
              <a:rPr sz="1050">
                <a:solidFill>
                  <a:srgbClr val="6F7782"/>
                </a:solidFill>
                <a:latin typeface="Source Han Sans CN"/>
                <a:ea typeface="Source Han Sans CN"/>
                <a:cs typeface="Source Han Sans CN"/>
              </a:rPr>
              <a:t>扩展调用通过，并完成模型端到端验证</a:t>
            </a:r>
            <a:endParaRPr sz="1050">
              <a:solidFill>
                <a:srgbClr val="6F7782"/>
              </a:solidFill>
              <a:latin typeface="Source Han Sans CN"/>
              <a:ea typeface="Source Han Sans CN"/>
              <a:cs typeface="Source Han Sans CN"/>
            </a:endParaRPr>
          </a:p>
        </p:txBody>
      </p:sp>
      <p:sp>
        <p:nvSpPr>
          <p:cNvPr id="28" name="Kernel checklist evidence 3"/>
          <p:cNvSpPr>
            <a:spLocks noGrp="1"/>
          </p:cNvSpPr>
          <p:nvPr/>
        </p:nvSpPr>
        <p:spPr>
          <a:xfrm>
            <a:off x="8953500" y="5086350"/>
            <a:ext cx="2095500" cy="361950"/>
          </a:xfrm>
          <a:prstGeom prst="roundRect">
            <a:avLst>
              <a:gd name="adj" fmla="val 21053"/>
            </a:avLst>
          </a:prstGeom>
          <a:solidFill>
            <a:srgbClr val="F2F9ED"/>
          </a:solidFill>
          <a:ln w="7620">
            <a:solidFill>
              <a:srgbClr val="48BB00"/>
            </a:solidFill>
            <a:prstDash val="solid"/>
          </a:ln>
        </p:spPr>
        <p:txBody>
          <a:bodyPr wrap="square" lIns="47625" tIns="28575" rIns="47625" bIns="28575" anchor="ctr">
            <a:normAutofit/>
          </a:bodyPr>
          <a:lstStyle/>
          <a:p>
            <a:pPr algn="ctr">
              <a:defRPr sz="975" b="1">
                <a:solidFill>
                  <a:srgbClr val="6F7782"/>
                </a:solidFill>
                <a:latin typeface="Source Han Sans CN"/>
                <a:ea typeface="Source Han Sans CN"/>
                <a:cs typeface="Source Han Sans CN"/>
              </a:defRPr>
            </a:pPr>
            <a:r>
              <a:rPr sz="975" b="1">
                <a:solidFill>
                  <a:srgbClr val="6F7782"/>
                </a:solidFill>
                <a:latin typeface="Source Han Sans CN"/>
                <a:ea typeface="Source Han Sans CN"/>
                <a:cs typeface="Source Han Sans CN"/>
              </a:rPr>
              <a:t>调用与模型日志</a:t>
            </a:r>
            <a:endParaRPr sz="975" b="1">
              <a:solidFill>
                <a:srgbClr val="6F7782"/>
              </a:solidFill>
              <a:latin typeface="Source Han Sans CN"/>
              <a:ea typeface="Source Han Sans CN"/>
              <a:cs typeface="Source Han Sans CN"/>
            </a:endParaRPr>
          </a:p>
        </p:txBody>
      </p:sp>
      <p:sp>
        <p:nvSpPr>
          <p:cNvPr id="29" name="Kernel integration final decision"/>
          <p:cNvSpPr>
            <a:spLocks noGrp="1"/>
          </p:cNvSpPr>
          <p:nvPr/>
        </p:nvSpPr>
        <p:spPr>
          <a:xfrm>
            <a:off x="1285875" y="5543550"/>
            <a:ext cx="9620250" cy="285750"/>
          </a:xfrm>
          <a:prstGeom prst="rect">
            <a:avLst/>
          </a:prstGeom>
          <a:noFill/>
          <a:ln w="0">
            <a:noFill/>
            <a:prstDash val="solid"/>
          </a:ln>
        </p:spPr>
        <p:txBody>
          <a:bodyPr wrap="square" lIns="47625" tIns="28575" rIns="47625" bIns="28575" anchor="ctr">
            <a:normAutofit/>
          </a:bodyPr>
          <a:lstStyle/>
          <a:p>
            <a:pPr algn="ctr">
              <a:defRPr sz="1200" b="1">
                <a:solidFill>
                  <a:srgbClr val="660874"/>
                </a:solidFill>
                <a:latin typeface="Source Han Sans CN"/>
                <a:ea typeface="Source Han Sans CN"/>
                <a:cs typeface="Source Han Sans CN"/>
              </a:defRPr>
            </a:pPr>
            <a:r>
              <a:rPr sz="1200" b="1">
                <a:solidFill>
                  <a:srgbClr val="660874"/>
                </a:solidFill>
                <a:latin typeface="Source Han Sans CN"/>
                <a:ea typeface="Source Han Sans CN"/>
                <a:cs typeface="Source Han Sans CN"/>
              </a:rPr>
              <a:t>三项都通过 → 接入；任一未通过 → 保留 F.softmax</a:t>
            </a:r>
            <a:endParaRPr sz="1200" b="1">
              <a:solidFill>
                <a:srgbClr val="660874"/>
              </a:solidFill>
              <a:latin typeface="Source Han Sans CN"/>
              <a:ea typeface="Source Han Sans CN"/>
              <a:cs typeface="Source Han Sans C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V2 Title"/>
          <p:cNvSpPr>
            <a:spLocks noGrp="1"/>
          </p:cNvSpPr>
          <p:nvPr/>
        </p:nvSpPr>
        <p:spPr>
          <a:xfrm>
            <a:off x="333375" y="95250"/>
            <a:ext cx="10058400" cy="657225"/>
          </a:xfrm>
          <a:prstGeom prst="rect">
            <a:avLst/>
          </a:prstGeom>
          <a:noFill/>
          <a:ln w="0">
            <a:noFill/>
          </a:ln>
        </p:spPr>
        <p:txBody>
          <a:bodyPr anchor="ctr"/>
          <a:lstStyle/>
          <a:p>
            <a:pPr algn="l">
              <a:buNone/>
              <a:defRPr sz="3200" b="1">
                <a:solidFill>
                  <a:srgbClr val="000000"/>
                </a:solidFill>
                <a:latin typeface="Source Han Sans CN"/>
                <a:ea typeface="Source Han Sans CN"/>
                <a:cs typeface="Source Han Sans CN"/>
              </a:defRPr>
            </a:pPr>
            <a:r>
              <a:rPr sz="3200" b="1">
                <a:solidFill>
                  <a:srgbClr val="000000"/>
                </a:solidFill>
                <a:latin typeface="Source Han Sans CN"/>
                <a:ea typeface="Source Han Sans CN"/>
                <a:cs typeface="Source Han Sans CN"/>
              </a:rPr>
              <a:t>先确认瓶颈，再决定是否重写优化</a:t>
            </a:r>
            <a:endParaRPr sz="3200" b="1">
              <a:solidFill>
                <a:srgbClr val="000000"/>
              </a:solidFill>
              <a:latin typeface="Source Han Sans CN"/>
              <a:ea typeface="Source Han Sans CN"/>
              <a:cs typeface="Source Han Sans CN"/>
            </a:endParaRPr>
          </a:p>
        </p:txBody>
      </p:sp>
      <p:sp>
        <p:nvSpPr>
          <p:cNvPr id="2" name="V2 Subtitle"/>
          <p:cNvSpPr>
            <a:spLocks noGrp="1"/>
          </p:cNvSpPr>
          <p:nvPr/>
        </p:nvSpPr>
        <p:spPr>
          <a:xfrm>
            <a:off x="838200" y="1047750"/>
            <a:ext cx="10420350" cy="400050"/>
          </a:xfrm>
          <a:prstGeom prst="rect">
            <a:avLst/>
          </a:prstGeom>
          <a:noFill/>
          <a:ln w="0">
            <a:noFill/>
          </a:ln>
        </p:spPr>
        <p:txBody>
          <a:bodyPr anchor="ctr"/>
          <a:lstStyle/>
          <a:p>
            <a:pPr algn="l">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MACA C++ </a:t>
            </a:r>
            <a:r>
              <a:rPr sz="1500" b="1">
                <a:solidFill>
                  <a:srgbClr val="660874"/>
                </a:solidFill>
                <a:latin typeface="Source Han Sans CN"/>
                <a:ea typeface="Source Han Sans CN"/>
                <a:cs typeface="Source Han Sans CN"/>
              </a:rPr>
              <a:t>重写</a:t>
            </a:r>
            <a:r>
              <a:rPr sz="1500" b="1">
                <a:solidFill>
                  <a:srgbClr val="660874"/>
                </a:solidFill>
                <a:latin typeface="Source Han Sans CN"/>
                <a:ea typeface="Source Han Sans CN"/>
                <a:cs typeface="Source Han Sans CN"/>
              </a:rPr>
              <a:t>不</a:t>
            </a:r>
            <a:r>
              <a:rPr sz="1500" b="1">
                <a:solidFill>
                  <a:srgbClr val="660874"/>
                </a:solidFill>
                <a:latin typeface="Source Han Sans CN"/>
                <a:ea typeface="Source Han Sans CN"/>
                <a:cs typeface="Source Han Sans CN"/>
              </a:rPr>
              <a:t>代表最优，需要</a:t>
            </a:r>
            <a:r>
              <a:rPr sz="1500" b="1">
                <a:solidFill>
                  <a:srgbClr val="660874"/>
                </a:solidFill>
                <a:latin typeface="Source Han Sans CN"/>
                <a:ea typeface="Source Han Sans CN"/>
                <a:cs typeface="Source Han Sans CN"/>
              </a:rPr>
              <a:t>先评估整体贡献与维护成本</a:t>
            </a:r>
            <a:endParaRPr sz="1500" b="1">
              <a:solidFill>
                <a:srgbClr val="660874"/>
              </a:solidFill>
              <a:latin typeface="Source Han Sans CN"/>
              <a:ea typeface="Source Han Sans CN"/>
              <a:cs typeface="Source Han Sans CN"/>
            </a:endParaRPr>
          </a:p>
        </p:txBody>
      </p:sp>
      <p:sp>
        <p:nvSpPr>
          <p:cNvPr id="3" name="V2 Slide Number"/>
          <p:cNvSpPr>
            <a:spLocks noGrp="1"/>
          </p:cNvSpPr>
          <p:nvPr/>
        </p:nvSpPr>
        <p:spPr>
          <a:xfrm>
            <a:off x="9448800" y="6353175"/>
            <a:ext cx="2743200" cy="361950"/>
          </a:xfrm>
          <a:prstGeom prst="rect">
            <a:avLst/>
          </a:prstGeom>
          <a:noFill/>
          <a:ln w="0">
            <a:noFill/>
          </a:ln>
        </p:spPr>
        <p:txBody>
          <a:bodyPr anchor="ctr"/>
          <a:lstStyle/>
          <a:p>
            <a:pPr algn="r">
              <a:buNone/>
              <a:defRPr sz="1200" b="0">
                <a:solidFill>
                  <a:srgbClr val="8B8E93"/>
                </a:solidFill>
                <a:latin typeface="Arial" panose="020B0604020202090204"/>
                <a:ea typeface="Arial" panose="020B0604020202090204"/>
                <a:cs typeface="Arial" panose="020B0604020202090204"/>
              </a:defRPr>
            </a:pPr>
            <a:r>
              <a:rPr sz="1200" b="0">
                <a:solidFill>
                  <a:srgbClr val="8B8E93"/>
                </a:solidFill>
                <a:latin typeface="Arial" panose="020B0604020202090204"/>
                <a:ea typeface="Arial" panose="020B0604020202090204"/>
                <a:cs typeface="Arial" panose="020B0604020202090204"/>
              </a:rPr>
              <a:t>07</a:t>
            </a:r>
            <a:endParaRPr sz="1200" b="0">
              <a:solidFill>
                <a:srgbClr val="8B8E93"/>
              </a:solidFill>
              <a:latin typeface="Arial" panose="020B0604020202090204"/>
              <a:ea typeface="Arial" panose="020B0604020202090204"/>
              <a:cs typeface="Arial" panose="020B0604020202090204"/>
            </a:endParaRPr>
          </a:p>
        </p:txBody>
      </p:sp>
      <p:sp>
        <p:nvSpPr>
          <p:cNvPr id="4" name="矩形 3"/>
          <p:cNvSpPr>
            <a:spLocks noGrp="1"/>
          </p:cNvSpPr>
          <p:nvPr/>
        </p:nvSpPr>
        <p:spPr>
          <a:xfrm>
            <a:off x="2286000" y="2352675"/>
            <a:ext cx="571500" cy="523875"/>
          </a:xfrm>
          <a:prstGeom prst="rect">
            <a:avLst/>
          </a:prstGeom>
          <a:noFill/>
          <a:ln w="0">
            <a:noFill/>
          </a:ln>
        </p:spPr>
        <p:txBody>
          <a:bodyPr anchor="ctr"/>
          <a:lstStyle/>
          <a:p>
            <a:pPr algn="ctr">
              <a:buNone/>
              <a:defRPr sz="2550" b="0">
                <a:solidFill>
                  <a:srgbClr val="B5A2BA"/>
                </a:solidFill>
                <a:latin typeface="Source Han Sans CN"/>
                <a:ea typeface="Source Han Sans CN"/>
                <a:cs typeface="Source Han Sans CN"/>
              </a:defRPr>
            </a:pPr>
            <a:r>
              <a:rPr sz="2550" b="0">
                <a:solidFill>
                  <a:srgbClr val="B5A2BA"/>
                </a:solidFill>
                <a:latin typeface="Source Han Sans CN"/>
                <a:ea typeface="Source Han Sans CN"/>
                <a:cs typeface="Source Han Sans CN"/>
              </a:rPr>
              <a:t>→</a:t>
            </a:r>
            <a:endParaRPr sz="2550" b="0">
              <a:solidFill>
                <a:srgbClr val="B5A2BA"/>
              </a:solidFill>
              <a:latin typeface="Source Han Sans CN"/>
              <a:ea typeface="Source Han Sans CN"/>
              <a:cs typeface="Source Han Sans CN"/>
            </a:endParaRPr>
          </a:p>
        </p:txBody>
      </p:sp>
      <p:sp>
        <p:nvSpPr>
          <p:cNvPr id="5" name="矩形 4"/>
          <p:cNvSpPr>
            <a:spLocks noGrp="1"/>
          </p:cNvSpPr>
          <p:nvPr/>
        </p:nvSpPr>
        <p:spPr>
          <a:xfrm>
            <a:off x="4629150" y="2352675"/>
            <a:ext cx="571500" cy="523875"/>
          </a:xfrm>
          <a:prstGeom prst="rect">
            <a:avLst/>
          </a:prstGeom>
          <a:noFill/>
          <a:ln w="0">
            <a:noFill/>
          </a:ln>
        </p:spPr>
        <p:txBody>
          <a:bodyPr anchor="ctr"/>
          <a:lstStyle/>
          <a:p>
            <a:pPr algn="ctr">
              <a:buNone/>
              <a:defRPr sz="2550" b="0">
                <a:solidFill>
                  <a:srgbClr val="B5A2BA"/>
                </a:solidFill>
                <a:latin typeface="Source Han Sans CN"/>
                <a:ea typeface="Source Han Sans CN"/>
                <a:cs typeface="Source Han Sans CN"/>
              </a:defRPr>
            </a:pPr>
            <a:r>
              <a:rPr sz="2550" b="0">
                <a:solidFill>
                  <a:srgbClr val="B5A2BA"/>
                </a:solidFill>
                <a:latin typeface="Source Han Sans CN"/>
                <a:ea typeface="Source Han Sans CN"/>
                <a:cs typeface="Source Han Sans CN"/>
              </a:rPr>
              <a:t>→</a:t>
            </a:r>
            <a:endParaRPr sz="2550" b="0">
              <a:solidFill>
                <a:srgbClr val="B5A2BA"/>
              </a:solidFill>
              <a:latin typeface="Source Han Sans CN"/>
              <a:ea typeface="Source Han Sans CN"/>
              <a:cs typeface="Source Han Sans CN"/>
            </a:endParaRPr>
          </a:p>
        </p:txBody>
      </p:sp>
      <p:sp>
        <p:nvSpPr>
          <p:cNvPr id="6" name="矩形 5"/>
          <p:cNvSpPr>
            <a:spLocks noGrp="1"/>
          </p:cNvSpPr>
          <p:nvPr/>
        </p:nvSpPr>
        <p:spPr>
          <a:xfrm>
            <a:off x="6972300" y="2352675"/>
            <a:ext cx="571500" cy="523875"/>
          </a:xfrm>
          <a:prstGeom prst="rect">
            <a:avLst/>
          </a:prstGeom>
          <a:noFill/>
          <a:ln w="0">
            <a:noFill/>
          </a:ln>
        </p:spPr>
        <p:txBody>
          <a:bodyPr anchor="ctr"/>
          <a:lstStyle/>
          <a:p>
            <a:pPr algn="ctr">
              <a:buNone/>
              <a:defRPr sz="2550" b="0">
                <a:solidFill>
                  <a:srgbClr val="B5A2BA"/>
                </a:solidFill>
                <a:latin typeface="Source Han Sans CN"/>
                <a:ea typeface="Source Han Sans CN"/>
                <a:cs typeface="Source Han Sans CN"/>
              </a:defRPr>
            </a:pPr>
            <a:r>
              <a:rPr sz="2550" b="0">
                <a:solidFill>
                  <a:srgbClr val="B5A2BA"/>
                </a:solidFill>
                <a:latin typeface="Source Han Sans CN"/>
                <a:ea typeface="Source Han Sans CN"/>
                <a:cs typeface="Source Han Sans CN"/>
              </a:rPr>
              <a:t>→</a:t>
            </a:r>
            <a:endParaRPr sz="2550" b="0">
              <a:solidFill>
                <a:srgbClr val="B5A2BA"/>
              </a:solidFill>
              <a:latin typeface="Source Han Sans CN"/>
              <a:ea typeface="Source Han Sans CN"/>
              <a:cs typeface="Source Han Sans CN"/>
            </a:endParaRPr>
          </a:p>
        </p:txBody>
      </p:sp>
      <p:sp>
        <p:nvSpPr>
          <p:cNvPr id="7" name="矩形 6"/>
          <p:cNvSpPr>
            <a:spLocks noGrp="1"/>
          </p:cNvSpPr>
          <p:nvPr/>
        </p:nvSpPr>
        <p:spPr>
          <a:xfrm>
            <a:off x="9315450" y="2352675"/>
            <a:ext cx="571500" cy="523875"/>
          </a:xfrm>
          <a:prstGeom prst="rect">
            <a:avLst/>
          </a:prstGeom>
          <a:noFill/>
          <a:ln w="0">
            <a:noFill/>
          </a:ln>
        </p:spPr>
        <p:txBody>
          <a:bodyPr anchor="ctr"/>
          <a:lstStyle/>
          <a:p>
            <a:pPr algn="ctr">
              <a:buNone/>
              <a:defRPr sz="2550" b="0">
                <a:solidFill>
                  <a:srgbClr val="B5A2BA"/>
                </a:solidFill>
                <a:latin typeface="Source Han Sans CN"/>
                <a:ea typeface="Source Han Sans CN"/>
                <a:cs typeface="Source Han Sans CN"/>
              </a:defRPr>
            </a:pPr>
            <a:r>
              <a:rPr sz="2550" b="0">
                <a:solidFill>
                  <a:srgbClr val="B5A2BA"/>
                </a:solidFill>
                <a:latin typeface="Source Han Sans CN"/>
                <a:ea typeface="Source Han Sans CN"/>
                <a:cs typeface="Source Han Sans CN"/>
              </a:rPr>
              <a:t>→</a:t>
            </a:r>
            <a:endParaRPr sz="2550" b="0">
              <a:solidFill>
                <a:srgbClr val="B5A2BA"/>
              </a:solidFill>
              <a:latin typeface="Source Han Sans CN"/>
              <a:ea typeface="Source Han Sans CN"/>
              <a:cs typeface="Source Han Sans CN"/>
            </a:endParaRPr>
          </a:p>
        </p:txBody>
      </p:sp>
      <p:sp>
        <p:nvSpPr>
          <p:cNvPr id="8" name="矩形 7"/>
          <p:cNvSpPr>
            <a:spLocks noGrp="1"/>
          </p:cNvSpPr>
          <p:nvPr/>
        </p:nvSpPr>
        <p:spPr>
          <a:xfrm>
            <a:off x="552450" y="2190750"/>
            <a:ext cx="552450" cy="552450"/>
          </a:xfrm>
          <a:prstGeom prst="rect">
            <a:avLst/>
          </a:prstGeom>
          <a:solidFill>
            <a:srgbClr val="660874"/>
          </a:solidFill>
          <a:ln w="0">
            <a:noFill/>
          </a:ln>
        </p:spPr>
        <p:txBody>
          <a:bodyPr anchor="ctr"/>
          <a:lstStyle/>
          <a:p>
            <a:pPr algn="ctr">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1</a:t>
            </a:r>
            <a:endParaRPr sz="1875" b="1">
              <a:solidFill>
                <a:srgbClr val="FFFFFF"/>
              </a:solidFill>
              <a:latin typeface="Source Han Sans CN"/>
              <a:ea typeface="Source Han Sans CN"/>
              <a:cs typeface="Source Han Sans CN"/>
            </a:endParaRPr>
          </a:p>
        </p:txBody>
      </p:sp>
      <p:sp>
        <p:nvSpPr>
          <p:cNvPr id="9" name="矩形 8"/>
          <p:cNvSpPr>
            <a:spLocks noGrp="1"/>
          </p:cNvSpPr>
          <p:nvPr/>
        </p:nvSpPr>
        <p:spPr>
          <a:xfrm>
            <a:off x="1162050" y="2124075"/>
            <a:ext cx="1219200" cy="400050"/>
          </a:xfrm>
          <a:prstGeom prst="rect">
            <a:avLst/>
          </a:prstGeom>
          <a:noFill/>
          <a:ln w="0">
            <a:noFill/>
          </a:ln>
        </p:spPr>
        <p:txBody>
          <a:bodyPr anchor="ctr"/>
          <a:lstStyle/>
          <a:p>
            <a:pPr algn="l">
              <a:buNone/>
              <a:defRPr sz="1575" b="1">
                <a:solidFill>
                  <a:srgbClr val="202124"/>
                </a:solidFill>
                <a:latin typeface="Source Han Sans CN"/>
                <a:ea typeface="Source Han Sans CN"/>
                <a:cs typeface="Source Han Sans CN"/>
              </a:defRPr>
            </a:pPr>
            <a:r>
              <a:rPr sz="1575" b="1">
                <a:solidFill>
                  <a:srgbClr val="202124"/>
                </a:solidFill>
                <a:latin typeface="Source Han Sans CN"/>
                <a:ea typeface="Source Han Sans CN"/>
                <a:cs typeface="Source Han Sans CN"/>
              </a:rPr>
              <a:t>Profiling</a:t>
            </a:r>
            <a:endParaRPr sz="1575" b="1">
              <a:solidFill>
                <a:srgbClr val="202124"/>
              </a:solidFill>
              <a:latin typeface="Source Han Sans CN"/>
              <a:ea typeface="Source Han Sans CN"/>
              <a:cs typeface="Source Han Sans CN"/>
            </a:endParaRPr>
          </a:p>
        </p:txBody>
      </p:sp>
      <p:sp>
        <p:nvSpPr>
          <p:cNvPr id="10" name="矩形 9"/>
          <p:cNvSpPr>
            <a:spLocks noGrp="1"/>
          </p:cNvSpPr>
          <p:nvPr/>
        </p:nvSpPr>
        <p:spPr>
          <a:xfrm>
            <a:off x="1156744" y="2524125"/>
            <a:ext cx="1285875" cy="288541"/>
          </a:xfrm>
          <a:prstGeom prst="rect">
            <a:avLst/>
          </a:prstGeom>
          <a:noFill/>
          <a:ln w="0">
            <a:noFill/>
          </a:ln>
        </p:spPr>
        <p:txBody>
          <a:bodyPr anchor="ctr">
            <a:spAutoFit/>
          </a:bodyPr>
          <a:lstStyle/>
          <a:p>
            <a:pPr algn="l">
              <a:buNone/>
              <a:defRPr sz="1275" b="0">
                <a:solidFill>
                  <a:srgbClr val="72777D"/>
                </a:solidFill>
                <a:latin typeface="Source Han Sans CN"/>
                <a:ea typeface="Source Han Sans CN"/>
                <a:cs typeface="Source Han Sans CN"/>
              </a:defRPr>
            </a:pPr>
            <a:r>
              <a:rPr sz="1275" b="0">
                <a:solidFill>
                  <a:srgbClr val="72777D"/>
                </a:solidFill>
                <a:latin typeface="Source Han Sans CN"/>
                <a:ea typeface="Source Han Sans CN"/>
                <a:cs typeface="Source Han Sans CN"/>
              </a:rPr>
              <a:t>定位整体耗时</a:t>
            </a:r>
            <a:endParaRPr sz="1275" b="0">
              <a:solidFill>
                <a:srgbClr val="72777D"/>
              </a:solidFill>
              <a:latin typeface="Source Han Sans CN"/>
              <a:ea typeface="Source Han Sans CN"/>
              <a:cs typeface="Source Han Sans CN"/>
            </a:endParaRPr>
          </a:p>
        </p:txBody>
      </p:sp>
      <p:sp>
        <p:nvSpPr>
          <p:cNvPr id="11" name="矩形 10"/>
          <p:cNvSpPr>
            <a:spLocks noGrp="1"/>
          </p:cNvSpPr>
          <p:nvPr/>
        </p:nvSpPr>
        <p:spPr>
          <a:xfrm>
            <a:off x="2895600" y="2190750"/>
            <a:ext cx="552450" cy="552450"/>
          </a:xfrm>
          <a:prstGeom prst="rect">
            <a:avLst/>
          </a:prstGeom>
          <a:solidFill>
            <a:srgbClr val="2297A0"/>
          </a:solidFill>
          <a:ln w="0">
            <a:noFill/>
          </a:ln>
        </p:spPr>
        <p:txBody>
          <a:bodyPr anchor="ctr"/>
          <a:lstStyle/>
          <a:p>
            <a:pPr algn="ctr">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2</a:t>
            </a:r>
            <a:endParaRPr sz="1875" b="1">
              <a:solidFill>
                <a:srgbClr val="FFFFFF"/>
              </a:solidFill>
              <a:latin typeface="Source Han Sans CN"/>
              <a:ea typeface="Source Han Sans CN"/>
              <a:cs typeface="Source Han Sans CN"/>
            </a:endParaRPr>
          </a:p>
        </p:txBody>
      </p:sp>
      <p:sp>
        <p:nvSpPr>
          <p:cNvPr id="12" name="矩形 11"/>
          <p:cNvSpPr>
            <a:spLocks noGrp="1"/>
          </p:cNvSpPr>
          <p:nvPr/>
        </p:nvSpPr>
        <p:spPr>
          <a:xfrm>
            <a:off x="3505200" y="2124075"/>
            <a:ext cx="1219200" cy="400050"/>
          </a:xfrm>
          <a:prstGeom prst="rect">
            <a:avLst/>
          </a:prstGeom>
          <a:noFill/>
          <a:ln w="0">
            <a:noFill/>
          </a:ln>
        </p:spPr>
        <p:txBody>
          <a:bodyPr anchor="ctr"/>
          <a:lstStyle/>
          <a:p>
            <a:pPr algn="l">
              <a:buNone/>
              <a:defRPr sz="1575" b="1">
                <a:solidFill>
                  <a:srgbClr val="202124"/>
                </a:solidFill>
                <a:latin typeface="Source Han Sans CN"/>
                <a:ea typeface="Source Han Sans CN"/>
                <a:cs typeface="Source Han Sans CN"/>
              </a:defRPr>
            </a:pPr>
            <a:r>
              <a:rPr sz="1575" b="1">
                <a:solidFill>
                  <a:srgbClr val="202124"/>
                </a:solidFill>
                <a:latin typeface="Source Han Sans CN"/>
                <a:ea typeface="Source Han Sans CN"/>
                <a:cs typeface="Source Han Sans CN"/>
              </a:rPr>
              <a:t>确认瓶颈</a:t>
            </a:r>
            <a:endParaRPr sz="1575" b="1">
              <a:solidFill>
                <a:srgbClr val="202124"/>
              </a:solidFill>
              <a:latin typeface="Source Han Sans CN"/>
              <a:ea typeface="Source Han Sans CN"/>
              <a:cs typeface="Source Han Sans CN"/>
            </a:endParaRPr>
          </a:p>
        </p:txBody>
      </p:sp>
      <p:sp>
        <p:nvSpPr>
          <p:cNvPr id="13" name="矩形 12"/>
          <p:cNvSpPr>
            <a:spLocks noGrp="1"/>
          </p:cNvSpPr>
          <p:nvPr/>
        </p:nvSpPr>
        <p:spPr>
          <a:xfrm>
            <a:off x="3505200" y="2530696"/>
            <a:ext cx="1285875" cy="484748"/>
          </a:xfrm>
          <a:prstGeom prst="rect">
            <a:avLst/>
          </a:prstGeom>
          <a:noFill/>
          <a:ln w="0">
            <a:noFill/>
          </a:ln>
        </p:spPr>
        <p:txBody>
          <a:bodyPr anchor="ctr">
            <a:spAutoFit/>
          </a:bodyPr>
          <a:lstStyle/>
          <a:p>
            <a:r>
              <a:rPr sz="1275">
                <a:solidFill>
                  <a:srgbClr val="72777D"/>
                </a:solidFill>
                <a:latin typeface="Source Han Sans CN"/>
                <a:ea typeface="Source Han Sans CN"/>
                <a:cs typeface="Source Han Sans CN"/>
              </a:rPr>
              <a:t>计算</a:t>
            </a:r>
            <a:r>
              <a:rPr sz="1275">
                <a:solidFill>
                  <a:srgbClr val="72777D"/>
                </a:solidFill>
                <a:latin typeface="Source Han Sans CN"/>
                <a:ea typeface="Source Han Sans CN"/>
                <a:cs typeface="Source Han Sans CN"/>
              </a:rPr>
              <a:t> / </a:t>
            </a:r>
            <a:r>
              <a:rPr sz="1275">
                <a:solidFill>
                  <a:srgbClr val="72777D"/>
                </a:solidFill>
                <a:latin typeface="Source Han Sans CN"/>
                <a:ea typeface="Source Han Sans CN"/>
                <a:cs typeface="Source Han Sans CN"/>
              </a:rPr>
              <a:t>访存</a:t>
            </a:r>
            <a:r>
              <a:rPr sz="1275">
                <a:solidFill>
                  <a:srgbClr val="72777D"/>
                </a:solidFill>
                <a:latin typeface="Source Han Sans CN"/>
                <a:ea typeface="Source Han Sans CN"/>
                <a:cs typeface="Source Han Sans CN"/>
              </a:rPr>
              <a:t> / </a:t>
            </a:r>
            <a:r>
              <a:rPr sz="1275">
                <a:solidFill>
                  <a:srgbClr val="72777D"/>
                </a:solidFill>
                <a:latin typeface="Source Han Sans CN"/>
                <a:ea typeface="Source Han Sans CN"/>
                <a:cs typeface="Source Han Sans CN"/>
              </a:rPr>
              <a:t>调度</a:t>
            </a:r>
            <a:endParaRPr sz="1275">
              <a:solidFill>
                <a:srgbClr val="72777D"/>
              </a:solidFill>
              <a:latin typeface="Source Han Sans CN"/>
              <a:ea typeface="Source Han Sans CN"/>
              <a:cs typeface="Source Han Sans CN"/>
            </a:endParaRPr>
          </a:p>
        </p:txBody>
      </p:sp>
      <p:sp>
        <p:nvSpPr>
          <p:cNvPr id="14" name="矩形 13"/>
          <p:cNvSpPr>
            <a:spLocks noGrp="1"/>
          </p:cNvSpPr>
          <p:nvPr/>
        </p:nvSpPr>
        <p:spPr>
          <a:xfrm>
            <a:off x="5238750" y="2190750"/>
            <a:ext cx="552450" cy="552450"/>
          </a:xfrm>
          <a:prstGeom prst="rect">
            <a:avLst/>
          </a:prstGeom>
          <a:solidFill>
            <a:srgbClr val="660874"/>
          </a:solidFill>
          <a:ln w="0">
            <a:noFill/>
          </a:ln>
        </p:spPr>
        <p:txBody>
          <a:bodyPr anchor="ctr"/>
          <a:lstStyle/>
          <a:p>
            <a:pPr algn="ctr">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3</a:t>
            </a:r>
            <a:endParaRPr sz="1875" b="1">
              <a:solidFill>
                <a:srgbClr val="FFFFFF"/>
              </a:solidFill>
              <a:latin typeface="Source Han Sans CN"/>
              <a:ea typeface="Source Han Sans CN"/>
              <a:cs typeface="Source Han Sans CN"/>
            </a:endParaRPr>
          </a:p>
        </p:txBody>
      </p:sp>
      <p:sp>
        <p:nvSpPr>
          <p:cNvPr id="15" name="矩形 14"/>
          <p:cNvSpPr>
            <a:spLocks noGrp="1"/>
          </p:cNvSpPr>
          <p:nvPr/>
        </p:nvSpPr>
        <p:spPr>
          <a:xfrm>
            <a:off x="5848350" y="2124075"/>
            <a:ext cx="1219200" cy="400050"/>
          </a:xfrm>
          <a:prstGeom prst="rect">
            <a:avLst/>
          </a:prstGeom>
          <a:noFill/>
          <a:ln w="0">
            <a:noFill/>
          </a:ln>
        </p:spPr>
        <p:txBody>
          <a:bodyPr anchor="ctr"/>
          <a:lstStyle/>
          <a:p>
            <a:pPr algn="l">
              <a:buNone/>
              <a:defRPr sz="1575" b="1">
                <a:solidFill>
                  <a:srgbClr val="202124"/>
                </a:solidFill>
                <a:latin typeface="Source Han Sans CN"/>
                <a:ea typeface="Source Han Sans CN"/>
                <a:cs typeface="Source Han Sans CN"/>
              </a:defRPr>
            </a:pPr>
            <a:r>
              <a:rPr sz="1575" b="1">
                <a:solidFill>
                  <a:srgbClr val="202124"/>
                </a:solidFill>
                <a:latin typeface="Source Han Sans CN"/>
                <a:ea typeface="Source Han Sans CN"/>
                <a:cs typeface="Source Han Sans CN"/>
              </a:rPr>
              <a:t>评估空间</a:t>
            </a:r>
            <a:endParaRPr sz="1575" b="1">
              <a:solidFill>
                <a:srgbClr val="202124"/>
              </a:solidFill>
              <a:latin typeface="Source Han Sans CN"/>
              <a:ea typeface="Source Han Sans CN"/>
              <a:cs typeface="Source Han Sans CN"/>
            </a:endParaRPr>
          </a:p>
        </p:txBody>
      </p:sp>
      <p:sp>
        <p:nvSpPr>
          <p:cNvPr id="16" name="矩形 15"/>
          <p:cNvSpPr>
            <a:spLocks noGrp="1"/>
          </p:cNvSpPr>
          <p:nvPr/>
        </p:nvSpPr>
        <p:spPr>
          <a:xfrm>
            <a:off x="5848350" y="2530696"/>
            <a:ext cx="1285875" cy="484748"/>
          </a:xfrm>
          <a:prstGeom prst="rect">
            <a:avLst/>
          </a:prstGeom>
          <a:noFill/>
          <a:ln w="0">
            <a:noFill/>
          </a:ln>
        </p:spPr>
        <p:txBody>
          <a:bodyPr anchor="ctr">
            <a:spAutoFit/>
          </a:bodyPr>
          <a:lstStyle/>
          <a:p>
            <a:pPr algn="l">
              <a:buNone/>
              <a:defRPr sz="1275" b="0">
                <a:solidFill>
                  <a:srgbClr val="72777D"/>
                </a:solidFill>
                <a:latin typeface="Source Han Sans CN"/>
                <a:ea typeface="Source Han Sans CN"/>
                <a:cs typeface="Source Han Sans CN"/>
              </a:defRPr>
            </a:pPr>
            <a:r>
              <a:rPr sz="1275" b="0">
                <a:solidFill>
                  <a:srgbClr val="72777D"/>
                </a:solidFill>
                <a:latin typeface="Source Han Sans CN"/>
                <a:ea typeface="Source Han Sans CN"/>
                <a:cs typeface="Source Han Sans CN"/>
              </a:rPr>
              <a:t>现有库是否足够</a:t>
            </a:r>
            <a:endParaRPr sz="1275" b="0">
              <a:solidFill>
                <a:srgbClr val="72777D"/>
              </a:solidFill>
              <a:latin typeface="Source Han Sans CN"/>
              <a:ea typeface="Source Han Sans CN"/>
              <a:cs typeface="Source Han Sans CN"/>
            </a:endParaRPr>
          </a:p>
        </p:txBody>
      </p:sp>
      <p:sp>
        <p:nvSpPr>
          <p:cNvPr id="17" name="矩形 16"/>
          <p:cNvSpPr>
            <a:spLocks noGrp="1"/>
          </p:cNvSpPr>
          <p:nvPr/>
        </p:nvSpPr>
        <p:spPr>
          <a:xfrm>
            <a:off x="7581900" y="2190750"/>
            <a:ext cx="552450" cy="552450"/>
          </a:xfrm>
          <a:prstGeom prst="rect">
            <a:avLst/>
          </a:prstGeom>
          <a:solidFill>
            <a:srgbClr val="2297A0"/>
          </a:solidFill>
          <a:ln w="0">
            <a:noFill/>
          </a:ln>
        </p:spPr>
        <p:txBody>
          <a:bodyPr anchor="ctr"/>
          <a:lstStyle/>
          <a:p>
            <a:pPr algn="ctr">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4</a:t>
            </a:r>
            <a:endParaRPr sz="1875" b="1">
              <a:solidFill>
                <a:srgbClr val="FFFFFF"/>
              </a:solidFill>
              <a:latin typeface="Source Han Sans CN"/>
              <a:ea typeface="Source Han Sans CN"/>
              <a:cs typeface="Source Han Sans CN"/>
            </a:endParaRPr>
          </a:p>
        </p:txBody>
      </p:sp>
      <p:sp>
        <p:nvSpPr>
          <p:cNvPr id="18" name="矩形 17"/>
          <p:cNvSpPr>
            <a:spLocks noGrp="1"/>
          </p:cNvSpPr>
          <p:nvPr/>
        </p:nvSpPr>
        <p:spPr>
          <a:xfrm>
            <a:off x="8191500" y="2124075"/>
            <a:ext cx="1219200" cy="400050"/>
          </a:xfrm>
          <a:prstGeom prst="rect">
            <a:avLst/>
          </a:prstGeom>
          <a:noFill/>
          <a:ln w="0">
            <a:noFill/>
          </a:ln>
        </p:spPr>
        <p:txBody>
          <a:bodyPr anchor="ctr"/>
          <a:lstStyle/>
          <a:p>
            <a:pPr algn="l">
              <a:buNone/>
              <a:defRPr sz="1575" b="1">
                <a:solidFill>
                  <a:srgbClr val="202124"/>
                </a:solidFill>
                <a:latin typeface="Source Han Sans CN"/>
                <a:ea typeface="Source Han Sans CN"/>
                <a:cs typeface="Source Han Sans CN"/>
              </a:defRPr>
            </a:pPr>
            <a:r>
              <a:rPr sz="1575" b="1">
                <a:solidFill>
                  <a:srgbClr val="202124"/>
                </a:solidFill>
                <a:latin typeface="Source Han Sans CN"/>
                <a:ea typeface="Source Han Sans CN"/>
                <a:cs typeface="Source Han Sans CN"/>
              </a:rPr>
              <a:t>选择方式</a:t>
            </a:r>
            <a:endParaRPr sz="1575" b="1">
              <a:solidFill>
                <a:srgbClr val="202124"/>
              </a:solidFill>
              <a:latin typeface="Source Han Sans CN"/>
              <a:ea typeface="Source Han Sans CN"/>
              <a:cs typeface="Source Han Sans CN"/>
            </a:endParaRPr>
          </a:p>
        </p:txBody>
      </p:sp>
      <p:sp>
        <p:nvSpPr>
          <p:cNvPr id="19" name="矩形 18"/>
          <p:cNvSpPr>
            <a:spLocks noGrp="1"/>
          </p:cNvSpPr>
          <p:nvPr/>
        </p:nvSpPr>
        <p:spPr>
          <a:xfrm>
            <a:off x="8191500" y="2519939"/>
            <a:ext cx="1285875" cy="288541"/>
          </a:xfrm>
          <a:prstGeom prst="rect">
            <a:avLst/>
          </a:prstGeom>
          <a:noFill/>
          <a:ln w="0">
            <a:noFill/>
          </a:ln>
        </p:spPr>
        <p:txBody>
          <a:bodyPr anchor="ctr">
            <a:spAutoFit/>
          </a:bodyPr>
          <a:lstStyle/>
          <a:p>
            <a:pPr algn="l">
              <a:buNone/>
              <a:defRPr sz="1275" b="0">
                <a:solidFill>
                  <a:srgbClr val="72777D"/>
                </a:solidFill>
                <a:latin typeface="Source Han Sans CN"/>
                <a:ea typeface="Source Han Sans CN"/>
                <a:cs typeface="Source Han Sans CN"/>
              </a:defRPr>
            </a:pPr>
            <a:r>
              <a:rPr sz="1275" b="0">
                <a:solidFill>
                  <a:srgbClr val="72777D"/>
                </a:solidFill>
                <a:latin typeface="Source Han Sans CN"/>
                <a:ea typeface="Source Han Sans CN"/>
                <a:cs typeface="Source Han Sans CN"/>
              </a:rPr>
              <a:t>库 / </a:t>
            </a:r>
            <a:r>
              <a:rPr sz="1275" b="0">
                <a:solidFill>
                  <a:srgbClr val="72777D"/>
                </a:solidFill>
                <a:latin typeface="Source Han Sans CN"/>
                <a:ea typeface="Source Han Sans CN"/>
                <a:cs typeface="Source Han Sans CN"/>
              </a:rPr>
              <a:t>融合</a:t>
            </a:r>
            <a:r>
              <a:rPr sz="1275" b="0">
                <a:solidFill>
                  <a:srgbClr val="72777D"/>
                </a:solidFill>
                <a:latin typeface="Source Han Sans CN"/>
                <a:ea typeface="Source Han Sans CN"/>
                <a:cs typeface="Source Han Sans CN"/>
              </a:rPr>
              <a:t> / </a:t>
            </a:r>
            <a:r>
              <a:rPr sz="1275" b="0">
                <a:solidFill>
                  <a:srgbClr val="72777D"/>
                </a:solidFill>
                <a:latin typeface="Source Han Sans CN"/>
                <a:ea typeface="Source Han Sans CN"/>
                <a:cs typeface="Source Han Sans CN"/>
              </a:rPr>
              <a:t>手写</a:t>
            </a:r>
            <a:endParaRPr sz="1275" b="0">
              <a:solidFill>
                <a:srgbClr val="72777D"/>
              </a:solidFill>
              <a:latin typeface="Source Han Sans CN"/>
              <a:ea typeface="Source Han Sans CN"/>
              <a:cs typeface="Source Han Sans CN"/>
            </a:endParaRPr>
          </a:p>
        </p:txBody>
      </p:sp>
      <p:sp>
        <p:nvSpPr>
          <p:cNvPr id="20" name="矩形 19"/>
          <p:cNvSpPr>
            <a:spLocks noGrp="1"/>
          </p:cNvSpPr>
          <p:nvPr/>
        </p:nvSpPr>
        <p:spPr>
          <a:xfrm>
            <a:off x="9925050" y="2190750"/>
            <a:ext cx="552450" cy="552450"/>
          </a:xfrm>
          <a:prstGeom prst="rect">
            <a:avLst/>
          </a:prstGeom>
          <a:solidFill>
            <a:srgbClr val="660874"/>
          </a:solidFill>
          <a:ln w="0">
            <a:noFill/>
          </a:ln>
        </p:spPr>
        <p:txBody>
          <a:bodyPr anchor="ctr"/>
          <a:lstStyle/>
          <a:p>
            <a:pPr algn="ctr">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5</a:t>
            </a:r>
            <a:endParaRPr sz="1875" b="1">
              <a:solidFill>
                <a:srgbClr val="FFFFFF"/>
              </a:solidFill>
              <a:latin typeface="Source Han Sans CN"/>
              <a:ea typeface="Source Han Sans CN"/>
              <a:cs typeface="Source Han Sans CN"/>
            </a:endParaRPr>
          </a:p>
        </p:txBody>
      </p:sp>
      <p:sp>
        <p:nvSpPr>
          <p:cNvPr id="21" name="矩形 20"/>
          <p:cNvSpPr>
            <a:spLocks noGrp="1"/>
          </p:cNvSpPr>
          <p:nvPr/>
        </p:nvSpPr>
        <p:spPr>
          <a:xfrm>
            <a:off x="10534650" y="2124075"/>
            <a:ext cx="1219200" cy="400050"/>
          </a:xfrm>
          <a:prstGeom prst="rect">
            <a:avLst/>
          </a:prstGeom>
          <a:noFill/>
          <a:ln w="0">
            <a:noFill/>
          </a:ln>
        </p:spPr>
        <p:txBody>
          <a:bodyPr anchor="ctr"/>
          <a:lstStyle/>
          <a:p>
            <a:pPr algn="l">
              <a:buNone/>
              <a:defRPr sz="1575" b="1">
                <a:solidFill>
                  <a:srgbClr val="202124"/>
                </a:solidFill>
                <a:latin typeface="Source Han Sans CN"/>
                <a:ea typeface="Source Han Sans CN"/>
                <a:cs typeface="Source Han Sans CN"/>
              </a:defRPr>
            </a:pPr>
            <a:r>
              <a:rPr sz="1575" b="1">
                <a:solidFill>
                  <a:srgbClr val="202124"/>
                </a:solidFill>
                <a:latin typeface="Source Han Sans CN"/>
                <a:ea typeface="Source Han Sans CN"/>
                <a:cs typeface="Source Han Sans CN"/>
              </a:rPr>
              <a:t>端到端验证</a:t>
            </a:r>
            <a:endParaRPr sz="1575" b="1">
              <a:solidFill>
                <a:srgbClr val="202124"/>
              </a:solidFill>
              <a:latin typeface="Source Han Sans CN"/>
              <a:ea typeface="Source Han Sans CN"/>
              <a:cs typeface="Source Han Sans CN"/>
            </a:endParaRPr>
          </a:p>
        </p:txBody>
      </p:sp>
      <p:sp>
        <p:nvSpPr>
          <p:cNvPr id="22" name="矩形 21"/>
          <p:cNvSpPr>
            <a:spLocks noGrp="1"/>
          </p:cNvSpPr>
          <p:nvPr/>
        </p:nvSpPr>
        <p:spPr>
          <a:xfrm>
            <a:off x="10536555" y="2535050"/>
            <a:ext cx="1285875" cy="288541"/>
          </a:xfrm>
          <a:prstGeom prst="rect">
            <a:avLst/>
          </a:prstGeom>
          <a:noFill/>
          <a:ln w="0">
            <a:noFill/>
          </a:ln>
        </p:spPr>
        <p:txBody>
          <a:bodyPr anchor="ctr">
            <a:spAutoFit/>
          </a:bodyPr>
          <a:lstStyle/>
          <a:p>
            <a:pPr algn="l">
              <a:buNone/>
              <a:defRPr sz="1275" b="0">
                <a:solidFill>
                  <a:srgbClr val="72777D"/>
                </a:solidFill>
                <a:latin typeface="Source Han Sans CN"/>
                <a:ea typeface="Source Han Sans CN"/>
                <a:cs typeface="Source Han Sans CN"/>
              </a:defRPr>
            </a:pPr>
            <a:r>
              <a:rPr sz="1275" b="0">
                <a:solidFill>
                  <a:srgbClr val="72777D"/>
                </a:solidFill>
                <a:latin typeface="Source Han Sans CN"/>
                <a:ea typeface="Source Han Sans CN"/>
                <a:cs typeface="Source Han Sans CN"/>
              </a:rPr>
              <a:t>收益是否稳定</a:t>
            </a:r>
            <a:endParaRPr sz="1275" b="0">
              <a:solidFill>
                <a:srgbClr val="72777D"/>
              </a:solidFill>
              <a:latin typeface="Source Han Sans CN"/>
              <a:ea typeface="Source Han Sans CN"/>
              <a:cs typeface="Source Han Sans CN"/>
            </a:endParaRPr>
          </a:p>
        </p:txBody>
      </p:sp>
      <p:sp>
        <p:nvSpPr>
          <p:cNvPr id="23" name="矩形: 圆角 22"/>
          <p:cNvSpPr>
            <a:spLocks noGrp="1"/>
          </p:cNvSpPr>
          <p:nvPr/>
        </p:nvSpPr>
        <p:spPr>
          <a:xfrm>
            <a:off x="876300" y="3667125"/>
            <a:ext cx="10439400" cy="1666875"/>
          </a:xfrm>
          <a:prstGeom prst="roundRect">
            <a:avLst>
              <a:gd name="adj" fmla="val 8000"/>
            </a:avLst>
          </a:prstGeom>
          <a:solidFill>
            <a:srgbClr val="F5EDF7"/>
          </a:solidFill>
          <a:ln w="9525">
            <a:solidFill>
              <a:srgbClr val="660874"/>
            </a:solidFill>
            <a:prstDash val="solid"/>
          </a:ln>
        </p:spPr>
      </p:sp>
      <p:sp>
        <p:nvSpPr>
          <p:cNvPr id="24" name="矩形 23"/>
          <p:cNvSpPr>
            <a:spLocks noGrp="1"/>
          </p:cNvSpPr>
          <p:nvPr/>
        </p:nvSpPr>
        <p:spPr>
          <a:xfrm>
            <a:off x="1190625" y="3857625"/>
            <a:ext cx="9810750" cy="400050"/>
          </a:xfrm>
          <a:prstGeom prst="rect">
            <a:avLst/>
          </a:prstGeom>
          <a:noFill/>
          <a:ln w="0">
            <a:noFill/>
          </a:ln>
        </p:spPr>
        <p:txBody>
          <a:bodyPr anchor="ctr"/>
          <a:lstStyle/>
          <a:p>
            <a:pPr algn="ctr">
              <a:buNone/>
              <a:defRPr sz="1800" b="1">
                <a:solidFill>
                  <a:srgbClr val="660874"/>
                </a:solidFill>
                <a:latin typeface="Source Han Sans CN"/>
                <a:ea typeface="Source Han Sans CN"/>
                <a:cs typeface="Source Han Sans CN"/>
              </a:defRPr>
            </a:pPr>
            <a:r>
              <a:rPr sz="1800" b="1">
                <a:solidFill>
                  <a:srgbClr val="660874"/>
                </a:solidFill>
                <a:latin typeface="Source Han Sans CN"/>
                <a:ea typeface="Source Han Sans CN"/>
                <a:cs typeface="Source Han Sans CN"/>
              </a:rPr>
              <a:t>本课为什么选择 Softmax？</a:t>
            </a:r>
            <a:endParaRPr sz="1800" b="1">
              <a:solidFill>
                <a:srgbClr val="660874"/>
              </a:solidFill>
              <a:latin typeface="Source Han Sans CN"/>
              <a:ea typeface="Source Han Sans CN"/>
              <a:cs typeface="Source Han Sans CN"/>
            </a:endParaRPr>
          </a:p>
        </p:txBody>
      </p:sp>
      <p:sp>
        <p:nvSpPr>
          <p:cNvPr id="25" name="矩形 24"/>
          <p:cNvSpPr>
            <a:spLocks noGrp="1"/>
          </p:cNvSpPr>
          <p:nvPr/>
        </p:nvSpPr>
        <p:spPr>
          <a:xfrm>
            <a:off x="1190625" y="4305300"/>
            <a:ext cx="9810750" cy="361950"/>
          </a:xfrm>
          <a:prstGeom prst="rect">
            <a:avLst/>
          </a:prstGeom>
          <a:noFill/>
          <a:ln w="0">
            <a:noFill/>
          </a:ln>
        </p:spPr>
        <p:txBody>
          <a:bodyPr anchor="ctr"/>
          <a:lstStyle/>
          <a:p>
            <a:pPr algn="ctr">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结构清晰，便于集中讲解线程映射、规约、数值稳定性与性能验证</a:t>
            </a:r>
            <a:endParaRPr sz="1575" b="0">
              <a:solidFill>
                <a:srgbClr val="202124"/>
              </a:solidFill>
              <a:latin typeface="Source Han Sans CN"/>
              <a:ea typeface="Source Han Sans CN"/>
              <a:cs typeface="Source Han Sans CN"/>
            </a:endParaRPr>
          </a:p>
        </p:txBody>
      </p:sp>
      <p:sp>
        <p:nvSpPr>
          <p:cNvPr id="26" name="矩形 25"/>
          <p:cNvSpPr>
            <a:spLocks noGrp="1"/>
          </p:cNvSpPr>
          <p:nvPr/>
        </p:nvSpPr>
        <p:spPr>
          <a:xfrm>
            <a:off x="1143000" y="4781550"/>
            <a:ext cx="9906000" cy="400050"/>
          </a:xfrm>
          <a:prstGeom prst="rect">
            <a:avLst/>
          </a:prstGeom>
          <a:noFill/>
          <a:ln w="0">
            <a:noFill/>
          </a:ln>
        </p:spPr>
        <p:txBody>
          <a:bodyPr anchor="ctr"/>
          <a:lstStyle/>
          <a:p>
            <a:pPr algn="ctr">
              <a:buNone/>
              <a:defRPr sz="1500" b="1">
                <a:solidFill>
                  <a:srgbClr val="D83B52"/>
                </a:solidFill>
                <a:latin typeface="Source Han Sans CN"/>
                <a:ea typeface="Source Han Sans CN"/>
                <a:cs typeface="Source Han Sans CN"/>
              </a:defRPr>
            </a:pPr>
            <a:r>
              <a:rPr sz="1500" b="1">
                <a:solidFill>
                  <a:srgbClr val="D83B52"/>
                </a:solidFill>
                <a:latin typeface="Source Han Sans CN"/>
                <a:ea typeface="Source Han Sans CN"/>
                <a:cs typeface="Source Han Sans CN"/>
              </a:rPr>
              <a:t>不代表Softmax在模型中成为性能瓶颈；教学示例优先保证概念清晰，避免用复杂算子增加理解难度</a:t>
            </a:r>
            <a:r>
              <a:rPr sz="1500" b="1">
                <a:solidFill>
                  <a:srgbClr val="D83B52"/>
                </a:solidFill>
                <a:latin typeface="Source Han Sans CN"/>
                <a:ea typeface="Source Han Sans CN"/>
                <a:cs typeface="Source Han Sans CN"/>
              </a:rPr>
              <a:t>。</a:t>
            </a:r>
            <a:endParaRPr sz="1500" b="1">
              <a:solidFill>
                <a:srgbClr val="D83B52"/>
              </a:solidFill>
              <a:latin typeface="Source Han Sans CN"/>
              <a:ea typeface="Source Han Sans CN"/>
              <a:cs typeface="Source Han Sans C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V2 Title"/>
          <p:cNvSpPr>
            <a:spLocks noGrp="1"/>
          </p:cNvSpPr>
          <p:nvPr/>
        </p:nvSpPr>
        <p:spPr>
          <a:xfrm>
            <a:off x="333375" y="95250"/>
            <a:ext cx="10058400" cy="657225"/>
          </a:xfrm>
          <a:prstGeom prst="rect">
            <a:avLst/>
          </a:prstGeom>
          <a:noFill/>
          <a:ln w="0">
            <a:noFill/>
          </a:ln>
        </p:spPr>
        <p:txBody>
          <a:bodyPr anchor="ctr"/>
          <a:lstStyle/>
          <a:p>
            <a:pPr algn="l">
              <a:buNone/>
              <a:defRPr sz="3200" b="1">
                <a:solidFill>
                  <a:srgbClr val="000000"/>
                </a:solidFill>
                <a:latin typeface="Source Han Sans CN"/>
                <a:ea typeface="Source Han Sans CN"/>
                <a:cs typeface="Source Han Sans CN"/>
              </a:defRPr>
            </a:pPr>
            <a:r>
              <a:rPr sz="3200" b="1">
                <a:solidFill>
                  <a:srgbClr val="000000"/>
                </a:solidFill>
                <a:latin typeface="Source Han Sans CN"/>
                <a:ea typeface="Source Han Sans CN"/>
                <a:cs typeface="Source Han Sans CN"/>
              </a:rPr>
              <a:t>以 Softmax 为例，掌握四个核心目标</a:t>
            </a:r>
            <a:endParaRPr sz="3200" b="1">
              <a:solidFill>
                <a:srgbClr val="000000"/>
              </a:solidFill>
              <a:latin typeface="Source Han Sans CN"/>
              <a:ea typeface="Source Han Sans CN"/>
              <a:cs typeface="Source Han Sans CN"/>
            </a:endParaRPr>
          </a:p>
        </p:txBody>
      </p:sp>
      <p:sp>
        <p:nvSpPr>
          <p:cNvPr id="2" name="V2 Subtitle"/>
          <p:cNvSpPr>
            <a:spLocks noGrp="1"/>
          </p:cNvSpPr>
          <p:nvPr/>
        </p:nvSpPr>
        <p:spPr>
          <a:xfrm>
            <a:off x="838200" y="1047750"/>
            <a:ext cx="10420350" cy="400050"/>
          </a:xfrm>
          <a:prstGeom prst="rect">
            <a:avLst/>
          </a:prstGeom>
          <a:noFill/>
          <a:ln w="0">
            <a:noFill/>
          </a:ln>
        </p:spPr>
        <p:txBody>
          <a:bodyPr anchor="ctr"/>
          <a:lstStyle/>
          <a:p>
            <a:pPr algn="l">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能够定位、读懂、验证与解释，并判断自定义算子的接入价值</a:t>
            </a:r>
            <a:endParaRPr sz="1500" b="1">
              <a:solidFill>
                <a:srgbClr val="660874"/>
              </a:solidFill>
              <a:latin typeface="Source Han Sans CN"/>
              <a:ea typeface="Source Han Sans CN"/>
              <a:cs typeface="Source Han Sans CN"/>
            </a:endParaRPr>
          </a:p>
        </p:txBody>
      </p:sp>
      <p:sp>
        <p:nvSpPr>
          <p:cNvPr id="3" name="V2 Slide Number"/>
          <p:cNvSpPr>
            <a:spLocks noGrp="1"/>
          </p:cNvSpPr>
          <p:nvPr/>
        </p:nvSpPr>
        <p:spPr>
          <a:xfrm>
            <a:off x="9448800" y="6353175"/>
            <a:ext cx="2743200" cy="361950"/>
          </a:xfrm>
          <a:prstGeom prst="rect">
            <a:avLst/>
          </a:prstGeom>
          <a:noFill/>
          <a:ln w="0">
            <a:noFill/>
          </a:ln>
        </p:spPr>
        <p:txBody>
          <a:bodyPr anchor="ctr"/>
          <a:lstStyle/>
          <a:p>
            <a:pPr algn="r">
              <a:buNone/>
              <a:defRPr sz="1200" b="0">
                <a:solidFill>
                  <a:srgbClr val="8B8E93"/>
                </a:solidFill>
                <a:latin typeface="Arial" panose="020B0604020202090204"/>
                <a:ea typeface="Arial" panose="020B0604020202090204"/>
                <a:cs typeface="Arial" panose="020B0604020202090204"/>
              </a:defRPr>
            </a:pPr>
            <a:r>
              <a:rPr sz="1200" b="0">
                <a:solidFill>
                  <a:srgbClr val="8B8E93"/>
                </a:solidFill>
                <a:latin typeface="Arial" panose="020B0604020202090204"/>
                <a:ea typeface="Arial" panose="020B0604020202090204"/>
                <a:cs typeface="Arial" panose="020B0604020202090204"/>
              </a:rPr>
              <a:t>08</a:t>
            </a:r>
            <a:endParaRPr sz="1200" b="0">
              <a:solidFill>
                <a:srgbClr val="8B8E93"/>
              </a:solidFill>
              <a:latin typeface="Arial" panose="020B0604020202090204"/>
              <a:ea typeface="Arial" panose="020B0604020202090204"/>
              <a:cs typeface="Arial" panose="020B0604020202090204"/>
            </a:endParaRPr>
          </a:p>
        </p:txBody>
      </p:sp>
      <p:sp>
        <p:nvSpPr>
          <p:cNvPr id="4" name="矩形: 圆角 3"/>
          <p:cNvSpPr>
            <a:spLocks noGrp="1"/>
          </p:cNvSpPr>
          <p:nvPr/>
        </p:nvSpPr>
        <p:spPr>
          <a:xfrm>
            <a:off x="904875" y="1857375"/>
            <a:ext cx="4953000" cy="1571625"/>
          </a:xfrm>
          <a:prstGeom prst="roundRect">
            <a:avLst>
              <a:gd name="adj" fmla="val 8485"/>
            </a:avLst>
          </a:prstGeom>
          <a:solidFill>
            <a:srgbClr val="F5EDF7"/>
          </a:solidFill>
          <a:ln w="9525">
            <a:solidFill>
              <a:srgbClr val="660874"/>
            </a:solidFill>
            <a:prstDash val="solid"/>
          </a:ln>
        </p:spPr>
      </p:sp>
      <p:sp>
        <p:nvSpPr>
          <p:cNvPr id="5" name="矩形 4"/>
          <p:cNvSpPr>
            <a:spLocks noGrp="1"/>
          </p:cNvSpPr>
          <p:nvPr/>
        </p:nvSpPr>
        <p:spPr>
          <a:xfrm>
            <a:off x="1143000" y="2095500"/>
            <a:ext cx="685800" cy="552450"/>
          </a:xfrm>
          <a:prstGeom prst="rect">
            <a:avLst/>
          </a:prstGeom>
          <a:solidFill>
            <a:srgbClr val="660874"/>
          </a:solidFill>
          <a:ln w="0">
            <a:noFill/>
          </a:ln>
        </p:spPr>
        <p:txBody>
          <a:bodyPr anchor="ctr"/>
          <a:lstStyle/>
          <a:p>
            <a:pPr algn="ctr">
              <a:buNone/>
              <a:defRPr sz="2025" b="1">
                <a:solidFill>
                  <a:srgbClr val="FFFFFF"/>
                </a:solidFill>
                <a:latin typeface="Source Han Sans CN"/>
                <a:ea typeface="Source Han Sans CN"/>
                <a:cs typeface="Source Han Sans CN"/>
              </a:defRPr>
            </a:pPr>
            <a:r>
              <a:rPr sz="2025" b="1">
                <a:solidFill>
                  <a:srgbClr val="FFFFFF"/>
                </a:solidFill>
                <a:latin typeface="Source Han Sans CN"/>
                <a:ea typeface="Source Han Sans CN"/>
                <a:cs typeface="Source Han Sans CN"/>
              </a:rPr>
              <a:t>01</a:t>
            </a:r>
            <a:endParaRPr sz="2025" b="1">
              <a:solidFill>
                <a:srgbClr val="FFFFFF"/>
              </a:solidFill>
              <a:latin typeface="Source Han Sans CN"/>
              <a:ea typeface="Source Han Sans CN"/>
              <a:cs typeface="Source Han Sans CN"/>
            </a:endParaRPr>
          </a:p>
        </p:txBody>
      </p:sp>
      <p:sp>
        <p:nvSpPr>
          <p:cNvPr id="6" name="矩形 5"/>
          <p:cNvSpPr>
            <a:spLocks noGrp="1"/>
          </p:cNvSpPr>
          <p:nvPr/>
        </p:nvSpPr>
        <p:spPr>
          <a:xfrm>
            <a:off x="2047875" y="2066925"/>
            <a:ext cx="3333750" cy="523875"/>
          </a:xfrm>
          <a:prstGeom prst="rect">
            <a:avLst/>
          </a:prstGeom>
          <a:noFill/>
          <a:ln w="0">
            <a:noFill/>
          </a:ln>
        </p:spPr>
        <p:txBody>
          <a:bodyPr anchor="ctr"/>
          <a:lstStyle/>
          <a:p>
            <a:pPr algn="l">
              <a:buNone/>
              <a:defRPr sz="2175" b="1">
                <a:solidFill>
                  <a:srgbClr val="660874"/>
                </a:solidFill>
                <a:latin typeface="Source Han Sans CN"/>
                <a:ea typeface="Source Han Sans CN"/>
                <a:cs typeface="Source Han Sans CN"/>
              </a:defRPr>
            </a:pPr>
            <a:r>
              <a:rPr sz="2175" b="1">
                <a:solidFill>
                  <a:srgbClr val="660874"/>
                </a:solidFill>
                <a:latin typeface="Source Han Sans CN"/>
                <a:ea typeface="Source Han Sans CN"/>
                <a:cs typeface="Source Han Sans CN"/>
              </a:rPr>
              <a:t>定位</a:t>
            </a:r>
            <a:endParaRPr sz="2175" b="1">
              <a:solidFill>
                <a:srgbClr val="660874"/>
              </a:solidFill>
              <a:latin typeface="Source Han Sans CN"/>
              <a:ea typeface="Source Han Sans CN"/>
              <a:cs typeface="Source Han Sans CN"/>
            </a:endParaRPr>
          </a:p>
        </p:txBody>
      </p:sp>
      <p:sp>
        <p:nvSpPr>
          <p:cNvPr id="7" name="矩形 6"/>
          <p:cNvSpPr>
            <a:spLocks noGrp="1"/>
          </p:cNvSpPr>
          <p:nvPr/>
        </p:nvSpPr>
        <p:spPr>
          <a:xfrm>
            <a:off x="2047875" y="2609850"/>
            <a:ext cx="3476625" cy="647700"/>
          </a:xfrm>
          <a:prstGeom prst="rect">
            <a:avLst/>
          </a:prstGeom>
          <a:noFill/>
          <a:ln w="0">
            <a:noFill/>
          </a:ln>
        </p:spPr>
        <p:txBody>
          <a:bodyPr anchor="ctr"/>
          <a:lstStyle/>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从 Attention 中找到最后一维 Softmax</a:t>
            </a:r>
            <a:endParaRPr sz="1350" b="0">
              <a:solidFill>
                <a:srgbClr val="202124"/>
              </a:solidFill>
              <a:latin typeface="Source Han Sans CN"/>
              <a:ea typeface="Source Han Sans CN"/>
              <a:cs typeface="Source Han Sans CN"/>
            </a:endParaRPr>
          </a:p>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转成 rows × cols 行视图</a:t>
            </a:r>
            <a:endParaRPr sz="1350" b="0">
              <a:solidFill>
                <a:srgbClr val="202124"/>
              </a:solidFill>
              <a:latin typeface="Source Han Sans CN"/>
              <a:ea typeface="Source Han Sans CN"/>
              <a:cs typeface="Source Han Sans CN"/>
            </a:endParaRPr>
          </a:p>
        </p:txBody>
      </p:sp>
      <p:sp>
        <p:nvSpPr>
          <p:cNvPr id="8" name="矩形: 圆角 7"/>
          <p:cNvSpPr>
            <a:spLocks noGrp="1"/>
          </p:cNvSpPr>
          <p:nvPr/>
        </p:nvSpPr>
        <p:spPr>
          <a:xfrm>
            <a:off x="6334125" y="1857375"/>
            <a:ext cx="4953000" cy="1571625"/>
          </a:xfrm>
          <a:prstGeom prst="roundRect">
            <a:avLst>
              <a:gd name="adj" fmla="val 8485"/>
            </a:avLst>
          </a:prstGeom>
          <a:solidFill>
            <a:srgbClr val="EEF8F4"/>
          </a:solidFill>
          <a:ln w="9525">
            <a:solidFill>
              <a:srgbClr val="2297A0"/>
            </a:solidFill>
            <a:prstDash val="solid"/>
          </a:ln>
        </p:spPr>
      </p:sp>
      <p:sp>
        <p:nvSpPr>
          <p:cNvPr id="9" name="矩形 8"/>
          <p:cNvSpPr>
            <a:spLocks noGrp="1"/>
          </p:cNvSpPr>
          <p:nvPr/>
        </p:nvSpPr>
        <p:spPr>
          <a:xfrm>
            <a:off x="6572250" y="2095500"/>
            <a:ext cx="685800" cy="552450"/>
          </a:xfrm>
          <a:prstGeom prst="rect">
            <a:avLst/>
          </a:prstGeom>
          <a:solidFill>
            <a:srgbClr val="2297A0"/>
          </a:solidFill>
          <a:ln w="0">
            <a:noFill/>
          </a:ln>
        </p:spPr>
        <p:txBody>
          <a:bodyPr anchor="ctr"/>
          <a:lstStyle/>
          <a:p>
            <a:pPr algn="ctr">
              <a:buNone/>
              <a:defRPr sz="2025" b="1">
                <a:solidFill>
                  <a:srgbClr val="FFFFFF"/>
                </a:solidFill>
                <a:latin typeface="Source Han Sans CN"/>
                <a:ea typeface="Source Han Sans CN"/>
                <a:cs typeface="Source Han Sans CN"/>
              </a:defRPr>
            </a:pPr>
            <a:r>
              <a:rPr sz="2025" b="1">
                <a:solidFill>
                  <a:srgbClr val="FFFFFF"/>
                </a:solidFill>
                <a:latin typeface="Source Han Sans CN"/>
                <a:ea typeface="Source Han Sans CN"/>
                <a:cs typeface="Source Han Sans CN"/>
              </a:rPr>
              <a:t>02</a:t>
            </a:r>
            <a:endParaRPr sz="2025" b="1">
              <a:solidFill>
                <a:srgbClr val="FFFFFF"/>
              </a:solidFill>
              <a:latin typeface="Source Han Sans CN"/>
              <a:ea typeface="Source Han Sans CN"/>
              <a:cs typeface="Source Han Sans CN"/>
            </a:endParaRPr>
          </a:p>
        </p:txBody>
      </p:sp>
      <p:sp>
        <p:nvSpPr>
          <p:cNvPr id="10" name="矩形 9"/>
          <p:cNvSpPr>
            <a:spLocks noGrp="1"/>
          </p:cNvSpPr>
          <p:nvPr/>
        </p:nvSpPr>
        <p:spPr>
          <a:xfrm>
            <a:off x="7477125" y="2066925"/>
            <a:ext cx="3333750" cy="523875"/>
          </a:xfrm>
          <a:prstGeom prst="rect">
            <a:avLst/>
          </a:prstGeom>
          <a:noFill/>
          <a:ln w="0">
            <a:noFill/>
          </a:ln>
        </p:spPr>
        <p:txBody>
          <a:bodyPr anchor="ctr"/>
          <a:lstStyle/>
          <a:p>
            <a:pPr algn="l">
              <a:buNone/>
              <a:defRPr sz="2175" b="1">
                <a:solidFill>
                  <a:srgbClr val="2297A0"/>
                </a:solidFill>
                <a:latin typeface="Source Han Sans CN"/>
                <a:ea typeface="Source Han Sans CN"/>
                <a:cs typeface="Source Han Sans CN"/>
              </a:defRPr>
            </a:pPr>
            <a:r>
              <a:rPr sz="2175" b="1">
                <a:solidFill>
                  <a:srgbClr val="2297A0"/>
                </a:solidFill>
                <a:latin typeface="Source Han Sans CN"/>
                <a:ea typeface="Source Han Sans CN"/>
                <a:cs typeface="Source Han Sans CN"/>
              </a:rPr>
              <a:t>实现</a:t>
            </a:r>
            <a:endParaRPr sz="2175" b="1">
              <a:solidFill>
                <a:srgbClr val="2297A0"/>
              </a:solidFill>
              <a:latin typeface="Source Han Sans CN"/>
              <a:ea typeface="Source Han Sans CN"/>
              <a:cs typeface="Source Han Sans CN"/>
            </a:endParaRPr>
          </a:p>
        </p:txBody>
      </p:sp>
      <p:sp>
        <p:nvSpPr>
          <p:cNvPr id="11" name="矩形 10"/>
          <p:cNvSpPr>
            <a:spLocks noGrp="1"/>
          </p:cNvSpPr>
          <p:nvPr/>
        </p:nvSpPr>
        <p:spPr>
          <a:xfrm>
            <a:off x="7477125" y="2609850"/>
            <a:ext cx="3476625" cy="647700"/>
          </a:xfrm>
          <a:prstGeom prst="rect">
            <a:avLst/>
          </a:prstGeom>
          <a:noFill/>
          <a:ln w="0">
            <a:noFill/>
          </a:ln>
        </p:spPr>
        <p:txBody>
          <a:bodyPr anchor="ctr"/>
          <a:lstStyle/>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理解稳定</a:t>
            </a:r>
            <a:r>
              <a:rPr sz="1350" b="0">
                <a:solidFill>
                  <a:srgbClr val="202124"/>
                </a:solidFill>
                <a:latin typeface="Source Han Sans CN"/>
                <a:ea typeface="Source Han Sans CN"/>
                <a:cs typeface="Source Han Sans CN"/>
              </a:rPr>
              <a:t> </a:t>
            </a:r>
            <a:r>
              <a:rPr sz="1350" b="0">
                <a:solidFill>
                  <a:srgbClr val="202124"/>
                </a:solidFill>
                <a:latin typeface="Source Han Sans CN"/>
                <a:ea typeface="Source Han Sans CN"/>
                <a:cs typeface="Source Han Sans CN"/>
              </a:rPr>
              <a:t>Softmax</a:t>
            </a:r>
            <a:r>
              <a:rPr sz="1350" b="0">
                <a:solidFill>
                  <a:srgbClr val="202124"/>
                </a:solidFill>
                <a:latin typeface="Source Han Sans CN"/>
                <a:ea typeface="Source Han Sans CN"/>
                <a:cs typeface="Source Han Sans CN"/>
              </a:rPr>
              <a:t> </a:t>
            </a:r>
            <a:r>
              <a:rPr sz="1350" b="0">
                <a:solidFill>
                  <a:srgbClr val="202124"/>
                </a:solidFill>
                <a:latin typeface="Source Han Sans CN"/>
                <a:ea typeface="Source Han Sans CN"/>
                <a:cs typeface="Source Han Sans CN"/>
              </a:rPr>
              <a:t>的两次规约</a:t>
            </a:r>
            <a:endParaRPr sz="1350" b="0">
              <a:solidFill>
                <a:srgbClr val="202124"/>
              </a:solidFill>
              <a:latin typeface="Source Han Sans CN"/>
              <a:ea typeface="Source Han Sans CN"/>
              <a:cs typeface="Source Han Sans CN"/>
            </a:endParaRPr>
          </a:p>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读懂</a:t>
            </a:r>
            <a:r>
              <a:rPr sz="1350" b="0">
                <a:solidFill>
                  <a:srgbClr val="202124"/>
                </a:solidFill>
                <a:latin typeface="Source Han Sans CN"/>
                <a:ea typeface="Source Han Sans CN"/>
                <a:cs typeface="Source Han Sans CN"/>
              </a:rPr>
              <a:t>示例的</a:t>
            </a:r>
            <a:r>
              <a:rPr sz="1350" b="0">
                <a:solidFill>
                  <a:srgbClr val="202124"/>
                </a:solidFill>
                <a:latin typeface="Source Han Sans CN"/>
                <a:ea typeface="Source Han Sans CN"/>
                <a:cs typeface="Source Han Sans CN"/>
              </a:rPr>
              <a:t> MACA v1 / v2 / v3</a:t>
            </a:r>
            <a:endParaRPr sz="1350" b="0">
              <a:solidFill>
                <a:srgbClr val="202124"/>
              </a:solidFill>
              <a:latin typeface="Source Han Sans CN"/>
              <a:ea typeface="Source Han Sans CN"/>
              <a:cs typeface="Source Han Sans CN"/>
            </a:endParaRPr>
          </a:p>
        </p:txBody>
      </p:sp>
      <p:sp>
        <p:nvSpPr>
          <p:cNvPr id="12" name="矩形: 圆角 11"/>
          <p:cNvSpPr>
            <a:spLocks noGrp="1"/>
          </p:cNvSpPr>
          <p:nvPr/>
        </p:nvSpPr>
        <p:spPr>
          <a:xfrm>
            <a:off x="904875" y="3857625"/>
            <a:ext cx="4953000" cy="1571625"/>
          </a:xfrm>
          <a:prstGeom prst="roundRect">
            <a:avLst>
              <a:gd name="adj" fmla="val 8485"/>
            </a:avLst>
          </a:prstGeom>
          <a:solidFill>
            <a:srgbClr val="EEF8F4"/>
          </a:solidFill>
          <a:ln w="9525">
            <a:solidFill>
              <a:srgbClr val="2297A0"/>
            </a:solidFill>
            <a:prstDash val="solid"/>
          </a:ln>
        </p:spPr>
      </p:sp>
      <p:sp>
        <p:nvSpPr>
          <p:cNvPr id="13" name="矩形 12"/>
          <p:cNvSpPr>
            <a:spLocks noGrp="1"/>
          </p:cNvSpPr>
          <p:nvPr/>
        </p:nvSpPr>
        <p:spPr>
          <a:xfrm>
            <a:off x="1143000" y="4095750"/>
            <a:ext cx="685800" cy="552450"/>
          </a:xfrm>
          <a:prstGeom prst="rect">
            <a:avLst/>
          </a:prstGeom>
          <a:solidFill>
            <a:srgbClr val="2297A0"/>
          </a:solidFill>
          <a:ln w="0">
            <a:noFill/>
          </a:ln>
        </p:spPr>
        <p:txBody>
          <a:bodyPr anchor="ctr"/>
          <a:lstStyle/>
          <a:p>
            <a:pPr algn="ctr">
              <a:buNone/>
              <a:defRPr sz="2025" b="1">
                <a:solidFill>
                  <a:srgbClr val="FFFFFF"/>
                </a:solidFill>
                <a:latin typeface="Source Han Sans CN"/>
                <a:ea typeface="Source Han Sans CN"/>
                <a:cs typeface="Source Han Sans CN"/>
              </a:defRPr>
            </a:pPr>
            <a:r>
              <a:rPr sz="2025" b="1">
                <a:solidFill>
                  <a:srgbClr val="FFFFFF"/>
                </a:solidFill>
                <a:latin typeface="Source Han Sans CN"/>
                <a:ea typeface="Source Han Sans CN"/>
                <a:cs typeface="Source Han Sans CN"/>
              </a:rPr>
              <a:t>03</a:t>
            </a:r>
            <a:endParaRPr sz="2025" b="1">
              <a:solidFill>
                <a:srgbClr val="FFFFFF"/>
              </a:solidFill>
              <a:latin typeface="Source Han Sans CN"/>
              <a:ea typeface="Source Han Sans CN"/>
              <a:cs typeface="Source Han Sans CN"/>
            </a:endParaRPr>
          </a:p>
        </p:txBody>
      </p:sp>
      <p:sp>
        <p:nvSpPr>
          <p:cNvPr id="14" name="矩形 13"/>
          <p:cNvSpPr>
            <a:spLocks noGrp="1"/>
          </p:cNvSpPr>
          <p:nvPr/>
        </p:nvSpPr>
        <p:spPr>
          <a:xfrm>
            <a:off x="2047875" y="4067175"/>
            <a:ext cx="3333750" cy="523875"/>
          </a:xfrm>
          <a:prstGeom prst="rect">
            <a:avLst/>
          </a:prstGeom>
          <a:noFill/>
          <a:ln w="0">
            <a:noFill/>
          </a:ln>
        </p:spPr>
        <p:txBody>
          <a:bodyPr anchor="ctr"/>
          <a:lstStyle/>
          <a:p>
            <a:pPr algn="l">
              <a:buNone/>
              <a:defRPr sz="2175" b="1">
                <a:solidFill>
                  <a:srgbClr val="2297A0"/>
                </a:solidFill>
                <a:latin typeface="Source Han Sans CN"/>
                <a:ea typeface="Source Han Sans CN"/>
                <a:cs typeface="Source Han Sans CN"/>
              </a:defRPr>
            </a:pPr>
            <a:r>
              <a:rPr sz="2175" b="1">
                <a:solidFill>
                  <a:srgbClr val="2297A0"/>
                </a:solidFill>
                <a:latin typeface="Source Han Sans CN"/>
                <a:ea typeface="Source Han Sans CN"/>
                <a:cs typeface="Source Han Sans CN"/>
              </a:rPr>
              <a:t>验证与解释</a:t>
            </a:r>
            <a:endParaRPr sz="2175" b="1">
              <a:solidFill>
                <a:srgbClr val="2297A0"/>
              </a:solidFill>
              <a:latin typeface="Source Han Sans CN"/>
              <a:ea typeface="Source Han Sans CN"/>
              <a:cs typeface="Source Han Sans CN"/>
            </a:endParaRPr>
          </a:p>
        </p:txBody>
      </p:sp>
      <p:sp>
        <p:nvSpPr>
          <p:cNvPr id="15" name="矩形 14"/>
          <p:cNvSpPr>
            <a:spLocks noGrp="1"/>
          </p:cNvSpPr>
          <p:nvPr/>
        </p:nvSpPr>
        <p:spPr>
          <a:xfrm>
            <a:off x="2047875" y="4610100"/>
            <a:ext cx="3476625" cy="647700"/>
          </a:xfrm>
          <a:prstGeom prst="rect">
            <a:avLst/>
          </a:prstGeom>
          <a:noFill/>
          <a:ln w="0">
            <a:noFill/>
          </a:ln>
        </p:spPr>
        <p:txBody>
          <a:bodyPr anchor="ctr"/>
          <a:lstStyle/>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用参考输出与误差指标检查正确性</a:t>
            </a:r>
            <a:endParaRPr sz="1350" b="0">
              <a:solidFill>
                <a:srgbClr val="202124"/>
              </a:solidFill>
              <a:latin typeface="Source Han Sans CN"/>
              <a:ea typeface="Source Han Sans CN"/>
              <a:cs typeface="Source Han Sans CN"/>
            </a:endParaRPr>
          </a:p>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结合输入 shape 解释不同实现的性能差异</a:t>
            </a:r>
            <a:endParaRPr sz="1350" b="0">
              <a:solidFill>
                <a:srgbClr val="202124"/>
              </a:solidFill>
              <a:latin typeface="Source Han Sans CN"/>
              <a:ea typeface="Source Han Sans CN"/>
              <a:cs typeface="Source Han Sans CN"/>
            </a:endParaRPr>
          </a:p>
        </p:txBody>
      </p:sp>
      <p:sp>
        <p:nvSpPr>
          <p:cNvPr id="16" name="矩形: 圆角 15"/>
          <p:cNvSpPr>
            <a:spLocks noGrp="1"/>
          </p:cNvSpPr>
          <p:nvPr/>
        </p:nvSpPr>
        <p:spPr>
          <a:xfrm>
            <a:off x="6334125" y="3857625"/>
            <a:ext cx="4953000" cy="1571625"/>
          </a:xfrm>
          <a:prstGeom prst="roundRect">
            <a:avLst>
              <a:gd name="adj" fmla="val 8485"/>
            </a:avLst>
          </a:prstGeom>
          <a:solidFill>
            <a:srgbClr val="F5EDF7"/>
          </a:solidFill>
          <a:ln w="9525">
            <a:solidFill>
              <a:srgbClr val="660874"/>
            </a:solidFill>
            <a:prstDash val="solid"/>
          </a:ln>
        </p:spPr>
      </p:sp>
      <p:sp>
        <p:nvSpPr>
          <p:cNvPr id="17" name="矩形 16"/>
          <p:cNvSpPr>
            <a:spLocks noGrp="1"/>
          </p:cNvSpPr>
          <p:nvPr/>
        </p:nvSpPr>
        <p:spPr>
          <a:xfrm>
            <a:off x="6572250" y="4095750"/>
            <a:ext cx="685800" cy="552450"/>
          </a:xfrm>
          <a:prstGeom prst="rect">
            <a:avLst/>
          </a:prstGeom>
          <a:solidFill>
            <a:srgbClr val="660874"/>
          </a:solidFill>
          <a:ln w="0">
            <a:noFill/>
          </a:ln>
        </p:spPr>
        <p:txBody>
          <a:bodyPr anchor="ctr"/>
          <a:lstStyle/>
          <a:p>
            <a:pPr algn="ctr">
              <a:buNone/>
              <a:defRPr sz="2025" b="1">
                <a:solidFill>
                  <a:srgbClr val="FFFFFF"/>
                </a:solidFill>
                <a:latin typeface="Source Han Sans CN"/>
                <a:ea typeface="Source Han Sans CN"/>
                <a:cs typeface="Source Han Sans CN"/>
              </a:defRPr>
            </a:pPr>
            <a:r>
              <a:rPr sz="2025" b="1">
                <a:solidFill>
                  <a:srgbClr val="FFFFFF"/>
                </a:solidFill>
                <a:latin typeface="Source Han Sans CN"/>
                <a:ea typeface="Source Han Sans CN"/>
                <a:cs typeface="Source Han Sans CN"/>
              </a:rPr>
              <a:t>04</a:t>
            </a:r>
            <a:endParaRPr sz="2025" b="1">
              <a:solidFill>
                <a:srgbClr val="FFFFFF"/>
              </a:solidFill>
              <a:latin typeface="Source Han Sans CN"/>
              <a:ea typeface="Source Han Sans CN"/>
              <a:cs typeface="Source Han Sans CN"/>
            </a:endParaRPr>
          </a:p>
        </p:txBody>
      </p:sp>
      <p:sp>
        <p:nvSpPr>
          <p:cNvPr id="18" name="矩形 17"/>
          <p:cNvSpPr>
            <a:spLocks noGrp="1"/>
          </p:cNvSpPr>
          <p:nvPr/>
        </p:nvSpPr>
        <p:spPr>
          <a:xfrm>
            <a:off x="7477125" y="4067175"/>
            <a:ext cx="3333750" cy="523875"/>
          </a:xfrm>
          <a:prstGeom prst="rect">
            <a:avLst/>
          </a:prstGeom>
          <a:noFill/>
          <a:ln w="0">
            <a:noFill/>
          </a:ln>
        </p:spPr>
        <p:txBody>
          <a:bodyPr anchor="ctr"/>
          <a:lstStyle/>
          <a:p>
            <a:pPr algn="l">
              <a:buNone/>
              <a:defRPr sz="2175" b="1">
                <a:solidFill>
                  <a:srgbClr val="660874"/>
                </a:solidFill>
                <a:latin typeface="Source Han Sans CN"/>
                <a:ea typeface="Source Han Sans CN"/>
                <a:cs typeface="Source Han Sans CN"/>
              </a:defRPr>
            </a:pPr>
            <a:r>
              <a:rPr sz="2175" b="1">
                <a:solidFill>
                  <a:srgbClr val="660874"/>
                </a:solidFill>
                <a:latin typeface="Source Han Sans CN"/>
                <a:ea typeface="Source Han Sans CN"/>
                <a:cs typeface="Source Han Sans CN"/>
              </a:rPr>
              <a:t>接入</a:t>
            </a:r>
            <a:endParaRPr sz="2175" b="1">
              <a:solidFill>
                <a:srgbClr val="660874"/>
              </a:solidFill>
              <a:latin typeface="Source Han Sans CN"/>
              <a:ea typeface="Source Han Sans CN"/>
              <a:cs typeface="Source Han Sans CN"/>
            </a:endParaRPr>
          </a:p>
        </p:txBody>
      </p:sp>
      <p:sp>
        <p:nvSpPr>
          <p:cNvPr id="19" name="矩形 18"/>
          <p:cNvSpPr>
            <a:spLocks noGrp="1"/>
          </p:cNvSpPr>
          <p:nvPr/>
        </p:nvSpPr>
        <p:spPr>
          <a:xfrm>
            <a:off x="7477125" y="4610100"/>
            <a:ext cx="3476625" cy="647700"/>
          </a:xfrm>
          <a:prstGeom prst="rect">
            <a:avLst/>
          </a:prstGeom>
          <a:noFill/>
          <a:ln w="0">
            <a:noFill/>
          </a:ln>
        </p:spPr>
        <p:txBody>
          <a:bodyPr anchor="ctr"/>
          <a:lstStyle/>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区分手写 kernel、mcDNN 与扩展</a:t>
            </a:r>
            <a:endParaRPr sz="1350" b="0">
              <a:solidFill>
                <a:srgbClr val="202124"/>
              </a:solidFill>
              <a:latin typeface="Source Han Sans CN"/>
              <a:ea typeface="Source Han Sans CN"/>
              <a:cs typeface="Source Han Sans CN"/>
            </a:endParaRPr>
          </a:p>
          <a:p>
            <a:pPr algn="l">
              <a:buNone/>
              <a:defRPr sz="1350" b="0">
                <a:solidFill>
                  <a:srgbClr val="202124"/>
                </a:solidFill>
                <a:latin typeface="Source Han Sans CN"/>
                <a:ea typeface="Source Han Sans CN"/>
                <a:cs typeface="Source Han Sans CN"/>
              </a:defRPr>
            </a:pPr>
            <a:r>
              <a:rPr sz="1350" b="0">
                <a:solidFill>
                  <a:srgbClr val="202124"/>
                </a:solidFill>
                <a:latin typeface="Source Han Sans CN"/>
                <a:ea typeface="Source Han Sans CN"/>
                <a:cs typeface="Source Han Sans CN"/>
              </a:rPr>
              <a:t>判断何时值得接回模型</a:t>
            </a:r>
            <a:endParaRPr sz="1350" b="0">
              <a:solidFill>
                <a:srgbClr val="202124"/>
              </a:solidFill>
              <a:latin typeface="Source Han Sans CN"/>
              <a:ea typeface="Source Han Sans CN"/>
              <a:cs typeface="Source Han Sans C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Attention 中，我们尝试替换的是最后一维 Softmax</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输入先经过 QKᵀ、缩放与 mask，再沿最后一维归一化</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09</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1000125" y="1809750"/>
            <a:ext cx="7239000" cy="1905000"/>
          </a:xfrm>
          <a:prstGeom prst="roundRect">
            <a:avLst>
              <a:gd name="adj" fmla="val 6000"/>
            </a:avLst>
          </a:prstGeom>
          <a:solidFill>
            <a:srgbClr val="16202A"/>
          </a:solidFill>
          <a:ln w="9525">
            <a:solidFill>
              <a:srgbClr val="334155"/>
            </a:solidFill>
            <a:prstDash val="solid"/>
          </a:ln>
        </p:spPr>
        <p:txBody>
          <a:bodyPr lIns="152400" tIns="152400" rIns="152400" bIns="114300" anchor="t">
            <a:normAutofit/>
          </a:bodyPr>
          <a:lstStyle/>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attn = torch.matmul(q / temperature, k.transpose(-2, -1))</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attn = attn.masked_fill(mask == 0, -1e9)</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attn = </a:t>
            </a:r>
            <a:r>
              <a:rPr sz="1275" b="1">
                <a:solidFill>
                  <a:srgbClr val="A4D487"/>
                </a:solidFill>
                <a:latin typeface="Consolas"/>
                <a:ea typeface="Consolas"/>
                <a:cs typeface="Consolas"/>
              </a:rPr>
              <a:t>torch.softmax(attn, dim=-1)</a:t>
            </a:r>
            <a:endParaRPr sz="1275" b="1">
              <a:solidFill>
                <a:srgbClr val="A4D487"/>
              </a:solidFill>
              <a:latin typeface="Consolas"/>
              <a:ea typeface="Consolas"/>
              <a:cs typeface="Consolas"/>
            </a:endParaRPr>
          </a:p>
        </p:txBody>
      </p:sp>
      <p:sp>
        <p:nvSpPr>
          <p:cNvPr id="6" name="Rectangle: Rounded Corners 5"/>
          <p:cNvSpPr>
            <a:spLocks noGrp="1"/>
          </p:cNvSpPr>
          <p:nvPr/>
        </p:nvSpPr>
        <p:spPr>
          <a:xfrm>
            <a:off x="8572500" y="1969558"/>
            <a:ext cx="2381250" cy="1428750"/>
          </a:xfrm>
          <a:prstGeom prst="roundRect">
            <a:avLst>
              <a:gd name="adj" fmla="val 8000"/>
            </a:avLst>
          </a:prstGeom>
          <a:solidFill>
            <a:srgbClr val="EAF6F6"/>
          </a:solidFill>
          <a:ln w="9525">
            <a:solidFill>
              <a:srgbClr val="1E8E94"/>
            </a:solidFill>
            <a:prstDash val="solid"/>
          </a:ln>
        </p:spPr>
        <p:txBody>
          <a:bodyPr lIns="76200" tIns="38100" rIns="76200" bIns="38100" anchor="ctr">
            <a:normAutofit/>
          </a:bodyPr>
          <a:lstStyle/>
          <a:p>
            <a:pPr algn="ctr">
              <a:buNone/>
              <a:defRPr sz="1800" b="1">
                <a:solidFill>
                  <a:srgbClr val="1E8E94"/>
                </a:solidFill>
                <a:latin typeface="Source Han Sans CN"/>
                <a:ea typeface="Source Han Sans CN"/>
                <a:cs typeface="Source Han Sans CN"/>
              </a:defRPr>
            </a:pPr>
            <a:r>
              <a:rPr sz="1800" b="1">
                <a:solidFill>
                  <a:srgbClr val="1E8E94"/>
                </a:solidFill>
                <a:latin typeface="Source Han Sans CN"/>
                <a:ea typeface="Source Han Sans CN"/>
                <a:cs typeface="Source Han Sans CN"/>
              </a:rPr>
              <a:t>最后一维 = 每个 query 对所有 key 的概率分布</a:t>
            </a:r>
            <a:endParaRPr sz="1800" b="1">
              <a:solidFill>
                <a:srgbClr val="1E8E94"/>
              </a:solidFill>
              <a:latin typeface="Source Han Sans CN"/>
              <a:ea typeface="Source Han Sans CN"/>
              <a:cs typeface="Source Han Sans CN"/>
            </a:endParaRPr>
          </a:p>
        </p:txBody>
      </p:sp>
      <p:sp>
        <p:nvSpPr>
          <p:cNvPr id="7" name="Rectangle 6"/>
          <p:cNvSpPr>
            <a:spLocks noGrp="1"/>
          </p:cNvSpPr>
          <p:nvPr/>
        </p:nvSpPr>
        <p:spPr>
          <a:xfrm>
            <a:off x="1619250" y="4238625"/>
            <a:ext cx="8858250" cy="666750"/>
          </a:xfrm>
          <a:prstGeom prst="rect">
            <a:avLst/>
          </a:prstGeom>
          <a:noFill/>
          <a:ln w="0">
            <a:noFill/>
            <a:prstDash val="solid"/>
          </a:ln>
        </p:spPr>
        <p:txBody>
          <a:bodyPr wrap="square" lIns="38100" tIns="19050" rIns="38100" bIns="19050" anchor="ctr">
            <a:normAutofit/>
          </a:bodyPr>
          <a:lstStyle/>
          <a:p>
            <a:pPr algn="ctr">
              <a:lnSpc>
                <a:spcPct val="108000"/>
              </a:lnSpc>
              <a:buNone/>
              <a:defRPr sz="2100" b="1">
                <a:solidFill>
                  <a:srgbClr val="660874"/>
                </a:solidFill>
                <a:latin typeface="Source Han Sans CN"/>
                <a:ea typeface="Source Han Sans CN"/>
                <a:cs typeface="Source Han Sans CN"/>
              </a:defRPr>
            </a:pPr>
            <a:r>
              <a:rPr sz="2100" b="1">
                <a:solidFill>
                  <a:srgbClr val="660874"/>
                </a:solidFill>
                <a:latin typeface="Source Han Sans CN"/>
                <a:ea typeface="Source Han Sans CN"/>
                <a:cs typeface="Source Han Sans CN"/>
              </a:rPr>
              <a:t>替换时必须保持算子与原 Pytorch 代码输入输出的行为一致</a:t>
            </a:r>
            <a:endParaRPr sz="2100" b="1">
              <a:solidFill>
                <a:srgbClr val="660874"/>
              </a:solidFill>
              <a:latin typeface="Source Han Sans CN"/>
              <a:ea typeface="Source Han Sans CN"/>
              <a:cs typeface="Source Han Sans C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高维 Tensor 可以视为很多条彼此独立的行</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合并前导维度为 rows，最后一维作为 cols</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10</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1047750" y="1952625"/>
            <a:ext cx="2762250" cy="857250"/>
          </a:xfrm>
          <a:prstGeom prst="roundRect">
            <a:avLst>
              <a:gd name="adj" fmla="val 13333"/>
            </a:avLst>
          </a:prstGeom>
          <a:solidFill>
            <a:srgbClr val="F5EFF7"/>
          </a:solidFill>
          <a:ln w="9525">
            <a:solidFill>
              <a:srgbClr val="660874"/>
            </a:solidFill>
            <a:prstDash val="solid"/>
          </a:ln>
        </p:spPr>
        <p:txBody>
          <a:bodyPr lIns="76200" tIns="38100" rIns="76200" bIns="38100" anchor="ctr">
            <a:normAutofit/>
          </a:bodyPr>
          <a:lstStyle/>
          <a:p>
            <a:pPr algn="ctr">
              <a:buNone/>
              <a:defRPr sz="2400" b="1">
                <a:solidFill>
                  <a:srgbClr val="660874"/>
                </a:solidFill>
                <a:latin typeface="Source Han Sans CN"/>
                <a:ea typeface="Source Han Sans CN"/>
                <a:cs typeface="Source Han Sans CN"/>
              </a:defRPr>
            </a:pPr>
            <a:r>
              <a:rPr sz="2400" b="1">
                <a:solidFill>
                  <a:srgbClr val="660874"/>
                </a:solidFill>
                <a:latin typeface="Source Han Sans CN"/>
                <a:ea typeface="Source Han Sans CN"/>
                <a:cs typeface="Source Han Sans CN"/>
              </a:rPr>
              <a:t>[ B, H, Lq, Lk ]</a:t>
            </a:r>
            <a:endParaRPr sz="2400" b="1">
              <a:solidFill>
                <a:srgbClr val="660874"/>
              </a:solidFill>
              <a:latin typeface="Source Han Sans CN"/>
              <a:ea typeface="Source Han Sans CN"/>
              <a:cs typeface="Source Han Sans CN"/>
            </a:endParaRPr>
          </a:p>
        </p:txBody>
      </p:sp>
      <p:sp>
        <p:nvSpPr>
          <p:cNvPr id="6" name="Rectangle 5"/>
          <p:cNvSpPr>
            <a:spLocks noGrp="1"/>
          </p:cNvSpPr>
          <p:nvPr/>
        </p:nvSpPr>
        <p:spPr>
          <a:xfrm>
            <a:off x="4095750" y="2114550"/>
            <a:ext cx="857250" cy="571500"/>
          </a:xfrm>
          <a:prstGeom prst="rect">
            <a:avLst/>
          </a:prstGeom>
          <a:noFill/>
          <a:ln w="0">
            <a:noFill/>
            <a:prstDash val="solid"/>
          </a:ln>
        </p:spPr>
        <p:txBody>
          <a:bodyPr wrap="square" lIns="38100" tIns="19050" rIns="38100" bIns="19050" anchor="t">
            <a:normAutofit fontScale="98204"/>
          </a:bodyPr>
          <a:lstStyle/>
          <a:p>
            <a:pPr algn="ctr">
              <a:lnSpc>
                <a:spcPct val="108000"/>
              </a:lnSpc>
              <a:buNone/>
              <a:defRPr sz="3300" b="1">
                <a:solidFill>
                  <a:srgbClr val="A894B1"/>
                </a:solidFill>
                <a:latin typeface="Source Han Sans CN"/>
                <a:ea typeface="Source Han Sans CN"/>
                <a:cs typeface="Source Han Sans CN"/>
              </a:defRPr>
            </a:pPr>
            <a:r>
              <a:rPr sz="3300" b="1">
                <a:solidFill>
                  <a:srgbClr val="A894B1"/>
                </a:solidFill>
                <a:latin typeface="Source Han Sans CN"/>
                <a:ea typeface="Source Han Sans CN"/>
                <a:cs typeface="Source Han Sans CN"/>
              </a:rPr>
              <a:t>→</a:t>
            </a:r>
            <a:endParaRPr sz="3300" b="1">
              <a:solidFill>
                <a:srgbClr val="A894B1"/>
              </a:solidFill>
              <a:latin typeface="Source Han Sans CN"/>
              <a:ea typeface="Source Han Sans CN"/>
              <a:cs typeface="Source Han Sans CN"/>
            </a:endParaRPr>
          </a:p>
        </p:txBody>
      </p:sp>
      <p:sp>
        <p:nvSpPr>
          <p:cNvPr id="7" name="Rectangle: Rounded Corners 6"/>
          <p:cNvSpPr>
            <a:spLocks noGrp="1"/>
          </p:cNvSpPr>
          <p:nvPr/>
        </p:nvSpPr>
        <p:spPr>
          <a:xfrm>
            <a:off x="5238750" y="1952625"/>
            <a:ext cx="2762250" cy="857250"/>
          </a:xfrm>
          <a:prstGeom prst="roundRect">
            <a:avLst>
              <a:gd name="adj" fmla="val 13333"/>
            </a:avLst>
          </a:prstGeom>
          <a:solidFill>
            <a:srgbClr val="EAF6F6"/>
          </a:solidFill>
          <a:ln w="9525">
            <a:solidFill>
              <a:srgbClr val="1E8E94"/>
            </a:solidFill>
            <a:prstDash val="solid"/>
          </a:ln>
        </p:spPr>
        <p:txBody>
          <a:bodyPr lIns="76200" tIns="38100" rIns="76200" bIns="38100" anchor="ctr">
            <a:normAutofit/>
          </a:bodyPr>
          <a:lstStyle/>
          <a:p>
            <a:pPr algn="ctr">
              <a:buNone/>
              <a:defRPr sz="2400" b="1">
                <a:solidFill>
                  <a:srgbClr val="1E8E94"/>
                </a:solidFill>
                <a:latin typeface="Source Han Sans CN"/>
                <a:ea typeface="Source Han Sans CN"/>
                <a:cs typeface="Source Han Sans CN"/>
              </a:defRPr>
            </a:pPr>
            <a:r>
              <a:rPr sz="2400" b="1">
                <a:solidFill>
                  <a:srgbClr val="1E8E94"/>
                </a:solidFill>
                <a:latin typeface="Source Han Sans CN"/>
                <a:ea typeface="Source Han Sans CN"/>
                <a:cs typeface="Source Han Sans CN"/>
              </a:rPr>
              <a:t>[ rows, cols ]</a:t>
            </a:r>
            <a:endParaRPr sz="2400" b="1">
              <a:solidFill>
                <a:srgbClr val="1E8E94"/>
              </a:solidFill>
              <a:latin typeface="Source Han Sans CN"/>
              <a:ea typeface="Source Han Sans CN"/>
              <a:cs typeface="Source Han Sans CN"/>
            </a:endParaRPr>
          </a:p>
        </p:txBody>
      </p:sp>
      <p:sp>
        <p:nvSpPr>
          <p:cNvPr id="8" name="Rectangle 7"/>
          <p:cNvSpPr>
            <a:spLocks noGrp="1"/>
          </p:cNvSpPr>
          <p:nvPr/>
        </p:nvSpPr>
        <p:spPr>
          <a:xfrm>
            <a:off x="8477250" y="1952625"/>
            <a:ext cx="2333625" cy="857250"/>
          </a:xfrm>
          <a:prstGeom prst="rect">
            <a:avLst/>
          </a:prstGeom>
          <a:noFill/>
          <a:ln w="0">
            <a:noFill/>
            <a:prstDash val="solid"/>
          </a:ln>
        </p:spPr>
        <p:txBody>
          <a:bodyPr wrap="square" lIns="38100" tIns="19050" rIns="38100" bIns="19050" anchor="ctr">
            <a:normAutofit/>
          </a:bodyPr>
          <a:lstStyle/>
          <a:p>
            <a:pPr algn="ctr">
              <a:lnSpc>
                <a:spcPct val="108000"/>
              </a:lnSpc>
              <a:buNone/>
              <a:defRPr sz="1800" b="1">
                <a:solidFill>
                  <a:srgbClr val="202124"/>
                </a:solidFill>
                <a:latin typeface="Source Han Sans CN"/>
                <a:ea typeface="Source Han Sans CN"/>
                <a:cs typeface="Source Han Sans CN"/>
              </a:defRPr>
            </a:pPr>
            <a:r>
              <a:rPr sz="1800" b="1">
                <a:solidFill>
                  <a:srgbClr val="202124"/>
                </a:solidFill>
                <a:latin typeface="Source Han Sans CN"/>
                <a:ea typeface="Source Han Sans CN"/>
                <a:cs typeface="Source Han Sans CN"/>
              </a:rPr>
              <a:t>rows = B × H × Lq</a:t>
            </a:r>
            <a:endParaRPr sz="1800" b="1">
              <a:solidFill>
                <a:srgbClr val="202124"/>
              </a:solidFill>
              <a:latin typeface="Source Han Sans CN"/>
              <a:ea typeface="Source Han Sans CN"/>
              <a:cs typeface="Source Han Sans CN"/>
            </a:endParaRPr>
          </a:p>
          <a:p>
            <a:pPr algn="ctr">
              <a:lnSpc>
                <a:spcPct val="108000"/>
              </a:lnSpc>
              <a:buNone/>
              <a:defRPr sz="1800" b="1">
                <a:solidFill>
                  <a:srgbClr val="202124"/>
                </a:solidFill>
                <a:latin typeface="Source Han Sans CN"/>
                <a:ea typeface="Source Han Sans CN"/>
                <a:cs typeface="Source Han Sans CN"/>
              </a:defRPr>
            </a:pPr>
            <a:r>
              <a:rPr sz="1800" b="1">
                <a:solidFill>
                  <a:srgbClr val="202124"/>
                </a:solidFill>
                <a:latin typeface="Source Han Sans CN"/>
                <a:ea typeface="Source Han Sans CN"/>
                <a:cs typeface="Source Han Sans CN"/>
              </a:rPr>
              <a:t>cols = Lk</a:t>
            </a:r>
            <a:endParaRPr sz="1800" b="1">
              <a:solidFill>
                <a:srgbClr val="202124"/>
              </a:solidFill>
              <a:latin typeface="Source Han Sans CN"/>
              <a:ea typeface="Source Han Sans CN"/>
              <a:cs typeface="Source Han Sans CN"/>
            </a:endParaRPr>
          </a:p>
        </p:txBody>
      </p:sp>
      <p:sp>
        <p:nvSpPr>
          <p:cNvPr id="9" name="Rectangle 8"/>
          <p:cNvSpPr>
            <a:spLocks noGrp="1"/>
          </p:cNvSpPr>
          <p:nvPr/>
        </p:nvSpPr>
        <p:spPr>
          <a:xfrm>
            <a:off x="2190750" y="3714750"/>
            <a:ext cx="7810500" cy="1285875"/>
          </a:xfrm>
          <a:prstGeom prst="rect">
            <a:avLst/>
          </a:prstGeom>
          <a:noFill/>
          <a:ln w="0">
            <a:noFill/>
            <a:prstDash val="solid"/>
          </a:ln>
        </p:spPr>
        <p:txBody>
          <a:bodyPr wrap="square" lIns="38100" tIns="19050" rIns="38100" bIns="19050" anchor="t">
            <a:normAutofit/>
          </a:bodyPr>
          <a:lstStyle/>
          <a:p>
            <a:pPr algn="l">
              <a:lnSpc>
                <a:spcPct val="108000"/>
              </a:lnSpc>
              <a:buNone/>
              <a:defRPr sz="1800" b="0">
                <a:solidFill>
                  <a:srgbClr val="666A70"/>
                </a:solidFill>
                <a:latin typeface="Consolas"/>
                <a:ea typeface="Consolas"/>
                <a:cs typeface="Consolas"/>
              </a:defRPr>
            </a:pPr>
            <a:r>
              <a:rPr sz="1800" b="0">
                <a:solidFill>
                  <a:srgbClr val="666A70"/>
                </a:solidFill>
                <a:latin typeface="Consolas"/>
                <a:ea typeface="Consolas"/>
                <a:cs typeface="Consolas"/>
              </a:rPr>
              <a:t>row 0   x₀ x₁ x₂ … x(cols−1)</a:t>
            </a:r>
            <a:endParaRPr sz="1800" b="0">
              <a:solidFill>
                <a:srgbClr val="666A70"/>
              </a:solidFill>
              <a:latin typeface="Consolas"/>
              <a:ea typeface="Consolas"/>
              <a:cs typeface="Consolas"/>
            </a:endParaRPr>
          </a:p>
          <a:p>
            <a:pPr algn="l">
              <a:lnSpc>
                <a:spcPct val="108000"/>
              </a:lnSpc>
              <a:buNone/>
              <a:defRPr sz="1800" b="0">
                <a:solidFill>
                  <a:srgbClr val="666A70"/>
                </a:solidFill>
                <a:latin typeface="Consolas"/>
                <a:ea typeface="Consolas"/>
                <a:cs typeface="Consolas"/>
              </a:defRPr>
            </a:pPr>
            <a:r>
              <a:rPr sz="1800" b="0">
                <a:solidFill>
                  <a:srgbClr val="666A70"/>
                </a:solidFill>
                <a:latin typeface="Consolas"/>
                <a:ea typeface="Consolas"/>
                <a:cs typeface="Consolas"/>
              </a:rPr>
              <a:t>row 1   x₀ x₁ x₂ … x(cols−1)</a:t>
            </a:r>
            <a:endParaRPr sz="1800" b="0">
              <a:solidFill>
                <a:srgbClr val="666A70"/>
              </a:solidFill>
              <a:latin typeface="Consolas"/>
              <a:ea typeface="Consolas"/>
              <a:cs typeface="Consolas"/>
            </a:endParaRPr>
          </a:p>
          <a:p>
            <a:pPr algn="l">
              <a:lnSpc>
                <a:spcPct val="108000"/>
              </a:lnSpc>
              <a:buNone/>
              <a:defRPr sz="1800" b="0">
                <a:solidFill>
                  <a:srgbClr val="666A70"/>
                </a:solidFill>
                <a:latin typeface="Consolas"/>
                <a:ea typeface="Consolas"/>
                <a:cs typeface="Consolas"/>
              </a:defRPr>
            </a:pPr>
            <a:r>
              <a:rPr sz="1800" b="0">
                <a:solidFill>
                  <a:srgbClr val="666A70"/>
                </a:solidFill>
                <a:latin typeface="Consolas"/>
                <a:ea typeface="Consolas"/>
                <a:cs typeface="Consolas"/>
              </a:rPr>
              <a:t>  ⋮       每一行独立完成 max、sum 与归一化</a:t>
            </a:r>
            <a:endParaRPr sz="1800" b="0">
              <a:solidFill>
                <a:srgbClr val="666A70"/>
              </a:solidFill>
              <a:latin typeface="Consolas"/>
              <a:ea typeface="Consolas"/>
              <a:cs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稳定 Softmax </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为保证数值稳定，</a:t>
            </a:r>
            <a:r>
              <a:t>先减去每行最大值</a:t>
            </a: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11</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143000" y="1809750"/>
            <a:ext cx="9906000" cy="857250"/>
          </a:xfrm>
          <a:prstGeom prst="rect">
            <a:avLst/>
          </a:prstGeom>
          <a:noFill/>
          <a:ln w="0">
            <a:noFill/>
            <a:prstDash val="solid"/>
          </a:ln>
        </p:spPr>
        <p:txBody>
          <a:bodyPr wrap="square" lIns="38100" tIns="19050" rIns="38100" bIns="19050" anchor="ctr">
            <a:normAutofit/>
          </a:bodyPr>
          <a:lstStyle/>
          <a:p>
            <a:pPr algn="ctr">
              <a:lnSpc>
                <a:spcPct val="108000"/>
              </a:lnSpc>
              <a:buNone/>
              <a:defRPr sz="2400" b="1">
                <a:solidFill>
                  <a:srgbClr val="660874"/>
                </a:solidFill>
                <a:latin typeface="Arial" panose="020B0604020202090204"/>
                <a:ea typeface="Arial" panose="020B0604020202090204"/>
                <a:cs typeface="Arial" panose="020B0604020202090204"/>
              </a:defRPr>
            </a:pPr>
            <a:r>
              <a:rPr sz="2400" b="1">
                <a:solidFill>
                  <a:srgbClr val="660874"/>
                </a:solidFill>
                <a:latin typeface="Arial" panose="020B0604020202090204"/>
                <a:ea typeface="Arial" panose="020B0604020202090204"/>
                <a:cs typeface="Arial" panose="020B0604020202090204"/>
              </a:rPr>
              <a:t>softmax(xᵢ) = exp(xᵢ − max(x)) / Σⱼ exp(xⱼ − max(x))</a:t>
            </a:r>
            <a:endParaRPr sz="2400" b="1">
              <a:solidFill>
                <a:srgbClr val="660874"/>
              </a:solidFill>
              <a:latin typeface="Arial" panose="020B0604020202090204"/>
              <a:ea typeface="Arial" panose="020B0604020202090204"/>
              <a:cs typeface="Arial" panose="020B0604020202090204"/>
            </a:endParaRPr>
          </a:p>
        </p:txBody>
      </p:sp>
      <p:sp>
        <p:nvSpPr>
          <p:cNvPr id="6" name="Rectangle: Rounded Corners 5"/>
          <p:cNvSpPr>
            <a:spLocks noGrp="1"/>
          </p:cNvSpPr>
          <p:nvPr/>
        </p:nvSpPr>
        <p:spPr>
          <a:xfrm>
            <a:off x="1381125" y="3381375"/>
            <a:ext cx="2476500" cy="857250"/>
          </a:xfrm>
          <a:prstGeom prst="roundRect">
            <a:avLst>
              <a:gd name="adj" fmla="val 13333"/>
            </a:avLst>
          </a:prstGeom>
          <a:solidFill>
            <a:srgbClr val="F5EFF7"/>
          </a:solidFill>
          <a:ln w="9525">
            <a:solidFill>
              <a:srgbClr val="660874"/>
            </a:solidFill>
            <a:prstDash val="solid"/>
          </a:ln>
        </p:spPr>
        <p:txBody>
          <a:bodyPr lIns="76200" tIns="38100" rIns="76200" bIns="38100" anchor="ctr">
            <a:normAutofit/>
          </a:bodyPr>
          <a:lstStyle/>
          <a:p>
            <a:pPr algn="ctr">
              <a:buNone/>
              <a:defRPr sz="2100" b="1">
                <a:solidFill>
                  <a:srgbClr val="660874"/>
                </a:solidFill>
                <a:latin typeface="Source Han Sans CN"/>
                <a:ea typeface="Source Han Sans CN"/>
                <a:cs typeface="Source Han Sans CN"/>
              </a:defRPr>
            </a:pPr>
            <a:r>
              <a:rPr sz="2100" b="1">
                <a:solidFill>
                  <a:srgbClr val="660874"/>
                </a:solidFill>
                <a:latin typeface="Source Han Sans CN"/>
                <a:ea typeface="Source Han Sans CN"/>
                <a:cs typeface="Source Han Sans CN"/>
              </a:rPr>
              <a:t>① Max 规约</a:t>
            </a:r>
            <a:endParaRPr sz="2100" b="1">
              <a:solidFill>
                <a:srgbClr val="660874"/>
              </a:solidFill>
              <a:latin typeface="Source Han Sans CN"/>
              <a:ea typeface="Source Han Sans CN"/>
              <a:cs typeface="Source Han Sans CN"/>
            </a:endParaRPr>
          </a:p>
        </p:txBody>
      </p:sp>
      <p:sp>
        <p:nvSpPr>
          <p:cNvPr id="7" name="Rectangle: Rounded Corners 6"/>
          <p:cNvSpPr>
            <a:spLocks noGrp="1"/>
          </p:cNvSpPr>
          <p:nvPr/>
        </p:nvSpPr>
        <p:spPr>
          <a:xfrm>
            <a:off x="4857750" y="3381375"/>
            <a:ext cx="2857500" cy="857250"/>
          </a:xfrm>
          <a:prstGeom prst="roundRect">
            <a:avLst>
              <a:gd name="adj" fmla="val 13333"/>
            </a:avLst>
          </a:prstGeom>
          <a:solidFill>
            <a:srgbClr val="FFF4E8"/>
          </a:solidFill>
          <a:ln w="9525">
            <a:solidFill>
              <a:srgbClr val="E67E22"/>
            </a:solidFill>
            <a:prstDash val="solid"/>
          </a:ln>
        </p:spPr>
        <p:txBody>
          <a:bodyPr lIns="76200" tIns="38100" rIns="76200" bIns="38100" anchor="ctr">
            <a:normAutofit/>
          </a:bodyPr>
          <a:lstStyle/>
          <a:p>
            <a:pPr algn="ctr">
              <a:buNone/>
              <a:defRPr sz="2100" b="1">
                <a:solidFill>
                  <a:srgbClr val="E67E22"/>
                </a:solidFill>
                <a:latin typeface="Source Han Sans CN"/>
                <a:ea typeface="Source Han Sans CN"/>
                <a:cs typeface="Source Han Sans CN"/>
              </a:defRPr>
            </a:pPr>
            <a:r>
              <a:rPr sz="2100" b="1">
                <a:solidFill>
                  <a:srgbClr val="E67E22"/>
                </a:solidFill>
                <a:latin typeface="Source Han Sans CN"/>
                <a:ea typeface="Source Han Sans CN"/>
                <a:cs typeface="Source Han Sans CN"/>
              </a:rPr>
              <a:t>② Exp + Sum 规约</a:t>
            </a:r>
            <a:endParaRPr sz="2100" b="1">
              <a:solidFill>
                <a:srgbClr val="E67E22"/>
              </a:solidFill>
              <a:latin typeface="Source Han Sans CN"/>
              <a:ea typeface="Source Han Sans CN"/>
              <a:cs typeface="Source Han Sans CN"/>
            </a:endParaRPr>
          </a:p>
        </p:txBody>
      </p:sp>
      <p:sp>
        <p:nvSpPr>
          <p:cNvPr id="8" name="Rectangle: Rounded Corners 7"/>
          <p:cNvSpPr>
            <a:spLocks noGrp="1"/>
          </p:cNvSpPr>
          <p:nvPr/>
        </p:nvSpPr>
        <p:spPr>
          <a:xfrm>
            <a:off x="8715375" y="3381375"/>
            <a:ext cx="2476500" cy="857250"/>
          </a:xfrm>
          <a:prstGeom prst="roundRect">
            <a:avLst>
              <a:gd name="adj" fmla="val 13333"/>
            </a:avLst>
          </a:prstGeom>
          <a:solidFill>
            <a:srgbClr val="F0F8EB"/>
          </a:solidFill>
          <a:ln w="9525">
            <a:solidFill>
              <a:srgbClr val="48BB00"/>
            </a:solidFill>
            <a:prstDash val="solid"/>
          </a:ln>
        </p:spPr>
        <p:txBody>
          <a:bodyPr lIns="76200" tIns="38100" rIns="76200" bIns="38100" anchor="ctr">
            <a:normAutofit/>
          </a:bodyPr>
          <a:lstStyle/>
          <a:p>
            <a:pPr algn="ctr">
              <a:buNone/>
              <a:defRPr sz="2100" b="1">
                <a:solidFill>
                  <a:srgbClr val="48BB00"/>
                </a:solidFill>
                <a:latin typeface="Source Han Sans CN"/>
                <a:ea typeface="Source Han Sans CN"/>
                <a:cs typeface="Source Han Sans CN"/>
              </a:defRPr>
            </a:pPr>
            <a:r>
              <a:rPr sz="2100" b="1">
                <a:solidFill>
                  <a:srgbClr val="48BB00"/>
                </a:solidFill>
                <a:latin typeface="Source Han Sans CN"/>
                <a:ea typeface="Source Han Sans CN"/>
                <a:cs typeface="Source Han Sans CN"/>
              </a:rPr>
              <a:t>③ 归一化写回</a:t>
            </a:r>
            <a:endParaRPr sz="2100" b="1">
              <a:solidFill>
                <a:srgbClr val="48BB00"/>
              </a:solidFill>
              <a:latin typeface="Source Han Sans CN"/>
              <a:ea typeface="Source Han Sans CN"/>
              <a:cs typeface="Source Han Sans CN"/>
            </a:endParaRPr>
          </a:p>
        </p:txBody>
      </p:sp>
      <p:sp>
        <p:nvSpPr>
          <p:cNvPr id="9" name="Rectangle 8"/>
          <p:cNvSpPr>
            <a:spLocks noGrp="1"/>
          </p:cNvSpPr>
          <p:nvPr/>
        </p:nvSpPr>
        <p:spPr>
          <a:xfrm>
            <a:off x="2381250" y="4762500"/>
            <a:ext cx="7429500" cy="571500"/>
          </a:xfrm>
          <a:prstGeom prst="rect">
            <a:avLst/>
          </a:prstGeom>
          <a:noFill/>
          <a:ln w="0">
            <a:noFill/>
            <a:prstDash val="solid"/>
          </a:ln>
        </p:spPr>
        <p:txBody>
          <a:bodyPr wrap="square" lIns="38100" tIns="19050" rIns="38100" bIns="19050" anchor="ctr">
            <a:normAutofit/>
          </a:bodyPr>
          <a:lstStyle/>
          <a:p>
            <a:pPr algn="ctr">
              <a:lnSpc>
                <a:spcPct val="108000"/>
              </a:lnSpc>
              <a:buNone/>
              <a:defRPr sz="1800" b="0">
                <a:solidFill>
                  <a:srgbClr val="666A70"/>
                </a:solidFill>
                <a:latin typeface="Source Han Sans CN"/>
                <a:ea typeface="Source Han Sans CN"/>
                <a:cs typeface="Source Han Sans CN"/>
              </a:defRPr>
            </a:pPr>
            <a:r>
              <a:rPr sz="1800" b="0">
                <a:solidFill>
                  <a:srgbClr val="666A70"/>
                </a:solidFill>
                <a:latin typeface="Source Han Sans CN"/>
                <a:ea typeface="Source Han Sans CN"/>
                <a:cs typeface="Source Han Sans CN"/>
              </a:rPr>
              <a:t>减最大值后，最大指数项为 exp(0)=1，避免大正数导致溢出</a:t>
            </a:r>
            <a:endParaRPr sz="1800" b="0">
              <a:solidFill>
                <a:srgbClr val="666A70"/>
              </a:solidFill>
              <a:latin typeface="Source Han Sans CN"/>
              <a:ea typeface="Source Han Sans CN"/>
              <a:cs typeface="Source Han Sans C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三个版本实现对应的三层执行粒度</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thread、block、wave 负责不同范围的协作</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12</a:t>
            </a:r>
            <a:endParaRPr sz="1200">
              <a:solidFill>
                <a:srgbClr val="8B8E93"/>
              </a:solidFill>
              <a:latin typeface="Arial" panose="020B0604020202090204"/>
              <a:ea typeface="Arial" panose="020B0604020202090204"/>
              <a:cs typeface="Arial" panose="020B0604020202090204"/>
            </a:endParaRPr>
          </a:p>
        </p:txBody>
      </p:sp>
      <p:graphicFrame>
        <p:nvGraphicFramePr>
          <p:cNvPr id="11" name="Table 9"/>
          <p:cNvGraphicFramePr/>
          <p:nvPr/>
        </p:nvGraphicFramePr>
        <p:xfrm>
          <a:off x="1047750" y="1762125"/>
          <a:ext cx="10096500" cy="2857500"/>
        </p:xfrm>
        <a:graphic>
          <a:graphicData uri="http://schemas.openxmlformats.org/drawingml/2006/table">
            <a:tbl>
              <a:tblPr/>
              <a:tblGrid>
                <a:gridCol w="1979706"/>
                <a:gridCol w="4157382"/>
                <a:gridCol w="3959412"/>
              </a:tblGrid>
              <a:tr h="714375">
                <a:tc>
                  <a:txBody>
                    <a:bodyPr/>
                    <a:lstStyle/>
                    <a:p>
                      <a:r>
                        <a:rPr sz="1350" b="1">
                          <a:solidFill>
                            <a:srgbClr val="FFFFFF"/>
                          </a:solidFill>
                          <a:latin typeface="Source Han Sans CN"/>
                          <a:ea typeface="Source Han Sans CN"/>
                          <a:cs typeface="Source Han Sans CN"/>
                        </a:rPr>
                        <a:t>粒度</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在本课中的含义</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典型协作方式</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r>
              <a:tr h="714375">
                <a:tc>
                  <a:txBody>
                    <a:bodyPr/>
                    <a:lstStyle/>
                    <a:p>
                      <a:r>
                        <a:rPr sz="1350">
                          <a:solidFill>
                            <a:srgbClr val="202124"/>
                          </a:solidFill>
                          <a:latin typeface="Source Han Sans CN"/>
                          <a:ea typeface="Source Han Sans CN"/>
                          <a:cs typeface="Source Han Sans CN"/>
                        </a:rPr>
                        <a:t>thread</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一个执行线程，持有寄存器中的局部值</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独立循环或参与规约</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r h="714375">
                <a:tc>
                  <a:txBody>
                    <a:bodyPr/>
                    <a:lstStyle/>
                    <a:p>
                      <a:r>
                        <a:rPr sz="1350">
                          <a:solidFill>
                            <a:srgbClr val="202124"/>
                          </a:solidFill>
                          <a:latin typeface="Source Han Sans CN"/>
                          <a:ea typeface="Source Han Sans CN"/>
                          <a:cs typeface="Source Han Sans CN"/>
                        </a:rPr>
                        <a:t>block</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一组线程共享 shared memory</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__syncthreads() + 树形规约</a:t>
                      </a:r>
                      <a:endParaRPr sz="1350">
                        <a:solidFill>
                          <a:srgbClr val="202124"/>
                        </a:solidFill>
                        <a:latin typeface="Source Han Sans CN"/>
                        <a:ea typeface="Source Han Sans CN"/>
                        <a:cs typeface="Source Han Sans CN"/>
                      </a:endParaRPr>
                    </a:p>
                  </a:txBody>
                  <a:tcPr marL="57150" marR="57150" marT="47625" marB="47625" anchor="ctr"/>
                </a:tc>
              </a:tr>
              <a:tr h="714375">
                <a:tc>
                  <a:txBody>
                    <a:bodyPr/>
                    <a:lstStyle/>
                    <a:p>
                      <a:r>
                        <a:rPr sz="1350">
                          <a:solidFill>
                            <a:srgbClr val="202124"/>
                          </a:solidFill>
                          <a:latin typeface="Source Han Sans CN"/>
                          <a:ea typeface="Source Han Sans CN"/>
                          <a:cs typeface="Source Han Sans CN"/>
                        </a:rPr>
                        <a:t>64-lane wave</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64 个 lane 同步执行</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shuffle 交换寄存器值</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bl>
          </a:graphicData>
        </a:graphic>
      </p:graphicFrame>
      <p:sp>
        <p:nvSpPr>
          <p:cNvPr id="6" name="Rectangle 5"/>
          <p:cNvSpPr>
            <a:spLocks noGrp="1"/>
          </p:cNvSpPr>
          <p:nvPr/>
        </p:nvSpPr>
        <p:spPr>
          <a:xfrm>
            <a:off x="1571625" y="5000625"/>
            <a:ext cx="9048750" cy="523875"/>
          </a:xfrm>
          <a:prstGeom prst="rect">
            <a:avLst/>
          </a:prstGeom>
          <a:noFill/>
          <a:ln w="0">
            <a:noFill/>
            <a:prstDash val="solid"/>
          </a:ln>
        </p:spPr>
        <p:txBody>
          <a:bodyPr wrap="square" lIns="38100" tIns="19050" rIns="38100" bIns="19050" anchor="ctr">
            <a:normAutofit/>
          </a:bodyPr>
          <a:lstStyle/>
          <a:p>
            <a:pPr algn="ctr">
              <a:lnSpc>
                <a:spcPct val="108000"/>
              </a:lnSpc>
              <a:buNone/>
              <a:defRPr sz="1725" b="1">
                <a:solidFill>
                  <a:srgbClr val="C23B55"/>
                </a:solidFill>
                <a:latin typeface="Source Han Sans CN"/>
                <a:ea typeface="Source Han Sans CN"/>
                <a:cs typeface="Source Han Sans CN"/>
              </a:defRPr>
            </a:pPr>
            <a:r>
              <a:rPr sz="1725" b="1">
                <a:solidFill>
                  <a:srgbClr val="C23B55"/>
                </a:solidFill>
                <a:latin typeface="Source Han Sans CN"/>
                <a:ea typeface="Source Han Sans CN"/>
                <a:cs typeface="Source Han Sans CN"/>
              </a:rPr>
              <a:t>曦云系列 GPU 的 wave size = 64，其他厂商可能不同</a:t>
            </a:r>
            <a:endParaRPr sz="1725" b="1">
              <a:solidFill>
                <a:srgbClr val="C23B55"/>
              </a:solidFill>
              <a:latin typeface="Source Han Sans CN"/>
              <a:ea typeface="Source Han Sans CN"/>
              <a:cs typeface="Source Han Sans C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如何判断算子可用？</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需要预先定义标准来评判性能</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13</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952500" y="1952625"/>
            <a:ext cx="2095500" cy="523875"/>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1650" b="1">
                <a:solidFill>
                  <a:srgbClr val="FFFFFF"/>
                </a:solidFill>
                <a:latin typeface="Source Han Sans CN"/>
                <a:ea typeface="Source Han Sans CN"/>
                <a:cs typeface="Source Han Sans CN"/>
              </a:defRPr>
            </a:pPr>
            <a:r>
              <a:rPr sz="1650" b="1">
                <a:solidFill>
                  <a:srgbClr val="FFFFFF"/>
                </a:solidFill>
                <a:latin typeface="Source Han Sans CN"/>
                <a:ea typeface="Source Han Sans CN"/>
                <a:cs typeface="Source Han Sans CN"/>
              </a:rPr>
              <a:t>参考</a:t>
            </a:r>
            <a:endParaRPr sz="1650" b="1">
              <a:solidFill>
                <a:srgbClr val="FFFFFF"/>
              </a:solidFill>
              <a:latin typeface="Source Han Sans CN"/>
              <a:ea typeface="Source Han Sans CN"/>
              <a:cs typeface="Source Han Sans CN"/>
            </a:endParaRPr>
          </a:p>
        </p:txBody>
      </p:sp>
      <p:sp>
        <p:nvSpPr>
          <p:cNvPr id="6" name="Rectangle 5"/>
          <p:cNvSpPr>
            <a:spLocks noGrp="1"/>
          </p:cNvSpPr>
          <p:nvPr/>
        </p:nvSpPr>
        <p:spPr>
          <a:xfrm>
            <a:off x="952500" y="2571750"/>
            <a:ext cx="2095500" cy="11430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CPU double计算的</a:t>
            </a:r>
            <a:endParaRPr sz="1725" b="1">
              <a:solidFill>
                <a:srgbClr val="202124"/>
              </a:solidFill>
              <a:latin typeface="Source Han Sans CN"/>
              <a:ea typeface="Source Han Sans CN"/>
              <a:cs typeface="Source Han Sans CN"/>
            </a:endParaRPr>
          </a:p>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稳定 Softmax</a:t>
            </a:r>
            <a:endParaRPr sz="1725" b="1">
              <a:solidFill>
                <a:srgbClr val="202124"/>
              </a:solidFill>
              <a:latin typeface="Source Han Sans CN"/>
              <a:ea typeface="Source Han Sans CN"/>
              <a:cs typeface="Source Han Sans CN"/>
            </a:endParaRPr>
          </a:p>
        </p:txBody>
      </p:sp>
      <p:sp>
        <p:nvSpPr>
          <p:cNvPr id="7" name="Rectangle 6"/>
          <p:cNvSpPr>
            <a:spLocks noGrp="1"/>
          </p:cNvSpPr>
          <p:nvPr/>
        </p:nvSpPr>
        <p:spPr>
          <a:xfrm>
            <a:off x="3619500" y="1952625"/>
            <a:ext cx="2095500" cy="523875"/>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1650" b="1">
                <a:solidFill>
                  <a:srgbClr val="FFFFFF"/>
                </a:solidFill>
                <a:latin typeface="Source Han Sans CN"/>
                <a:ea typeface="Source Han Sans CN"/>
                <a:cs typeface="Source Han Sans CN"/>
              </a:defRPr>
            </a:pPr>
            <a:r>
              <a:rPr sz="1650" b="1">
                <a:solidFill>
                  <a:srgbClr val="FFFFFF"/>
                </a:solidFill>
                <a:latin typeface="Source Han Sans CN"/>
                <a:ea typeface="Source Han Sans CN"/>
                <a:cs typeface="Source Han Sans CN"/>
              </a:rPr>
              <a:t>异常</a:t>
            </a:r>
            <a:endParaRPr sz="1650" b="1">
              <a:solidFill>
                <a:srgbClr val="FFFFFF"/>
              </a:solidFill>
              <a:latin typeface="Source Han Sans CN"/>
              <a:ea typeface="Source Han Sans CN"/>
              <a:cs typeface="Source Han Sans CN"/>
            </a:endParaRPr>
          </a:p>
        </p:txBody>
      </p:sp>
      <p:sp>
        <p:nvSpPr>
          <p:cNvPr id="8" name="Rectangle 7"/>
          <p:cNvSpPr>
            <a:spLocks noGrp="1"/>
          </p:cNvSpPr>
          <p:nvPr/>
        </p:nvSpPr>
        <p:spPr>
          <a:xfrm>
            <a:off x="3619500" y="2571750"/>
            <a:ext cx="2095500" cy="11430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无 NaN / Inf</a:t>
            </a:r>
            <a:endParaRPr sz="1725" b="1">
              <a:solidFill>
                <a:srgbClr val="202124"/>
              </a:solidFill>
              <a:latin typeface="Source Han Sans CN"/>
              <a:ea typeface="Source Han Sans CN"/>
              <a:cs typeface="Source Han Sans CN"/>
            </a:endParaRPr>
          </a:p>
        </p:txBody>
      </p:sp>
      <p:sp>
        <p:nvSpPr>
          <p:cNvPr id="9" name="Rectangle 8"/>
          <p:cNvSpPr>
            <a:spLocks noGrp="1"/>
          </p:cNvSpPr>
          <p:nvPr/>
        </p:nvSpPr>
        <p:spPr>
          <a:xfrm>
            <a:off x="6286500" y="1952625"/>
            <a:ext cx="2095500" cy="523875"/>
          </a:xfrm>
          <a:prstGeom prst="rect">
            <a:avLst/>
          </a:prstGeom>
          <a:solidFill>
            <a:srgbClr val="48BB00"/>
          </a:solidFill>
          <a:ln w="0">
            <a:noFill/>
            <a:prstDash val="solid"/>
          </a:ln>
        </p:spPr>
        <p:txBody>
          <a:bodyPr wrap="square" lIns="38100" tIns="19050" rIns="38100" bIns="19050" anchor="ctr">
            <a:normAutofit/>
          </a:bodyPr>
          <a:lstStyle/>
          <a:p>
            <a:pPr algn="ctr">
              <a:lnSpc>
                <a:spcPct val="108000"/>
              </a:lnSpc>
              <a:buNone/>
              <a:defRPr sz="1650" b="1">
                <a:solidFill>
                  <a:srgbClr val="FFFFFF"/>
                </a:solidFill>
                <a:latin typeface="Source Han Sans CN"/>
                <a:ea typeface="Source Han Sans CN"/>
                <a:cs typeface="Source Han Sans CN"/>
              </a:defRPr>
            </a:pPr>
            <a:r>
              <a:rPr sz="1650" b="1">
                <a:solidFill>
                  <a:srgbClr val="FFFFFF"/>
                </a:solidFill>
                <a:latin typeface="Source Han Sans CN"/>
                <a:ea typeface="Source Han Sans CN"/>
                <a:cs typeface="Source Han Sans CN"/>
              </a:rPr>
              <a:t>误差</a:t>
            </a:r>
            <a:endParaRPr sz="1650" b="1">
              <a:solidFill>
                <a:srgbClr val="FFFFFF"/>
              </a:solidFill>
              <a:latin typeface="Source Han Sans CN"/>
              <a:ea typeface="Source Han Sans CN"/>
              <a:cs typeface="Source Han Sans CN"/>
            </a:endParaRPr>
          </a:p>
        </p:txBody>
      </p:sp>
      <p:sp>
        <p:nvSpPr>
          <p:cNvPr id="10" name="Rectangle 9"/>
          <p:cNvSpPr>
            <a:spLocks noGrp="1"/>
          </p:cNvSpPr>
          <p:nvPr/>
        </p:nvSpPr>
        <p:spPr>
          <a:xfrm>
            <a:off x="6286500" y="2571750"/>
            <a:ext cx="2095500" cy="11430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max abs ≤ 2e−5</a:t>
            </a:r>
            <a:endParaRPr sz="1725" b="1">
              <a:solidFill>
                <a:srgbClr val="202124"/>
              </a:solidFill>
              <a:latin typeface="Source Han Sans CN"/>
              <a:ea typeface="Source Han Sans CN"/>
              <a:cs typeface="Source Han Sans CN"/>
            </a:endParaRPr>
          </a:p>
        </p:txBody>
      </p:sp>
      <p:sp>
        <p:nvSpPr>
          <p:cNvPr id="11" name="Rectangle 10"/>
          <p:cNvSpPr>
            <a:spLocks noGrp="1"/>
          </p:cNvSpPr>
          <p:nvPr/>
        </p:nvSpPr>
        <p:spPr>
          <a:xfrm>
            <a:off x="8953500" y="1952625"/>
            <a:ext cx="2095500" cy="523875"/>
          </a:xfrm>
          <a:prstGeom prst="rect">
            <a:avLst/>
          </a:prstGeom>
          <a:solidFill>
            <a:srgbClr val="E67E22"/>
          </a:solidFill>
          <a:ln w="0">
            <a:noFill/>
            <a:prstDash val="solid"/>
          </a:ln>
        </p:spPr>
        <p:txBody>
          <a:bodyPr wrap="square" lIns="38100" tIns="19050" rIns="38100" bIns="19050" anchor="ctr">
            <a:normAutofit/>
          </a:bodyPr>
          <a:lstStyle/>
          <a:p>
            <a:pPr algn="ctr">
              <a:lnSpc>
                <a:spcPct val="108000"/>
              </a:lnSpc>
              <a:buNone/>
              <a:defRPr sz="1650" b="1">
                <a:solidFill>
                  <a:srgbClr val="FFFFFF"/>
                </a:solidFill>
                <a:latin typeface="Source Han Sans CN"/>
                <a:ea typeface="Source Han Sans CN"/>
                <a:cs typeface="Source Han Sans CN"/>
              </a:defRPr>
            </a:pPr>
            <a:r>
              <a:rPr sz="1650" b="1">
                <a:solidFill>
                  <a:srgbClr val="FFFFFF"/>
                </a:solidFill>
                <a:latin typeface="Source Han Sans CN"/>
                <a:ea typeface="Source Han Sans CN"/>
                <a:cs typeface="Source Han Sans CN"/>
              </a:rPr>
              <a:t>归一化</a:t>
            </a:r>
            <a:endParaRPr sz="1650" b="1">
              <a:solidFill>
                <a:srgbClr val="FFFFFF"/>
              </a:solidFill>
              <a:latin typeface="Source Han Sans CN"/>
              <a:ea typeface="Source Han Sans CN"/>
              <a:cs typeface="Source Han Sans CN"/>
            </a:endParaRPr>
          </a:p>
        </p:txBody>
      </p:sp>
      <p:sp>
        <p:nvSpPr>
          <p:cNvPr id="12" name="Rectangle 11"/>
          <p:cNvSpPr>
            <a:spLocks noGrp="1"/>
          </p:cNvSpPr>
          <p:nvPr/>
        </p:nvSpPr>
        <p:spPr>
          <a:xfrm>
            <a:off x="8953500" y="2571750"/>
            <a:ext cx="2095500" cy="11430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max |row sum−1|</a:t>
            </a:r>
            <a:endParaRPr sz="1725" b="1">
              <a:solidFill>
                <a:srgbClr val="202124"/>
              </a:solidFill>
              <a:latin typeface="Source Han Sans CN"/>
              <a:ea typeface="Source Han Sans CN"/>
              <a:cs typeface="Source Han Sans CN"/>
            </a:endParaRPr>
          </a:p>
          <a:p>
            <a:pPr algn="ctr">
              <a:lnSpc>
                <a:spcPct val="108000"/>
              </a:lnSpc>
              <a:buNone/>
              <a:defRPr sz="1725" b="1">
                <a:solidFill>
                  <a:srgbClr val="202124"/>
                </a:solidFill>
                <a:latin typeface="Source Han Sans CN"/>
                <a:ea typeface="Source Han Sans CN"/>
                <a:cs typeface="Source Han Sans CN"/>
              </a:defRPr>
            </a:pPr>
            <a:r>
              <a:rPr sz="1725" b="1">
                <a:solidFill>
                  <a:srgbClr val="202124"/>
                </a:solidFill>
                <a:latin typeface="Source Han Sans CN"/>
                <a:ea typeface="Source Han Sans CN"/>
                <a:cs typeface="Source Han Sans CN"/>
              </a:rPr>
              <a:t>≤ 2e−4</a:t>
            </a:r>
            <a:endParaRPr sz="1725" b="1">
              <a:solidFill>
                <a:srgbClr val="202124"/>
              </a:solidFill>
              <a:latin typeface="Source Han Sans CN"/>
              <a:ea typeface="Source Han Sans CN"/>
              <a:cs typeface="Source Han Sans CN"/>
            </a:endParaRPr>
          </a:p>
        </p:txBody>
      </p:sp>
      <p:sp>
        <p:nvSpPr>
          <p:cNvPr id="13" name="Rectangle 12"/>
          <p:cNvSpPr>
            <a:spLocks noGrp="1"/>
          </p:cNvSpPr>
          <p:nvPr/>
        </p:nvSpPr>
        <p:spPr>
          <a:xfrm>
            <a:off x="2095500" y="4333875"/>
            <a:ext cx="8096250" cy="952500"/>
          </a:xfrm>
          <a:prstGeom prst="rect">
            <a:avLst/>
          </a:prstGeom>
          <a:noFill/>
          <a:ln w="0">
            <a:noFill/>
            <a:prstDash val="solid"/>
          </a:ln>
        </p:spPr>
        <p:txBody>
          <a:bodyPr wrap="square" lIns="38100" tIns="19050" rIns="38100" bIns="19050" anchor="t">
            <a:normAutofit/>
          </a:bodyPr>
          <a:lstStyle/>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测试覆盖非规则行宽、极端动态范围与相同 logits</a:t>
            </a:r>
            <a:endParaRPr sz="1650" b="0">
              <a:solidFill>
                <a:srgbClr val="202124"/>
              </a:solidFill>
              <a:latin typeface="Source Han Sans CN"/>
              <a:ea typeface="Source Han Sans CN"/>
              <a:cs typeface="Source Han Sans CN"/>
            </a:endParaRPr>
          </a:p>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都必须通过预先定义的标准</a:t>
            </a:r>
            <a:endParaRPr sz="1650" b="0">
              <a:solidFill>
                <a:srgbClr val="202124"/>
              </a:solidFill>
              <a:latin typeface="Source Han Sans CN"/>
              <a:ea typeface="Source Han Sans CN"/>
              <a:cs typeface="Source Han Sans C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固定测量环境，多次重复测量性能</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本课只比较 GPU event 区间内的前向 kernel 延迟，不包括数据送入 kernel 前的预处理或额外拷贝等操作耗时</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14</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781050" y="2095500"/>
            <a:ext cx="1762125" cy="819150"/>
          </a:xfrm>
          <a:prstGeom prst="roundRect">
            <a:avLst>
              <a:gd name="adj" fmla="val 13953"/>
            </a:avLst>
          </a:prstGeom>
          <a:solidFill>
            <a:srgbClr val="F5EFF7"/>
          </a:solidFill>
          <a:ln w="9525">
            <a:solidFill>
              <a:srgbClr val="660874"/>
            </a:solidFill>
            <a:prstDash val="solid"/>
          </a:ln>
        </p:spPr>
        <p:txBody>
          <a:bodyPr lIns="76200" tIns="38100" rIns="76200" bIns="38100" anchor="ctr">
            <a:normAutofit/>
          </a:bodyPr>
          <a:lstStyle/>
          <a:p>
            <a:pPr algn="ctr">
              <a:buNone/>
              <a:defRPr sz="1575" b="1">
                <a:solidFill>
                  <a:srgbClr val="660874"/>
                </a:solidFill>
                <a:latin typeface="Source Han Sans CN"/>
                <a:ea typeface="Source Han Sans CN"/>
                <a:cs typeface="Source Han Sans CN"/>
              </a:defRPr>
            </a:pPr>
            <a:r>
              <a:rPr sz="1575" b="1">
                <a:solidFill>
                  <a:srgbClr val="660874"/>
                </a:solidFill>
                <a:latin typeface="Source Han Sans CN"/>
                <a:ea typeface="Source Han Sans CN"/>
                <a:cs typeface="Source Han Sans CN"/>
              </a:rPr>
              <a:t>固定 shape / dtype</a:t>
            </a:r>
            <a:endParaRPr sz="1575" b="1">
              <a:solidFill>
                <a:srgbClr val="660874"/>
              </a:solidFill>
              <a:latin typeface="Source Han Sans CN"/>
              <a:ea typeface="Source Han Sans CN"/>
              <a:cs typeface="Source Han Sans CN"/>
            </a:endParaRPr>
          </a:p>
        </p:txBody>
      </p:sp>
      <p:sp>
        <p:nvSpPr>
          <p:cNvPr id="6" name="Rectangle 5"/>
          <p:cNvSpPr>
            <a:spLocks noGrp="1"/>
          </p:cNvSpPr>
          <p:nvPr/>
        </p:nvSpPr>
        <p:spPr>
          <a:xfrm>
            <a:off x="2543175" y="2286000"/>
            <a:ext cx="381000" cy="381000"/>
          </a:xfrm>
          <a:prstGeom prst="rect">
            <a:avLst/>
          </a:prstGeom>
          <a:noFill/>
          <a:ln w="0">
            <a:noFill/>
            <a:prstDash val="solid"/>
          </a:ln>
        </p:spPr>
        <p:txBody>
          <a:bodyPr wrap="square" lIns="38100" tIns="19050" rIns="38100" bIns="19050" anchor="t">
            <a:normAutofit fontScale="99206"/>
          </a:bodyPr>
          <a:lstStyle/>
          <a:p>
            <a:pPr algn="ctr">
              <a:lnSpc>
                <a:spcPct val="108000"/>
              </a:lnSpc>
              <a:buNone/>
              <a:defRPr sz="2100" b="0">
                <a:solidFill>
                  <a:srgbClr val="A894B1"/>
                </a:solidFill>
                <a:latin typeface="Source Han Sans CN"/>
                <a:ea typeface="Source Han Sans CN"/>
                <a:cs typeface="Source Han Sans CN"/>
              </a:defRPr>
            </a:pPr>
            <a:r>
              <a:rPr sz="2100" b="0">
                <a:solidFill>
                  <a:srgbClr val="A894B1"/>
                </a:solidFill>
                <a:latin typeface="Source Han Sans CN"/>
                <a:ea typeface="Source Han Sans CN"/>
                <a:cs typeface="Source Han Sans CN"/>
              </a:rPr>
              <a:t>→</a:t>
            </a:r>
            <a:endParaRPr sz="2100" b="0">
              <a:solidFill>
                <a:srgbClr val="A894B1"/>
              </a:solidFill>
              <a:latin typeface="Source Han Sans CN"/>
              <a:ea typeface="Source Han Sans CN"/>
              <a:cs typeface="Source Han Sans CN"/>
            </a:endParaRPr>
          </a:p>
        </p:txBody>
      </p:sp>
      <p:sp>
        <p:nvSpPr>
          <p:cNvPr id="7" name="Rectangle: Rounded Corners 6"/>
          <p:cNvSpPr>
            <a:spLocks noGrp="1"/>
          </p:cNvSpPr>
          <p:nvPr/>
        </p:nvSpPr>
        <p:spPr>
          <a:xfrm>
            <a:off x="2924175" y="2095500"/>
            <a:ext cx="1762125" cy="819150"/>
          </a:xfrm>
          <a:prstGeom prst="roundRect">
            <a:avLst>
              <a:gd name="adj" fmla="val 13953"/>
            </a:avLst>
          </a:prstGeom>
          <a:solidFill>
            <a:srgbClr val="EAF6F6"/>
          </a:solidFill>
          <a:ln w="9525">
            <a:solidFill>
              <a:srgbClr val="1E8E94"/>
            </a:solidFill>
            <a:prstDash val="solid"/>
          </a:ln>
        </p:spPr>
        <p:txBody>
          <a:bodyPr lIns="76200" tIns="38100" rIns="76200" bIns="38100" anchor="ctr">
            <a:normAutofit/>
          </a:bodyPr>
          <a:lstStyle/>
          <a:p>
            <a:pPr algn="ctr">
              <a:buNone/>
              <a:defRPr sz="1575" b="1">
                <a:solidFill>
                  <a:srgbClr val="1E8E94"/>
                </a:solidFill>
                <a:latin typeface="Source Han Sans CN"/>
                <a:ea typeface="Source Han Sans CN"/>
                <a:cs typeface="Source Han Sans CN"/>
              </a:defRPr>
            </a:pPr>
            <a:r>
              <a:rPr sz="1575" b="1">
                <a:solidFill>
                  <a:srgbClr val="1E8E94"/>
                </a:solidFill>
                <a:latin typeface="Source Han Sans CN"/>
                <a:ea typeface="Source Han Sans CN"/>
                <a:cs typeface="Source Han Sans CN"/>
              </a:rPr>
              <a:t>预热 10 次</a:t>
            </a:r>
            <a:endParaRPr sz="1575" b="1">
              <a:solidFill>
                <a:srgbClr val="1E8E94"/>
              </a:solidFill>
              <a:latin typeface="Source Han Sans CN"/>
              <a:ea typeface="Source Han Sans CN"/>
              <a:cs typeface="Source Han Sans CN"/>
            </a:endParaRPr>
          </a:p>
        </p:txBody>
      </p:sp>
      <p:sp>
        <p:nvSpPr>
          <p:cNvPr id="8" name="Rectangle 7"/>
          <p:cNvSpPr>
            <a:spLocks noGrp="1"/>
          </p:cNvSpPr>
          <p:nvPr/>
        </p:nvSpPr>
        <p:spPr>
          <a:xfrm>
            <a:off x="4686300" y="2286000"/>
            <a:ext cx="381000" cy="381000"/>
          </a:xfrm>
          <a:prstGeom prst="rect">
            <a:avLst/>
          </a:prstGeom>
          <a:noFill/>
          <a:ln w="0">
            <a:noFill/>
            <a:prstDash val="solid"/>
          </a:ln>
        </p:spPr>
        <p:txBody>
          <a:bodyPr wrap="square" lIns="38100" tIns="19050" rIns="38100" bIns="19050" anchor="t">
            <a:normAutofit fontScale="99206"/>
          </a:bodyPr>
          <a:lstStyle/>
          <a:p>
            <a:pPr algn="ctr">
              <a:lnSpc>
                <a:spcPct val="108000"/>
              </a:lnSpc>
              <a:buNone/>
              <a:defRPr sz="2100" b="0">
                <a:solidFill>
                  <a:srgbClr val="A894B1"/>
                </a:solidFill>
                <a:latin typeface="Source Han Sans CN"/>
                <a:ea typeface="Source Han Sans CN"/>
                <a:cs typeface="Source Han Sans CN"/>
              </a:defRPr>
            </a:pPr>
            <a:r>
              <a:rPr sz="2100" b="0">
                <a:solidFill>
                  <a:srgbClr val="A894B1"/>
                </a:solidFill>
                <a:latin typeface="Source Han Sans CN"/>
                <a:ea typeface="Source Han Sans CN"/>
                <a:cs typeface="Source Han Sans CN"/>
              </a:rPr>
              <a:t>→</a:t>
            </a:r>
            <a:endParaRPr sz="2100" b="0">
              <a:solidFill>
                <a:srgbClr val="A894B1"/>
              </a:solidFill>
              <a:latin typeface="Source Han Sans CN"/>
              <a:ea typeface="Source Han Sans CN"/>
              <a:cs typeface="Source Han Sans CN"/>
            </a:endParaRPr>
          </a:p>
        </p:txBody>
      </p:sp>
      <p:sp>
        <p:nvSpPr>
          <p:cNvPr id="9" name="Rectangle: Rounded Corners 8"/>
          <p:cNvSpPr>
            <a:spLocks noGrp="1"/>
          </p:cNvSpPr>
          <p:nvPr/>
        </p:nvSpPr>
        <p:spPr>
          <a:xfrm>
            <a:off x="5067300" y="2095500"/>
            <a:ext cx="1762125" cy="819150"/>
          </a:xfrm>
          <a:prstGeom prst="roundRect">
            <a:avLst>
              <a:gd name="adj" fmla="val 13953"/>
            </a:avLst>
          </a:prstGeom>
          <a:solidFill>
            <a:srgbClr val="F5EFF7"/>
          </a:solidFill>
          <a:ln w="9525">
            <a:solidFill>
              <a:srgbClr val="660874"/>
            </a:solidFill>
            <a:prstDash val="solid"/>
          </a:ln>
        </p:spPr>
        <p:txBody>
          <a:bodyPr lIns="76200" tIns="38100" rIns="76200" bIns="38100" anchor="ctr">
            <a:normAutofit/>
          </a:bodyPr>
          <a:lstStyle/>
          <a:p>
            <a:pPr algn="ctr">
              <a:buNone/>
              <a:defRPr sz="1575" b="1">
                <a:solidFill>
                  <a:srgbClr val="660874"/>
                </a:solidFill>
                <a:latin typeface="Source Han Sans CN"/>
                <a:ea typeface="Source Han Sans CN"/>
                <a:cs typeface="Source Han Sans CN"/>
              </a:defRPr>
            </a:pPr>
            <a:r>
              <a:rPr sz="1575" b="1">
                <a:solidFill>
                  <a:srgbClr val="660874"/>
                </a:solidFill>
                <a:latin typeface="Source Han Sans CN"/>
                <a:ea typeface="Source Han Sans CN"/>
                <a:cs typeface="Source Han Sans CN"/>
              </a:rPr>
              <a:t>GPU event 计时</a:t>
            </a:r>
            <a:endParaRPr sz="1575" b="1">
              <a:solidFill>
                <a:srgbClr val="660874"/>
              </a:solidFill>
              <a:latin typeface="Source Han Sans CN"/>
              <a:ea typeface="Source Han Sans CN"/>
              <a:cs typeface="Source Han Sans CN"/>
            </a:endParaRPr>
          </a:p>
        </p:txBody>
      </p:sp>
      <p:sp>
        <p:nvSpPr>
          <p:cNvPr id="10" name="Rectangle 9"/>
          <p:cNvSpPr>
            <a:spLocks noGrp="1"/>
          </p:cNvSpPr>
          <p:nvPr/>
        </p:nvSpPr>
        <p:spPr>
          <a:xfrm>
            <a:off x="6829425" y="2286000"/>
            <a:ext cx="381000" cy="381000"/>
          </a:xfrm>
          <a:prstGeom prst="rect">
            <a:avLst/>
          </a:prstGeom>
          <a:noFill/>
          <a:ln w="0">
            <a:noFill/>
            <a:prstDash val="solid"/>
          </a:ln>
        </p:spPr>
        <p:txBody>
          <a:bodyPr wrap="square" lIns="38100" tIns="19050" rIns="38100" bIns="19050" anchor="t">
            <a:normAutofit fontScale="99206"/>
          </a:bodyPr>
          <a:lstStyle/>
          <a:p>
            <a:pPr algn="ctr">
              <a:lnSpc>
                <a:spcPct val="108000"/>
              </a:lnSpc>
              <a:buNone/>
              <a:defRPr sz="2100" b="0">
                <a:solidFill>
                  <a:srgbClr val="A894B1"/>
                </a:solidFill>
                <a:latin typeface="Source Han Sans CN"/>
                <a:ea typeface="Source Han Sans CN"/>
                <a:cs typeface="Source Han Sans CN"/>
              </a:defRPr>
            </a:pPr>
            <a:r>
              <a:rPr sz="2100" b="0">
                <a:solidFill>
                  <a:srgbClr val="A894B1"/>
                </a:solidFill>
                <a:latin typeface="Source Han Sans CN"/>
                <a:ea typeface="Source Han Sans CN"/>
                <a:cs typeface="Source Han Sans CN"/>
              </a:rPr>
              <a:t>→</a:t>
            </a:r>
            <a:endParaRPr sz="2100" b="0">
              <a:solidFill>
                <a:srgbClr val="A894B1"/>
              </a:solidFill>
              <a:latin typeface="Source Han Sans CN"/>
              <a:ea typeface="Source Han Sans CN"/>
              <a:cs typeface="Source Han Sans CN"/>
            </a:endParaRPr>
          </a:p>
        </p:txBody>
      </p:sp>
      <p:sp>
        <p:nvSpPr>
          <p:cNvPr id="11" name="Rectangle: Rounded Corners 10"/>
          <p:cNvSpPr>
            <a:spLocks noGrp="1"/>
          </p:cNvSpPr>
          <p:nvPr/>
        </p:nvSpPr>
        <p:spPr>
          <a:xfrm>
            <a:off x="7210425" y="2095500"/>
            <a:ext cx="1762125" cy="819150"/>
          </a:xfrm>
          <a:prstGeom prst="roundRect">
            <a:avLst>
              <a:gd name="adj" fmla="val 13953"/>
            </a:avLst>
          </a:prstGeom>
          <a:solidFill>
            <a:srgbClr val="EAF6F6"/>
          </a:solidFill>
          <a:ln w="9525">
            <a:solidFill>
              <a:srgbClr val="1E8E94"/>
            </a:solidFill>
            <a:prstDash val="solid"/>
          </a:ln>
        </p:spPr>
        <p:txBody>
          <a:bodyPr lIns="76200" tIns="38100" rIns="76200" bIns="38100" anchor="ctr">
            <a:normAutofit/>
          </a:bodyPr>
          <a:lstStyle/>
          <a:p>
            <a:pPr algn="ctr">
              <a:buNone/>
              <a:defRPr sz="1575" b="1">
                <a:solidFill>
                  <a:srgbClr val="1E8E94"/>
                </a:solidFill>
                <a:latin typeface="Source Han Sans CN"/>
                <a:ea typeface="Source Han Sans CN"/>
                <a:cs typeface="Source Han Sans CN"/>
              </a:defRPr>
            </a:pPr>
            <a:r>
              <a:rPr sz="1575" b="1">
                <a:solidFill>
                  <a:srgbClr val="1E8E94"/>
                </a:solidFill>
                <a:latin typeface="Source Han Sans CN"/>
                <a:ea typeface="Source Han Sans CN"/>
                <a:cs typeface="Source Han Sans CN"/>
              </a:rPr>
              <a:t>多批次重复</a:t>
            </a:r>
            <a:endParaRPr sz="1575" b="1">
              <a:solidFill>
                <a:srgbClr val="1E8E94"/>
              </a:solidFill>
              <a:latin typeface="Source Han Sans CN"/>
              <a:ea typeface="Source Han Sans CN"/>
              <a:cs typeface="Source Han Sans CN"/>
            </a:endParaRPr>
          </a:p>
        </p:txBody>
      </p:sp>
      <p:sp>
        <p:nvSpPr>
          <p:cNvPr id="12" name="Rectangle 11"/>
          <p:cNvSpPr>
            <a:spLocks noGrp="1"/>
          </p:cNvSpPr>
          <p:nvPr/>
        </p:nvSpPr>
        <p:spPr>
          <a:xfrm>
            <a:off x="8972550" y="2286000"/>
            <a:ext cx="381000" cy="381000"/>
          </a:xfrm>
          <a:prstGeom prst="rect">
            <a:avLst/>
          </a:prstGeom>
          <a:noFill/>
          <a:ln w="0">
            <a:noFill/>
            <a:prstDash val="solid"/>
          </a:ln>
        </p:spPr>
        <p:txBody>
          <a:bodyPr wrap="square" lIns="38100" tIns="19050" rIns="38100" bIns="19050" anchor="t">
            <a:normAutofit fontScale="99206"/>
          </a:bodyPr>
          <a:lstStyle/>
          <a:p>
            <a:pPr algn="ctr">
              <a:lnSpc>
                <a:spcPct val="108000"/>
              </a:lnSpc>
              <a:buNone/>
              <a:defRPr sz="2100" b="0">
                <a:solidFill>
                  <a:srgbClr val="A894B1"/>
                </a:solidFill>
                <a:latin typeface="Source Han Sans CN"/>
                <a:ea typeface="Source Han Sans CN"/>
                <a:cs typeface="Source Han Sans CN"/>
              </a:defRPr>
            </a:pPr>
            <a:r>
              <a:rPr sz="2100" b="0">
                <a:solidFill>
                  <a:srgbClr val="A894B1"/>
                </a:solidFill>
                <a:latin typeface="Source Han Sans CN"/>
                <a:ea typeface="Source Han Sans CN"/>
                <a:cs typeface="Source Han Sans CN"/>
              </a:rPr>
              <a:t>→</a:t>
            </a:r>
            <a:endParaRPr sz="2100" b="0">
              <a:solidFill>
                <a:srgbClr val="A894B1"/>
              </a:solidFill>
              <a:latin typeface="Source Han Sans CN"/>
              <a:ea typeface="Source Han Sans CN"/>
              <a:cs typeface="Source Han Sans CN"/>
            </a:endParaRPr>
          </a:p>
        </p:txBody>
      </p:sp>
      <p:sp>
        <p:nvSpPr>
          <p:cNvPr id="13" name="Rectangle: Rounded Corners 12"/>
          <p:cNvSpPr>
            <a:spLocks noGrp="1"/>
          </p:cNvSpPr>
          <p:nvPr/>
        </p:nvSpPr>
        <p:spPr>
          <a:xfrm>
            <a:off x="9353550" y="2095500"/>
            <a:ext cx="1762125" cy="819150"/>
          </a:xfrm>
          <a:prstGeom prst="roundRect">
            <a:avLst>
              <a:gd name="adj" fmla="val 13953"/>
            </a:avLst>
          </a:prstGeom>
          <a:solidFill>
            <a:srgbClr val="F5EFF7"/>
          </a:solidFill>
          <a:ln w="9525">
            <a:solidFill>
              <a:srgbClr val="660874"/>
            </a:solidFill>
            <a:prstDash val="solid"/>
          </a:ln>
        </p:spPr>
        <p:txBody>
          <a:bodyPr lIns="76200" tIns="38100" rIns="76200" bIns="38100" anchor="ctr">
            <a:normAutofit/>
          </a:bodyPr>
          <a:lstStyle/>
          <a:p>
            <a:pPr algn="ctr">
              <a:buNone/>
              <a:defRPr sz="1575" b="1">
                <a:solidFill>
                  <a:srgbClr val="660874"/>
                </a:solidFill>
                <a:latin typeface="Source Han Sans CN"/>
                <a:ea typeface="Source Han Sans CN"/>
                <a:cs typeface="Source Han Sans CN"/>
              </a:defRPr>
            </a:pPr>
            <a:r>
              <a:rPr sz="1575" b="1">
                <a:solidFill>
                  <a:srgbClr val="660874"/>
                </a:solidFill>
                <a:latin typeface="Source Han Sans CN"/>
                <a:ea typeface="Source Han Sans CN"/>
                <a:cs typeface="Source Han Sans CN"/>
              </a:rPr>
              <a:t>报告均值 + P95</a:t>
            </a:r>
            <a:endParaRPr sz="1575" b="1">
              <a:solidFill>
                <a:srgbClr val="660874"/>
              </a:solidFill>
              <a:latin typeface="Source Han Sans CN"/>
              <a:ea typeface="Source Han Sans CN"/>
              <a:cs typeface="Source Han Sans CN"/>
            </a:endParaRPr>
          </a:p>
        </p:txBody>
      </p:sp>
      <p:sp>
        <p:nvSpPr>
          <p:cNvPr id="14" name="Rectangle 13"/>
          <p:cNvSpPr>
            <a:spLocks noGrp="1"/>
          </p:cNvSpPr>
          <p:nvPr/>
        </p:nvSpPr>
        <p:spPr>
          <a:xfrm>
            <a:off x="1524000" y="3905250"/>
            <a:ext cx="1428750" cy="476250"/>
          </a:xfrm>
          <a:prstGeom prst="rect">
            <a:avLst/>
          </a:prstGeom>
          <a:noFill/>
          <a:ln w="0">
            <a:noFill/>
            <a:prstDash val="solid"/>
          </a:ln>
        </p:spPr>
        <p:txBody>
          <a:bodyPr wrap="square" lIns="38100" tIns="19050" rIns="38100" bIns="19050" anchor="ctr">
            <a:normAutofit/>
          </a:bodyPr>
          <a:lstStyle/>
          <a:p>
            <a:pPr algn="ctr">
              <a:lnSpc>
                <a:spcPct val="108000"/>
              </a:lnSpc>
              <a:buNone/>
              <a:defRPr sz="1800" b="1">
                <a:solidFill>
                  <a:srgbClr val="C23B55"/>
                </a:solidFill>
                <a:latin typeface="Source Han Sans CN"/>
                <a:ea typeface="Source Han Sans CN"/>
                <a:cs typeface="Source Han Sans CN"/>
              </a:defRPr>
            </a:pPr>
            <a:r>
              <a:rPr sz="1800" b="1">
                <a:solidFill>
                  <a:srgbClr val="C23B55"/>
                </a:solidFill>
                <a:latin typeface="Source Han Sans CN"/>
                <a:ea typeface="Source Han Sans CN"/>
                <a:cs typeface="Source Han Sans CN"/>
              </a:rPr>
              <a:t>不包含</a:t>
            </a:r>
            <a:endParaRPr sz="1800" b="1">
              <a:solidFill>
                <a:srgbClr val="C23B55"/>
              </a:solidFill>
              <a:latin typeface="Source Han Sans CN"/>
              <a:ea typeface="Source Han Sans CN"/>
              <a:cs typeface="Source Han Sans CN"/>
            </a:endParaRPr>
          </a:p>
        </p:txBody>
      </p:sp>
      <p:sp>
        <p:nvSpPr>
          <p:cNvPr id="15" name="Rectangle 14"/>
          <p:cNvSpPr>
            <a:spLocks noGrp="1"/>
          </p:cNvSpPr>
          <p:nvPr/>
        </p:nvSpPr>
        <p:spPr>
          <a:xfrm>
            <a:off x="2952750" y="3905250"/>
            <a:ext cx="7524750" cy="476250"/>
          </a:xfrm>
          <a:prstGeom prst="rect">
            <a:avLst/>
          </a:prstGeom>
          <a:noFill/>
          <a:ln w="0">
            <a:noFill/>
            <a:prstDash val="solid"/>
          </a:ln>
        </p:spPr>
        <p:txBody>
          <a:bodyPr wrap="square" lIns="38100" tIns="19050" rIns="38100" bIns="19050" anchor="ctr">
            <a:normAutofit/>
          </a:bodyPr>
          <a:lstStyle/>
          <a:p>
            <a:pPr algn="l">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Tensor 分配 · Python 调用 · Attention 其他算子 · 模型端到端延迟</a:t>
            </a:r>
            <a:endParaRPr sz="1650" b="0">
              <a:solidFill>
                <a:srgbClr val="666A70"/>
              </a:solidFill>
              <a:latin typeface="Source Han Sans CN"/>
              <a:ea typeface="Source Han Sans CN"/>
              <a:cs typeface="Source Han Sans C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三个版本的并行方式</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共同完成相同的 max、sum 与归一化</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15</a:t>
            </a:r>
            <a:endParaRPr sz="1200">
              <a:solidFill>
                <a:srgbClr val="8B8E93"/>
              </a:solidFill>
              <a:latin typeface="Arial" panose="020B0604020202090204"/>
              <a:ea typeface="Arial" panose="020B0604020202090204"/>
              <a:cs typeface="Arial" panose="020B0604020202090204"/>
            </a:endParaRPr>
          </a:p>
        </p:txBody>
      </p:sp>
      <p:graphicFrame>
        <p:nvGraphicFramePr>
          <p:cNvPr id="11" name="Table 9"/>
          <p:cNvGraphicFramePr/>
          <p:nvPr/>
        </p:nvGraphicFramePr>
        <p:xfrm>
          <a:off x="904875" y="1762125"/>
          <a:ext cx="10382250" cy="3143252"/>
        </p:xfrm>
        <a:graphic>
          <a:graphicData uri="http://schemas.openxmlformats.org/drawingml/2006/table">
            <a:tbl>
              <a:tblPr/>
              <a:tblGrid>
                <a:gridCol w="1153583"/>
                <a:gridCol w="2636762"/>
                <a:gridCol w="2966357"/>
                <a:gridCol w="3625548"/>
              </a:tblGrid>
              <a:tr h="785813">
                <a:tc>
                  <a:txBody>
                    <a:bodyPr/>
                    <a:lstStyle/>
                    <a:p>
                      <a:r>
                        <a:rPr sz="1350" b="1">
                          <a:solidFill>
                            <a:srgbClr val="FFFFFF"/>
                          </a:solidFill>
                          <a:latin typeface="Source Han Sans CN"/>
                          <a:ea typeface="Source Han Sans CN"/>
                          <a:cs typeface="Source Han Sans CN"/>
                        </a:rPr>
                        <a:t>版本</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一行由谁处理</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规约方式</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主要代价</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r>
              <a:tr h="785813">
                <a:tc>
                  <a:txBody>
                    <a:bodyPr/>
                    <a:lstStyle/>
                    <a:p>
                      <a:r>
                        <a:rPr sz="1350">
                          <a:solidFill>
                            <a:srgbClr val="202124"/>
                          </a:solidFill>
                          <a:latin typeface="Source Han Sans CN"/>
                          <a:ea typeface="Source Han Sans CN"/>
                          <a:cs typeface="Source Han Sans CN"/>
                        </a:rPr>
                        <a:t>v1</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1 个 thread</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串行扫描</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行宽越大，串行循环越长</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r h="785813">
                <a:tc>
                  <a:txBody>
                    <a:bodyPr/>
                    <a:lstStyle/>
                    <a:p>
                      <a:r>
                        <a:rPr sz="1350">
                          <a:solidFill>
                            <a:srgbClr val="202124"/>
                          </a:solidFill>
                          <a:latin typeface="Source Han Sans CN"/>
                          <a:ea typeface="Source Han Sans CN"/>
                          <a:cs typeface="Source Han Sans CN"/>
                        </a:rPr>
                        <a:t>v2</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1 个 256-thread block</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shared memory 树形规约</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共享内存与块级同步</a:t>
                      </a:r>
                      <a:endParaRPr sz="1350">
                        <a:solidFill>
                          <a:srgbClr val="202124"/>
                        </a:solidFill>
                        <a:latin typeface="Source Han Sans CN"/>
                        <a:ea typeface="Source Han Sans CN"/>
                        <a:cs typeface="Source Han Sans CN"/>
                      </a:endParaRPr>
                    </a:p>
                  </a:txBody>
                  <a:tcPr marL="57150" marR="57150" marT="47625" marB="47625" anchor="ctr"/>
                </a:tc>
              </a:tr>
              <a:tr h="785813">
                <a:tc>
                  <a:txBody>
                    <a:bodyPr/>
                    <a:lstStyle/>
                    <a:p>
                      <a:r>
                        <a:rPr sz="1350">
                          <a:solidFill>
                            <a:srgbClr val="202124"/>
                          </a:solidFill>
                          <a:latin typeface="Source Han Sans CN"/>
                          <a:ea typeface="Source Han Sans CN"/>
                          <a:cs typeface="Source Han Sans CN"/>
                        </a:rPr>
                        <a:t>v3</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1 个 64-lane wave</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shuffle 规约</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超宽行时每 lane 循环增多</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bl>
          </a:graphicData>
        </a:graphic>
      </p:graphicFrame>
      <p:sp>
        <p:nvSpPr>
          <p:cNvPr id="6" name="Rectangle: Rounded Corners 5"/>
          <p:cNvSpPr>
            <a:spLocks noGrp="1"/>
          </p:cNvSpPr>
          <p:nvPr/>
        </p:nvSpPr>
        <p:spPr>
          <a:xfrm>
            <a:off x="2667000" y="5238750"/>
            <a:ext cx="6858000" cy="552450"/>
          </a:xfrm>
          <a:prstGeom prst="roundRect">
            <a:avLst>
              <a:gd name="adj" fmla="val 20690"/>
            </a:avLst>
          </a:prstGeom>
          <a:solidFill>
            <a:srgbClr val="F0F8EB"/>
          </a:solidFill>
          <a:ln w="9525">
            <a:solidFill>
              <a:srgbClr val="1E8E94"/>
            </a:solidFill>
            <a:prstDash val="solid"/>
          </a:ln>
        </p:spPr>
        <p:txBody>
          <a:bodyPr lIns="76200" tIns="38100" rIns="76200" bIns="38100" anchor="ctr">
            <a:normAutofit/>
          </a:bodyPr>
          <a:lstStyle/>
          <a:p>
            <a:pPr algn="ctr">
              <a:buNone/>
              <a:defRPr sz="1800" b="1">
                <a:solidFill>
                  <a:srgbClr val="1E8E94"/>
                </a:solidFill>
                <a:latin typeface="Source Han Sans CN"/>
                <a:ea typeface="Source Han Sans CN"/>
                <a:cs typeface="Source Han Sans CN"/>
              </a:defRPr>
            </a:pPr>
            <a:r>
              <a:rPr b="1">
                <a:solidFill>
                  <a:srgbClr val="1E8E94"/>
                </a:solidFill>
                <a:latin typeface="Source Han Sans CN"/>
                <a:ea typeface="Source Han Sans CN"/>
                <a:cs typeface="Source Han Sans CN"/>
              </a:rPr>
              <a:t>不同实现有自己的优势区间</a:t>
            </a:r>
            <a:r>
              <a:rPr sz="1800" b="1">
                <a:solidFill>
                  <a:srgbClr val="1E8E94"/>
                </a:solidFill>
                <a:latin typeface="Source Han Sans CN"/>
                <a:ea typeface="Source Han Sans CN"/>
                <a:cs typeface="Source Han Sans CN"/>
              </a:rPr>
              <a:t>；最优实现取决于输入 shape</a:t>
            </a:r>
            <a:endParaRPr sz="1800" b="1">
              <a:solidFill>
                <a:srgbClr val="1E8E94"/>
              </a:solidFill>
              <a:latin typeface="Source Han Sans CN"/>
              <a:ea typeface="Source Han Sans CN"/>
              <a:cs typeface="Source Han Sans C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v1：基线方法，一线程一行</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正确、简单，但行内完全串行</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16</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904875" y="1666875"/>
            <a:ext cx="6667500" cy="3476625"/>
          </a:xfrm>
          <a:prstGeom prst="roundRect">
            <a:avLst>
              <a:gd name="adj" fmla="val 3288"/>
            </a:avLst>
          </a:prstGeom>
          <a:solidFill>
            <a:srgbClr val="16202A"/>
          </a:solidFill>
          <a:ln w="9525">
            <a:solidFill>
              <a:srgbClr val="334155"/>
            </a:solidFill>
            <a:prstDash val="solid"/>
          </a:ln>
        </p:spPr>
        <p:txBody>
          <a:bodyPr lIns="152400" tIns="152400" rIns="152400" bIns="114300" anchor="t">
            <a:normAutofit/>
          </a:bodyPr>
          <a:lstStyle/>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const int row = blockIdx.x * blockDim.x + threadIdx.x;</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float row_max = -FLT_MAX;</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b="1">
                <a:solidFill>
                  <a:srgbClr val="A4D487"/>
                </a:solidFill>
                <a:latin typeface="Consolas"/>
                <a:ea typeface="Consolas"/>
                <a:cs typeface="Consolas"/>
              </a:rPr>
              <a:t>for (int col = 0; col &lt; cols; ++col)</a:t>
            </a:r>
            <a:endParaRPr sz="1275" b="1">
              <a:solidFill>
                <a:srgbClr val="A4D487"/>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row_max = fmaxf(row_max, row_x[col]);</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float row_sum = 0.0f;</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for (int col = 0; col &lt; cols; ++col)</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row_sum += expf(row_x[col] - row_max);</a:t>
            </a:r>
            <a:endParaRPr sz="1275">
              <a:solidFill>
                <a:srgbClr val="F8FAFC"/>
              </a:solidFill>
              <a:latin typeface="Consolas"/>
              <a:ea typeface="Consolas"/>
              <a:cs typeface="Consolas"/>
            </a:endParaRPr>
          </a:p>
        </p:txBody>
      </p:sp>
      <p:sp>
        <p:nvSpPr>
          <p:cNvPr id="6" name="Rectangle: Rounded Corners 5"/>
          <p:cNvSpPr>
            <a:spLocks noGrp="1"/>
          </p:cNvSpPr>
          <p:nvPr/>
        </p:nvSpPr>
        <p:spPr>
          <a:xfrm>
            <a:off x="8286750" y="2000250"/>
            <a:ext cx="2095500" cy="619125"/>
          </a:xfrm>
          <a:prstGeom prst="roundRect">
            <a:avLst>
              <a:gd name="adj" fmla="val 18462"/>
            </a:avLst>
          </a:prstGeom>
          <a:solidFill>
            <a:srgbClr val="F5EFF7"/>
          </a:solidFill>
          <a:ln w="9525">
            <a:solidFill>
              <a:srgbClr val="660874"/>
            </a:solidFill>
            <a:prstDash val="solid"/>
          </a:ln>
        </p:spPr>
        <p:txBody>
          <a:bodyPr lIns="76200" tIns="38100" rIns="76200" bIns="38100" anchor="ctr">
            <a:normAutofit/>
          </a:bodyPr>
          <a:lstStyle/>
          <a:p>
            <a:pPr algn="ctr">
              <a:buNone/>
              <a:defRPr sz="1875" b="1">
                <a:solidFill>
                  <a:srgbClr val="660874"/>
                </a:solidFill>
                <a:latin typeface="Source Han Sans CN"/>
                <a:ea typeface="Source Han Sans CN"/>
                <a:cs typeface="Source Han Sans CN"/>
              </a:defRPr>
            </a:pPr>
            <a:r>
              <a:rPr sz="1875" b="1">
                <a:solidFill>
                  <a:srgbClr val="660874"/>
                </a:solidFill>
                <a:latin typeface="Source Han Sans CN"/>
                <a:ea typeface="Source Han Sans CN"/>
                <a:cs typeface="Source Han Sans CN"/>
              </a:rPr>
              <a:t>1 thread</a:t>
            </a:r>
            <a:endParaRPr sz="1875" b="1">
              <a:solidFill>
                <a:srgbClr val="660874"/>
              </a:solidFill>
              <a:latin typeface="Source Han Sans CN"/>
              <a:ea typeface="Source Han Sans CN"/>
              <a:cs typeface="Source Han Sans CN"/>
            </a:endParaRPr>
          </a:p>
        </p:txBody>
      </p:sp>
      <p:sp>
        <p:nvSpPr>
          <p:cNvPr id="7" name="Rectangle 6"/>
          <p:cNvSpPr>
            <a:spLocks noGrp="1"/>
          </p:cNvSpPr>
          <p:nvPr/>
        </p:nvSpPr>
        <p:spPr>
          <a:xfrm>
            <a:off x="8286750" y="2781300"/>
            <a:ext cx="2095500" cy="619125"/>
          </a:xfrm>
          <a:prstGeom prst="rect">
            <a:avLst/>
          </a:prstGeom>
          <a:noFill/>
          <a:ln w="0">
            <a:noFill/>
            <a:prstDash val="solid"/>
          </a:ln>
        </p:spPr>
        <p:txBody>
          <a:bodyPr wrap="square" lIns="38100" tIns="19050" rIns="38100" bIns="19050" anchor="ctr">
            <a:normAutofit/>
          </a:bodyPr>
          <a:lstStyle/>
          <a:p>
            <a:pPr algn="ctr">
              <a:lnSpc>
                <a:spcPct val="108000"/>
              </a:lnSpc>
              <a:buNone/>
              <a:defRPr sz="2250" b="1">
                <a:solidFill>
                  <a:srgbClr val="202124"/>
                </a:solidFill>
                <a:latin typeface="Source Han Sans CN"/>
                <a:ea typeface="Source Han Sans CN"/>
                <a:cs typeface="Source Han Sans CN"/>
              </a:defRPr>
            </a:pPr>
            <a:r>
              <a:rPr sz="2250" b="1">
                <a:solidFill>
                  <a:srgbClr val="202124"/>
                </a:solidFill>
                <a:latin typeface="Source Han Sans CN"/>
                <a:ea typeface="Source Han Sans CN"/>
                <a:cs typeface="Source Han Sans CN"/>
              </a:rPr>
              <a:t>一整行</a:t>
            </a:r>
            <a:endParaRPr sz="2250" b="1">
              <a:solidFill>
                <a:srgbClr val="202124"/>
              </a:solidFill>
              <a:latin typeface="Source Han Sans CN"/>
              <a:ea typeface="Source Han Sans CN"/>
              <a:cs typeface="Source Han Sans CN"/>
            </a:endParaRPr>
          </a:p>
        </p:txBody>
      </p:sp>
      <p:sp>
        <p:nvSpPr>
          <p:cNvPr id="8" name="Rectangle 7"/>
          <p:cNvSpPr>
            <a:spLocks noGrp="1"/>
          </p:cNvSpPr>
          <p:nvPr/>
        </p:nvSpPr>
        <p:spPr>
          <a:xfrm>
            <a:off x="7953375" y="3714750"/>
            <a:ext cx="2762250" cy="952500"/>
          </a:xfrm>
          <a:prstGeom prst="rect">
            <a:avLst/>
          </a:prstGeom>
          <a:noFill/>
          <a:ln w="0">
            <a:noFill/>
            <a:prstDash val="solid"/>
          </a:ln>
        </p:spPr>
        <p:txBody>
          <a:bodyPr wrap="square" lIns="38100" tIns="19050" rIns="38100" bIns="19050" anchor="ctr">
            <a:normAutofit/>
          </a:bodyPr>
          <a:lstStyle/>
          <a:p>
            <a:pPr algn="ctr">
              <a:lnSpc>
                <a:spcPct val="108000"/>
              </a:lnSpc>
              <a:buNone/>
              <a:defRPr sz="1725" b="0">
                <a:solidFill>
                  <a:srgbClr val="C23B55"/>
                </a:solidFill>
                <a:latin typeface="Source Han Sans CN"/>
                <a:ea typeface="Source Han Sans CN"/>
                <a:cs typeface="Source Han Sans CN"/>
              </a:defRPr>
            </a:pPr>
            <a:r>
              <a:rPr sz="1725" b="0">
                <a:solidFill>
                  <a:srgbClr val="C23B55"/>
                </a:solidFill>
                <a:latin typeface="Source Han Sans CN"/>
                <a:ea typeface="Source Han Sans CN"/>
                <a:cs typeface="Source Han Sans CN"/>
              </a:rPr>
              <a:t>cols 增大</a:t>
            </a:r>
            <a:endParaRPr sz="1725" b="0">
              <a:solidFill>
                <a:srgbClr val="C23B55"/>
              </a:solidFill>
              <a:latin typeface="Source Han Sans CN"/>
              <a:ea typeface="Source Han Sans CN"/>
              <a:cs typeface="Source Han Sans CN"/>
            </a:endParaRPr>
          </a:p>
          <a:p>
            <a:pPr algn="ctr">
              <a:lnSpc>
                <a:spcPct val="108000"/>
              </a:lnSpc>
              <a:buNone/>
              <a:defRPr sz="1725" b="0">
                <a:solidFill>
                  <a:srgbClr val="C23B55"/>
                </a:solidFill>
                <a:latin typeface="Source Han Sans CN"/>
                <a:ea typeface="Source Han Sans CN"/>
                <a:cs typeface="Source Han Sans CN"/>
              </a:defRPr>
            </a:pPr>
            <a:r>
              <a:rPr sz="1725" b="0">
                <a:solidFill>
                  <a:srgbClr val="C23B55"/>
                </a:solidFill>
                <a:latin typeface="Source Han Sans CN"/>
                <a:ea typeface="Source Han Sans CN"/>
                <a:cs typeface="Source Han Sans CN"/>
              </a:rPr>
              <a:t>循环次数线性增长</a:t>
            </a:r>
            <a:endParaRPr sz="1725" b="0">
              <a:solidFill>
                <a:srgbClr val="C23B55"/>
              </a:solidFill>
              <a:latin typeface="Source Han Sans CN"/>
              <a:ea typeface="Source Han Sans CN"/>
              <a:cs typeface="Source Han Sans C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v2：一个 block 协作处理一行</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256 个线程分摊列方向工作，再在 shared memory 中汇总</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17</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047750" y="1809750"/>
            <a:ext cx="2857500" cy="523875"/>
          </a:xfrm>
          <a:prstGeom prst="rect">
            <a:avLst/>
          </a:prstGeom>
          <a:noFill/>
          <a:ln w="0">
            <a:noFill/>
            <a:prstDash val="solid"/>
          </a:ln>
        </p:spPr>
        <p:txBody>
          <a:bodyPr wrap="square" lIns="38100" tIns="19050" rIns="38100" bIns="19050" anchor="ctr">
            <a:normAutofit/>
          </a:bodyPr>
          <a:lstStyle/>
          <a:p>
            <a:pPr algn="l">
              <a:lnSpc>
                <a:spcPct val="108000"/>
              </a:lnSpc>
              <a:buNone/>
              <a:defRPr sz="1950" b="1">
                <a:solidFill>
                  <a:srgbClr val="660874"/>
                </a:solidFill>
                <a:latin typeface="Consolas"/>
                <a:ea typeface="Consolas"/>
                <a:cs typeface="Consolas"/>
              </a:defRPr>
            </a:pPr>
            <a:r>
              <a:rPr sz="1950" b="1">
                <a:solidFill>
                  <a:srgbClr val="660874"/>
                </a:solidFill>
                <a:latin typeface="Consolas"/>
                <a:ea typeface="Consolas"/>
                <a:cs typeface="Consolas"/>
              </a:rPr>
              <a:t>row = blockIdx.x</a:t>
            </a:r>
            <a:endParaRPr sz="1950" b="1">
              <a:solidFill>
                <a:srgbClr val="660874"/>
              </a:solidFill>
              <a:latin typeface="Consolas"/>
              <a:ea typeface="Consolas"/>
              <a:cs typeface="Consolas"/>
            </a:endParaRPr>
          </a:p>
        </p:txBody>
      </p:sp>
      <p:sp>
        <p:nvSpPr>
          <p:cNvPr id="6" name="Rectangle 5"/>
          <p:cNvSpPr>
            <a:spLocks noGrp="1"/>
          </p:cNvSpPr>
          <p:nvPr/>
        </p:nvSpPr>
        <p:spPr>
          <a:xfrm>
            <a:off x="1143000" y="2714625"/>
            <a:ext cx="1047750" cy="428625"/>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1500" b="1">
                <a:solidFill>
                  <a:srgbClr val="FFFFFF"/>
                </a:solidFill>
                <a:latin typeface="Source Han Sans CN"/>
                <a:ea typeface="Source Han Sans CN"/>
                <a:cs typeface="Source Han Sans CN"/>
              </a:defRPr>
            </a:pPr>
            <a:r>
              <a:rPr sz="1500" b="1">
                <a:solidFill>
                  <a:srgbClr val="FFFFFF"/>
                </a:solidFill>
                <a:latin typeface="Source Han Sans CN"/>
                <a:ea typeface="Source Han Sans CN"/>
                <a:cs typeface="Source Han Sans CN"/>
              </a:rPr>
              <a:t>tid 0</a:t>
            </a:r>
            <a:endParaRPr sz="1500" b="1">
              <a:solidFill>
                <a:srgbClr val="FFFFFF"/>
              </a:solidFill>
              <a:latin typeface="Source Han Sans CN"/>
              <a:ea typeface="Source Han Sans CN"/>
              <a:cs typeface="Source Han Sans CN"/>
            </a:endParaRPr>
          </a:p>
        </p:txBody>
      </p:sp>
      <p:sp>
        <p:nvSpPr>
          <p:cNvPr id="7" name="Rectangle 6"/>
          <p:cNvSpPr>
            <a:spLocks noGrp="1"/>
          </p:cNvSpPr>
          <p:nvPr/>
        </p:nvSpPr>
        <p:spPr>
          <a:xfrm>
            <a:off x="2190750" y="2714625"/>
            <a:ext cx="4000500" cy="428625"/>
          </a:xfrm>
          <a:prstGeom prst="rect">
            <a:avLst/>
          </a:prstGeom>
          <a:solidFill>
            <a:srgbClr val="F5F5F6"/>
          </a:solidFill>
          <a:ln w="0">
            <a:noFill/>
            <a:prstDash val="solid"/>
          </a:ln>
        </p:spPr>
        <p:txBody>
          <a:bodyPr wrap="square" lIns="38100" tIns="19050" rIns="38100" bIns="19050" anchor="ctr">
            <a:normAutofit/>
          </a:bodyPr>
          <a:lstStyle/>
          <a:p>
            <a:pPr algn="l">
              <a:lnSpc>
                <a:spcPct val="108000"/>
              </a:lnSpc>
              <a:buNone/>
              <a:defRPr sz="1650" b="0">
                <a:solidFill>
                  <a:srgbClr val="202124"/>
                </a:solidFill>
                <a:latin typeface="Consolas"/>
                <a:ea typeface="Consolas"/>
                <a:cs typeface="Consolas"/>
              </a:defRPr>
            </a:pPr>
            <a:r>
              <a:rPr sz="1650" b="0">
                <a:solidFill>
                  <a:srgbClr val="202124"/>
                </a:solidFill>
                <a:latin typeface="Consolas"/>
                <a:ea typeface="Consolas"/>
                <a:cs typeface="Consolas"/>
              </a:rPr>
              <a:t>x₀  x₂₅₆  x₅₁₂  …</a:t>
            </a:r>
            <a:endParaRPr sz="1650" b="0">
              <a:solidFill>
                <a:srgbClr val="202124"/>
              </a:solidFill>
              <a:latin typeface="Consolas"/>
              <a:ea typeface="Consolas"/>
              <a:cs typeface="Consolas"/>
            </a:endParaRPr>
          </a:p>
        </p:txBody>
      </p:sp>
      <p:sp>
        <p:nvSpPr>
          <p:cNvPr id="8" name="Rectangle 7"/>
          <p:cNvSpPr>
            <a:spLocks noGrp="1"/>
          </p:cNvSpPr>
          <p:nvPr/>
        </p:nvSpPr>
        <p:spPr>
          <a:xfrm>
            <a:off x="1143000" y="3286125"/>
            <a:ext cx="1047750" cy="428625"/>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1500" b="1">
                <a:solidFill>
                  <a:srgbClr val="FFFFFF"/>
                </a:solidFill>
                <a:latin typeface="Source Han Sans CN"/>
                <a:ea typeface="Source Han Sans CN"/>
                <a:cs typeface="Source Han Sans CN"/>
              </a:defRPr>
            </a:pPr>
            <a:r>
              <a:rPr sz="1500" b="1">
                <a:solidFill>
                  <a:srgbClr val="FFFFFF"/>
                </a:solidFill>
                <a:latin typeface="Source Han Sans CN"/>
                <a:ea typeface="Source Han Sans CN"/>
                <a:cs typeface="Source Han Sans CN"/>
              </a:rPr>
              <a:t>tid 1</a:t>
            </a:r>
            <a:endParaRPr sz="1500" b="1">
              <a:solidFill>
                <a:srgbClr val="FFFFFF"/>
              </a:solidFill>
              <a:latin typeface="Source Han Sans CN"/>
              <a:ea typeface="Source Han Sans CN"/>
              <a:cs typeface="Source Han Sans CN"/>
            </a:endParaRPr>
          </a:p>
        </p:txBody>
      </p:sp>
      <p:sp>
        <p:nvSpPr>
          <p:cNvPr id="9" name="Rectangle 8"/>
          <p:cNvSpPr>
            <a:spLocks noGrp="1"/>
          </p:cNvSpPr>
          <p:nvPr/>
        </p:nvSpPr>
        <p:spPr>
          <a:xfrm>
            <a:off x="2190750" y="3286125"/>
            <a:ext cx="4000500" cy="428625"/>
          </a:xfrm>
          <a:prstGeom prst="rect">
            <a:avLst/>
          </a:prstGeom>
          <a:solidFill>
            <a:srgbClr val="F5F5F6"/>
          </a:solidFill>
          <a:ln w="0">
            <a:noFill/>
            <a:prstDash val="solid"/>
          </a:ln>
        </p:spPr>
        <p:txBody>
          <a:bodyPr wrap="square" lIns="38100" tIns="19050" rIns="38100" bIns="19050" anchor="ctr">
            <a:normAutofit/>
          </a:bodyPr>
          <a:lstStyle/>
          <a:p>
            <a:pPr algn="l">
              <a:lnSpc>
                <a:spcPct val="108000"/>
              </a:lnSpc>
              <a:buNone/>
              <a:defRPr sz="1650" b="0">
                <a:solidFill>
                  <a:srgbClr val="202124"/>
                </a:solidFill>
                <a:latin typeface="Consolas"/>
                <a:ea typeface="Consolas"/>
                <a:cs typeface="Consolas"/>
              </a:defRPr>
            </a:pPr>
            <a:r>
              <a:rPr sz="1650" b="0">
                <a:solidFill>
                  <a:srgbClr val="202124"/>
                </a:solidFill>
                <a:latin typeface="Consolas"/>
                <a:ea typeface="Consolas"/>
                <a:cs typeface="Consolas"/>
              </a:rPr>
              <a:t>x₁  x₂₅₇  x₅₁₃  …</a:t>
            </a:r>
            <a:endParaRPr sz="1650" b="0">
              <a:solidFill>
                <a:srgbClr val="202124"/>
              </a:solidFill>
              <a:latin typeface="Consolas"/>
              <a:ea typeface="Consolas"/>
              <a:cs typeface="Consolas"/>
            </a:endParaRPr>
          </a:p>
        </p:txBody>
      </p:sp>
      <p:sp>
        <p:nvSpPr>
          <p:cNvPr id="10" name="Rectangle 9"/>
          <p:cNvSpPr>
            <a:spLocks noGrp="1"/>
          </p:cNvSpPr>
          <p:nvPr/>
        </p:nvSpPr>
        <p:spPr>
          <a:xfrm>
            <a:off x="1143000" y="3857625"/>
            <a:ext cx="5048250" cy="428625"/>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666A70"/>
                </a:solidFill>
                <a:latin typeface="Source Han Sans CN"/>
                <a:ea typeface="Source Han Sans CN"/>
                <a:cs typeface="Source Han Sans CN"/>
              </a:defRPr>
            </a:pPr>
            <a:r>
              <a:rPr sz="2250" b="0">
                <a:solidFill>
                  <a:srgbClr val="666A70"/>
                </a:solidFill>
                <a:latin typeface="Source Han Sans CN"/>
                <a:ea typeface="Source Han Sans CN"/>
                <a:cs typeface="Source Han Sans CN"/>
              </a:rPr>
              <a:t>⋮</a:t>
            </a:r>
            <a:endParaRPr sz="2250" b="0">
              <a:solidFill>
                <a:srgbClr val="666A70"/>
              </a:solidFill>
              <a:latin typeface="Source Han Sans CN"/>
              <a:ea typeface="Source Han Sans CN"/>
              <a:cs typeface="Source Han Sans CN"/>
            </a:endParaRPr>
          </a:p>
        </p:txBody>
      </p:sp>
      <p:sp>
        <p:nvSpPr>
          <p:cNvPr id="11" name="Rectangle: Rounded Corners 10"/>
          <p:cNvSpPr>
            <a:spLocks noGrp="1"/>
          </p:cNvSpPr>
          <p:nvPr/>
        </p:nvSpPr>
        <p:spPr>
          <a:xfrm>
            <a:off x="6858000" y="2619375"/>
            <a:ext cx="3905250" cy="1238250"/>
          </a:xfrm>
          <a:prstGeom prst="roundRect">
            <a:avLst>
              <a:gd name="adj" fmla="val 9231"/>
            </a:avLst>
          </a:prstGeom>
          <a:solidFill>
            <a:srgbClr val="F5EFF7"/>
          </a:solidFill>
          <a:ln w="9525">
            <a:solidFill>
              <a:srgbClr val="660874"/>
            </a:solidFill>
            <a:prstDash val="solid"/>
          </a:ln>
        </p:spPr>
        <p:txBody>
          <a:bodyPr lIns="76200" tIns="38100" rIns="76200" bIns="38100" anchor="ctr">
            <a:normAutofit/>
          </a:bodyPr>
          <a:lstStyle/>
          <a:p>
            <a:pPr algn="ctr">
              <a:buNone/>
              <a:defRPr sz="1950" b="1">
                <a:solidFill>
                  <a:srgbClr val="660874"/>
                </a:solidFill>
                <a:latin typeface="Source Han Sans CN"/>
                <a:ea typeface="Source Han Sans CN"/>
                <a:cs typeface="Source Han Sans CN"/>
              </a:defRPr>
            </a:pPr>
            <a:r>
              <a:rPr sz="1950" b="1">
                <a:solidFill>
                  <a:srgbClr val="660874"/>
                </a:solidFill>
                <a:latin typeface="Source Han Sans CN"/>
                <a:ea typeface="Source Han Sans CN"/>
                <a:cs typeface="Source Han Sans CN"/>
              </a:rPr>
              <a:t>local value → scratch[tid] → 树形规约</a:t>
            </a:r>
            <a:endParaRPr sz="1950" b="1">
              <a:solidFill>
                <a:srgbClr val="660874"/>
              </a:solidFill>
              <a:latin typeface="Source Han Sans CN"/>
              <a:ea typeface="Source Han Sans CN"/>
              <a:cs typeface="Source Han Sans CN"/>
            </a:endParaRPr>
          </a:p>
        </p:txBody>
      </p:sp>
      <p:sp>
        <p:nvSpPr>
          <p:cNvPr id="12" name="Rectangle 11"/>
          <p:cNvSpPr>
            <a:spLocks noGrp="1"/>
          </p:cNvSpPr>
          <p:nvPr/>
        </p:nvSpPr>
        <p:spPr>
          <a:xfrm>
            <a:off x="6858000" y="4286250"/>
            <a:ext cx="3905250" cy="857250"/>
          </a:xfrm>
          <a:prstGeom prst="rect">
            <a:avLst/>
          </a:prstGeom>
          <a:noFill/>
          <a:ln w="0">
            <a:noFill/>
            <a:prstDash val="solid"/>
          </a:ln>
        </p:spPr>
        <p:txBody>
          <a:bodyPr wrap="square" lIns="38100" tIns="19050" rIns="38100" bIns="19050" anchor="ctr">
            <a:normAutofit/>
          </a:bodyPr>
          <a:lstStyle/>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优势：超宽行拥有更高行内并行度</a:t>
            </a:r>
            <a:endParaRPr sz="1650" b="0">
              <a:solidFill>
                <a:srgbClr val="666A70"/>
              </a:solidFill>
              <a:latin typeface="Source Han Sans CN"/>
              <a:ea typeface="Source Han Sans CN"/>
              <a:cs typeface="Source Han Sans CN"/>
            </a:endParaRPr>
          </a:p>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代价：shared memory + __syncthreads()</a:t>
            </a:r>
            <a:endParaRPr sz="1650" b="0">
              <a:solidFill>
                <a:srgbClr val="666A70"/>
              </a:solidFill>
              <a:latin typeface="Source Han Sans CN"/>
              <a:ea typeface="Source Han Sans CN"/>
              <a:cs typeface="Source Han Sans C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v2 的性能成本集中在两次共享内存规约</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Max 和 Sum 结构相同，都需要多轮同步</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18</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857250" y="1619250"/>
            <a:ext cx="6858000" cy="3857625"/>
          </a:xfrm>
          <a:prstGeom prst="roundRect">
            <a:avLst>
              <a:gd name="adj" fmla="val 2963"/>
            </a:avLst>
          </a:prstGeom>
          <a:solidFill>
            <a:srgbClr val="16202A"/>
          </a:solidFill>
          <a:ln w="9525">
            <a:solidFill>
              <a:srgbClr val="334155"/>
            </a:solidFill>
            <a:prstDash val="solid"/>
          </a:ln>
        </p:spPr>
        <p:txBody>
          <a:bodyPr lIns="152400" tIns="152400" rIns="152400" bIns="114300" anchor="t">
            <a:normAutofit/>
          </a:bodyPr>
          <a:lstStyle/>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float local_max = -FLT_MAX;</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for (int col = tid; col &lt; cols; col += blockDim.x)</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local_max = fmaxf(local_max, row_x[col]);</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scratch[tid] = local_max;</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b="1">
                <a:solidFill>
                  <a:srgbClr val="A4D487"/>
                </a:solidFill>
                <a:latin typeface="Consolas"/>
                <a:ea typeface="Consolas"/>
                <a:cs typeface="Consolas"/>
              </a:rPr>
              <a:t>__syncthreads()</a:t>
            </a:r>
            <a:r>
              <a:rPr sz="1275">
                <a:solidFill>
                  <a:srgbClr val="F8FAFC"/>
                </a:solidFill>
                <a:latin typeface="Consolas"/>
                <a:ea typeface="Consolas"/>
                <a:cs typeface="Consolas"/>
              </a:rPr>
              <a:t>;</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for (int stride = blockDim.x / 2; stride &gt; 0; stride &gt;&gt;= 1) {</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if (tid &lt; stride)</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scratch[tid] = fmaxf(scratch[tid], scratch[tid + stride]);</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__syncthreads();</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
            </a:r>
            <a:endParaRPr sz="1275">
              <a:solidFill>
                <a:srgbClr val="F8FAFC"/>
              </a:solidFill>
              <a:latin typeface="Consolas"/>
              <a:ea typeface="Consolas"/>
              <a:cs typeface="Consolas"/>
            </a:endParaRPr>
          </a:p>
        </p:txBody>
      </p:sp>
      <p:sp>
        <p:nvSpPr>
          <p:cNvPr id="6" name="Rectangle 5"/>
          <p:cNvSpPr>
            <a:spLocks noGrp="1"/>
          </p:cNvSpPr>
          <p:nvPr/>
        </p:nvSpPr>
        <p:spPr>
          <a:xfrm>
            <a:off x="8048625" y="2095500"/>
            <a:ext cx="2952750" cy="666750"/>
          </a:xfrm>
          <a:prstGeom prst="rect">
            <a:avLst/>
          </a:prstGeom>
          <a:noFill/>
          <a:ln w="0">
            <a:noFill/>
            <a:prstDash val="solid"/>
          </a:ln>
        </p:spPr>
        <p:txBody>
          <a:bodyPr wrap="square" lIns="38100" tIns="19050" rIns="38100" bIns="19050" anchor="ctr">
            <a:normAutofit fontScale="95303" lnSpcReduction="10000"/>
          </a:bodyPr>
          <a:lstStyle/>
          <a:p>
            <a:pPr algn="ctr">
              <a:lnSpc>
                <a:spcPct val="108000"/>
              </a:lnSpc>
              <a:buNone/>
              <a:defRPr sz="2175" b="1">
                <a:solidFill>
                  <a:srgbClr val="660874"/>
                </a:solidFill>
                <a:latin typeface="Consolas"/>
                <a:ea typeface="Consolas"/>
                <a:cs typeface="Consolas"/>
              </a:defRPr>
            </a:pPr>
            <a:r>
              <a:rPr sz="2175" b="1">
                <a:solidFill>
                  <a:srgbClr val="660874"/>
                </a:solidFill>
                <a:latin typeface="Consolas"/>
                <a:ea typeface="Consolas"/>
                <a:cs typeface="Consolas"/>
              </a:rPr>
              <a:t>256 → 128 → 64 → … → 1</a:t>
            </a:r>
            <a:endParaRPr sz="2175" b="1">
              <a:solidFill>
                <a:srgbClr val="660874"/>
              </a:solidFill>
              <a:latin typeface="Consolas"/>
              <a:ea typeface="Consolas"/>
              <a:cs typeface="Consolas"/>
            </a:endParaRPr>
          </a:p>
        </p:txBody>
      </p:sp>
      <p:sp>
        <p:nvSpPr>
          <p:cNvPr id="7" name="Rectangle: Rounded Corners 6"/>
          <p:cNvSpPr>
            <a:spLocks noGrp="1"/>
          </p:cNvSpPr>
          <p:nvPr/>
        </p:nvSpPr>
        <p:spPr>
          <a:xfrm>
            <a:off x="8334375" y="3143250"/>
            <a:ext cx="2381250" cy="619125"/>
          </a:xfrm>
          <a:prstGeom prst="roundRect">
            <a:avLst>
              <a:gd name="adj" fmla="val 18462"/>
            </a:avLst>
          </a:prstGeom>
          <a:solidFill>
            <a:srgbClr val="F5EFF7"/>
          </a:solidFill>
          <a:ln w="9525">
            <a:solidFill>
              <a:srgbClr val="660874"/>
            </a:solidFill>
            <a:prstDash val="solid"/>
          </a:ln>
        </p:spPr>
        <p:txBody>
          <a:bodyPr lIns="76200" tIns="38100" rIns="76200" bIns="38100" anchor="ctr">
            <a:normAutofit/>
          </a:bodyPr>
          <a:lstStyle/>
          <a:p>
            <a:pPr algn="ctr">
              <a:buNone/>
              <a:defRPr sz="1725" b="1">
                <a:solidFill>
                  <a:srgbClr val="660874"/>
                </a:solidFill>
                <a:latin typeface="Source Han Sans CN"/>
                <a:ea typeface="Source Han Sans CN"/>
                <a:cs typeface="Source Han Sans CN"/>
              </a:defRPr>
            </a:pPr>
            <a:r>
              <a:rPr sz="1725" b="1">
                <a:solidFill>
                  <a:srgbClr val="660874"/>
                </a:solidFill>
                <a:latin typeface="Source Han Sans CN"/>
                <a:ea typeface="Source Han Sans CN"/>
                <a:cs typeface="Source Han Sans CN"/>
              </a:rPr>
              <a:t>Max 规约一次</a:t>
            </a:r>
            <a:endParaRPr sz="1725" b="1">
              <a:solidFill>
                <a:srgbClr val="660874"/>
              </a:solidFill>
              <a:latin typeface="Source Han Sans CN"/>
              <a:ea typeface="Source Han Sans CN"/>
              <a:cs typeface="Source Han Sans CN"/>
            </a:endParaRPr>
          </a:p>
        </p:txBody>
      </p:sp>
      <p:sp>
        <p:nvSpPr>
          <p:cNvPr id="8" name="Rectangle: Rounded Corners 7"/>
          <p:cNvSpPr>
            <a:spLocks noGrp="1"/>
          </p:cNvSpPr>
          <p:nvPr/>
        </p:nvSpPr>
        <p:spPr>
          <a:xfrm>
            <a:off x="8334375" y="4048125"/>
            <a:ext cx="2381250" cy="619125"/>
          </a:xfrm>
          <a:prstGeom prst="roundRect">
            <a:avLst>
              <a:gd name="adj" fmla="val 18462"/>
            </a:avLst>
          </a:prstGeom>
          <a:solidFill>
            <a:srgbClr val="FFF4E8"/>
          </a:solidFill>
          <a:ln w="9525">
            <a:solidFill>
              <a:srgbClr val="E67E22"/>
            </a:solidFill>
            <a:prstDash val="solid"/>
          </a:ln>
        </p:spPr>
        <p:txBody>
          <a:bodyPr lIns="76200" tIns="38100" rIns="76200" bIns="38100" anchor="ctr">
            <a:normAutofit/>
          </a:bodyPr>
          <a:lstStyle/>
          <a:p>
            <a:pPr algn="ctr">
              <a:buNone/>
              <a:defRPr sz="1725" b="1">
                <a:solidFill>
                  <a:srgbClr val="E67E22"/>
                </a:solidFill>
                <a:latin typeface="Source Han Sans CN"/>
                <a:ea typeface="Source Han Sans CN"/>
                <a:cs typeface="Source Han Sans CN"/>
              </a:defRPr>
            </a:pPr>
            <a:r>
              <a:rPr sz="1725" b="1">
                <a:solidFill>
                  <a:srgbClr val="E67E22"/>
                </a:solidFill>
                <a:latin typeface="Source Han Sans CN"/>
                <a:ea typeface="Source Han Sans CN"/>
                <a:cs typeface="Source Han Sans CN"/>
              </a:rPr>
              <a:t>Sum 规约第二次</a:t>
            </a:r>
            <a:endParaRPr sz="1725" b="1">
              <a:solidFill>
                <a:srgbClr val="E67E22"/>
              </a:solidFill>
              <a:latin typeface="Source Han Sans CN"/>
              <a:ea typeface="Source Han Sans CN"/>
              <a:cs typeface="Source Han Sans C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v3：一个 64-lane wave 处理一行</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局部值留在寄存器中，通过 shuffle 完成规约</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19</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047750" y="2095500"/>
            <a:ext cx="1143000" cy="428625"/>
          </a:xfrm>
          <a:prstGeom prst="rect">
            <a:avLst/>
          </a:prstGeom>
          <a:solidFill>
            <a:srgbClr val="2878B5"/>
          </a:solidFill>
          <a:ln w="0">
            <a:noFill/>
            <a:prstDash val="solid"/>
          </a:ln>
        </p:spPr>
        <p:txBody>
          <a:bodyPr wrap="square" lIns="38100" tIns="19050" rIns="38100" bIns="19050" anchor="ctr">
            <a:normAutofit/>
          </a:bodyPr>
          <a:lstStyle/>
          <a:p>
            <a:pPr algn="ctr">
              <a:lnSpc>
                <a:spcPct val="108000"/>
              </a:lnSpc>
              <a:buNone/>
              <a:defRPr sz="1500" b="1">
                <a:solidFill>
                  <a:srgbClr val="FFFFFF"/>
                </a:solidFill>
                <a:latin typeface="Source Han Sans CN"/>
                <a:ea typeface="Source Han Sans CN"/>
                <a:cs typeface="Source Han Sans CN"/>
              </a:defRPr>
            </a:pPr>
            <a:r>
              <a:rPr sz="1500" b="1">
                <a:solidFill>
                  <a:srgbClr val="FFFFFF"/>
                </a:solidFill>
                <a:latin typeface="Source Han Sans CN"/>
                <a:ea typeface="Source Han Sans CN"/>
                <a:cs typeface="Source Han Sans CN"/>
              </a:rPr>
              <a:t>lane 0</a:t>
            </a:r>
            <a:endParaRPr sz="1500" b="1">
              <a:solidFill>
                <a:srgbClr val="FFFFFF"/>
              </a:solidFill>
              <a:latin typeface="Source Han Sans CN"/>
              <a:ea typeface="Source Han Sans CN"/>
              <a:cs typeface="Source Han Sans CN"/>
            </a:endParaRPr>
          </a:p>
        </p:txBody>
      </p:sp>
      <p:sp>
        <p:nvSpPr>
          <p:cNvPr id="6" name="Rectangle 5"/>
          <p:cNvSpPr>
            <a:spLocks noGrp="1"/>
          </p:cNvSpPr>
          <p:nvPr/>
        </p:nvSpPr>
        <p:spPr>
          <a:xfrm>
            <a:off x="2190750" y="2095500"/>
            <a:ext cx="4000500" cy="428625"/>
          </a:xfrm>
          <a:prstGeom prst="rect">
            <a:avLst/>
          </a:prstGeom>
          <a:solidFill>
            <a:srgbClr val="F5F5F6"/>
          </a:solidFill>
          <a:ln w="0">
            <a:noFill/>
            <a:prstDash val="solid"/>
          </a:ln>
        </p:spPr>
        <p:txBody>
          <a:bodyPr wrap="square" lIns="38100" tIns="19050" rIns="38100" bIns="19050" anchor="ctr">
            <a:normAutofit/>
          </a:bodyPr>
          <a:lstStyle/>
          <a:p>
            <a:pPr algn="l">
              <a:lnSpc>
                <a:spcPct val="108000"/>
              </a:lnSpc>
              <a:buNone/>
              <a:defRPr sz="1650" b="0">
                <a:solidFill>
                  <a:srgbClr val="202124"/>
                </a:solidFill>
                <a:latin typeface="Consolas"/>
                <a:ea typeface="Consolas"/>
                <a:cs typeface="Consolas"/>
              </a:defRPr>
            </a:pPr>
            <a:r>
              <a:rPr sz="1650" b="0">
                <a:solidFill>
                  <a:srgbClr val="202124"/>
                </a:solidFill>
                <a:latin typeface="Consolas"/>
                <a:ea typeface="Consolas"/>
                <a:cs typeface="Consolas"/>
              </a:rPr>
              <a:t>x₀  x₆₄  x₁₂₈  …</a:t>
            </a:r>
            <a:endParaRPr sz="1650" b="0">
              <a:solidFill>
                <a:srgbClr val="202124"/>
              </a:solidFill>
              <a:latin typeface="Consolas"/>
              <a:ea typeface="Consolas"/>
              <a:cs typeface="Consolas"/>
            </a:endParaRPr>
          </a:p>
        </p:txBody>
      </p:sp>
      <p:sp>
        <p:nvSpPr>
          <p:cNvPr id="7" name="Rectangle 6"/>
          <p:cNvSpPr>
            <a:spLocks noGrp="1"/>
          </p:cNvSpPr>
          <p:nvPr/>
        </p:nvSpPr>
        <p:spPr>
          <a:xfrm>
            <a:off x="1047750" y="2667000"/>
            <a:ext cx="1143000" cy="428625"/>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1500" b="1">
                <a:solidFill>
                  <a:srgbClr val="FFFFFF"/>
                </a:solidFill>
                <a:latin typeface="Source Han Sans CN"/>
                <a:ea typeface="Source Han Sans CN"/>
                <a:cs typeface="Source Han Sans CN"/>
              </a:defRPr>
            </a:pPr>
            <a:r>
              <a:rPr sz="1500" b="1">
                <a:solidFill>
                  <a:srgbClr val="FFFFFF"/>
                </a:solidFill>
                <a:latin typeface="Source Han Sans CN"/>
                <a:ea typeface="Source Han Sans CN"/>
                <a:cs typeface="Source Han Sans CN"/>
              </a:rPr>
              <a:t>lane 1</a:t>
            </a:r>
            <a:endParaRPr sz="1500" b="1">
              <a:solidFill>
                <a:srgbClr val="FFFFFF"/>
              </a:solidFill>
              <a:latin typeface="Source Han Sans CN"/>
              <a:ea typeface="Source Han Sans CN"/>
              <a:cs typeface="Source Han Sans CN"/>
            </a:endParaRPr>
          </a:p>
        </p:txBody>
      </p:sp>
      <p:sp>
        <p:nvSpPr>
          <p:cNvPr id="8" name="Rectangle 7"/>
          <p:cNvSpPr>
            <a:spLocks noGrp="1"/>
          </p:cNvSpPr>
          <p:nvPr/>
        </p:nvSpPr>
        <p:spPr>
          <a:xfrm>
            <a:off x="2190750" y="2667000"/>
            <a:ext cx="4000500" cy="428625"/>
          </a:xfrm>
          <a:prstGeom prst="rect">
            <a:avLst/>
          </a:prstGeom>
          <a:solidFill>
            <a:srgbClr val="F5F5F6"/>
          </a:solidFill>
          <a:ln w="0">
            <a:noFill/>
            <a:prstDash val="solid"/>
          </a:ln>
        </p:spPr>
        <p:txBody>
          <a:bodyPr wrap="square" lIns="38100" tIns="19050" rIns="38100" bIns="19050" anchor="ctr">
            <a:normAutofit/>
          </a:bodyPr>
          <a:lstStyle/>
          <a:p>
            <a:pPr algn="l">
              <a:lnSpc>
                <a:spcPct val="108000"/>
              </a:lnSpc>
              <a:buNone/>
              <a:defRPr sz="1650" b="0">
                <a:solidFill>
                  <a:srgbClr val="202124"/>
                </a:solidFill>
                <a:latin typeface="Consolas"/>
                <a:ea typeface="Consolas"/>
                <a:cs typeface="Consolas"/>
              </a:defRPr>
            </a:pPr>
            <a:r>
              <a:rPr sz="1650" b="0">
                <a:solidFill>
                  <a:srgbClr val="202124"/>
                </a:solidFill>
                <a:latin typeface="Consolas"/>
                <a:ea typeface="Consolas"/>
                <a:cs typeface="Consolas"/>
              </a:rPr>
              <a:t>x₁  x₆₅  x₁₂₉  …</a:t>
            </a:r>
            <a:endParaRPr sz="1650" b="0">
              <a:solidFill>
                <a:srgbClr val="202124"/>
              </a:solidFill>
              <a:latin typeface="Consolas"/>
              <a:ea typeface="Consolas"/>
              <a:cs typeface="Consolas"/>
            </a:endParaRPr>
          </a:p>
        </p:txBody>
      </p:sp>
      <p:sp>
        <p:nvSpPr>
          <p:cNvPr id="9" name="Rectangle 8"/>
          <p:cNvSpPr>
            <a:spLocks noGrp="1"/>
          </p:cNvSpPr>
          <p:nvPr/>
        </p:nvSpPr>
        <p:spPr>
          <a:xfrm>
            <a:off x="1047750" y="3238500"/>
            <a:ext cx="5143500" cy="428625"/>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666A70"/>
                </a:solidFill>
                <a:latin typeface="Source Han Sans CN"/>
                <a:ea typeface="Source Han Sans CN"/>
                <a:cs typeface="Source Han Sans CN"/>
              </a:defRPr>
            </a:pPr>
            <a:r>
              <a:rPr sz="2250" b="0">
                <a:solidFill>
                  <a:srgbClr val="666A70"/>
                </a:solidFill>
                <a:latin typeface="Source Han Sans CN"/>
                <a:ea typeface="Source Han Sans CN"/>
                <a:cs typeface="Source Han Sans CN"/>
              </a:rPr>
              <a:t>⋮</a:t>
            </a:r>
            <a:endParaRPr sz="2250" b="0">
              <a:solidFill>
                <a:srgbClr val="666A70"/>
              </a:solidFill>
              <a:latin typeface="Source Han Sans CN"/>
              <a:ea typeface="Source Han Sans CN"/>
              <a:cs typeface="Source Han Sans CN"/>
            </a:endParaRPr>
          </a:p>
        </p:txBody>
      </p:sp>
      <p:sp>
        <p:nvSpPr>
          <p:cNvPr id="10" name="Rectangle 9"/>
          <p:cNvSpPr>
            <a:spLocks noGrp="1"/>
          </p:cNvSpPr>
          <p:nvPr/>
        </p:nvSpPr>
        <p:spPr>
          <a:xfrm>
            <a:off x="1047750" y="3810000"/>
            <a:ext cx="1143000" cy="428625"/>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1500" b="1">
                <a:solidFill>
                  <a:srgbClr val="FFFFFF"/>
                </a:solidFill>
                <a:latin typeface="Source Han Sans CN"/>
                <a:ea typeface="Source Han Sans CN"/>
                <a:cs typeface="Source Han Sans CN"/>
              </a:defRPr>
            </a:pPr>
            <a:r>
              <a:rPr sz="1500" b="1">
                <a:solidFill>
                  <a:srgbClr val="FFFFFF"/>
                </a:solidFill>
                <a:latin typeface="Source Han Sans CN"/>
                <a:ea typeface="Source Han Sans CN"/>
                <a:cs typeface="Source Han Sans CN"/>
              </a:rPr>
              <a:t>lane 63</a:t>
            </a:r>
            <a:endParaRPr sz="1500" b="1">
              <a:solidFill>
                <a:srgbClr val="FFFFFF"/>
              </a:solidFill>
              <a:latin typeface="Source Han Sans CN"/>
              <a:ea typeface="Source Han Sans CN"/>
              <a:cs typeface="Source Han Sans CN"/>
            </a:endParaRPr>
          </a:p>
        </p:txBody>
      </p:sp>
      <p:sp>
        <p:nvSpPr>
          <p:cNvPr id="11" name="Rectangle 10"/>
          <p:cNvSpPr>
            <a:spLocks noGrp="1"/>
          </p:cNvSpPr>
          <p:nvPr/>
        </p:nvSpPr>
        <p:spPr>
          <a:xfrm>
            <a:off x="2190750" y="3810000"/>
            <a:ext cx="4000500" cy="428625"/>
          </a:xfrm>
          <a:prstGeom prst="rect">
            <a:avLst/>
          </a:prstGeom>
          <a:solidFill>
            <a:srgbClr val="F5F5F6"/>
          </a:solidFill>
          <a:ln w="0">
            <a:noFill/>
            <a:prstDash val="solid"/>
          </a:ln>
        </p:spPr>
        <p:txBody>
          <a:bodyPr wrap="square" lIns="38100" tIns="19050" rIns="38100" bIns="19050" anchor="ctr">
            <a:normAutofit/>
          </a:bodyPr>
          <a:lstStyle/>
          <a:p>
            <a:pPr algn="l">
              <a:lnSpc>
                <a:spcPct val="108000"/>
              </a:lnSpc>
              <a:buNone/>
              <a:defRPr sz="1650" b="0">
                <a:solidFill>
                  <a:srgbClr val="202124"/>
                </a:solidFill>
                <a:latin typeface="Consolas"/>
                <a:ea typeface="Consolas"/>
                <a:cs typeface="Consolas"/>
              </a:defRPr>
            </a:pPr>
            <a:r>
              <a:rPr sz="1650" b="0">
                <a:solidFill>
                  <a:srgbClr val="202124"/>
                </a:solidFill>
                <a:latin typeface="Consolas"/>
                <a:ea typeface="Consolas"/>
                <a:cs typeface="Consolas"/>
              </a:rPr>
              <a:t>x₆₃  x₁₂₇  x₁₉₁  …</a:t>
            </a:r>
            <a:endParaRPr sz="1650" b="0">
              <a:solidFill>
                <a:srgbClr val="202124"/>
              </a:solidFill>
              <a:latin typeface="Consolas"/>
              <a:ea typeface="Consolas"/>
              <a:cs typeface="Consolas"/>
            </a:endParaRPr>
          </a:p>
        </p:txBody>
      </p:sp>
      <p:sp>
        <p:nvSpPr>
          <p:cNvPr id="12" name="Rectangle: Rounded Corners 11"/>
          <p:cNvSpPr>
            <a:spLocks noGrp="1"/>
          </p:cNvSpPr>
          <p:nvPr/>
        </p:nvSpPr>
        <p:spPr>
          <a:xfrm>
            <a:off x="7239000" y="2238375"/>
            <a:ext cx="3238500" cy="1809750"/>
          </a:xfrm>
          <a:prstGeom prst="roundRect">
            <a:avLst>
              <a:gd name="adj" fmla="val 6316"/>
            </a:avLst>
          </a:prstGeom>
          <a:solidFill>
            <a:srgbClr val="EAF6F6"/>
          </a:solidFill>
          <a:ln w="9525">
            <a:solidFill>
              <a:srgbClr val="1E8E94"/>
            </a:solidFill>
            <a:prstDash val="solid"/>
          </a:ln>
        </p:spPr>
        <p:txBody>
          <a:bodyPr lIns="76200" tIns="38100" rIns="76200" bIns="38100" anchor="ctr">
            <a:normAutofit/>
          </a:bodyPr>
          <a:lstStyle/>
          <a:p>
            <a:pPr algn="ctr">
              <a:buNone/>
              <a:defRPr sz="1950" b="1">
                <a:solidFill>
                  <a:srgbClr val="1E8E94"/>
                </a:solidFill>
                <a:latin typeface="Source Han Sans CN"/>
                <a:ea typeface="Source Han Sans CN"/>
                <a:cs typeface="Source Han Sans CN"/>
              </a:defRPr>
            </a:pPr>
            <a:r>
              <a:rPr sz="1950" b="1">
                <a:solidFill>
                  <a:srgbClr val="1E8E94"/>
                </a:solidFill>
                <a:latin typeface="Source Han Sans CN"/>
                <a:ea typeface="Source Han Sans CN"/>
                <a:cs typeface="Source Han Sans CN"/>
              </a:rPr>
              <a:t>register local value</a:t>
            </a:r>
            <a:endParaRPr sz="1950" b="1">
              <a:solidFill>
                <a:srgbClr val="1E8E94"/>
              </a:solidFill>
              <a:latin typeface="Source Han Sans CN"/>
              <a:ea typeface="Source Han Sans CN"/>
              <a:cs typeface="Source Han Sans CN"/>
            </a:endParaRPr>
          </a:p>
          <a:p>
            <a:pPr algn="ctr">
              <a:buNone/>
              <a:defRPr sz="1950" b="1">
                <a:solidFill>
                  <a:srgbClr val="1E8E94"/>
                </a:solidFill>
                <a:latin typeface="Source Han Sans CN"/>
                <a:ea typeface="Source Han Sans CN"/>
                <a:cs typeface="Source Han Sans CN"/>
              </a:defRPr>
            </a:pPr>
            <a:r>
              <a:rPr sz="1950" b="1">
                <a:solidFill>
                  <a:srgbClr val="1E8E94"/>
                </a:solidFill>
                <a:latin typeface="Source Han Sans CN"/>
                <a:ea typeface="Source Han Sans CN"/>
                <a:cs typeface="Source Han Sans CN"/>
              </a:rPr>
              <a:t>↕ shuffle ↕</a:t>
            </a:r>
            <a:endParaRPr sz="1950" b="1">
              <a:solidFill>
                <a:srgbClr val="1E8E94"/>
              </a:solidFill>
              <a:latin typeface="Source Han Sans CN"/>
              <a:ea typeface="Source Han Sans CN"/>
              <a:cs typeface="Source Han Sans CN"/>
            </a:endParaRPr>
          </a:p>
          <a:p>
            <a:pPr algn="ctr">
              <a:buNone/>
              <a:defRPr sz="1950" b="1">
                <a:solidFill>
                  <a:srgbClr val="1E8E94"/>
                </a:solidFill>
                <a:latin typeface="Source Han Sans CN"/>
                <a:ea typeface="Source Han Sans CN"/>
                <a:cs typeface="Source Han Sans CN"/>
              </a:defRPr>
            </a:pPr>
            <a:r>
              <a:rPr sz="1950" b="1">
                <a:solidFill>
                  <a:srgbClr val="1E8E94"/>
                </a:solidFill>
                <a:latin typeface="Source Han Sans CN"/>
                <a:ea typeface="Source Han Sans CN"/>
                <a:cs typeface="Source Han Sans CN"/>
              </a:rPr>
              <a:t>wave-wide result</a:t>
            </a:r>
            <a:endParaRPr sz="1950" b="1">
              <a:solidFill>
                <a:srgbClr val="1E8E94"/>
              </a:solidFill>
              <a:latin typeface="Source Han Sans CN"/>
              <a:ea typeface="Source Han Sans CN"/>
              <a:cs typeface="Source Han Sans CN"/>
            </a:endParaRPr>
          </a:p>
        </p:txBody>
      </p:sp>
      <p:sp>
        <p:nvSpPr>
          <p:cNvPr id="13" name="Rectangle 12"/>
          <p:cNvSpPr>
            <a:spLocks noGrp="1"/>
          </p:cNvSpPr>
          <p:nvPr/>
        </p:nvSpPr>
        <p:spPr>
          <a:xfrm>
            <a:off x="6953250" y="4476750"/>
            <a:ext cx="3810000" cy="857250"/>
          </a:xfrm>
          <a:prstGeom prst="rect">
            <a:avLst/>
          </a:prstGeom>
          <a:noFill/>
          <a:ln w="0">
            <a:noFill/>
            <a:prstDash val="solid"/>
          </a:ln>
        </p:spPr>
        <p:txBody>
          <a:bodyPr wrap="square" lIns="38100" tIns="19050" rIns="38100" bIns="19050" anchor="ctr">
            <a:normAutofit/>
          </a:bodyPr>
          <a:lstStyle/>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窄 / 中等行：规约开销低</a:t>
            </a:r>
            <a:endParaRPr sz="1650" b="0">
              <a:solidFill>
                <a:srgbClr val="666A70"/>
              </a:solidFill>
              <a:latin typeface="Source Han Sans CN"/>
              <a:ea typeface="Source Han Sans CN"/>
              <a:cs typeface="Source Han Sans CN"/>
            </a:endParaRPr>
          </a:p>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超宽行：每 lane 循环次数上升</a:t>
            </a:r>
            <a:endParaRPr sz="1650" b="0">
              <a:solidFill>
                <a:srgbClr val="666A70"/>
              </a:solidFill>
              <a:latin typeface="Source Han Sans CN"/>
              <a:ea typeface="Source Han Sans CN"/>
              <a:cs typeface="Source Han Sans C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v3 用 shuffle 消除共享内存与块级同步</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64 → 32 → 16 → 8 → 4 → 2 → 1，所有 lane 得到规约结果</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20</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904875" y="1619250"/>
            <a:ext cx="6953250" cy="3857625"/>
          </a:xfrm>
          <a:prstGeom prst="roundRect">
            <a:avLst>
              <a:gd name="adj" fmla="val 2963"/>
            </a:avLst>
          </a:prstGeom>
          <a:solidFill>
            <a:srgbClr val="16202A"/>
          </a:solidFill>
          <a:ln w="9525">
            <a:solidFill>
              <a:srgbClr val="334155"/>
            </a:solidFill>
            <a:prstDash val="solid"/>
          </a:ln>
        </p:spPr>
        <p:txBody>
          <a:bodyPr lIns="152400" tIns="152400" rIns="152400" bIns="114300" anchor="t">
            <a:normAutofit/>
          </a:bodyPr>
          <a:lstStyle/>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__device__ float wave_allreduce_max(float value) {</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constexpr uint64_t mask = ~uint64_t{0};</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for (int offset = 32; offset &gt; 0; offset &gt;&gt;= 1) {</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value = fmaxf(value,</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a:t>
            </a:r>
            <a:r>
              <a:rPr sz="1275" b="1">
                <a:solidFill>
                  <a:srgbClr val="A4D487"/>
                </a:solidFill>
                <a:latin typeface="Consolas"/>
                <a:ea typeface="Consolas"/>
                <a:cs typeface="Consolas"/>
              </a:rPr>
              <a:t>__shfl_xor_sync</a:t>
            </a:r>
            <a:r>
              <a:rPr sz="1275">
                <a:solidFill>
                  <a:srgbClr val="F8FAFC"/>
                </a:solidFill>
                <a:latin typeface="Consolas"/>
                <a:ea typeface="Consolas"/>
                <a:cs typeface="Consolas"/>
              </a:rPr>
              <a:t>(mask, value, offset));</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return value;</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for (int col = lane; col &lt; cols; col += 64)</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row_max = fmaxf(row_max, row_x[col]);</a:t>
            </a:r>
            <a:endParaRPr sz="1275">
              <a:solidFill>
                <a:srgbClr val="F8FAFC"/>
              </a:solidFill>
              <a:latin typeface="Consolas"/>
              <a:ea typeface="Consolas"/>
              <a:cs typeface="Consolas"/>
            </a:endParaRPr>
          </a:p>
        </p:txBody>
      </p:sp>
      <p:sp>
        <p:nvSpPr>
          <p:cNvPr id="6" name="Rectangle 5"/>
          <p:cNvSpPr>
            <a:spLocks noGrp="1"/>
          </p:cNvSpPr>
          <p:nvPr/>
        </p:nvSpPr>
        <p:spPr>
          <a:xfrm>
            <a:off x="8334375" y="2404766"/>
            <a:ext cx="2381250" cy="523875"/>
          </a:xfrm>
          <a:prstGeom prst="rect">
            <a:avLst/>
          </a:prstGeom>
          <a:noFill/>
          <a:ln w="0">
            <a:noFill/>
            <a:prstDash val="solid"/>
          </a:ln>
        </p:spPr>
        <p:txBody>
          <a:bodyPr wrap="square" lIns="38100" tIns="19050" rIns="38100" bIns="19050" anchor="ctr">
            <a:normAutofit fontScale="85000" lnSpcReduction="20000"/>
          </a:bodyPr>
          <a:lstStyle/>
          <a:p>
            <a:pPr algn="ctr">
              <a:lnSpc>
                <a:spcPct val="108000"/>
              </a:lnSpc>
              <a:buNone/>
              <a:defRPr sz="2025" b="1">
                <a:solidFill>
                  <a:srgbClr val="1E8E94"/>
                </a:solidFill>
                <a:latin typeface="Source Han Sans CN"/>
                <a:ea typeface="Source Han Sans CN"/>
                <a:cs typeface="Source Han Sans CN"/>
              </a:defRPr>
            </a:pPr>
            <a:r>
              <a:rPr sz="2025" b="1">
                <a:solidFill>
                  <a:srgbClr val="1E8E94"/>
                </a:solidFill>
                <a:latin typeface="Source Han Sans CN"/>
                <a:ea typeface="Source Han Sans CN"/>
                <a:cs typeface="Source Han Sans CN"/>
              </a:rPr>
              <a:t>寄存器内交换</a:t>
            </a:r>
            <a:endParaRPr sz="2025" b="1">
              <a:solidFill>
                <a:srgbClr val="1E8E94"/>
              </a:solidFill>
              <a:latin typeface="Source Han Sans CN"/>
              <a:ea typeface="Source Han Sans CN"/>
              <a:cs typeface="Source Han Sans CN"/>
            </a:endParaRPr>
          </a:p>
          <a:p>
            <a:pPr algn="ctr">
              <a:lnSpc>
                <a:spcPct val="108000"/>
              </a:lnSpc>
              <a:buNone/>
              <a:defRPr sz="2025" b="1">
                <a:solidFill>
                  <a:srgbClr val="1E8E94"/>
                </a:solidFill>
                <a:latin typeface="Source Han Sans CN"/>
                <a:ea typeface="Source Han Sans CN"/>
                <a:cs typeface="Source Han Sans CN"/>
              </a:defRPr>
            </a:pPr>
            <a:r>
              <a:rPr sz="2025" b="1">
                <a:solidFill>
                  <a:srgbClr val="1E8E94"/>
                </a:solidFill>
                <a:latin typeface="Source Han Sans CN"/>
                <a:ea typeface="Source Han Sans CN"/>
                <a:cs typeface="Source Han Sans CN"/>
              </a:rPr>
              <a:t>便捷高效</a:t>
            </a:r>
            <a:endParaRPr sz="2025" b="1">
              <a:solidFill>
                <a:srgbClr val="1E8E94"/>
              </a:solidFill>
              <a:latin typeface="Source Han Sans CN"/>
              <a:ea typeface="Source Han Sans CN"/>
              <a:cs typeface="Source Han Sans CN"/>
            </a:endParaRPr>
          </a:p>
        </p:txBody>
      </p:sp>
      <p:sp>
        <p:nvSpPr>
          <p:cNvPr id="7" name="Rectangle 6"/>
          <p:cNvSpPr>
            <a:spLocks noGrp="1"/>
          </p:cNvSpPr>
          <p:nvPr/>
        </p:nvSpPr>
        <p:spPr>
          <a:xfrm>
            <a:off x="8096250" y="3671590"/>
            <a:ext cx="2857500" cy="1000125"/>
          </a:xfrm>
          <a:prstGeom prst="rect">
            <a:avLst/>
          </a:prstGeom>
          <a:solidFill>
            <a:srgbClr val="EAF6F6"/>
          </a:solidFill>
          <a:ln w="0">
            <a:noFill/>
            <a:prstDash val="solid"/>
          </a:ln>
        </p:spPr>
        <p:txBody>
          <a:bodyPr wrap="square" lIns="38100" tIns="19050" rIns="38100" bIns="19050" anchor="ctr">
            <a:normAutofit/>
          </a:bodyPr>
          <a:lstStyle/>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无需 scratch[]</a:t>
            </a:r>
            <a:endParaRPr sz="1875" b="1">
              <a:solidFill>
                <a:srgbClr val="202124"/>
              </a:solidFill>
              <a:latin typeface="Source Han Sans CN"/>
              <a:ea typeface="Source Han Sans CN"/>
              <a:cs typeface="Source Han Sans CN"/>
            </a:endParaRPr>
          </a:p>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无需 __syncthreads()</a:t>
            </a:r>
            <a:endParaRPr sz="1875" b="1">
              <a:solidFill>
                <a:srgbClr val="202124"/>
              </a:solidFill>
              <a:latin typeface="Source Han Sans CN"/>
              <a:ea typeface="Source Han Sans CN"/>
              <a:cs typeface="Source Han Sans C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a:bodyPr>
          <a:lstStyle/>
          <a:p>
            <a:r>
              <a:t>三种映射各有优势区间</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性能来自并行度、同步成本与每线程工作量的平衡；</a:t>
            </a:r>
            <a:r>
              <a:t> 需要根据输入 shape 选择合适 kernel 实现</a:t>
            </a: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21</a:t>
            </a:r>
            <a:endParaRPr sz="1200">
              <a:solidFill>
                <a:srgbClr val="8B8E93"/>
              </a:solidFill>
              <a:latin typeface="Arial" panose="020B0604020202090204"/>
              <a:ea typeface="Arial" panose="020B0604020202090204"/>
              <a:cs typeface="Arial" panose="020B0604020202090204"/>
            </a:endParaRPr>
          </a:p>
        </p:txBody>
      </p:sp>
      <p:graphicFrame>
        <p:nvGraphicFramePr>
          <p:cNvPr id="11" name="Table 9"/>
          <p:cNvGraphicFramePr/>
          <p:nvPr/>
        </p:nvGraphicFramePr>
        <p:xfrm>
          <a:off x="952500" y="1714500"/>
          <a:ext cx="10287000" cy="3429000"/>
        </p:xfrm>
        <a:graphic>
          <a:graphicData uri="http://schemas.openxmlformats.org/drawingml/2006/table">
            <a:tbl>
              <a:tblPr/>
              <a:tblGrid>
                <a:gridCol w="1842448"/>
                <a:gridCol w="2303060"/>
                <a:gridCol w="3070746"/>
                <a:gridCol w="3070746"/>
              </a:tblGrid>
              <a:tr h="685800">
                <a:tc>
                  <a:txBody>
                    <a:bodyPr/>
                    <a:lstStyle/>
                    <a:p>
                      <a:r>
                        <a:rPr sz="1350" b="1">
                          <a:solidFill>
                            <a:srgbClr val="FFFFFF"/>
                          </a:solidFill>
                          <a:latin typeface="Source Han Sans CN"/>
                          <a:ea typeface="Source Han Sans CN"/>
                          <a:cs typeface="Source Han Sans CN"/>
                        </a:rPr>
                        <a:t>维度</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v1</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v2</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350" b="1">
                          <a:solidFill>
                            <a:srgbClr val="FFFFFF"/>
                          </a:solidFill>
                          <a:latin typeface="Source Han Sans CN"/>
                          <a:ea typeface="Source Han Sans CN"/>
                          <a:cs typeface="Source Han Sans CN"/>
                        </a:rPr>
                        <a:t>v3</a:t>
                      </a:r>
                      <a:endParaRPr sz="1350" b="1">
                        <a:solidFill>
                          <a:srgbClr val="FFFFFF"/>
                        </a:solidFill>
                        <a:latin typeface="Source Han Sans CN"/>
                        <a:ea typeface="Source Han Sans CN"/>
                        <a:cs typeface="Source Han Sans CN"/>
                      </a:endParaRPr>
                    </a:p>
                  </a:txBody>
                  <a:tcPr marL="57150" marR="57150" marT="57150" marB="57150" anchor="ctr">
                    <a:solidFill>
                      <a:srgbClr val="660874"/>
                    </a:solidFill>
                  </a:tcPr>
                </a:tc>
              </a:tr>
              <a:tr h="685800">
                <a:tc>
                  <a:txBody>
                    <a:bodyPr/>
                    <a:lstStyle/>
                    <a:p>
                      <a:r>
                        <a:rPr sz="1350">
                          <a:solidFill>
                            <a:srgbClr val="202124"/>
                          </a:solidFill>
                          <a:latin typeface="Source Han Sans CN"/>
                          <a:ea typeface="Source Han Sans CN"/>
                          <a:cs typeface="Source Han Sans CN"/>
                        </a:rPr>
                        <a:t>行内并行度</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1</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最多 256 threads</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固定 64 lanes</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r h="685800">
                <a:tc>
                  <a:txBody>
                    <a:bodyPr/>
                    <a:lstStyle/>
                    <a:p>
                      <a:r>
                        <a:rPr sz="1350">
                          <a:solidFill>
                            <a:srgbClr val="202124"/>
                          </a:solidFill>
                          <a:latin typeface="Source Han Sans CN"/>
                          <a:ea typeface="Source Han Sans CN"/>
                          <a:cs typeface="Source Han Sans CN"/>
                        </a:rPr>
                        <a:t>规约存储</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寄存器串行</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shared memory</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寄存器 + shuffle</a:t>
                      </a:r>
                      <a:endParaRPr sz="1350">
                        <a:solidFill>
                          <a:srgbClr val="202124"/>
                        </a:solidFill>
                        <a:latin typeface="Source Han Sans CN"/>
                        <a:ea typeface="Source Han Sans CN"/>
                        <a:cs typeface="Source Han Sans CN"/>
                      </a:endParaRPr>
                    </a:p>
                  </a:txBody>
                  <a:tcPr marL="57150" marR="57150" marT="47625" marB="47625" anchor="ctr"/>
                </a:tc>
              </a:tr>
              <a:tr h="685800">
                <a:tc>
                  <a:txBody>
                    <a:bodyPr/>
                    <a:lstStyle/>
                    <a:p>
                      <a:r>
                        <a:rPr sz="1350">
                          <a:solidFill>
                            <a:srgbClr val="202124"/>
                          </a:solidFill>
                          <a:latin typeface="Source Han Sans CN"/>
                          <a:ea typeface="Source Han Sans CN"/>
                          <a:cs typeface="Source Han Sans CN"/>
                        </a:rPr>
                        <a:t>同步成本</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无</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多轮块级同步</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350">
                          <a:solidFill>
                            <a:srgbClr val="202124"/>
                          </a:solidFill>
                          <a:latin typeface="Source Han Sans CN"/>
                          <a:ea typeface="Source Han Sans CN"/>
                          <a:cs typeface="Source Han Sans CN"/>
                        </a:rPr>
                        <a:t>wave 内隐式协作</a:t>
                      </a:r>
                      <a:endParaRPr sz="1350">
                        <a:solidFill>
                          <a:srgbClr val="202124"/>
                        </a:solidFill>
                        <a:latin typeface="Source Han Sans CN"/>
                        <a:ea typeface="Source Han Sans CN"/>
                        <a:cs typeface="Source Han Sans CN"/>
                      </a:endParaRPr>
                    </a:p>
                  </a:txBody>
                  <a:tcPr marL="57150" marR="57150" marT="47625" marB="47625" anchor="ctr">
                    <a:solidFill>
                      <a:srgbClr val="F7F7F8"/>
                    </a:solidFill>
                  </a:tcPr>
                </a:tc>
              </a:tr>
              <a:tr h="685800">
                <a:tc>
                  <a:txBody>
                    <a:bodyPr/>
                    <a:lstStyle/>
                    <a:p>
                      <a:r>
                        <a:rPr sz="1350">
                          <a:solidFill>
                            <a:srgbClr val="202124"/>
                          </a:solidFill>
                          <a:latin typeface="Source Han Sans CN"/>
                          <a:ea typeface="Source Han Sans CN"/>
                          <a:cs typeface="Source Han Sans CN"/>
                        </a:rPr>
                        <a:t>预期甜点区</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仅作基线</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超宽行</a:t>
                      </a:r>
                      <a:endParaRPr sz="1350">
                        <a:solidFill>
                          <a:srgbClr val="202124"/>
                        </a:solidFill>
                        <a:latin typeface="Source Han Sans CN"/>
                        <a:ea typeface="Source Han Sans CN"/>
                        <a:cs typeface="Source Han Sans CN"/>
                      </a:endParaRPr>
                    </a:p>
                  </a:txBody>
                  <a:tcPr marL="57150" marR="57150" marT="47625" marB="47625" anchor="ctr"/>
                </a:tc>
                <a:tc>
                  <a:txBody>
                    <a:bodyPr/>
                    <a:lstStyle/>
                    <a:p>
                      <a:r>
                        <a:rPr sz="1350">
                          <a:solidFill>
                            <a:srgbClr val="202124"/>
                          </a:solidFill>
                          <a:latin typeface="Source Han Sans CN"/>
                          <a:ea typeface="Source Han Sans CN"/>
                          <a:cs typeface="Source Han Sans CN"/>
                        </a:rPr>
                        <a:t>窄至中等行</a:t>
                      </a:r>
                      <a:endParaRPr sz="1350">
                        <a:solidFill>
                          <a:srgbClr val="202124"/>
                        </a:solidFill>
                        <a:latin typeface="Source Han Sans CN"/>
                        <a:ea typeface="Source Han Sans CN"/>
                        <a:cs typeface="Source Han Sans CN"/>
                      </a:endParaRPr>
                    </a:p>
                  </a:txBody>
                  <a:tcPr marL="57150" marR="57150" marT="47625" marB="47625" anchor="ctr"/>
                </a:tc>
              </a:tr>
            </a:tbl>
          </a:graphicData>
        </a:graphic>
      </p:graphicFrame>
      <p:sp>
        <p:nvSpPr>
          <p:cNvPr id="6" name="Rectangle 5"/>
          <p:cNvSpPr>
            <a:spLocks noGrp="1"/>
          </p:cNvSpPr>
          <p:nvPr/>
        </p:nvSpPr>
        <p:spPr>
          <a:xfrm>
            <a:off x="2857500" y="5381625"/>
            <a:ext cx="6477000" cy="476250"/>
          </a:xfrm>
          <a:prstGeom prst="rect">
            <a:avLst/>
          </a:prstGeom>
          <a:noFill/>
          <a:ln w="0">
            <a:noFill/>
            <a:prstDash val="solid"/>
          </a:ln>
        </p:spPr>
        <p:txBody>
          <a:bodyPr wrap="square" lIns="38100" tIns="19050" rIns="38100" bIns="19050" anchor="ctr">
            <a:normAutofit/>
          </a:bodyPr>
          <a:lstStyle/>
          <a:p>
            <a:pPr algn="ctr">
              <a:lnSpc>
                <a:spcPct val="108000"/>
              </a:lnSpc>
              <a:buNone/>
              <a:defRPr sz="1875" b="1">
                <a:solidFill>
                  <a:srgbClr val="660874"/>
                </a:solidFill>
                <a:latin typeface="Source Han Sans CN"/>
                <a:ea typeface="Source Han Sans CN"/>
                <a:cs typeface="Source Han Sans CN"/>
              </a:defRPr>
            </a:pPr>
            <a:r>
              <a:rPr sz="1875" b="1">
                <a:solidFill>
                  <a:srgbClr val="660874"/>
                </a:solidFill>
                <a:latin typeface="Source Han Sans CN"/>
                <a:ea typeface="Source Han Sans CN"/>
                <a:cs typeface="Source Han Sans CN"/>
              </a:rPr>
              <a:t>下一步：用真实 C500 测试验证这个预测</a:t>
            </a:r>
            <a:endParaRPr sz="1875" b="1">
              <a:solidFill>
                <a:srgbClr val="660874"/>
              </a:solidFill>
              <a:latin typeface="Source Han Sans CN"/>
              <a:ea typeface="Source Han Sans CN"/>
              <a:cs typeface="Source Han Sans C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尝试预测：行宽变化时，谁会最快？</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只比较手写版本 v1 / v2 / v3，随后揭晓实测</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22</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1095375" y="2095500"/>
            <a:ext cx="2667000" cy="762000"/>
          </a:xfrm>
          <a:prstGeom prst="roundRect">
            <a:avLst>
              <a:gd name="adj" fmla="val 15000"/>
            </a:avLst>
          </a:prstGeom>
          <a:solidFill>
            <a:srgbClr val="F0F8EB"/>
          </a:solidFill>
          <a:ln w="9525">
            <a:solidFill>
              <a:srgbClr val="48BB00"/>
            </a:solidFill>
            <a:prstDash val="solid"/>
          </a:ln>
        </p:spPr>
        <p:txBody>
          <a:bodyPr lIns="76200" tIns="38100" rIns="76200" bIns="38100" anchor="ctr">
            <a:normAutofit/>
          </a:bodyPr>
          <a:lstStyle/>
          <a:p>
            <a:pPr algn="ctr">
              <a:buNone/>
              <a:defRPr sz="2175" b="1">
                <a:solidFill>
                  <a:srgbClr val="48BB00"/>
                </a:solidFill>
                <a:latin typeface="Source Han Sans CN"/>
                <a:ea typeface="Source Han Sans CN"/>
                <a:cs typeface="Source Han Sans CN"/>
              </a:defRPr>
            </a:pPr>
            <a:r>
              <a:rPr sz="2175" b="1">
                <a:solidFill>
                  <a:srgbClr val="48BB00"/>
                </a:solidFill>
                <a:latin typeface="Source Han Sans CN"/>
                <a:ea typeface="Source Han Sans CN"/>
                <a:cs typeface="Source Han Sans CN"/>
              </a:rPr>
              <a:t>cols = 64</a:t>
            </a:r>
            <a:endParaRPr sz="2175" b="1">
              <a:solidFill>
                <a:srgbClr val="48BB00"/>
              </a:solidFill>
              <a:latin typeface="Source Han Sans CN"/>
              <a:ea typeface="Source Han Sans CN"/>
              <a:cs typeface="Source Han Sans CN"/>
            </a:endParaRPr>
          </a:p>
        </p:txBody>
      </p:sp>
      <p:sp>
        <p:nvSpPr>
          <p:cNvPr id="6" name="Rectangle 5"/>
          <p:cNvSpPr>
            <a:spLocks noGrp="1"/>
          </p:cNvSpPr>
          <p:nvPr/>
        </p:nvSpPr>
        <p:spPr>
          <a:xfrm>
            <a:off x="1095375" y="3048000"/>
            <a:ext cx="2667000" cy="428625"/>
          </a:xfrm>
          <a:prstGeom prst="rect">
            <a:avLst/>
          </a:prstGeom>
          <a:noFill/>
          <a:ln w="0">
            <a:noFill/>
            <a:prstDash val="solid"/>
          </a:ln>
        </p:spPr>
        <p:txBody>
          <a:bodyPr wrap="square" lIns="38100" tIns="19050" rIns="38100" bIns="19050" anchor="t">
            <a:normAutofit/>
          </a:bodyPr>
          <a:lstStyle/>
          <a:p>
            <a:pPr algn="ctr">
              <a:lnSpc>
                <a:spcPct val="108000"/>
              </a:lnSpc>
              <a:buNone/>
              <a:defRPr sz="1575" b="0">
                <a:solidFill>
                  <a:srgbClr val="666A70"/>
                </a:solidFill>
                <a:latin typeface="Source Han Sans CN"/>
                <a:ea typeface="Source Han Sans CN"/>
                <a:cs typeface="Source Han Sans CN"/>
              </a:defRPr>
            </a:pPr>
            <a:r>
              <a:rPr sz="1575" b="0">
                <a:solidFill>
                  <a:srgbClr val="666A70"/>
                </a:solidFill>
                <a:latin typeface="Source Han Sans CN"/>
                <a:ea typeface="Source Han Sans CN"/>
                <a:cs typeface="Source Han Sans CN"/>
              </a:rPr>
              <a:t>窄行</a:t>
            </a:r>
            <a:endParaRPr sz="1575" b="0">
              <a:solidFill>
                <a:srgbClr val="666A70"/>
              </a:solidFill>
              <a:latin typeface="Source Han Sans CN"/>
              <a:ea typeface="Source Han Sans CN"/>
              <a:cs typeface="Source Han Sans CN"/>
            </a:endParaRPr>
          </a:p>
        </p:txBody>
      </p:sp>
      <p:sp>
        <p:nvSpPr>
          <p:cNvPr id="7" name="Rectangle 6"/>
          <p:cNvSpPr>
            <a:spLocks noGrp="1"/>
          </p:cNvSpPr>
          <p:nvPr/>
        </p:nvSpPr>
        <p:spPr>
          <a:xfrm>
            <a:off x="1095375" y="3714750"/>
            <a:ext cx="2667000" cy="952500"/>
          </a:xfrm>
          <a:prstGeom prst="rect">
            <a:avLst/>
          </a:prstGeom>
          <a:no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v1  /  v2  /  v3</a:t>
            </a:r>
            <a:endParaRPr sz="1725" b="1">
              <a:solidFill>
                <a:srgbClr val="202124"/>
              </a:solidFill>
              <a:latin typeface="Arial" panose="020B0604020202090204"/>
              <a:ea typeface="Arial" panose="020B0604020202090204"/>
              <a:cs typeface="Arial" panose="020B0604020202090204"/>
            </a:endParaRPr>
          </a:p>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你的排序：________</a:t>
            </a:r>
            <a:endParaRPr sz="1725" b="1">
              <a:solidFill>
                <a:srgbClr val="202124"/>
              </a:solidFill>
              <a:latin typeface="Arial" panose="020B0604020202090204"/>
              <a:ea typeface="Arial" panose="020B0604020202090204"/>
              <a:cs typeface="Arial" panose="020B0604020202090204"/>
            </a:endParaRPr>
          </a:p>
        </p:txBody>
      </p:sp>
      <p:sp>
        <p:nvSpPr>
          <p:cNvPr id="8" name="Rectangle: Rounded Corners 7"/>
          <p:cNvSpPr>
            <a:spLocks noGrp="1"/>
          </p:cNvSpPr>
          <p:nvPr/>
        </p:nvSpPr>
        <p:spPr>
          <a:xfrm>
            <a:off x="4524375" y="2095500"/>
            <a:ext cx="2667000" cy="762000"/>
          </a:xfrm>
          <a:prstGeom prst="roundRect">
            <a:avLst>
              <a:gd name="adj" fmla="val 15000"/>
            </a:avLst>
          </a:prstGeom>
          <a:solidFill>
            <a:srgbClr val="EAF6F6"/>
          </a:solidFill>
          <a:ln w="9525">
            <a:solidFill>
              <a:srgbClr val="1E8E94"/>
            </a:solidFill>
            <a:prstDash val="solid"/>
          </a:ln>
        </p:spPr>
        <p:txBody>
          <a:bodyPr lIns="76200" tIns="38100" rIns="76200" bIns="38100" anchor="ctr">
            <a:normAutofit/>
          </a:bodyPr>
          <a:lstStyle/>
          <a:p>
            <a:pPr algn="ctr">
              <a:buNone/>
              <a:defRPr sz="2175" b="1">
                <a:solidFill>
                  <a:srgbClr val="1E8E94"/>
                </a:solidFill>
                <a:latin typeface="Source Han Sans CN"/>
                <a:ea typeface="Source Han Sans CN"/>
                <a:cs typeface="Source Han Sans CN"/>
              </a:defRPr>
            </a:pPr>
            <a:r>
              <a:rPr sz="2175" b="1">
                <a:solidFill>
                  <a:srgbClr val="1E8E94"/>
                </a:solidFill>
                <a:latin typeface="Source Han Sans CN"/>
                <a:ea typeface="Source Han Sans CN"/>
                <a:cs typeface="Source Han Sans CN"/>
              </a:rPr>
              <a:t>cols = 512</a:t>
            </a:r>
            <a:endParaRPr sz="2175" b="1">
              <a:solidFill>
                <a:srgbClr val="1E8E94"/>
              </a:solidFill>
              <a:latin typeface="Source Han Sans CN"/>
              <a:ea typeface="Source Han Sans CN"/>
              <a:cs typeface="Source Han Sans CN"/>
            </a:endParaRPr>
          </a:p>
        </p:txBody>
      </p:sp>
      <p:sp>
        <p:nvSpPr>
          <p:cNvPr id="9" name="Rectangle 8"/>
          <p:cNvSpPr>
            <a:spLocks noGrp="1"/>
          </p:cNvSpPr>
          <p:nvPr/>
        </p:nvSpPr>
        <p:spPr>
          <a:xfrm>
            <a:off x="4524375" y="3048000"/>
            <a:ext cx="2667000" cy="428625"/>
          </a:xfrm>
          <a:prstGeom prst="rect">
            <a:avLst/>
          </a:prstGeom>
          <a:noFill/>
          <a:ln w="0">
            <a:noFill/>
            <a:prstDash val="solid"/>
          </a:ln>
        </p:spPr>
        <p:txBody>
          <a:bodyPr wrap="square" lIns="38100" tIns="19050" rIns="38100" bIns="19050" anchor="t">
            <a:normAutofit/>
          </a:bodyPr>
          <a:lstStyle/>
          <a:p>
            <a:pPr algn="ctr">
              <a:lnSpc>
                <a:spcPct val="108000"/>
              </a:lnSpc>
              <a:buNone/>
              <a:defRPr sz="1575" b="0">
                <a:solidFill>
                  <a:srgbClr val="666A70"/>
                </a:solidFill>
                <a:latin typeface="Source Han Sans CN"/>
                <a:ea typeface="Source Han Sans CN"/>
                <a:cs typeface="Source Han Sans CN"/>
              </a:defRPr>
            </a:pPr>
            <a:r>
              <a:rPr sz="1575" b="0">
                <a:solidFill>
                  <a:srgbClr val="666A70"/>
                </a:solidFill>
                <a:latin typeface="Source Han Sans CN"/>
                <a:ea typeface="Source Han Sans CN"/>
                <a:cs typeface="Source Han Sans CN"/>
              </a:rPr>
              <a:t>中等行</a:t>
            </a:r>
            <a:endParaRPr sz="1575" b="0">
              <a:solidFill>
                <a:srgbClr val="666A70"/>
              </a:solidFill>
              <a:latin typeface="Source Han Sans CN"/>
              <a:ea typeface="Source Han Sans CN"/>
              <a:cs typeface="Source Han Sans CN"/>
            </a:endParaRPr>
          </a:p>
        </p:txBody>
      </p:sp>
      <p:sp>
        <p:nvSpPr>
          <p:cNvPr id="10" name="Rectangle 9"/>
          <p:cNvSpPr>
            <a:spLocks noGrp="1"/>
          </p:cNvSpPr>
          <p:nvPr/>
        </p:nvSpPr>
        <p:spPr>
          <a:xfrm>
            <a:off x="4524375" y="3714750"/>
            <a:ext cx="2667000" cy="952500"/>
          </a:xfrm>
          <a:prstGeom prst="rect">
            <a:avLst/>
          </a:prstGeom>
          <a:no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v1  /  v2  /  v3</a:t>
            </a:r>
            <a:endParaRPr sz="1725" b="1">
              <a:solidFill>
                <a:srgbClr val="202124"/>
              </a:solidFill>
              <a:latin typeface="Arial" panose="020B0604020202090204"/>
              <a:ea typeface="Arial" panose="020B0604020202090204"/>
              <a:cs typeface="Arial" panose="020B0604020202090204"/>
            </a:endParaRPr>
          </a:p>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你的排序：________</a:t>
            </a:r>
            <a:endParaRPr sz="1725" b="1">
              <a:solidFill>
                <a:srgbClr val="202124"/>
              </a:solidFill>
              <a:latin typeface="Arial" panose="020B0604020202090204"/>
              <a:ea typeface="Arial" panose="020B0604020202090204"/>
              <a:cs typeface="Arial" panose="020B0604020202090204"/>
            </a:endParaRPr>
          </a:p>
        </p:txBody>
      </p:sp>
      <p:sp>
        <p:nvSpPr>
          <p:cNvPr id="11" name="Rectangle: Rounded Corners 10"/>
          <p:cNvSpPr>
            <a:spLocks noGrp="1"/>
          </p:cNvSpPr>
          <p:nvPr/>
        </p:nvSpPr>
        <p:spPr>
          <a:xfrm>
            <a:off x="7953375" y="2095500"/>
            <a:ext cx="2667000" cy="762000"/>
          </a:xfrm>
          <a:prstGeom prst="roundRect">
            <a:avLst>
              <a:gd name="adj" fmla="val 15000"/>
            </a:avLst>
          </a:prstGeom>
          <a:solidFill>
            <a:srgbClr val="F5EFF7"/>
          </a:solidFill>
          <a:ln w="9525">
            <a:solidFill>
              <a:srgbClr val="660874"/>
            </a:solidFill>
            <a:prstDash val="solid"/>
          </a:ln>
        </p:spPr>
        <p:txBody>
          <a:bodyPr lIns="76200" tIns="38100" rIns="76200" bIns="38100" anchor="ctr">
            <a:normAutofit/>
          </a:bodyPr>
          <a:lstStyle/>
          <a:p>
            <a:pPr algn="ctr">
              <a:buNone/>
              <a:defRPr sz="2175" b="1">
                <a:solidFill>
                  <a:srgbClr val="660874"/>
                </a:solidFill>
                <a:latin typeface="Source Han Sans CN"/>
                <a:ea typeface="Source Han Sans CN"/>
                <a:cs typeface="Source Han Sans CN"/>
              </a:defRPr>
            </a:pPr>
            <a:r>
              <a:rPr sz="2175" b="1">
                <a:solidFill>
                  <a:srgbClr val="660874"/>
                </a:solidFill>
                <a:latin typeface="Source Han Sans CN"/>
                <a:ea typeface="Source Han Sans CN"/>
                <a:cs typeface="Source Han Sans CN"/>
              </a:rPr>
              <a:t>cols = 4096</a:t>
            </a:r>
            <a:endParaRPr sz="2175" b="1">
              <a:solidFill>
                <a:srgbClr val="660874"/>
              </a:solidFill>
              <a:latin typeface="Source Han Sans CN"/>
              <a:ea typeface="Source Han Sans CN"/>
              <a:cs typeface="Source Han Sans CN"/>
            </a:endParaRPr>
          </a:p>
        </p:txBody>
      </p:sp>
      <p:sp>
        <p:nvSpPr>
          <p:cNvPr id="12" name="Rectangle 11"/>
          <p:cNvSpPr>
            <a:spLocks noGrp="1"/>
          </p:cNvSpPr>
          <p:nvPr/>
        </p:nvSpPr>
        <p:spPr>
          <a:xfrm>
            <a:off x="7953375" y="3048000"/>
            <a:ext cx="2667000" cy="428625"/>
          </a:xfrm>
          <a:prstGeom prst="rect">
            <a:avLst/>
          </a:prstGeom>
          <a:noFill/>
          <a:ln w="0">
            <a:noFill/>
            <a:prstDash val="solid"/>
          </a:ln>
        </p:spPr>
        <p:txBody>
          <a:bodyPr wrap="square" lIns="38100" tIns="19050" rIns="38100" bIns="19050" anchor="t">
            <a:normAutofit/>
          </a:bodyPr>
          <a:lstStyle/>
          <a:p>
            <a:pPr algn="ctr">
              <a:lnSpc>
                <a:spcPct val="108000"/>
              </a:lnSpc>
              <a:buNone/>
              <a:defRPr sz="1575" b="0">
                <a:solidFill>
                  <a:srgbClr val="666A70"/>
                </a:solidFill>
                <a:latin typeface="Source Han Sans CN"/>
                <a:ea typeface="Source Han Sans CN"/>
                <a:cs typeface="Source Han Sans CN"/>
              </a:defRPr>
            </a:pPr>
            <a:r>
              <a:rPr sz="1575" b="0">
                <a:solidFill>
                  <a:srgbClr val="666A70"/>
                </a:solidFill>
                <a:latin typeface="Source Han Sans CN"/>
                <a:ea typeface="Source Han Sans CN"/>
                <a:cs typeface="Source Han Sans CN"/>
              </a:rPr>
              <a:t>超宽行</a:t>
            </a:r>
            <a:endParaRPr sz="1575" b="0">
              <a:solidFill>
                <a:srgbClr val="666A70"/>
              </a:solidFill>
              <a:latin typeface="Source Han Sans CN"/>
              <a:ea typeface="Source Han Sans CN"/>
              <a:cs typeface="Source Han Sans CN"/>
            </a:endParaRPr>
          </a:p>
        </p:txBody>
      </p:sp>
      <p:sp>
        <p:nvSpPr>
          <p:cNvPr id="13" name="Rectangle 12"/>
          <p:cNvSpPr>
            <a:spLocks noGrp="1"/>
          </p:cNvSpPr>
          <p:nvPr/>
        </p:nvSpPr>
        <p:spPr>
          <a:xfrm>
            <a:off x="7953375" y="3714750"/>
            <a:ext cx="2667000" cy="952500"/>
          </a:xfrm>
          <a:prstGeom prst="rect">
            <a:avLst/>
          </a:prstGeom>
          <a:noFill/>
          <a:ln w="0">
            <a:noFill/>
            <a:prstDash val="solid"/>
          </a:ln>
        </p:spPr>
        <p:txBody>
          <a:bodyPr wrap="square" lIns="38100" tIns="19050" rIns="38100" bIns="19050" anchor="ctr">
            <a:normAutofit/>
          </a:bodyPr>
          <a:lstStyle/>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v1  /  v2  /  v3</a:t>
            </a:r>
            <a:endParaRPr sz="1725" b="1">
              <a:solidFill>
                <a:srgbClr val="202124"/>
              </a:solidFill>
              <a:latin typeface="Arial" panose="020B0604020202090204"/>
              <a:ea typeface="Arial" panose="020B0604020202090204"/>
              <a:cs typeface="Arial" panose="020B0604020202090204"/>
            </a:endParaRPr>
          </a:p>
          <a:p>
            <a:pPr algn="ctr">
              <a:lnSpc>
                <a:spcPct val="108000"/>
              </a:lnSpc>
              <a:buNone/>
              <a:defRPr sz="1725" b="1">
                <a:solidFill>
                  <a:srgbClr val="202124"/>
                </a:solidFill>
                <a:latin typeface="Arial" panose="020B0604020202090204"/>
                <a:ea typeface="Arial" panose="020B0604020202090204"/>
                <a:cs typeface="Arial" panose="020B0604020202090204"/>
              </a:defRPr>
            </a:pPr>
            <a:r>
              <a:rPr sz="1725" b="1">
                <a:solidFill>
                  <a:srgbClr val="202124"/>
                </a:solidFill>
                <a:latin typeface="Arial" panose="020B0604020202090204"/>
                <a:ea typeface="Arial" panose="020B0604020202090204"/>
                <a:cs typeface="Arial" panose="020B0604020202090204"/>
              </a:rPr>
              <a:t>你的排序：________</a:t>
            </a:r>
            <a:endParaRPr sz="1725" b="1">
              <a:solidFill>
                <a:srgbClr val="202124"/>
              </a:solidFill>
              <a:latin typeface="Arial" panose="020B0604020202090204"/>
              <a:ea typeface="Arial" panose="020B0604020202090204"/>
              <a:cs typeface="Arial" panose="020B060402020209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手写实现的优势区间：v3 中窄行，v2 超宽行</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官方实现 mcDNN 在绝大多数行宽上最稳健</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23</a:t>
            </a:r>
            <a:endParaRPr sz="1200">
              <a:solidFill>
                <a:srgbClr val="8B8E93"/>
              </a:solidFill>
              <a:latin typeface="Arial" panose="020B0604020202090204"/>
              <a:ea typeface="Arial" panose="020B0604020202090204"/>
              <a:cs typeface="Arial" panose="020B0604020202090204"/>
            </a:endParaRPr>
          </a:p>
        </p:txBody>
      </p:sp>
      <p:pic>
        <p:nvPicPr>
          <p:cNvPr id="11" name="Picture 9"/>
          <p:cNvPicPr>
            <a:picLocks noChangeAspect="1"/>
          </p:cNvPicPr>
          <p:nvPr/>
        </p:nvPicPr>
        <p:blipFill>
          <a:blip r:embed="rId1"/>
          <a:stretch>
            <a:fillRect/>
          </a:stretch>
        </p:blipFill>
        <p:spPr>
          <a:xfrm>
            <a:off x="1137708" y="1476375"/>
            <a:ext cx="7535333" cy="4238625"/>
          </a:xfrm>
          <a:prstGeom prst="rect">
            <a:avLst/>
          </a:prstGeom>
        </p:spPr>
      </p:pic>
      <p:sp>
        <p:nvSpPr>
          <p:cNvPr id="6" name="Rectangle 5"/>
          <p:cNvSpPr>
            <a:spLocks noGrp="1"/>
          </p:cNvSpPr>
          <p:nvPr/>
        </p:nvSpPr>
        <p:spPr>
          <a:xfrm>
            <a:off x="9096375" y="2432935"/>
            <a:ext cx="2095500" cy="2381250"/>
          </a:xfrm>
          <a:prstGeom prst="rect">
            <a:avLst/>
          </a:prstGeom>
          <a:noFill/>
          <a:ln w="0">
            <a:noFill/>
            <a:prstDash val="solid"/>
          </a:ln>
        </p:spPr>
        <p:txBody>
          <a:bodyPr wrap="square" lIns="38100" tIns="19050" rIns="38100" bIns="19050" anchor="t">
            <a:normAutofit/>
          </a:bodyPr>
          <a:lstStyle/>
          <a:p>
            <a:pPr marL="0" indent="0" algn="l">
              <a:lnSpc>
                <a:spcPct val="105000"/>
              </a:lnSpc>
              <a:spcAft>
                <a:spcPts val="15"/>
              </a:spcAft>
              <a:buNone/>
              <a:defRPr sz="1425" b="0">
                <a:solidFill>
                  <a:srgbClr val="202124"/>
                </a:solidFill>
                <a:latin typeface="Source Han Sans CN"/>
                <a:ea typeface="Source Han Sans CN"/>
                <a:cs typeface="Source Han Sans CN"/>
              </a:defRPr>
            </a:pPr>
            <a:r>
              <a:rPr sz="1425" b="0">
                <a:solidFill>
                  <a:srgbClr val="202124"/>
                </a:solidFill>
                <a:latin typeface="Source Han Sans CN"/>
                <a:ea typeface="Source Han Sans CN"/>
                <a:cs typeface="Source Han Sans CN"/>
              </a:rPr>
              <a:t>v3：cols ≤ 1024 时最快手写版本</a:t>
            </a:r>
            <a:endParaRPr sz="1425" b="0">
              <a:solidFill>
                <a:srgbClr val="202124"/>
              </a:solidFill>
              <a:latin typeface="Source Han Sans CN"/>
              <a:ea typeface="Source Han Sans CN"/>
              <a:cs typeface="Source Han Sans CN"/>
            </a:endParaRPr>
          </a:p>
          <a:p>
            <a:pPr marL="0" indent="0" algn="l">
              <a:lnSpc>
                <a:spcPct val="105000"/>
              </a:lnSpc>
              <a:spcAft>
                <a:spcPts val="15"/>
              </a:spcAft>
              <a:buNone/>
              <a:defRPr sz="1425" b="0">
                <a:solidFill>
                  <a:srgbClr val="202124"/>
                </a:solidFill>
                <a:latin typeface="Source Han Sans CN"/>
                <a:ea typeface="Source Han Sans CN"/>
                <a:cs typeface="Source Han Sans CN"/>
              </a:defRPr>
            </a:pPr>
            <a:r>
              <a:rPr sz="1425" b="0">
                <a:solidFill>
                  <a:srgbClr val="202124"/>
                </a:solidFill>
                <a:latin typeface="Source Han Sans CN"/>
                <a:ea typeface="Source Han Sans CN"/>
                <a:cs typeface="Source Han Sans CN"/>
              </a:rPr>
              <a:t>v2：cols = 2048 / 4096 时反超 v3</a:t>
            </a:r>
            <a:endParaRPr sz="1425" b="0">
              <a:solidFill>
                <a:srgbClr val="202124"/>
              </a:solidFill>
              <a:latin typeface="Source Han Sans CN"/>
              <a:ea typeface="Source Han Sans CN"/>
              <a:cs typeface="Source Han Sans CN"/>
            </a:endParaRPr>
          </a:p>
          <a:p>
            <a:pPr marL="0" indent="0" algn="l">
              <a:lnSpc>
                <a:spcPct val="105000"/>
              </a:lnSpc>
              <a:spcAft>
                <a:spcPts val="15"/>
              </a:spcAft>
              <a:buNone/>
              <a:defRPr sz="1425" b="0">
                <a:solidFill>
                  <a:srgbClr val="202124"/>
                </a:solidFill>
                <a:latin typeface="Source Han Sans CN"/>
                <a:ea typeface="Source Han Sans CN"/>
                <a:cs typeface="Source Han Sans CN"/>
              </a:defRPr>
            </a:pPr>
            <a:r>
              <a:rPr sz="1425" b="0">
                <a:solidFill>
                  <a:srgbClr val="202124"/>
                </a:solidFill>
                <a:latin typeface="Source Han Sans CN"/>
                <a:ea typeface="Source Han Sans CN"/>
                <a:cs typeface="Source Han Sans CN"/>
              </a:rPr>
              <a:t>mcDNN：11 个行宽中 9 个均值最快</a:t>
            </a:r>
            <a:endParaRPr sz="1425" b="0">
              <a:solidFill>
                <a:srgbClr val="202124"/>
              </a:solidFill>
              <a:latin typeface="Source Han Sans CN"/>
              <a:ea typeface="Source Han Sans CN"/>
              <a:cs typeface="Source Han Sans C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测试不同输入条件的误差</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覆盖四个实现与八</a:t>
            </a:r>
            <a:r>
              <a:rPr sz="1500">
                <a:latin typeface="Source Han Sans CN"/>
                <a:ea typeface="Source Han Sans CN"/>
                <a:cs typeface="Source Han Sans CN"/>
              </a:rPr>
              <a:t>种极端</a:t>
            </a:r>
            <a:r>
              <a:rPr sz="1500" b="1">
                <a:solidFill>
                  <a:srgbClr val="660874"/>
                </a:solidFill>
                <a:latin typeface="Source Han Sans CN"/>
                <a:ea typeface="Source Han Sans CN"/>
                <a:cs typeface="Source Han Sans CN"/>
              </a:rPr>
              <a:t>输入情况</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24</a:t>
            </a:r>
            <a:endParaRPr sz="1200">
              <a:solidFill>
                <a:srgbClr val="8B8E93"/>
              </a:solidFill>
              <a:latin typeface="Arial" panose="020B0604020202090204"/>
              <a:ea typeface="Arial" panose="020B0604020202090204"/>
              <a:cs typeface="Arial" panose="020B0604020202090204"/>
            </a:endParaRPr>
          </a:p>
        </p:txBody>
      </p:sp>
      <p:pic>
        <p:nvPicPr>
          <p:cNvPr id="15" name="Picture 13"/>
          <p:cNvPicPr>
            <a:picLocks noChangeAspect="1"/>
          </p:cNvPicPr>
          <p:nvPr/>
        </p:nvPicPr>
        <p:blipFill>
          <a:blip r:embed="rId1"/>
          <a:stretch>
            <a:fillRect/>
          </a:stretch>
        </p:blipFill>
        <p:spPr>
          <a:xfrm>
            <a:off x="931333" y="1571625"/>
            <a:ext cx="7281333" cy="4095750"/>
          </a:xfrm>
          <a:prstGeom prst="rect">
            <a:avLst/>
          </a:prstGeom>
        </p:spPr>
      </p:pic>
      <p:sp>
        <p:nvSpPr>
          <p:cNvPr id="6" name="Rectangle 5"/>
          <p:cNvSpPr>
            <a:spLocks noGrp="1"/>
          </p:cNvSpPr>
          <p:nvPr/>
        </p:nvSpPr>
        <p:spPr>
          <a:xfrm>
            <a:off x="8572500" y="2143125"/>
            <a:ext cx="2238375" cy="381000"/>
          </a:xfrm>
          <a:prstGeom prst="rect">
            <a:avLst/>
          </a:prstGeom>
          <a:noFill/>
          <a:ln w="0">
            <a:noFill/>
            <a:prstDash val="solid"/>
          </a:ln>
        </p:spPr>
        <p:txBody>
          <a:bodyPr wrap="square" lIns="38100" tIns="19050" rIns="38100" bIns="19050" anchor="t">
            <a:normAutofit/>
          </a:bodyPr>
          <a:lstStyle/>
          <a:p>
            <a:pPr algn="ctr">
              <a:lnSpc>
                <a:spcPct val="108000"/>
              </a:lnSpc>
              <a:buNone/>
              <a:defRPr sz="1575" b="0">
                <a:solidFill>
                  <a:srgbClr val="666A70"/>
                </a:solidFill>
                <a:latin typeface="Source Han Sans CN"/>
                <a:ea typeface="Source Han Sans CN"/>
                <a:cs typeface="Source Han Sans CN"/>
              </a:defRPr>
            </a:pPr>
            <a:r>
              <a:rPr sz="1575" b="0">
                <a:solidFill>
                  <a:srgbClr val="666A70"/>
                </a:solidFill>
                <a:latin typeface="Source Han Sans CN"/>
                <a:ea typeface="Source Han Sans CN"/>
                <a:cs typeface="Source Han Sans CN"/>
              </a:rPr>
              <a:t>最大绝对误差</a:t>
            </a:r>
            <a:endParaRPr sz="1575" b="0">
              <a:solidFill>
                <a:srgbClr val="666A70"/>
              </a:solidFill>
              <a:latin typeface="Source Han Sans CN"/>
              <a:ea typeface="Source Han Sans CN"/>
              <a:cs typeface="Source Han Sans CN"/>
            </a:endParaRPr>
          </a:p>
        </p:txBody>
      </p:sp>
      <p:sp>
        <p:nvSpPr>
          <p:cNvPr id="7" name="Rectangle 6"/>
          <p:cNvSpPr>
            <a:spLocks noGrp="1"/>
          </p:cNvSpPr>
          <p:nvPr/>
        </p:nvSpPr>
        <p:spPr>
          <a:xfrm>
            <a:off x="8382000" y="2524125"/>
            <a:ext cx="2619375" cy="619125"/>
          </a:xfrm>
          <a:prstGeom prst="rect">
            <a:avLst/>
          </a:prstGeom>
          <a:noFill/>
          <a:ln w="0">
            <a:noFill/>
            <a:prstDash val="solid"/>
          </a:ln>
        </p:spPr>
        <p:txBody>
          <a:bodyPr wrap="square" lIns="38100" tIns="19050" rIns="38100" bIns="19050" anchor="t">
            <a:normAutofit/>
          </a:bodyPr>
          <a:lstStyle/>
          <a:p>
            <a:pPr algn="ctr">
              <a:lnSpc>
                <a:spcPct val="108000"/>
              </a:lnSpc>
              <a:buNone/>
              <a:defRPr sz="2775" b="1">
                <a:solidFill>
                  <a:srgbClr val="660874"/>
                </a:solidFill>
                <a:latin typeface="Source Han Sans CN"/>
                <a:ea typeface="Source Han Sans CN"/>
                <a:cs typeface="Source Han Sans CN"/>
              </a:defRPr>
            </a:pPr>
            <a:r>
              <a:rPr sz="2775" b="1">
                <a:solidFill>
                  <a:srgbClr val="660874"/>
                </a:solidFill>
                <a:latin typeface="Source Han Sans CN"/>
                <a:ea typeface="Source Han Sans CN"/>
                <a:cs typeface="Source Han Sans CN"/>
              </a:rPr>
              <a:t>1.073e−6</a:t>
            </a:r>
            <a:endParaRPr sz="2775" b="1">
              <a:solidFill>
                <a:srgbClr val="660874"/>
              </a:solidFill>
              <a:latin typeface="Source Han Sans CN"/>
              <a:ea typeface="Source Han Sans CN"/>
              <a:cs typeface="Source Han Sans CN"/>
            </a:endParaRPr>
          </a:p>
        </p:txBody>
      </p:sp>
      <p:sp>
        <p:nvSpPr>
          <p:cNvPr id="8" name="Rectangle 7"/>
          <p:cNvSpPr>
            <a:spLocks noGrp="1"/>
          </p:cNvSpPr>
          <p:nvPr/>
        </p:nvSpPr>
        <p:spPr>
          <a:xfrm>
            <a:off x="8572500" y="3476625"/>
            <a:ext cx="2238375" cy="381000"/>
          </a:xfrm>
          <a:prstGeom prst="rect">
            <a:avLst/>
          </a:prstGeom>
          <a:noFill/>
          <a:ln w="0">
            <a:noFill/>
            <a:prstDash val="solid"/>
          </a:ln>
        </p:spPr>
        <p:txBody>
          <a:bodyPr wrap="square" lIns="38100" tIns="19050" rIns="38100" bIns="19050" anchor="t">
            <a:normAutofit/>
          </a:bodyPr>
          <a:lstStyle/>
          <a:p>
            <a:pPr algn="ctr">
              <a:lnSpc>
                <a:spcPct val="108000"/>
              </a:lnSpc>
              <a:buNone/>
              <a:defRPr sz="1575" b="0">
                <a:solidFill>
                  <a:srgbClr val="666A70"/>
                </a:solidFill>
                <a:latin typeface="Source Han Sans CN"/>
                <a:ea typeface="Source Han Sans CN"/>
                <a:cs typeface="Source Han Sans CN"/>
              </a:defRPr>
            </a:pPr>
            <a:r>
              <a:rPr sz="1575" b="0">
                <a:solidFill>
                  <a:srgbClr val="666A70"/>
                </a:solidFill>
                <a:latin typeface="Source Han Sans CN"/>
                <a:ea typeface="Source Han Sans CN"/>
                <a:cs typeface="Source Han Sans CN"/>
              </a:rPr>
              <a:t>最大行和误差</a:t>
            </a:r>
            <a:endParaRPr sz="1575" b="0">
              <a:solidFill>
                <a:srgbClr val="666A70"/>
              </a:solidFill>
              <a:latin typeface="Source Han Sans CN"/>
              <a:ea typeface="Source Han Sans CN"/>
              <a:cs typeface="Source Han Sans CN"/>
            </a:endParaRPr>
          </a:p>
        </p:txBody>
      </p:sp>
      <p:sp>
        <p:nvSpPr>
          <p:cNvPr id="9" name="Rectangle 8"/>
          <p:cNvSpPr>
            <a:spLocks noGrp="1"/>
          </p:cNvSpPr>
          <p:nvPr/>
        </p:nvSpPr>
        <p:spPr>
          <a:xfrm>
            <a:off x="8382000" y="3857625"/>
            <a:ext cx="2619375" cy="619125"/>
          </a:xfrm>
          <a:prstGeom prst="rect">
            <a:avLst/>
          </a:prstGeom>
          <a:noFill/>
          <a:ln w="0">
            <a:noFill/>
            <a:prstDash val="solid"/>
          </a:ln>
        </p:spPr>
        <p:txBody>
          <a:bodyPr wrap="square" lIns="38100" tIns="19050" rIns="38100" bIns="19050" anchor="t">
            <a:normAutofit/>
          </a:bodyPr>
          <a:lstStyle/>
          <a:p>
            <a:pPr algn="ctr">
              <a:lnSpc>
                <a:spcPct val="108000"/>
              </a:lnSpc>
              <a:buNone/>
              <a:defRPr sz="2775" b="1">
                <a:solidFill>
                  <a:srgbClr val="1E8E94"/>
                </a:solidFill>
                <a:latin typeface="Source Han Sans CN"/>
                <a:ea typeface="Source Han Sans CN"/>
                <a:cs typeface="Source Han Sans CN"/>
              </a:defRPr>
            </a:pPr>
            <a:r>
              <a:rPr sz="2775" b="1">
                <a:solidFill>
                  <a:srgbClr val="1E8E94"/>
                </a:solidFill>
                <a:latin typeface="Source Han Sans CN"/>
                <a:ea typeface="Source Han Sans CN"/>
                <a:cs typeface="Source Han Sans CN"/>
              </a:rPr>
              <a:t>1.342e−6</a:t>
            </a:r>
            <a:endParaRPr sz="2775" b="1">
              <a:solidFill>
                <a:srgbClr val="1E8E94"/>
              </a:solidFill>
              <a:latin typeface="Source Han Sans CN"/>
              <a:ea typeface="Source Han Sans CN"/>
              <a:cs typeface="Source Han Sans CN"/>
            </a:endParaRPr>
          </a:p>
        </p:txBody>
      </p:sp>
      <p:sp>
        <p:nvSpPr>
          <p:cNvPr id="10" name="Rectangle: Rounded Corners 9"/>
          <p:cNvSpPr>
            <a:spLocks noGrp="1"/>
          </p:cNvSpPr>
          <p:nvPr/>
        </p:nvSpPr>
        <p:spPr>
          <a:xfrm>
            <a:off x="8810625" y="4953000"/>
            <a:ext cx="1809750" cy="523875"/>
          </a:xfrm>
          <a:prstGeom prst="roundRect">
            <a:avLst>
              <a:gd name="adj" fmla="val 21818"/>
            </a:avLst>
          </a:prstGeom>
          <a:solidFill>
            <a:srgbClr val="F0F8EB"/>
          </a:solidFill>
          <a:ln w="9525">
            <a:solidFill>
              <a:srgbClr val="48BB00"/>
            </a:solidFill>
            <a:prstDash val="solid"/>
          </a:ln>
        </p:spPr>
        <p:txBody>
          <a:bodyPr lIns="76200" tIns="38100" rIns="76200" bIns="38100" anchor="ctr">
            <a:normAutofit/>
          </a:bodyPr>
          <a:lstStyle/>
          <a:p>
            <a:pPr algn="ctr">
              <a:buNone/>
              <a:defRPr sz="1650" b="1">
                <a:solidFill>
                  <a:srgbClr val="48BB00"/>
                </a:solidFill>
                <a:latin typeface="Source Han Sans CN"/>
                <a:ea typeface="Source Han Sans CN"/>
                <a:cs typeface="Source Han Sans CN"/>
              </a:defRPr>
            </a:pPr>
            <a:r>
              <a:rPr sz="1650" b="1">
                <a:solidFill>
                  <a:srgbClr val="48BB00"/>
                </a:solidFill>
                <a:latin typeface="Source Han Sans CN"/>
                <a:ea typeface="Source Han Sans CN"/>
                <a:cs typeface="Source Han Sans CN"/>
              </a:rPr>
              <a:t>无 NaN / Inf</a:t>
            </a:r>
            <a:endParaRPr sz="1650" b="1">
              <a:solidFill>
                <a:srgbClr val="48BB00"/>
              </a:solidFill>
              <a:latin typeface="Source Han Sans CN"/>
              <a:ea typeface="Source Han Sans CN"/>
              <a:cs typeface="Source Han Sans C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代表 shape 下的性能表现</a:t>
            </a:r>
          </a:p>
        </p:txBody>
      </p:sp>
      <p:sp>
        <p:nvSpPr>
          <p:cNvPr id="4" name="内容占位符 3"/>
          <p:cNvSpPr>
            <a:spLocks noGrp="1"/>
          </p:cNvSpPr>
          <p:nvPr>
            <p:ph idx="1"/>
          </p:nvPr>
        </p:nvSpPr>
        <p:spPr>
          <a:xfrm>
            <a:off x="838200" y="1083733"/>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加速比均相对同 shape 的 v1</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25</a:t>
            </a:r>
            <a:endParaRPr sz="1200">
              <a:solidFill>
                <a:srgbClr val="8B8E93"/>
              </a:solidFill>
              <a:latin typeface="Arial" panose="020B0604020202090204"/>
              <a:ea typeface="Arial" panose="020B0604020202090204"/>
              <a:cs typeface="Arial" panose="020B0604020202090204"/>
            </a:endParaRPr>
          </a:p>
        </p:txBody>
      </p:sp>
      <p:pic>
        <p:nvPicPr>
          <p:cNvPr id="13" name="Picture 10"/>
          <p:cNvPicPr>
            <a:picLocks noChangeAspect="1"/>
          </p:cNvPicPr>
          <p:nvPr/>
        </p:nvPicPr>
        <p:blipFill>
          <a:blip r:embed="rId1"/>
          <a:stretch>
            <a:fillRect/>
          </a:stretch>
        </p:blipFill>
        <p:spPr>
          <a:xfrm>
            <a:off x="714375" y="1696641"/>
            <a:ext cx="6667500" cy="3750469"/>
          </a:xfrm>
          <a:prstGeom prst="rect">
            <a:avLst/>
          </a:prstGeom>
        </p:spPr>
      </p:pic>
      <p:graphicFrame>
        <p:nvGraphicFramePr>
          <p:cNvPr id="14" name="Table 11"/>
          <p:cNvGraphicFramePr/>
          <p:nvPr/>
        </p:nvGraphicFramePr>
        <p:xfrm>
          <a:off x="7524750" y="2000250"/>
          <a:ext cx="3619501" cy="2667000"/>
        </p:xfrm>
        <a:graphic>
          <a:graphicData uri="http://schemas.openxmlformats.org/drawingml/2006/table">
            <a:tbl>
              <a:tblPr/>
              <a:tblGrid>
                <a:gridCol w="861786"/>
                <a:gridCol w="861786"/>
                <a:gridCol w="861786"/>
                <a:gridCol w="1034143"/>
              </a:tblGrid>
              <a:tr h="666750">
                <a:tc>
                  <a:txBody>
                    <a:bodyPr/>
                    <a:lstStyle/>
                    <a:p>
                      <a:r>
                        <a:rPr sz="1200" b="1">
                          <a:solidFill>
                            <a:srgbClr val="FFFFFF"/>
                          </a:solidFill>
                          <a:latin typeface="Source Han Sans CN"/>
                          <a:ea typeface="Source Han Sans CN"/>
                          <a:cs typeface="Source Han Sans CN"/>
                        </a:rPr>
                        <a:t>cols</a:t>
                      </a:r>
                      <a:endParaRPr sz="120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200" b="1">
                          <a:solidFill>
                            <a:srgbClr val="FFFFFF"/>
                          </a:solidFill>
                          <a:latin typeface="Source Han Sans CN"/>
                          <a:ea typeface="Source Han Sans CN"/>
                          <a:cs typeface="Source Han Sans CN"/>
                        </a:rPr>
                        <a:t>v2</a:t>
                      </a:r>
                      <a:endParaRPr sz="120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200" b="1">
                          <a:solidFill>
                            <a:srgbClr val="FFFFFF"/>
                          </a:solidFill>
                          <a:latin typeface="Source Han Sans CN"/>
                          <a:ea typeface="Source Han Sans CN"/>
                          <a:cs typeface="Source Han Sans CN"/>
                        </a:rPr>
                        <a:t>v3</a:t>
                      </a:r>
                      <a:endParaRPr sz="1200" b="1">
                        <a:solidFill>
                          <a:srgbClr val="FFFFFF"/>
                        </a:solidFill>
                        <a:latin typeface="Source Han Sans CN"/>
                        <a:ea typeface="Source Han Sans CN"/>
                        <a:cs typeface="Source Han Sans CN"/>
                      </a:endParaRPr>
                    </a:p>
                  </a:txBody>
                  <a:tcPr marL="57150" marR="57150" marT="57150" marB="57150" anchor="ctr">
                    <a:solidFill>
                      <a:srgbClr val="660874"/>
                    </a:solidFill>
                  </a:tcPr>
                </a:tc>
                <a:tc>
                  <a:txBody>
                    <a:bodyPr/>
                    <a:lstStyle/>
                    <a:p>
                      <a:r>
                        <a:rPr sz="1200" b="1">
                          <a:solidFill>
                            <a:srgbClr val="FFFFFF"/>
                          </a:solidFill>
                          <a:latin typeface="Source Han Sans CN"/>
                          <a:ea typeface="Source Han Sans CN"/>
                          <a:cs typeface="Source Han Sans CN"/>
                        </a:rPr>
                        <a:t>mcDNN</a:t>
                      </a:r>
                      <a:endParaRPr sz="1200" b="1">
                        <a:solidFill>
                          <a:srgbClr val="FFFFFF"/>
                        </a:solidFill>
                        <a:latin typeface="Source Han Sans CN"/>
                        <a:ea typeface="Source Han Sans CN"/>
                        <a:cs typeface="Source Han Sans CN"/>
                      </a:endParaRPr>
                    </a:p>
                  </a:txBody>
                  <a:tcPr marL="57150" marR="57150" marT="57150" marB="57150" anchor="ctr">
                    <a:solidFill>
                      <a:srgbClr val="660874"/>
                    </a:solidFill>
                  </a:tcPr>
                </a:tc>
              </a:tr>
              <a:tr h="666750">
                <a:tc>
                  <a:txBody>
                    <a:bodyPr/>
                    <a:lstStyle/>
                    <a:p>
                      <a:r>
                        <a:rPr sz="1200">
                          <a:solidFill>
                            <a:srgbClr val="202124"/>
                          </a:solidFill>
                          <a:latin typeface="Source Han Sans CN"/>
                          <a:ea typeface="Source Han Sans CN"/>
                          <a:cs typeface="Source Han Sans CN"/>
                        </a:rPr>
                        <a:t>64</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2.24×</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6.46×</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9.10×</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r>
              <a:tr h="666750">
                <a:tc>
                  <a:txBody>
                    <a:bodyPr/>
                    <a:lstStyle/>
                    <a:p>
                      <a:r>
                        <a:rPr sz="1200">
                          <a:solidFill>
                            <a:srgbClr val="202124"/>
                          </a:solidFill>
                          <a:latin typeface="Source Han Sans CN"/>
                          <a:ea typeface="Source Han Sans CN"/>
                          <a:cs typeface="Source Han Sans CN"/>
                        </a:rPr>
                        <a:t>512</a:t>
                      </a:r>
                      <a:endParaRPr sz="1200">
                        <a:solidFill>
                          <a:srgbClr val="202124"/>
                        </a:solidFill>
                        <a:latin typeface="Source Han Sans CN"/>
                        <a:ea typeface="Source Han Sans CN"/>
                        <a:cs typeface="Source Han Sans CN"/>
                      </a:endParaRPr>
                    </a:p>
                  </a:txBody>
                  <a:tcPr marL="57150" marR="57150" marT="47625" marB="47625" anchor="ctr"/>
                </a:tc>
                <a:tc>
                  <a:txBody>
                    <a:bodyPr/>
                    <a:lstStyle/>
                    <a:p>
                      <a:r>
                        <a:rPr sz="1200">
                          <a:solidFill>
                            <a:srgbClr val="202124"/>
                          </a:solidFill>
                          <a:latin typeface="Source Han Sans CN"/>
                          <a:ea typeface="Source Han Sans CN"/>
                          <a:cs typeface="Source Han Sans CN"/>
                        </a:rPr>
                        <a:t>19.62×</a:t>
                      </a:r>
                      <a:endParaRPr sz="1200">
                        <a:solidFill>
                          <a:srgbClr val="202124"/>
                        </a:solidFill>
                        <a:latin typeface="Source Han Sans CN"/>
                        <a:ea typeface="Source Han Sans CN"/>
                        <a:cs typeface="Source Han Sans CN"/>
                      </a:endParaRPr>
                    </a:p>
                  </a:txBody>
                  <a:tcPr marL="57150" marR="57150" marT="47625" marB="47625" anchor="ctr"/>
                </a:tc>
                <a:tc>
                  <a:txBody>
                    <a:bodyPr/>
                    <a:lstStyle/>
                    <a:p>
                      <a:r>
                        <a:rPr sz="1200">
                          <a:solidFill>
                            <a:srgbClr val="202124"/>
                          </a:solidFill>
                          <a:latin typeface="Source Han Sans CN"/>
                          <a:ea typeface="Source Han Sans CN"/>
                          <a:cs typeface="Source Han Sans CN"/>
                        </a:rPr>
                        <a:t>27.37×</a:t>
                      </a:r>
                      <a:endParaRPr sz="1200">
                        <a:solidFill>
                          <a:srgbClr val="202124"/>
                        </a:solidFill>
                        <a:latin typeface="Source Han Sans CN"/>
                        <a:ea typeface="Source Han Sans CN"/>
                        <a:cs typeface="Source Han Sans CN"/>
                      </a:endParaRPr>
                    </a:p>
                  </a:txBody>
                  <a:tcPr marL="57150" marR="57150" marT="47625" marB="47625" anchor="ctr"/>
                </a:tc>
                <a:tc>
                  <a:txBody>
                    <a:bodyPr/>
                    <a:lstStyle/>
                    <a:p>
                      <a:r>
                        <a:rPr sz="1200">
                          <a:solidFill>
                            <a:srgbClr val="202124"/>
                          </a:solidFill>
                          <a:latin typeface="Source Han Sans CN"/>
                          <a:ea typeface="Source Han Sans CN"/>
                          <a:cs typeface="Source Han Sans CN"/>
                        </a:rPr>
                        <a:t>26.85×</a:t>
                      </a:r>
                      <a:endParaRPr sz="1200">
                        <a:solidFill>
                          <a:srgbClr val="202124"/>
                        </a:solidFill>
                        <a:latin typeface="Source Han Sans CN"/>
                        <a:ea typeface="Source Han Sans CN"/>
                        <a:cs typeface="Source Han Sans CN"/>
                      </a:endParaRPr>
                    </a:p>
                  </a:txBody>
                  <a:tcPr marL="57150" marR="57150" marT="47625" marB="47625" anchor="ctr"/>
                </a:tc>
              </a:tr>
              <a:tr h="666750">
                <a:tc>
                  <a:txBody>
                    <a:bodyPr/>
                    <a:lstStyle/>
                    <a:p>
                      <a:r>
                        <a:rPr sz="1200">
                          <a:solidFill>
                            <a:srgbClr val="202124"/>
                          </a:solidFill>
                          <a:latin typeface="Source Han Sans CN"/>
                          <a:ea typeface="Source Han Sans CN"/>
                          <a:cs typeface="Source Han Sans CN"/>
                        </a:rPr>
                        <a:t>4096</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36.76×</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32.25×</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c>
                  <a:txBody>
                    <a:bodyPr/>
                    <a:lstStyle/>
                    <a:p>
                      <a:r>
                        <a:rPr sz="1200">
                          <a:solidFill>
                            <a:srgbClr val="202124"/>
                          </a:solidFill>
                          <a:latin typeface="Source Han Sans CN"/>
                          <a:ea typeface="Source Han Sans CN"/>
                          <a:cs typeface="Source Han Sans CN"/>
                        </a:rPr>
                        <a:t>50.33×</a:t>
                      </a:r>
                      <a:endParaRPr sz="1200">
                        <a:solidFill>
                          <a:srgbClr val="202124"/>
                        </a:solidFill>
                        <a:latin typeface="Source Han Sans CN"/>
                        <a:ea typeface="Source Han Sans CN"/>
                        <a:cs typeface="Source Han Sans CN"/>
                      </a:endParaRPr>
                    </a:p>
                  </a:txBody>
                  <a:tcPr marL="57150" marR="57150" marT="47625" marB="47625" anchor="ctr">
                    <a:solidFill>
                      <a:srgbClr val="F7F7F8"/>
                    </a:solidFill>
                  </a:tcPr>
                </a:tc>
              </a:tr>
            </a:tbl>
          </a:graphicData>
        </a:graphic>
      </p:graphicFrame>
      <p:sp>
        <p:nvSpPr>
          <p:cNvPr id="7" name="Rectangle 6"/>
          <p:cNvSpPr>
            <a:spLocks noGrp="1"/>
          </p:cNvSpPr>
          <p:nvPr/>
        </p:nvSpPr>
        <p:spPr>
          <a:xfrm>
            <a:off x="7620000" y="5000625"/>
            <a:ext cx="3429000" cy="590550"/>
          </a:xfrm>
          <a:prstGeom prst="rect">
            <a:avLst/>
          </a:prstGeom>
          <a:noFill/>
          <a:ln w="0">
            <a:noFill/>
            <a:prstDash val="solid"/>
          </a:ln>
        </p:spPr>
        <p:txBody>
          <a:bodyPr wrap="square" lIns="38100" tIns="19050" rIns="38100" bIns="19050" anchor="ctr">
            <a:normAutofit/>
          </a:bodyPr>
          <a:lstStyle/>
          <a:p>
            <a:pPr algn="ctr">
              <a:lnSpc>
                <a:spcPct val="108000"/>
              </a:lnSpc>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v2 / v3 的交叉，验证了线程映射的 shape 敏感性</a:t>
            </a:r>
            <a:endParaRPr sz="1500" b="1">
              <a:solidFill>
                <a:srgbClr val="660874"/>
              </a:solidFill>
              <a:latin typeface="Source Han Sans CN"/>
              <a:ea typeface="Source Han Sans CN"/>
              <a:cs typeface="Source Han Sans C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Kernel 延迟均值更小不代表绝对最优</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性能差小于跨轮次波动误差时，无法获得明确更优结论</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26</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143000" y="1905000"/>
            <a:ext cx="2476500" cy="523875"/>
          </a:xfrm>
          <a:prstGeom prst="rect">
            <a:avLst/>
          </a:prstGeom>
          <a:noFill/>
          <a:ln w="0">
            <a:noFill/>
            <a:prstDash val="solid"/>
          </a:ln>
        </p:spPr>
        <p:txBody>
          <a:bodyPr wrap="square" lIns="38100" tIns="19050" rIns="38100" bIns="19050" anchor="ctr">
            <a:normAutofit/>
          </a:bodyPr>
          <a:lstStyle/>
          <a:p>
            <a:pPr algn="ctr">
              <a:lnSpc>
                <a:spcPct val="108000"/>
              </a:lnSpc>
              <a:buNone/>
              <a:defRPr sz="2325" b="1">
                <a:solidFill>
                  <a:srgbClr val="660874"/>
                </a:solidFill>
                <a:latin typeface="Source Han Sans CN"/>
                <a:ea typeface="Source Han Sans CN"/>
                <a:cs typeface="Source Han Sans CN"/>
              </a:defRPr>
            </a:pPr>
            <a:r>
              <a:rPr sz="2325" b="1">
                <a:solidFill>
                  <a:srgbClr val="660874"/>
                </a:solidFill>
                <a:latin typeface="Source Han Sans CN"/>
                <a:ea typeface="Source Han Sans CN"/>
                <a:cs typeface="Source Han Sans CN"/>
              </a:rPr>
              <a:t>cols = 512</a:t>
            </a:r>
            <a:endParaRPr sz="2325" b="1">
              <a:solidFill>
                <a:srgbClr val="660874"/>
              </a:solidFill>
              <a:latin typeface="Source Han Sans CN"/>
              <a:ea typeface="Source Han Sans CN"/>
              <a:cs typeface="Source Han Sans CN"/>
            </a:endParaRPr>
          </a:p>
        </p:txBody>
      </p:sp>
      <p:sp>
        <p:nvSpPr>
          <p:cNvPr id="6" name="Rectangle 5"/>
          <p:cNvSpPr>
            <a:spLocks noGrp="1"/>
          </p:cNvSpPr>
          <p:nvPr/>
        </p:nvSpPr>
        <p:spPr>
          <a:xfrm>
            <a:off x="1095375" y="2714625"/>
            <a:ext cx="2571750" cy="1143000"/>
          </a:xfrm>
          <a:prstGeom prst="rect">
            <a:avLst/>
          </a:prstGeom>
          <a:solidFill>
            <a:srgbClr val="EAF2F8"/>
          </a:solidFill>
          <a:ln w="0">
            <a:noFill/>
            <a:prstDash val="solid"/>
          </a:ln>
        </p:spPr>
        <p:txBody>
          <a:bodyPr wrap="square" lIns="38100" tIns="19050" rIns="38100" bIns="19050" anchor="ctr">
            <a:normAutofit/>
          </a:bodyPr>
          <a:lstStyle/>
          <a:p>
            <a:pPr algn="ctr">
              <a:lnSpc>
                <a:spcPct val="108000"/>
              </a:lnSpc>
              <a:buNone/>
              <a:defRPr sz="2250" b="1">
                <a:solidFill>
                  <a:srgbClr val="2878B5"/>
                </a:solidFill>
                <a:latin typeface="Arial" panose="020B0604020202090204"/>
                <a:ea typeface="Arial" panose="020B0604020202090204"/>
                <a:cs typeface="Arial" panose="020B0604020202090204"/>
              </a:defRPr>
            </a:pPr>
            <a:r>
              <a:rPr sz="2250" b="1">
                <a:solidFill>
                  <a:srgbClr val="2878B5"/>
                </a:solidFill>
                <a:latin typeface="Arial" panose="020B0604020202090204"/>
                <a:ea typeface="Arial" panose="020B0604020202090204"/>
                <a:cs typeface="Arial" panose="020B0604020202090204"/>
              </a:rPr>
              <a:t>v3</a:t>
            </a:r>
            <a:endParaRPr sz="2250" b="1">
              <a:solidFill>
                <a:srgbClr val="2878B5"/>
              </a:solidFill>
              <a:latin typeface="Arial" panose="020B0604020202090204"/>
              <a:ea typeface="Arial" panose="020B0604020202090204"/>
              <a:cs typeface="Arial" panose="020B0604020202090204"/>
            </a:endParaRPr>
          </a:p>
          <a:p>
            <a:pPr algn="ctr">
              <a:lnSpc>
                <a:spcPct val="108000"/>
              </a:lnSpc>
              <a:buNone/>
              <a:defRPr sz="2250" b="1">
                <a:solidFill>
                  <a:srgbClr val="2878B5"/>
                </a:solidFill>
                <a:latin typeface="Arial" panose="020B0604020202090204"/>
                <a:ea typeface="Arial" panose="020B0604020202090204"/>
                <a:cs typeface="Arial" panose="020B0604020202090204"/>
              </a:defRPr>
            </a:pPr>
            <a:r>
              <a:rPr sz="2250" b="1">
                <a:solidFill>
                  <a:srgbClr val="2878B5"/>
                </a:solidFill>
                <a:latin typeface="Arial" panose="020B0604020202090204"/>
                <a:ea typeface="Arial" panose="020B0604020202090204"/>
                <a:cs typeface="Arial" panose="020B0604020202090204"/>
              </a:rPr>
              <a:t>0.0408 ms</a:t>
            </a:r>
            <a:endParaRPr sz="2250" b="1">
              <a:solidFill>
                <a:srgbClr val="2878B5"/>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4095750" y="2714625"/>
            <a:ext cx="2571750" cy="1143000"/>
          </a:xfrm>
          <a:prstGeom prst="rect">
            <a:avLst/>
          </a:prstGeom>
          <a:solidFill>
            <a:srgbClr val="FCECEF"/>
          </a:solidFill>
          <a:ln w="0">
            <a:noFill/>
            <a:prstDash val="solid"/>
          </a:ln>
        </p:spPr>
        <p:txBody>
          <a:bodyPr wrap="square" lIns="38100" tIns="19050" rIns="38100" bIns="19050" anchor="ctr">
            <a:normAutofit/>
          </a:bodyPr>
          <a:lstStyle/>
          <a:p>
            <a:pPr algn="ctr">
              <a:lnSpc>
                <a:spcPct val="108000"/>
              </a:lnSpc>
              <a:buNone/>
              <a:defRPr sz="2250" b="1">
                <a:solidFill>
                  <a:srgbClr val="C23B55"/>
                </a:solidFill>
                <a:latin typeface="Arial" panose="020B0604020202090204"/>
                <a:ea typeface="Arial" panose="020B0604020202090204"/>
                <a:cs typeface="Arial" panose="020B0604020202090204"/>
              </a:defRPr>
            </a:pPr>
            <a:r>
              <a:rPr sz="2250" b="1">
                <a:solidFill>
                  <a:srgbClr val="C23B55"/>
                </a:solidFill>
                <a:latin typeface="Arial" panose="020B0604020202090204"/>
                <a:ea typeface="Arial" panose="020B0604020202090204"/>
                <a:cs typeface="Arial" panose="020B0604020202090204"/>
              </a:rPr>
              <a:t>mcDNN</a:t>
            </a:r>
            <a:endParaRPr sz="2250" b="1">
              <a:solidFill>
                <a:srgbClr val="C23B55"/>
              </a:solidFill>
              <a:latin typeface="Arial" panose="020B0604020202090204"/>
              <a:ea typeface="Arial" panose="020B0604020202090204"/>
              <a:cs typeface="Arial" panose="020B0604020202090204"/>
            </a:endParaRPr>
          </a:p>
          <a:p>
            <a:pPr algn="ctr">
              <a:lnSpc>
                <a:spcPct val="108000"/>
              </a:lnSpc>
              <a:buNone/>
              <a:defRPr sz="2250" b="1">
                <a:solidFill>
                  <a:srgbClr val="C23B55"/>
                </a:solidFill>
                <a:latin typeface="Arial" panose="020B0604020202090204"/>
                <a:ea typeface="Arial" panose="020B0604020202090204"/>
                <a:cs typeface="Arial" panose="020B0604020202090204"/>
              </a:defRPr>
            </a:pPr>
            <a:r>
              <a:rPr sz="2250" b="1">
                <a:solidFill>
                  <a:srgbClr val="C23B55"/>
                </a:solidFill>
                <a:latin typeface="Arial" panose="020B0604020202090204"/>
                <a:ea typeface="Arial" panose="020B0604020202090204"/>
                <a:cs typeface="Arial" panose="020B0604020202090204"/>
              </a:rPr>
              <a:t>0.0416 ms</a:t>
            </a:r>
            <a:endParaRPr sz="2250" b="1">
              <a:solidFill>
                <a:srgbClr val="C23B55"/>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2238375" y="4191000"/>
            <a:ext cx="3333750" cy="523875"/>
          </a:xfrm>
          <a:prstGeom prst="rect">
            <a:avLst/>
          </a:prstGeom>
          <a:noFill/>
          <a:ln w="0">
            <a:noFill/>
            <a:prstDash val="solid"/>
          </a:ln>
        </p:spPr>
        <p:txBody>
          <a:bodyPr wrap="square" lIns="38100" tIns="19050" rIns="38100" bIns="19050" anchor="t">
            <a:normAutofit/>
          </a:bodyPr>
          <a:lstStyle/>
          <a:p>
            <a:pPr algn="ctr">
              <a:lnSpc>
                <a:spcPct val="108000"/>
              </a:lnSpc>
              <a:buNone/>
              <a:defRPr sz="1800" b="1">
                <a:solidFill>
                  <a:srgbClr val="1E8E94"/>
                </a:solidFill>
                <a:latin typeface="Source Han Sans CN"/>
                <a:ea typeface="Source Han Sans CN"/>
                <a:cs typeface="Source Han Sans CN"/>
              </a:defRPr>
            </a:pPr>
            <a:r>
              <a:rPr sz="1800" b="1">
                <a:solidFill>
                  <a:srgbClr val="1E8E94"/>
                </a:solidFill>
                <a:latin typeface="Source Han Sans CN"/>
                <a:ea typeface="Source Han Sans CN"/>
                <a:cs typeface="Source Han Sans CN"/>
              </a:rPr>
              <a:t>均值优势 ≈ 1.9%</a:t>
            </a:r>
            <a:endParaRPr sz="1800" b="1">
              <a:solidFill>
                <a:srgbClr val="1E8E94"/>
              </a:solidFill>
              <a:latin typeface="Source Han Sans CN"/>
              <a:ea typeface="Source Han Sans CN"/>
              <a:cs typeface="Source Han Sans CN"/>
            </a:endParaRPr>
          </a:p>
        </p:txBody>
      </p:sp>
      <p:sp>
        <p:nvSpPr>
          <p:cNvPr id="9" name="Rectangle 8"/>
          <p:cNvSpPr>
            <a:spLocks noGrp="1"/>
          </p:cNvSpPr>
          <p:nvPr/>
        </p:nvSpPr>
        <p:spPr>
          <a:xfrm>
            <a:off x="6858000" y="3000375"/>
            <a:ext cx="762000" cy="666750"/>
          </a:xfrm>
          <a:prstGeom prst="rect">
            <a:avLst/>
          </a:prstGeom>
          <a:noFill/>
          <a:ln w="0">
            <a:noFill/>
            <a:prstDash val="solid"/>
          </a:ln>
        </p:spPr>
        <p:txBody>
          <a:bodyPr wrap="square" lIns="38100" tIns="19050" rIns="38100" bIns="19050" anchor="t">
            <a:normAutofit/>
          </a:bodyPr>
          <a:lstStyle/>
          <a:p>
            <a:pPr algn="ctr">
              <a:lnSpc>
                <a:spcPct val="108000"/>
              </a:lnSpc>
              <a:buNone/>
              <a:defRPr sz="3450" b="1">
                <a:solidFill>
                  <a:srgbClr val="C23B55"/>
                </a:solidFill>
                <a:latin typeface="Source Han Sans CN"/>
                <a:ea typeface="Source Han Sans CN"/>
                <a:cs typeface="Source Han Sans CN"/>
              </a:defRPr>
            </a:pPr>
            <a:r>
              <a:rPr sz="3450" b="1">
                <a:solidFill>
                  <a:srgbClr val="C23B55"/>
                </a:solidFill>
                <a:latin typeface="Source Han Sans CN"/>
                <a:ea typeface="Source Han Sans CN"/>
                <a:cs typeface="Source Han Sans CN"/>
              </a:rPr>
              <a:t>&lt;</a:t>
            </a:r>
            <a:endParaRPr sz="3450" b="1">
              <a:solidFill>
                <a:srgbClr val="C23B55"/>
              </a:solidFill>
              <a:latin typeface="Source Han Sans CN"/>
              <a:ea typeface="Source Han Sans CN"/>
              <a:cs typeface="Source Han Sans CN"/>
            </a:endParaRPr>
          </a:p>
        </p:txBody>
      </p:sp>
      <p:sp>
        <p:nvSpPr>
          <p:cNvPr id="10" name="Rectangle 9"/>
          <p:cNvSpPr>
            <a:spLocks noGrp="1"/>
          </p:cNvSpPr>
          <p:nvPr/>
        </p:nvSpPr>
        <p:spPr>
          <a:xfrm>
            <a:off x="7810500" y="2714625"/>
            <a:ext cx="2571750" cy="1143000"/>
          </a:xfrm>
          <a:prstGeom prst="rect">
            <a:avLst/>
          </a:prstGeom>
          <a:solidFill>
            <a:srgbClr val="FFF4F4"/>
          </a:solidFill>
          <a:ln w="0">
            <a:noFill/>
            <a:prstDash val="solid"/>
          </a:ln>
        </p:spPr>
        <p:txBody>
          <a:bodyPr wrap="square" lIns="38100" tIns="19050" rIns="38100" bIns="19050" anchor="ctr">
            <a:normAutofit/>
          </a:bodyPr>
          <a:lstStyle/>
          <a:p>
            <a:pPr algn="ctr">
              <a:lnSpc>
                <a:spcPct val="108000"/>
              </a:lnSpc>
              <a:buNone/>
              <a:defRPr sz="2250" b="1">
                <a:solidFill>
                  <a:srgbClr val="C23B55"/>
                </a:solidFill>
                <a:latin typeface="Arial" panose="020B0604020202090204"/>
                <a:ea typeface="Arial" panose="020B0604020202090204"/>
                <a:cs typeface="Arial" panose="020B0604020202090204"/>
              </a:defRPr>
            </a:pPr>
            <a:r>
              <a:rPr sz="2250" b="1">
                <a:solidFill>
                  <a:srgbClr val="C23B55"/>
                </a:solidFill>
                <a:latin typeface="Arial" panose="020B0604020202090204"/>
                <a:ea typeface="Arial" panose="020B0604020202090204"/>
                <a:cs typeface="Arial" panose="020B0604020202090204"/>
              </a:rPr>
              <a:t>实测 v3 两轮测试</a:t>
            </a:r>
            <a:endParaRPr sz="2250" b="1">
              <a:solidFill>
                <a:srgbClr val="C23B55"/>
              </a:solidFill>
              <a:latin typeface="Arial" panose="020B0604020202090204"/>
              <a:ea typeface="Arial" panose="020B0604020202090204"/>
              <a:cs typeface="Arial" panose="020B0604020202090204"/>
            </a:endParaRPr>
          </a:p>
          <a:p>
            <a:pPr algn="ctr">
              <a:lnSpc>
                <a:spcPct val="108000"/>
              </a:lnSpc>
              <a:buNone/>
              <a:defRPr sz="2250" b="1">
                <a:solidFill>
                  <a:srgbClr val="C23B55"/>
                </a:solidFill>
                <a:latin typeface="Arial" panose="020B0604020202090204"/>
                <a:ea typeface="Arial" panose="020B0604020202090204"/>
                <a:cs typeface="Arial" panose="020B0604020202090204"/>
              </a:defRPr>
            </a:pPr>
            <a:r>
              <a:rPr sz="2250" b="1">
                <a:solidFill>
                  <a:srgbClr val="C23B55"/>
                </a:solidFill>
                <a:latin typeface="Arial" panose="020B0604020202090204"/>
                <a:ea typeface="Arial" panose="020B0604020202090204"/>
                <a:cs typeface="Arial" panose="020B0604020202090204"/>
              </a:rPr>
              <a:t>延迟差距为 8.59%</a:t>
            </a:r>
            <a:endParaRPr sz="2250" b="1">
              <a:solidFill>
                <a:srgbClr val="C23B55"/>
              </a:solidFill>
              <a:latin typeface="Arial" panose="020B0604020202090204"/>
              <a:ea typeface="Arial" panose="020B0604020202090204"/>
              <a:cs typeface="Arial" panose="020B0604020202090204"/>
            </a:endParaRPr>
          </a:p>
        </p:txBody>
      </p:sp>
      <p:sp>
        <p:nvSpPr>
          <p:cNvPr id="11" name="Rectangle: Rounded Corners 10"/>
          <p:cNvSpPr>
            <a:spLocks noGrp="1"/>
          </p:cNvSpPr>
          <p:nvPr/>
        </p:nvSpPr>
        <p:spPr>
          <a:xfrm>
            <a:off x="2143125" y="5095875"/>
            <a:ext cx="7905750" cy="552450"/>
          </a:xfrm>
          <a:prstGeom prst="roundRect">
            <a:avLst>
              <a:gd name="adj" fmla="val 20690"/>
            </a:avLst>
          </a:prstGeom>
          <a:solidFill>
            <a:srgbClr val="F5EFF7"/>
          </a:solidFill>
          <a:ln w="9525">
            <a:solidFill>
              <a:srgbClr val="660874"/>
            </a:solidFill>
            <a:prstDash val="solid"/>
          </a:ln>
        </p:spPr>
        <p:txBody>
          <a:bodyPr lIns="76200" tIns="38100" rIns="76200" bIns="38100" anchor="ctr">
            <a:normAutofit/>
          </a:bodyPr>
          <a:lstStyle/>
          <a:p>
            <a:pPr algn="ctr">
              <a:buNone/>
              <a:defRPr sz="1800" b="1">
                <a:solidFill>
                  <a:srgbClr val="660874"/>
                </a:solidFill>
                <a:latin typeface="Source Han Sans CN"/>
                <a:ea typeface="Source Han Sans CN"/>
                <a:cs typeface="Source Han Sans CN"/>
              </a:defRPr>
            </a:pPr>
            <a:r>
              <a:rPr sz="1800" b="1">
                <a:solidFill>
                  <a:srgbClr val="660874"/>
                </a:solidFill>
                <a:latin typeface="Source Han Sans CN"/>
                <a:ea typeface="Source Han Sans CN"/>
                <a:cs typeface="Source Han Sans CN"/>
              </a:rPr>
              <a:t>正确表述：两者均值接近，不能声称 v3 稳定胜出</a:t>
            </a:r>
            <a:endParaRPr sz="1800" b="1">
              <a:solidFill>
                <a:srgbClr val="660874"/>
              </a:solidFill>
              <a:latin typeface="Source Han Sans CN"/>
              <a:ea typeface="Source Han Sans CN"/>
              <a:cs typeface="Source Han Sans C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大部分情况官方成熟库的实现都要优于手写</a:t>
            </a:r>
          </a:p>
        </p:txBody>
      </p:sp>
      <p:sp>
        <p:nvSpPr>
          <p:cNvPr id="4" name="内容占位符 3"/>
          <p:cNvSpPr>
            <a:spLocks noGrp="1"/>
          </p:cNvSpPr>
          <p:nvPr>
            <p:ph idx="1"/>
          </p:nvPr>
        </p:nvSpPr>
        <p:spPr>
          <a:xfrm>
            <a:off x="525473" y="1219652"/>
            <a:ext cx="10420350" cy="1102802"/>
          </a:xfrm>
        </p:spPr>
        <p:txBody>
          <a:bodyPr lIns="38100" tIns="19050" rIns="38100" bIns="19050" anchor="ctr">
            <a:spAutoFit/>
          </a:bodyPr>
          <a:lstStyle/>
          <a:p>
            <a:pPr>
              <a:buNone/>
              <a:defRPr sz="1500" b="1">
                <a:solidFill>
                  <a:srgbClr val="660874"/>
                </a:solidFill>
                <a:latin typeface="Source Han Sans CN"/>
                <a:ea typeface="Source Han Sans CN"/>
                <a:cs typeface="Source Han Sans CN"/>
              </a:defRPr>
            </a:pPr>
            <a:r>
              <a:rPr sz="1400">
                <a:latin typeface="Source Han Sans CN"/>
                <a:ea typeface="Source Han Sans CN"/>
                <a:cs typeface="Source Han Sans CN"/>
              </a:rPr>
              <a:t>本次教学中的手写实现仅用于展示优化思路，并非最优实现。官方算子库通常会根据输入 shape、数据类型和硬件特征，将同一算子入口映射到不同的 kernel，从而在不同场景下尽可能获得更优性能。</a:t>
            </a:r>
            <a:endParaRPr sz="1400">
              <a:latin typeface="Source Han Sans CN"/>
              <a:ea typeface="Source Han Sans CN"/>
              <a:cs typeface="Source Han Sans CN"/>
            </a:endParaRPr>
          </a:p>
          <a:p>
            <a:pPr>
              <a:buNone/>
              <a:defRPr sz="1500" b="1">
                <a:solidFill>
                  <a:srgbClr val="660874"/>
                </a:solidFill>
                <a:latin typeface="Source Han Sans CN"/>
                <a:ea typeface="Source Han Sans CN"/>
                <a:cs typeface="Source Han Sans CN"/>
              </a:defRPr>
            </a:pPr>
            <a:endParaRPr sz="1400"/>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27</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143000" y="2671465"/>
            <a:ext cx="3429000" cy="666750"/>
          </a:xfrm>
          <a:prstGeom prst="rect">
            <a:avLst/>
          </a:prstGeom>
          <a:noFill/>
          <a:ln w="0">
            <a:noFill/>
            <a:prstDash val="solid"/>
          </a:ln>
        </p:spPr>
        <p:txBody>
          <a:bodyPr wrap="square" lIns="38100" tIns="19050" rIns="38100" bIns="19050" anchor="ctr">
            <a:normAutofit/>
          </a:bodyPr>
          <a:lstStyle/>
          <a:p>
            <a:pPr algn="ctr">
              <a:lnSpc>
                <a:spcPct val="108000"/>
              </a:lnSpc>
              <a:buNone/>
              <a:defRPr sz="3000" b="1">
                <a:solidFill>
                  <a:srgbClr val="C23B55"/>
                </a:solidFill>
                <a:latin typeface="Source Han Sans CN"/>
                <a:ea typeface="Source Han Sans CN"/>
                <a:cs typeface="Source Han Sans CN"/>
              </a:defRPr>
            </a:pPr>
            <a:r>
              <a:rPr sz="3000" b="1">
                <a:solidFill>
                  <a:srgbClr val="C23B55"/>
                </a:solidFill>
                <a:latin typeface="Source Han Sans CN"/>
                <a:ea typeface="Source Han Sans CN"/>
                <a:cs typeface="Source Han Sans CN"/>
              </a:rPr>
              <a:t>mcDNN</a:t>
            </a:r>
            <a:endParaRPr sz="3000" b="1">
              <a:solidFill>
                <a:srgbClr val="C23B55"/>
              </a:solidFill>
              <a:latin typeface="Source Han Sans CN"/>
              <a:ea typeface="Source Han Sans CN"/>
              <a:cs typeface="Source Han Sans CN"/>
            </a:endParaRPr>
          </a:p>
        </p:txBody>
      </p:sp>
      <p:sp>
        <p:nvSpPr>
          <p:cNvPr id="6" name="Rectangle 5"/>
          <p:cNvSpPr>
            <a:spLocks noGrp="1"/>
          </p:cNvSpPr>
          <p:nvPr/>
        </p:nvSpPr>
        <p:spPr>
          <a:xfrm>
            <a:off x="1906621" y="3693515"/>
            <a:ext cx="1901757" cy="848502"/>
          </a:xfrm>
          <a:prstGeom prst="rect">
            <a:avLst/>
          </a:prstGeom>
          <a:noFill/>
          <a:ln w="0">
            <a:noFill/>
            <a:prstDash val="solid"/>
          </a:ln>
        </p:spPr>
        <p:txBody>
          <a:bodyPr wrap="square" lIns="38100" tIns="19050" rIns="38100" bIns="19050" anchor="t">
            <a:spAutoFit/>
          </a:bodyPr>
          <a:lstStyle/>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11 </a:t>
            </a:r>
            <a:r>
              <a:rPr sz="1650">
                <a:solidFill>
                  <a:srgbClr val="202124"/>
                </a:solidFill>
                <a:latin typeface="Source Han Sans CN"/>
                <a:ea typeface="Source Han Sans CN"/>
                <a:cs typeface="Source Han Sans CN"/>
              </a:rPr>
              <a:t>中输入</a:t>
            </a:r>
            <a:r>
              <a:rPr sz="1650" b="0">
                <a:solidFill>
                  <a:srgbClr val="202124"/>
                </a:solidFill>
                <a:latin typeface="Source Han Sans CN"/>
                <a:ea typeface="Source Han Sans CN"/>
                <a:cs typeface="Source Han Sans CN"/>
              </a:rPr>
              <a:t>行宽中</a:t>
            </a:r>
            <a:endParaRPr sz="1650" b="0">
              <a:solidFill>
                <a:srgbClr val="202124"/>
              </a:solidFill>
              <a:latin typeface="Source Han Sans CN"/>
              <a:ea typeface="Source Han Sans CN"/>
              <a:cs typeface="Source Han Sans CN"/>
            </a:endParaRPr>
          </a:p>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 9 个获得均值最快</a:t>
            </a:r>
            <a:endParaRPr sz="1650" b="0">
              <a:solidFill>
                <a:srgbClr val="202124"/>
              </a:solidFill>
              <a:latin typeface="Source Han Sans CN"/>
              <a:ea typeface="Source Han Sans CN"/>
              <a:cs typeface="Source Han Sans CN"/>
            </a:endParaRPr>
          </a:p>
          <a:p>
            <a:pPr marL="0" indent="0" algn="l">
              <a:lnSpc>
                <a:spcPct val="108000"/>
              </a:lnSpc>
              <a:spcAft>
                <a:spcPts val="10"/>
              </a:spcAft>
              <a:buNone/>
              <a:defRPr sz="1650" b="0">
                <a:solidFill>
                  <a:srgbClr val="202124"/>
                </a:solidFill>
                <a:latin typeface="Source Han Sans CN"/>
                <a:ea typeface="Source Han Sans CN"/>
                <a:cs typeface="Source Han Sans CN"/>
              </a:defRPr>
            </a:pPr>
            <a:endParaRPr sz="1650" b="0">
              <a:solidFill>
                <a:srgbClr val="202124"/>
              </a:solidFill>
              <a:latin typeface="Source Han Sans CN"/>
              <a:ea typeface="Source Han Sans CN"/>
              <a:cs typeface="Source Han Sans CN"/>
            </a:endParaRPr>
          </a:p>
        </p:txBody>
      </p:sp>
      <p:sp>
        <p:nvSpPr>
          <p:cNvPr id="7" name="Rectangle 6"/>
          <p:cNvSpPr>
            <a:spLocks noGrp="1"/>
          </p:cNvSpPr>
          <p:nvPr/>
        </p:nvSpPr>
        <p:spPr>
          <a:xfrm>
            <a:off x="6007033" y="2625964"/>
            <a:ext cx="4000500" cy="666750"/>
          </a:xfrm>
          <a:prstGeom prst="rect">
            <a:avLst/>
          </a:prstGeom>
          <a:noFill/>
          <a:ln w="0">
            <a:noFill/>
            <a:prstDash val="solid"/>
          </a:ln>
        </p:spPr>
        <p:txBody>
          <a:bodyPr wrap="square" lIns="38100" tIns="19050" rIns="38100" bIns="19050" anchor="ctr">
            <a:normAutofit/>
          </a:bodyPr>
          <a:lstStyle/>
          <a:p>
            <a:pPr algn="ctr">
              <a:lnSpc>
                <a:spcPct val="108000"/>
              </a:lnSpc>
              <a:buNone/>
              <a:defRPr sz="2700" b="1">
                <a:solidFill>
                  <a:srgbClr val="660874"/>
                </a:solidFill>
                <a:latin typeface="Source Han Sans CN"/>
                <a:ea typeface="Source Han Sans CN"/>
                <a:cs typeface="Source Han Sans CN"/>
              </a:defRPr>
            </a:pPr>
            <a:r>
              <a:rPr sz="2700" b="1">
                <a:solidFill>
                  <a:srgbClr val="660874"/>
                </a:solidFill>
                <a:latin typeface="Source Han Sans CN"/>
                <a:ea typeface="Source Han Sans CN"/>
                <a:cs typeface="Source Han Sans CN"/>
              </a:rPr>
              <a:t>手写 v1 / v2 / v3</a:t>
            </a:r>
            <a:endParaRPr sz="2700" b="1">
              <a:solidFill>
                <a:srgbClr val="660874"/>
              </a:solidFill>
              <a:latin typeface="Source Han Sans CN"/>
              <a:ea typeface="Source Han Sans CN"/>
              <a:cs typeface="Source Han Sans CN"/>
            </a:endParaRPr>
          </a:p>
        </p:txBody>
      </p:sp>
      <p:sp>
        <p:nvSpPr>
          <p:cNvPr id="8" name="Rectangle 7"/>
          <p:cNvSpPr>
            <a:spLocks noGrp="1"/>
          </p:cNvSpPr>
          <p:nvPr/>
        </p:nvSpPr>
        <p:spPr>
          <a:xfrm>
            <a:off x="6762750" y="3576340"/>
            <a:ext cx="3714750" cy="1809750"/>
          </a:xfrm>
          <a:prstGeom prst="rect">
            <a:avLst/>
          </a:prstGeom>
          <a:noFill/>
          <a:ln w="0">
            <a:noFill/>
            <a:prstDash val="solid"/>
          </a:ln>
        </p:spPr>
        <p:txBody>
          <a:bodyPr wrap="square" lIns="38100" tIns="19050" rIns="38100" bIns="19050" anchor="t">
            <a:normAutofit/>
          </a:bodyPr>
          <a:lstStyle/>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理解线程映射与规约</a:t>
            </a:r>
            <a:endParaRPr sz="1650" b="0">
              <a:solidFill>
                <a:srgbClr val="202124"/>
              </a:solidFill>
              <a:latin typeface="Source Han Sans CN"/>
              <a:ea typeface="Source Han Sans CN"/>
              <a:cs typeface="Source Han Sans CN"/>
            </a:endParaRPr>
          </a:p>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可针对真实特殊 shape 调优</a:t>
            </a:r>
            <a:endParaRPr sz="1650" b="0">
              <a:solidFill>
                <a:srgbClr val="202124"/>
              </a:solidFill>
              <a:latin typeface="Source Han Sans CN"/>
              <a:ea typeface="Source Han Sans CN"/>
              <a:cs typeface="Source Han Sans CN"/>
            </a:endParaRPr>
          </a:p>
          <a:p>
            <a:pPr marL="0" indent="0" algn="l">
              <a:lnSpc>
                <a:spcPct val="108000"/>
              </a:lnSpc>
              <a:spcAft>
                <a:spcPts val="10"/>
              </a:spcAft>
              <a:buNone/>
              <a:defRPr sz="1650" b="0">
                <a:solidFill>
                  <a:srgbClr val="202124"/>
                </a:solidFill>
                <a:latin typeface="Source Han Sans CN"/>
                <a:ea typeface="Source Han Sans CN"/>
                <a:cs typeface="Source Han Sans CN"/>
              </a:defRPr>
            </a:pPr>
            <a:r>
              <a:rPr sz="1650" b="0">
                <a:solidFill>
                  <a:srgbClr val="202124"/>
                </a:solidFill>
                <a:latin typeface="Source Han Sans CN"/>
                <a:ea typeface="Source Han Sans CN"/>
                <a:cs typeface="Source Han Sans CN"/>
              </a:rPr>
              <a:t>探索融合与新数据类型</a:t>
            </a:r>
            <a:endParaRPr sz="1650" b="0">
              <a:solidFill>
                <a:srgbClr val="202124"/>
              </a:solidFill>
              <a:latin typeface="Source Han Sans CN"/>
              <a:ea typeface="Source Han Sans CN"/>
              <a:cs typeface="Source Han Sans C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PyTorch 扩展</a:t>
            </a:r>
          </a:p>
        </p:txBody>
      </p:sp>
      <p:sp>
        <p:nvSpPr>
          <p:cNvPr id="4" name="内容占位符 3"/>
          <p:cNvSpPr>
            <a:spLocks noGrp="1"/>
          </p:cNvSpPr>
          <p:nvPr>
            <p:ph idx="1"/>
          </p:nvPr>
        </p:nvSpPr>
        <p:spPr>
          <a:xfrm>
            <a:off x="838200" y="132945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a:latin typeface="Source Han Sans CN"/>
                <a:ea typeface="Source Han Sans CN"/>
                <a:cs typeface="Source Han Sans CN"/>
              </a:rPr>
              <a:t>统一入口，可指定 4 种实现</a:t>
            </a:r>
            <a:endParaRPr sz="1500">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28</a:t>
            </a:r>
            <a:endParaRPr sz="1200">
              <a:solidFill>
                <a:srgbClr val="8B8E93"/>
              </a:solidFill>
              <a:latin typeface="Arial" panose="020B0604020202090204"/>
              <a:ea typeface="Arial" panose="020B0604020202090204"/>
              <a:cs typeface="Arial" panose="020B0604020202090204"/>
            </a:endParaRPr>
          </a:p>
        </p:txBody>
      </p:sp>
      <p:sp>
        <p:nvSpPr>
          <p:cNvPr id="5" name="Rectangle: Rounded Corners 4"/>
          <p:cNvSpPr>
            <a:spLocks noGrp="1"/>
          </p:cNvSpPr>
          <p:nvPr/>
        </p:nvSpPr>
        <p:spPr>
          <a:xfrm>
            <a:off x="857250" y="2453803"/>
            <a:ext cx="5143500" cy="2381250"/>
          </a:xfrm>
          <a:prstGeom prst="roundRect">
            <a:avLst>
              <a:gd name="adj" fmla="val 4800"/>
            </a:avLst>
          </a:prstGeom>
          <a:solidFill>
            <a:srgbClr val="16202A"/>
          </a:solidFill>
          <a:ln w="9525">
            <a:solidFill>
              <a:srgbClr val="334155"/>
            </a:solidFill>
            <a:prstDash val="solid"/>
          </a:ln>
        </p:spPr>
        <p:txBody>
          <a:bodyPr lIns="152400" tIns="152400" rIns="152400" bIns="114300" anchor="t">
            <a:normAutofit/>
          </a:bodyPr>
          <a:lstStyle/>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y = maca_softmax_ext.softmax(</a:t>
            </a:r>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x, </a:t>
            </a:r>
            <a:r>
              <a:rPr sz="1275" b="1">
                <a:solidFill>
                  <a:srgbClr val="A4D487"/>
                </a:solidFill>
                <a:latin typeface="Consolas"/>
                <a:ea typeface="Consolas"/>
                <a:cs typeface="Consolas"/>
              </a:rPr>
              <a:t>implementation="auto"</a:t>
            </a:r>
            <a:endParaRPr sz="1275" b="1">
              <a:solidFill>
                <a:srgbClr val="A4D487"/>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a:t>
            </a:r>
            <a:endParaRPr sz="1275">
              <a:solidFill>
                <a:srgbClr val="F8FAFC"/>
              </a:solidFill>
              <a:latin typeface="Consolas"/>
              <a:ea typeface="Consolas"/>
              <a:cs typeface="Consolas"/>
            </a:endParaRPr>
          </a:p>
          <a:p>
            <a:endParaRPr sz="1275">
              <a:solidFill>
                <a:srgbClr val="F8FAFC"/>
              </a:solidFill>
              <a:latin typeface="Consolas"/>
              <a:ea typeface="Consolas"/>
              <a:cs typeface="Consolas"/>
            </a:endParaRPr>
          </a:p>
          <a:p>
            <a:pPr>
              <a:lnSpc>
                <a:spcPct val="105000"/>
              </a:lnSpc>
              <a:buNone/>
              <a:defRPr sz="1275">
                <a:solidFill>
                  <a:srgbClr val="F8FAFC"/>
                </a:solidFill>
                <a:latin typeface="Consolas"/>
                <a:ea typeface="Consolas"/>
                <a:cs typeface="Consolas"/>
              </a:defRPr>
            </a:pPr>
            <a:r>
              <a:rPr sz="1275">
                <a:solidFill>
                  <a:srgbClr val="F8FAFC"/>
                </a:solidFill>
                <a:latin typeface="Consolas"/>
                <a:ea typeface="Consolas"/>
                <a:cs typeface="Consolas"/>
              </a:rPr>
              <a:t># implementation: v1 / v2 / v3 / mcdnn / auto</a:t>
            </a:r>
            <a:endParaRPr sz="1275">
              <a:solidFill>
                <a:srgbClr val="F8FAFC"/>
              </a:solidFill>
              <a:latin typeface="Consolas"/>
              <a:ea typeface="Consolas"/>
              <a:cs typeface="Consolas"/>
            </a:endParaRPr>
          </a:p>
        </p:txBody>
      </p:sp>
      <p:sp>
        <p:nvSpPr>
          <p:cNvPr id="6" name="Rectangle 5"/>
          <p:cNvSpPr>
            <a:spLocks noGrp="1"/>
          </p:cNvSpPr>
          <p:nvPr/>
        </p:nvSpPr>
        <p:spPr>
          <a:xfrm>
            <a:off x="6477000" y="2453803"/>
            <a:ext cx="4476750" cy="2857500"/>
          </a:xfrm>
          <a:prstGeom prst="rect">
            <a:avLst/>
          </a:prstGeom>
          <a:noFill/>
          <a:ln w="0">
            <a:noFill/>
            <a:prstDash val="solid"/>
          </a:ln>
        </p:spPr>
        <p:txBody>
          <a:bodyPr wrap="square" lIns="38100" tIns="19050" rIns="38100" bIns="19050" anchor="t">
            <a:normAutofit/>
          </a:bodyPr>
          <a:lstStyle/>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输入 x 要求是设备上的连续 float32 Tensor</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a:solidFill>
                  <a:srgbClr val="202124"/>
                </a:solidFill>
                <a:latin typeface="Source Han Sans CN"/>
                <a:ea typeface="Source Han Sans CN"/>
                <a:cs typeface="Source Han Sans CN"/>
              </a:rPr>
              <a:t>算法</a:t>
            </a:r>
            <a:r>
              <a:rPr sz="1575" b="0">
                <a:solidFill>
                  <a:srgbClr val="202124"/>
                </a:solidFill>
                <a:latin typeface="Source Han Sans CN"/>
                <a:ea typeface="Source Han Sans CN"/>
                <a:cs typeface="Source Han Sans CN"/>
              </a:rPr>
              <a:t>沿最后一维执行，保持 shape / dtype / device</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当前实现只支持前向推理</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在 PyTorch 当前 stream 上入队，不主动同步</a:t>
            </a:r>
            <a:endParaRPr sz="1575" b="0">
              <a:solidFill>
                <a:srgbClr val="202124"/>
              </a:solidFill>
              <a:latin typeface="Source Han Sans CN"/>
              <a:ea typeface="Source Han Sans CN"/>
              <a:cs typeface="Source Han Sans C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接回 Transformer</a:t>
            </a: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29</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904875" y="2446713"/>
            <a:ext cx="2095500" cy="523875"/>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1800" b="1">
                <a:solidFill>
                  <a:srgbClr val="FFFFFF"/>
                </a:solidFill>
                <a:latin typeface="Source Han Sans CN"/>
                <a:ea typeface="Source Han Sans CN"/>
                <a:cs typeface="Source Han Sans CN"/>
              </a:defRPr>
            </a:pPr>
            <a:r>
              <a:rPr sz="1800" b="1">
                <a:solidFill>
                  <a:srgbClr val="FFFFFF"/>
                </a:solidFill>
                <a:latin typeface="Source Han Sans CN"/>
                <a:ea typeface="Source Han Sans CN"/>
                <a:cs typeface="Source Han Sans CN"/>
              </a:rPr>
              <a:t>算子</a:t>
            </a:r>
            <a:endParaRPr sz="1800" b="1">
              <a:solidFill>
                <a:srgbClr val="FFFFFF"/>
              </a:solidFill>
              <a:latin typeface="Source Han Sans CN"/>
              <a:ea typeface="Source Han Sans CN"/>
              <a:cs typeface="Source Han Sans CN"/>
            </a:endParaRPr>
          </a:p>
        </p:txBody>
      </p:sp>
      <p:sp>
        <p:nvSpPr>
          <p:cNvPr id="6" name="Rectangle 5"/>
          <p:cNvSpPr>
            <a:spLocks noGrp="1"/>
          </p:cNvSpPr>
          <p:nvPr/>
        </p:nvSpPr>
        <p:spPr>
          <a:xfrm>
            <a:off x="904875" y="3065838"/>
            <a:ext cx="2095500" cy="9525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输出误差</a:t>
            </a:r>
            <a:endParaRPr sz="1650" b="1">
              <a:solidFill>
                <a:srgbClr val="202124"/>
              </a:solidFill>
              <a:latin typeface="Source Han Sans CN"/>
              <a:ea typeface="Source Han Sans CN"/>
              <a:cs typeface="Source Han Sans CN"/>
            </a:endParaRPr>
          </a:p>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NaN / Inf</a:t>
            </a:r>
            <a:endParaRPr sz="1650" b="1">
              <a:solidFill>
                <a:srgbClr val="202124"/>
              </a:solidFill>
              <a:latin typeface="Source Han Sans CN"/>
              <a:ea typeface="Source Han Sans CN"/>
              <a:cs typeface="Source Han Sans CN"/>
            </a:endParaRPr>
          </a:p>
        </p:txBody>
      </p:sp>
      <p:sp>
        <p:nvSpPr>
          <p:cNvPr id="7" name="Rectangle 6"/>
          <p:cNvSpPr>
            <a:spLocks noGrp="1"/>
          </p:cNvSpPr>
          <p:nvPr/>
        </p:nvSpPr>
        <p:spPr>
          <a:xfrm>
            <a:off x="3048000" y="3161088"/>
            <a:ext cx="523875" cy="523875"/>
          </a:xfrm>
          <a:prstGeom prst="rect">
            <a:avLst/>
          </a:prstGeom>
          <a:noFill/>
          <a:ln w="0">
            <a:noFill/>
            <a:prstDash val="solid"/>
          </a:ln>
        </p:spPr>
        <p:txBody>
          <a:bodyPr wrap="square" lIns="38100" tIns="19050" rIns="38100" bIns="19050" anchor="t">
            <a:normAutofit/>
          </a:bodyPr>
          <a:lstStyle/>
          <a:p>
            <a:pPr algn="ctr">
              <a:lnSpc>
                <a:spcPct val="108000"/>
              </a:lnSpc>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8" name="Rectangle 7"/>
          <p:cNvSpPr>
            <a:spLocks noGrp="1"/>
          </p:cNvSpPr>
          <p:nvPr/>
        </p:nvSpPr>
        <p:spPr>
          <a:xfrm>
            <a:off x="3619500" y="2446713"/>
            <a:ext cx="2095500" cy="523875"/>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1800" b="1">
                <a:solidFill>
                  <a:srgbClr val="FFFFFF"/>
                </a:solidFill>
                <a:latin typeface="Source Han Sans CN"/>
                <a:ea typeface="Source Han Sans CN"/>
                <a:cs typeface="Source Han Sans CN"/>
              </a:defRPr>
            </a:pPr>
            <a:r>
              <a:rPr sz="1800" b="1">
                <a:solidFill>
                  <a:srgbClr val="FFFFFF"/>
                </a:solidFill>
                <a:latin typeface="Source Han Sans CN"/>
                <a:ea typeface="Source Han Sans CN"/>
                <a:cs typeface="Source Han Sans CN"/>
              </a:rPr>
              <a:t>Attention</a:t>
            </a:r>
            <a:endParaRPr sz="1800" b="1">
              <a:solidFill>
                <a:srgbClr val="FFFFFF"/>
              </a:solidFill>
              <a:latin typeface="Source Han Sans CN"/>
              <a:ea typeface="Source Han Sans CN"/>
              <a:cs typeface="Source Han Sans CN"/>
            </a:endParaRPr>
          </a:p>
        </p:txBody>
      </p:sp>
      <p:sp>
        <p:nvSpPr>
          <p:cNvPr id="9" name="Rectangle 8"/>
          <p:cNvSpPr>
            <a:spLocks noGrp="1"/>
          </p:cNvSpPr>
          <p:nvPr/>
        </p:nvSpPr>
        <p:spPr>
          <a:xfrm>
            <a:off x="3619500" y="3065838"/>
            <a:ext cx="2095500" cy="9525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mask 语义</a:t>
            </a:r>
            <a:endParaRPr sz="1650" b="1">
              <a:solidFill>
                <a:srgbClr val="202124"/>
              </a:solidFill>
              <a:latin typeface="Source Han Sans CN"/>
              <a:ea typeface="Source Han Sans CN"/>
              <a:cs typeface="Source Han Sans CN"/>
            </a:endParaRPr>
          </a:p>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输出一致性</a:t>
            </a:r>
            <a:endParaRPr sz="1650" b="1">
              <a:solidFill>
                <a:srgbClr val="202124"/>
              </a:solidFill>
              <a:latin typeface="Source Han Sans CN"/>
              <a:ea typeface="Source Han Sans CN"/>
              <a:cs typeface="Source Han Sans CN"/>
            </a:endParaRPr>
          </a:p>
        </p:txBody>
      </p:sp>
      <p:sp>
        <p:nvSpPr>
          <p:cNvPr id="10" name="Rectangle 9"/>
          <p:cNvSpPr>
            <a:spLocks noGrp="1"/>
          </p:cNvSpPr>
          <p:nvPr/>
        </p:nvSpPr>
        <p:spPr>
          <a:xfrm>
            <a:off x="5762625" y="3161088"/>
            <a:ext cx="523875" cy="523875"/>
          </a:xfrm>
          <a:prstGeom prst="rect">
            <a:avLst/>
          </a:prstGeom>
          <a:noFill/>
          <a:ln w="0">
            <a:noFill/>
            <a:prstDash val="solid"/>
          </a:ln>
        </p:spPr>
        <p:txBody>
          <a:bodyPr wrap="square" lIns="38100" tIns="19050" rIns="38100" bIns="19050" anchor="t">
            <a:normAutofit/>
          </a:bodyPr>
          <a:lstStyle/>
          <a:p>
            <a:pPr algn="ctr">
              <a:lnSpc>
                <a:spcPct val="108000"/>
              </a:lnSpc>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11" name="Rectangle 10"/>
          <p:cNvSpPr>
            <a:spLocks noGrp="1"/>
          </p:cNvSpPr>
          <p:nvPr/>
        </p:nvSpPr>
        <p:spPr>
          <a:xfrm>
            <a:off x="6334125" y="2446713"/>
            <a:ext cx="2095500" cy="523875"/>
          </a:xfrm>
          <a:prstGeom prst="rect">
            <a:avLst/>
          </a:prstGeom>
          <a:solidFill>
            <a:srgbClr val="48BB00"/>
          </a:solidFill>
          <a:ln w="0">
            <a:noFill/>
            <a:prstDash val="solid"/>
          </a:ln>
        </p:spPr>
        <p:txBody>
          <a:bodyPr wrap="square" lIns="38100" tIns="19050" rIns="38100" bIns="19050" anchor="ctr">
            <a:normAutofit/>
          </a:bodyPr>
          <a:lstStyle/>
          <a:p>
            <a:pPr algn="ctr">
              <a:lnSpc>
                <a:spcPct val="108000"/>
              </a:lnSpc>
              <a:buNone/>
              <a:defRPr sz="1800" b="1">
                <a:solidFill>
                  <a:srgbClr val="FFFFFF"/>
                </a:solidFill>
                <a:latin typeface="Source Han Sans CN"/>
                <a:ea typeface="Source Han Sans CN"/>
                <a:cs typeface="Source Han Sans CN"/>
              </a:defRPr>
            </a:pPr>
            <a:r>
              <a:rPr sz="1800" b="1">
                <a:solidFill>
                  <a:srgbClr val="FFFFFF"/>
                </a:solidFill>
                <a:latin typeface="Source Han Sans CN"/>
                <a:ea typeface="Source Han Sans CN"/>
                <a:cs typeface="Source Han Sans CN"/>
              </a:rPr>
              <a:t>模型</a:t>
            </a:r>
            <a:endParaRPr sz="1800" b="1">
              <a:solidFill>
                <a:srgbClr val="FFFFFF"/>
              </a:solidFill>
              <a:latin typeface="Source Han Sans CN"/>
              <a:ea typeface="Source Han Sans CN"/>
              <a:cs typeface="Source Han Sans CN"/>
            </a:endParaRPr>
          </a:p>
        </p:txBody>
      </p:sp>
      <p:sp>
        <p:nvSpPr>
          <p:cNvPr id="12" name="Rectangle 11"/>
          <p:cNvSpPr>
            <a:spLocks noGrp="1"/>
          </p:cNvSpPr>
          <p:nvPr/>
        </p:nvSpPr>
        <p:spPr>
          <a:xfrm>
            <a:off x="6334125" y="3065838"/>
            <a:ext cx="2095500" cy="9525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最终 logits</a:t>
            </a:r>
            <a:endParaRPr sz="1650" b="1">
              <a:solidFill>
                <a:srgbClr val="202124"/>
              </a:solidFill>
              <a:latin typeface="Source Han Sans CN"/>
              <a:ea typeface="Source Han Sans CN"/>
              <a:cs typeface="Source Han Sans CN"/>
            </a:endParaRPr>
          </a:p>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argmax 一致</a:t>
            </a:r>
            <a:endParaRPr sz="1650" b="1">
              <a:solidFill>
                <a:srgbClr val="202124"/>
              </a:solidFill>
              <a:latin typeface="Source Han Sans CN"/>
              <a:ea typeface="Source Han Sans CN"/>
              <a:cs typeface="Source Han Sans CN"/>
            </a:endParaRPr>
          </a:p>
        </p:txBody>
      </p:sp>
      <p:sp>
        <p:nvSpPr>
          <p:cNvPr id="13" name="Rectangle 12"/>
          <p:cNvSpPr>
            <a:spLocks noGrp="1"/>
          </p:cNvSpPr>
          <p:nvPr/>
        </p:nvSpPr>
        <p:spPr>
          <a:xfrm>
            <a:off x="8477250" y="3161088"/>
            <a:ext cx="523875" cy="523875"/>
          </a:xfrm>
          <a:prstGeom prst="rect">
            <a:avLst/>
          </a:prstGeom>
          <a:noFill/>
          <a:ln w="0">
            <a:noFill/>
            <a:prstDash val="solid"/>
          </a:ln>
        </p:spPr>
        <p:txBody>
          <a:bodyPr wrap="square" lIns="38100" tIns="19050" rIns="38100" bIns="19050" anchor="t">
            <a:normAutofit/>
          </a:bodyPr>
          <a:lstStyle/>
          <a:p>
            <a:pPr algn="ctr">
              <a:lnSpc>
                <a:spcPct val="108000"/>
              </a:lnSpc>
              <a:buNone/>
              <a:defRPr sz="2550" b="0">
                <a:solidFill>
                  <a:srgbClr val="A894B1"/>
                </a:solidFill>
                <a:latin typeface="Source Han Sans CN"/>
                <a:ea typeface="Source Han Sans CN"/>
                <a:cs typeface="Source Han Sans CN"/>
              </a:defRPr>
            </a:pPr>
            <a:r>
              <a:rPr sz="2550" b="0">
                <a:solidFill>
                  <a:srgbClr val="A894B1"/>
                </a:solidFill>
                <a:latin typeface="Source Han Sans CN"/>
                <a:ea typeface="Source Han Sans CN"/>
                <a:cs typeface="Source Han Sans CN"/>
              </a:rPr>
              <a:t>→</a:t>
            </a:r>
            <a:endParaRPr sz="2550" b="0">
              <a:solidFill>
                <a:srgbClr val="A894B1"/>
              </a:solidFill>
              <a:latin typeface="Source Han Sans CN"/>
              <a:ea typeface="Source Han Sans CN"/>
              <a:cs typeface="Source Han Sans CN"/>
            </a:endParaRPr>
          </a:p>
        </p:txBody>
      </p:sp>
      <p:sp>
        <p:nvSpPr>
          <p:cNvPr id="14" name="Rectangle 13"/>
          <p:cNvSpPr>
            <a:spLocks noGrp="1"/>
          </p:cNvSpPr>
          <p:nvPr/>
        </p:nvSpPr>
        <p:spPr>
          <a:xfrm>
            <a:off x="9048750" y="2446713"/>
            <a:ext cx="2095500" cy="523875"/>
          </a:xfrm>
          <a:prstGeom prst="rect">
            <a:avLst/>
          </a:prstGeom>
          <a:solidFill>
            <a:srgbClr val="E67E22"/>
          </a:solidFill>
          <a:ln w="0">
            <a:noFill/>
            <a:prstDash val="solid"/>
          </a:ln>
        </p:spPr>
        <p:txBody>
          <a:bodyPr wrap="square" lIns="38100" tIns="19050" rIns="38100" bIns="19050" anchor="ctr">
            <a:normAutofit/>
          </a:bodyPr>
          <a:lstStyle/>
          <a:p>
            <a:pPr algn="ctr">
              <a:lnSpc>
                <a:spcPct val="108000"/>
              </a:lnSpc>
              <a:buNone/>
              <a:defRPr sz="1800" b="1">
                <a:solidFill>
                  <a:srgbClr val="FFFFFF"/>
                </a:solidFill>
                <a:latin typeface="Source Han Sans CN"/>
                <a:ea typeface="Source Han Sans CN"/>
                <a:cs typeface="Source Han Sans CN"/>
              </a:defRPr>
            </a:pPr>
            <a:r>
              <a:rPr sz="1800" b="1">
                <a:solidFill>
                  <a:srgbClr val="FFFFFF"/>
                </a:solidFill>
                <a:latin typeface="Source Han Sans CN"/>
                <a:ea typeface="Source Han Sans CN"/>
                <a:cs typeface="Source Han Sans CN"/>
              </a:rPr>
              <a:t>性能</a:t>
            </a:r>
            <a:endParaRPr sz="1800" b="1">
              <a:solidFill>
                <a:srgbClr val="FFFFFF"/>
              </a:solidFill>
              <a:latin typeface="Source Han Sans CN"/>
              <a:ea typeface="Source Han Sans CN"/>
              <a:cs typeface="Source Han Sans CN"/>
            </a:endParaRPr>
          </a:p>
        </p:txBody>
      </p:sp>
      <p:sp>
        <p:nvSpPr>
          <p:cNvPr id="15" name="Rectangle 14"/>
          <p:cNvSpPr>
            <a:spLocks noGrp="1"/>
          </p:cNvSpPr>
          <p:nvPr/>
        </p:nvSpPr>
        <p:spPr>
          <a:xfrm>
            <a:off x="9048750" y="3065838"/>
            <a:ext cx="2095500" cy="952500"/>
          </a:xfrm>
          <a:prstGeom prst="rect">
            <a:avLst/>
          </a:prstGeom>
          <a:solidFill>
            <a:srgbClr val="F7F7F8"/>
          </a:solidFill>
          <a:ln w="0">
            <a:noFill/>
            <a:prstDash val="solid"/>
          </a:ln>
        </p:spPr>
        <p:txBody>
          <a:bodyPr wrap="square" lIns="38100" tIns="19050" rIns="38100" bIns="19050" anchor="ctr">
            <a:normAutofit/>
          </a:bodyPr>
          <a:lstStyle/>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端到端延迟</a:t>
            </a:r>
            <a:endParaRPr sz="1650" b="1">
              <a:solidFill>
                <a:srgbClr val="202124"/>
              </a:solidFill>
              <a:latin typeface="Source Han Sans CN"/>
              <a:ea typeface="Source Han Sans CN"/>
              <a:cs typeface="Source Han Sans CN"/>
            </a:endParaRPr>
          </a:p>
          <a:p>
            <a:pPr algn="ctr">
              <a:lnSpc>
                <a:spcPct val="108000"/>
              </a:lnSpc>
              <a:buNone/>
              <a:defRPr sz="1650" b="1">
                <a:solidFill>
                  <a:srgbClr val="202124"/>
                </a:solidFill>
                <a:latin typeface="Source Han Sans CN"/>
                <a:ea typeface="Source Han Sans CN"/>
                <a:cs typeface="Source Han Sans CN"/>
              </a:defRPr>
            </a:pPr>
            <a:r>
              <a:rPr sz="1650" b="1">
                <a:solidFill>
                  <a:srgbClr val="202124"/>
                </a:solidFill>
                <a:latin typeface="Source Han Sans CN"/>
                <a:ea typeface="Source Han Sans CN"/>
                <a:cs typeface="Source Han Sans CN"/>
              </a:rPr>
              <a:t>真实工作负载</a:t>
            </a:r>
            <a:endParaRPr sz="1650" b="1">
              <a:solidFill>
                <a:srgbClr val="202124"/>
              </a:solidFill>
              <a:latin typeface="Source Han Sans CN"/>
              <a:ea typeface="Source Han Sans CN"/>
              <a:cs typeface="Source Han Sans C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其它自定义算子的接入方式：Triton 与 TileLang</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本课只介绍优势与适用场景，不展开语法、环境或代码</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30</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190625" y="2000250"/>
            <a:ext cx="3810000" cy="714375"/>
          </a:xfrm>
          <a:prstGeom prst="rect">
            <a:avLst/>
          </a:prstGeom>
          <a:noFill/>
          <a:ln w="0">
            <a:noFill/>
            <a:prstDash val="solid"/>
          </a:ln>
        </p:spPr>
        <p:txBody>
          <a:bodyPr wrap="square" lIns="38100" tIns="19050" rIns="38100" bIns="19050" anchor="ctr">
            <a:normAutofit/>
          </a:bodyPr>
          <a:lstStyle/>
          <a:p>
            <a:pPr algn="ctr">
              <a:lnSpc>
                <a:spcPct val="108000"/>
              </a:lnSpc>
              <a:buNone/>
              <a:defRPr sz="3150" b="1">
                <a:solidFill>
                  <a:srgbClr val="660874"/>
                </a:solidFill>
                <a:latin typeface="Source Han Sans CN"/>
                <a:ea typeface="Source Han Sans CN"/>
                <a:cs typeface="Source Han Sans CN"/>
              </a:defRPr>
            </a:pPr>
            <a:r>
              <a:rPr sz="3150" b="1">
                <a:solidFill>
                  <a:srgbClr val="660874"/>
                </a:solidFill>
                <a:latin typeface="Source Han Sans CN"/>
                <a:ea typeface="Source Han Sans CN"/>
                <a:cs typeface="Source Han Sans CN"/>
              </a:rPr>
              <a:t>Triton</a:t>
            </a:r>
            <a:endParaRPr sz="3150" b="1">
              <a:solidFill>
                <a:srgbClr val="660874"/>
              </a:solidFill>
              <a:latin typeface="Source Han Sans CN"/>
              <a:ea typeface="Source Han Sans CN"/>
              <a:cs typeface="Source Han Sans CN"/>
            </a:endParaRPr>
          </a:p>
        </p:txBody>
      </p:sp>
      <p:sp>
        <p:nvSpPr>
          <p:cNvPr id="6" name="Rectangle 5"/>
          <p:cNvSpPr>
            <a:spLocks noGrp="1"/>
          </p:cNvSpPr>
          <p:nvPr/>
        </p:nvSpPr>
        <p:spPr>
          <a:xfrm>
            <a:off x="1190625" y="2857500"/>
            <a:ext cx="3810000" cy="1000125"/>
          </a:xfrm>
          <a:prstGeom prst="rect">
            <a:avLst/>
          </a:prstGeom>
          <a:solidFill>
            <a:srgbClr val="F5EFF7"/>
          </a:solidFill>
          <a:ln w="0">
            <a:noFill/>
            <a:prstDash val="solid"/>
          </a:ln>
        </p:spPr>
        <p:txBody>
          <a:bodyPr wrap="square" lIns="38100" tIns="19050" rIns="38100" bIns="19050" anchor="ctr">
            <a:normAutofit/>
          </a:bodyPr>
          <a:lstStyle/>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Python DSL</a:t>
            </a:r>
            <a:endParaRPr sz="1875" b="1">
              <a:solidFill>
                <a:srgbClr val="202124"/>
              </a:solidFill>
              <a:latin typeface="Source Han Sans CN"/>
              <a:ea typeface="Source Han Sans CN"/>
              <a:cs typeface="Source Han Sans CN"/>
            </a:endParaRPr>
          </a:p>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原型与融合迭代快</a:t>
            </a:r>
            <a:endParaRPr sz="1875" b="1">
              <a:solidFill>
                <a:srgbClr val="202124"/>
              </a:solidFill>
              <a:latin typeface="Source Han Sans CN"/>
              <a:ea typeface="Source Han Sans CN"/>
              <a:cs typeface="Source Han Sans CN"/>
            </a:endParaRPr>
          </a:p>
        </p:txBody>
      </p:sp>
      <p:sp>
        <p:nvSpPr>
          <p:cNvPr id="7" name="Rectangle 6"/>
          <p:cNvSpPr>
            <a:spLocks noGrp="1"/>
          </p:cNvSpPr>
          <p:nvPr/>
        </p:nvSpPr>
        <p:spPr>
          <a:xfrm>
            <a:off x="1190625" y="4191000"/>
            <a:ext cx="3810000" cy="666750"/>
          </a:xfrm>
          <a:prstGeom prst="rect">
            <a:avLst/>
          </a:prstGeom>
          <a:noFill/>
          <a:ln w="0">
            <a:noFill/>
            <a:prstDash val="solid"/>
          </a:ln>
        </p:spPr>
        <p:txBody>
          <a:bodyPr wrap="square" lIns="38100" tIns="19050" rIns="38100" bIns="19050" anchor="ctr">
            <a:normAutofit/>
          </a:bodyPr>
          <a:lstStyle/>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适合：常见自定义算子、快速性能探索</a:t>
            </a:r>
            <a:endParaRPr sz="1650" b="0">
              <a:solidFill>
                <a:srgbClr val="666A70"/>
              </a:solidFill>
              <a:latin typeface="Source Han Sans CN"/>
              <a:ea typeface="Source Han Sans CN"/>
              <a:cs typeface="Source Han Sans CN"/>
            </a:endParaRPr>
          </a:p>
        </p:txBody>
      </p:sp>
      <p:sp>
        <p:nvSpPr>
          <p:cNvPr id="8" name="Rectangle 7"/>
          <p:cNvSpPr>
            <a:spLocks noGrp="1"/>
          </p:cNvSpPr>
          <p:nvPr/>
        </p:nvSpPr>
        <p:spPr>
          <a:xfrm>
            <a:off x="7191375" y="2000250"/>
            <a:ext cx="3810000" cy="714375"/>
          </a:xfrm>
          <a:prstGeom prst="rect">
            <a:avLst/>
          </a:prstGeom>
          <a:noFill/>
          <a:ln w="0">
            <a:noFill/>
            <a:prstDash val="solid"/>
          </a:ln>
        </p:spPr>
        <p:txBody>
          <a:bodyPr wrap="square" lIns="38100" tIns="19050" rIns="38100" bIns="19050" anchor="ctr">
            <a:normAutofit/>
          </a:bodyPr>
          <a:lstStyle/>
          <a:p>
            <a:pPr algn="ctr">
              <a:lnSpc>
                <a:spcPct val="108000"/>
              </a:lnSpc>
              <a:buNone/>
              <a:defRPr sz="3150" b="1">
                <a:solidFill>
                  <a:srgbClr val="1E8E94"/>
                </a:solidFill>
                <a:latin typeface="Source Han Sans CN"/>
                <a:ea typeface="Source Han Sans CN"/>
                <a:cs typeface="Source Han Sans CN"/>
              </a:defRPr>
            </a:pPr>
            <a:r>
              <a:rPr sz="3150" b="1">
                <a:solidFill>
                  <a:srgbClr val="1E8E94"/>
                </a:solidFill>
                <a:latin typeface="Source Han Sans CN"/>
                <a:ea typeface="Source Han Sans CN"/>
                <a:cs typeface="Source Han Sans CN"/>
              </a:rPr>
              <a:t>TileLang</a:t>
            </a:r>
            <a:endParaRPr sz="3150" b="1">
              <a:solidFill>
                <a:srgbClr val="1E8E94"/>
              </a:solidFill>
              <a:latin typeface="Source Han Sans CN"/>
              <a:ea typeface="Source Han Sans CN"/>
              <a:cs typeface="Source Han Sans CN"/>
            </a:endParaRPr>
          </a:p>
        </p:txBody>
      </p:sp>
      <p:sp>
        <p:nvSpPr>
          <p:cNvPr id="9" name="Rectangle 8"/>
          <p:cNvSpPr>
            <a:spLocks noGrp="1"/>
          </p:cNvSpPr>
          <p:nvPr/>
        </p:nvSpPr>
        <p:spPr>
          <a:xfrm>
            <a:off x="7191375" y="2857500"/>
            <a:ext cx="3810000" cy="1000125"/>
          </a:xfrm>
          <a:prstGeom prst="rect">
            <a:avLst/>
          </a:prstGeom>
          <a:solidFill>
            <a:srgbClr val="EAF6F6"/>
          </a:solidFill>
          <a:ln w="0">
            <a:noFill/>
            <a:prstDash val="solid"/>
          </a:ln>
        </p:spPr>
        <p:txBody>
          <a:bodyPr wrap="square" lIns="38100" tIns="19050" rIns="38100" bIns="19050" anchor="ctr">
            <a:normAutofit/>
          </a:bodyPr>
          <a:lstStyle/>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突出 tile 化计算</a:t>
            </a:r>
            <a:endParaRPr sz="1875" b="1">
              <a:solidFill>
                <a:srgbClr val="202124"/>
              </a:solidFill>
              <a:latin typeface="Source Han Sans CN"/>
              <a:ea typeface="Source Han Sans CN"/>
              <a:cs typeface="Source Han Sans CN"/>
            </a:endParaRPr>
          </a:p>
          <a:p>
            <a:pPr algn="ctr">
              <a:lnSpc>
                <a:spcPct val="108000"/>
              </a:lnSpc>
              <a:buNone/>
              <a:defRPr sz="1875" b="1">
                <a:solidFill>
                  <a:srgbClr val="202124"/>
                </a:solidFill>
                <a:latin typeface="Source Han Sans CN"/>
                <a:ea typeface="Source Han Sans CN"/>
                <a:cs typeface="Source Han Sans CN"/>
              </a:defRPr>
            </a:pPr>
            <a:r>
              <a:rPr sz="1875" b="1">
                <a:solidFill>
                  <a:srgbClr val="202124"/>
                </a:solidFill>
                <a:latin typeface="Source Han Sans CN"/>
                <a:ea typeface="Source Han Sans CN"/>
                <a:cs typeface="Source Han Sans CN"/>
              </a:rPr>
              <a:t>与数据搬运表达</a:t>
            </a:r>
            <a:endParaRPr sz="1875" b="1">
              <a:solidFill>
                <a:srgbClr val="202124"/>
              </a:solidFill>
              <a:latin typeface="Source Han Sans CN"/>
              <a:ea typeface="Source Han Sans CN"/>
              <a:cs typeface="Source Han Sans CN"/>
            </a:endParaRPr>
          </a:p>
        </p:txBody>
      </p:sp>
      <p:sp>
        <p:nvSpPr>
          <p:cNvPr id="10" name="Rectangle 9"/>
          <p:cNvSpPr>
            <a:spLocks noGrp="1"/>
          </p:cNvSpPr>
          <p:nvPr/>
        </p:nvSpPr>
        <p:spPr>
          <a:xfrm>
            <a:off x="7191375" y="4191000"/>
            <a:ext cx="3810000" cy="666750"/>
          </a:xfrm>
          <a:prstGeom prst="rect">
            <a:avLst/>
          </a:prstGeom>
          <a:noFill/>
          <a:ln w="0">
            <a:noFill/>
            <a:prstDash val="solid"/>
          </a:ln>
        </p:spPr>
        <p:txBody>
          <a:bodyPr wrap="square" lIns="38100" tIns="19050" rIns="38100" bIns="19050" anchor="ctr">
            <a:normAutofit/>
          </a:bodyPr>
          <a:lstStyle/>
          <a:p>
            <a:pPr algn="ctr">
              <a:lnSpc>
                <a:spcPct val="108000"/>
              </a:lnSpc>
              <a:buNone/>
              <a:defRPr sz="1650" b="0">
                <a:solidFill>
                  <a:srgbClr val="666A70"/>
                </a:solidFill>
                <a:latin typeface="Source Han Sans CN"/>
                <a:ea typeface="Source Han Sans CN"/>
                <a:cs typeface="Source Han Sans CN"/>
              </a:defRPr>
            </a:pPr>
            <a:r>
              <a:rPr sz="1650" b="0">
                <a:solidFill>
                  <a:srgbClr val="666A70"/>
                </a:solidFill>
                <a:latin typeface="Source Han Sans CN"/>
                <a:ea typeface="Source Han Sans CN"/>
                <a:cs typeface="Source Han Sans CN"/>
              </a:rPr>
              <a:t>适合：分块计算、复杂融合、张量化探索</a:t>
            </a:r>
            <a:endParaRPr sz="1650" b="0">
              <a:solidFill>
                <a:srgbClr val="666A70"/>
              </a:solidFill>
              <a:latin typeface="Source Han Sans CN"/>
              <a:ea typeface="Source Han Sans CN"/>
              <a:cs typeface="Source Han Sans CN"/>
            </a:endParaRPr>
          </a:p>
        </p:txBody>
      </p:sp>
      <p:sp>
        <p:nvSpPr>
          <p:cNvPr id="11" name="Rectangle 10"/>
          <p:cNvSpPr>
            <a:spLocks noGrp="1"/>
          </p:cNvSpPr>
          <p:nvPr/>
        </p:nvSpPr>
        <p:spPr>
          <a:xfrm>
            <a:off x="2381250" y="5286375"/>
            <a:ext cx="7429500" cy="476250"/>
          </a:xfrm>
          <a:prstGeom prst="rect">
            <a:avLst/>
          </a:prstGeom>
          <a:noFill/>
          <a:ln w="0">
            <a:noFill/>
            <a:prstDash val="solid"/>
          </a:ln>
        </p:spPr>
        <p:txBody>
          <a:bodyPr wrap="square" lIns="38100" tIns="19050" rIns="38100" bIns="19050" anchor="ctr">
            <a:normAutofit/>
          </a:bodyPr>
          <a:lstStyle/>
          <a:p>
            <a:pPr algn="ctr">
              <a:lnSpc>
                <a:spcPct val="108000"/>
              </a:lnSpc>
              <a:buNone/>
              <a:defRPr sz="1725" b="1">
                <a:solidFill>
                  <a:srgbClr val="48BB00"/>
                </a:solidFill>
                <a:latin typeface="Source Han Sans CN"/>
                <a:ea typeface="Source Han Sans CN"/>
                <a:cs typeface="Source Han Sans CN"/>
              </a:defRPr>
            </a:pPr>
            <a:r>
              <a:rPr sz="1725" b="1">
                <a:solidFill>
                  <a:srgbClr val="48BB00"/>
                </a:solidFill>
                <a:latin typeface="Source Han Sans CN"/>
                <a:ea typeface="Source Han Sans CN"/>
                <a:cs typeface="Source Han Sans CN"/>
              </a:rPr>
              <a:t>共同前提：都需约定输入、正确性标准与 benchmark</a:t>
            </a:r>
            <a:endParaRPr sz="1725" b="1">
              <a:solidFill>
                <a:srgbClr val="48BB00"/>
              </a:solidFill>
              <a:latin typeface="Source Han Sans CN"/>
              <a:ea typeface="Source Han Sans CN"/>
              <a:cs typeface="Source Han Sans C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实验驱动的算子优化闭环</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回到开场问题：自定义算子什么时候值得接回模型？</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31</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78105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1</a:t>
            </a:r>
            <a:endParaRPr sz="2250" b="1">
              <a:solidFill>
                <a:srgbClr val="FFFFFF"/>
              </a:solidFill>
              <a:latin typeface="Source Han Sans CN"/>
              <a:ea typeface="Source Han Sans CN"/>
              <a:cs typeface="Source Han Sans CN"/>
            </a:endParaRPr>
          </a:p>
        </p:txBody>
      </p:sp>
      <p:sp>
        <p:nvSpPr>
          <p:cNvPr id="6" name="Rectangle 5"/>
          <p:cNvSpPr>
            <a:spLocks noGrp="1"/>
          </p:cNvSpPr>
          <p:nvPr/>
        </p:nvSpPr>
        <p:spPr>
          <a:xfrm>
            <a:off x="78105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定位</a:t>
            </a:r>
            <a:endParaRPr sz="2025" b="1">
              <a:solidFill>
                <a:srgbClr val="202124"/>
              </a:solidFill>
              <a:latin typeface="Source Han Sans CN"/>
              <a:ea typeface="Source Han Sans CN"/>
              <a:cs typeface="Source Han Sans CN"/>
            </a:endParaRPr>
          </a:p>
        </p:txBody>
      </p:sp>
      <p:sp>
        <p:nvSpPr>
          <p:cNvPr id="7" name="Rectangle 6"/>
          <p:cNvSpPr>
            <a:spLocks noGrp="1"/>
          </p:cNvSpPr>
          <p:nvPr/>
        </p:nvSpPr>
        <p:spPr>
          <a:xfrm>
            <a:off x="78105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整体瓶颈与</a:t>
            </a:r>
            <a:endParaRPr sz="1425" b="0">
              <a:solidFill>
                <a:srgbClr val="666A70"/>
              </a:solidFill>
              <a:latin typeface="Source Han Sans CN"/>
              <a:ea typeface="Source Han Sans CN"/>
              <a:cs typeface="Source Han Sans CN"/>
            </a:endParaRPr>
          </a:p>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真实 shape</a:t>
            </a:r>
            <a:endParaRPr sz="1425" b="0">
              <a:solidFill>
                <a:srgbClr val="666A70"/>
              </a:solidFill>
              <a:latin typeface="Source Han Sans CN"/>
              <a:ea typeface="Source Han Sans CN"/>
              <a:cs typeface="Source Han Sans CN"/>
            </a:endParaRPr>
          </a:p>
        </p:txBody>
      </p:sp>
      <p:sp>
        <p:nvSpPr>
          <p:cNvPr id="8" name="Rectangle 7"/>
          <p:cNvSpPr>
            <a:spLocks noGrp="1"/>
          </p:cNvSpPr>
          <p:nvPr/>
        </p:nvSpPr>
        <p:spPr>
          <a:xfrm>
            <a:off x="2447925"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9" name="Rectangle 8"/>
          <p:cNvSpPr>
            <a:spLocks noGrp="1"/>
          </p:cNvSpPr>
          <p:nvPr/>
        </p:nvSpPr>
        <p:spPr>
          <a:xfrm>
            <a:off x="2924175" y="2095500"/>
            <a:ext cx="571500" cy="571500"/>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2</a:t>
            </a:r>
            <a:endParaRPr sz="2250" b="1">
              <a:solidFill>
                <a:srgbClr val="FFFFFF"/>
              </a:solidFill>
              <a:latin typeface="Source Han Sans CN"/>
              <a:ea typeface="Source Han Sans CN"/>
              <a:cs typeface="Source Han Sans CN"/>
            </a:endParaRPr>
          </a:p>
        </p:txBody>
      </p:sp>
      <p:sp>
        <p:nvSpPr>
          <p:cNvPr id="10" name="Rectangle 9"/>
          <p:cNvSpPr>
            <a:spLocks noGrp="1"/>
          </p:cNvSpPr>
          <p:nvPr/>
        </p:nvSpPr>
        <p:spPr>
          <a:xfrm>
            <a:off x="2924175"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实现</a:t>
            </a:r>
            <a:endParaRPr sz="2025" b="1">
              <a:solidFill>
                <a:srgbClr val="202124"/>
              </a:solidFill>
              <a:latin typeface="Source Han Sans CN"/>
              <a:ea typeface="Source Han Sans CN"/>
              <a:cs typeface="Source Han Sans CN"/>
            </a:endParaRPr>
          </a:p>
        </p:txBody>
      </p:sp>
      <p:sp>
        <p:nvSpPr>
          <p:cNvPr id="11" name="Rectangle 10"/>
          <p:cNvSpPr>
            <a:spLocks noGrp="1"/>
          </p:cNvSpPr>
          <p:nvPr/>
        </p:nvSpPr>
        <p:spPr>
          <a:xfrm>
            <a:off x="2924175"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改变并行映射</a:t>
            </a:r>
            <a:endParaRPr sz="1425" b="0">
              <a:solidFill>
                <a:srgbClr val="666A70"/>
              </a:solidFill>
              <a:latin typeface="Source Han Sans CN"/>
              <a:ea typeface="Source Han Sans CN"/>
              <a:cs typeface="Source Han Sans CN"/>
            </a:endParaRPr>
          </a:p>
        </p:txBody>
      </p:sp>
      <p:sp>
        <p:nvSpPr>
          <p:cNvPr id="12" name="Rectangle 11"/>
          <p:cNvSpPr>
            <a:spLocks noGrp="1"/>
          </p:cNvSpPr>
          <p:nvPr/>
        </p:nvSpPr>
        <p:spPr>
          <a:xfrm>
            <a:off x="4591050"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13" name="Rectangle 12"/>
          <p:cNvSpPr>
            <a:spLocks noGrp="1"/>
          </p:cNvSpPr>
          <p:nvPr/>
        </p:nvSpPr>
        <p:spPr>
          <a:xfrm>
            <a:off x="506730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3</a:t>
            </a:r>
            <a:endParaRPr sz="2250" b="1">
              <a:solidFill>
                <a:srgbClr val="FFFFFF"/>
              </a:solidFill>
              <a:latin typeface="Source Han Sans CN"/>
              <a:ea typeface="Source Han Sans CN"/>
              <a:cs typeface="Source Han Sans CN"/>
            </a:endParaRPr>
          </a:p>
        </p:txBody>
      </p:sp>
      <p:sp>
        <p:nvSpPr>
          <p:cNvPr id="14" name="Rectangle 13"/>
          <p:cNvSpPr>
            <a:spLocks noGrp="1"/>
          </p:cNvSpPr>
          <p:nvPr/>
        </p:nvSpPr>
        <p:spPr>
          <a:xfrm>
            <a:off x="506730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验证</a:t>
            </a:r>
            <a:endParaRPr sz="2025" b="1">
              <a:solidFill>
                <a:srgbClr val="202124"/>
              </a:solidFill>
              <a:latin typeface="Source Han Sans CN"/>
              <a:ea typeface="Source Han Sans CN"/>
              <a:cs typeface="Source Han Sans CN"/>
            </a:endParaRPr>
          </a:p>
        </p:txBody>
      </p:sp>
      <p:sp>
        <p:nvSpPr>
          <p:cNvPr id="15" name="Rectangle 14"/>
          <p:cNvSpPr>
            <a:spLocks noGrp="1"/>
          </p:cNvSpPr>
          <p:nvPr/>
        </p:nvSpPr>
        <p:spPr>
          <a:xfrm>
            <a:off x="506730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正确性 + 计时</a:t>
            </a:r>
            <a:endParaRPr sz="1425" b="0">
              <a:solidFill>
                <a:srgbClr val="666A70"/>
              </a:solidFill>
              <a:latin typeface="Source Han Sans CN"/>
              <a:ea typeface="Source Han Sans CN"/>
              <a:cs typeface="Source Han Sans CN"/>
            </a:endParaRPr>
          </a:p>
        </p:txBody>
      </p:sp>
      <p:sp>
        <p:nvSpPr>
          <p:cNvPr id="16" name="Rectangle 15"/>
          <p:cNvSpPr>
            <a:spLocks noGrp="1"/>
          </p:cNvSpPr>
          <p:nvPr/>
        </p:nvSpPr>
        <p:spPr>
          <a:xfrm>
            <a:off x="6734175"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17" name="Rectangle 16"/>
          <p:cNvSpPr>
            <a:spLocks noGrp="1"/>
          </p:cNvSpPr>
          <p:nvPr/>
        </p:nvSpPr>
        <p:spPr>
          <a:xfrm>
            <a:off x="7210425" y="2095500"/>
            <a:ext cx="571500" cy="571500"/>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4</a:t>
            </a:r>
            <a:endParaRPr sz="2250" b="1">
              <a:solidFill>
                <a:srgbClr val="FFFFFF"/>
              </a:solidFill>
              <a:latin typeface="Source Han Sans CN"/>
              <a:ea typeface="Source Han Sans CN"/>
              <a:cs typeface="Source Han Sans CN"/>
            </a:endParaRPr>
          </a:p>
        </p:txBody>
      </p:sp>
      <p:sp>
        <p:nvSpPr>
          <p:cNvPr id="18" name="Rectangle 17"/>
          <p:cNvSpPr>
            <a:spLocks noGrp="1"/>
          </p:cNvSpPr>
          <p:nvPr/>
        </p:nvSpPr>
        <p:spPr>
          <a:xfrm>
            <a:off x="7210425"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解释</a:t>
            </a:r>
            <a:endParaRPr sz="2025" b="1">
              <a:solidFill>
                <a:srgbClr val="202124"/>
              </a:solidFill>
              <a:latin typeface="Source Han Sans CN"/>
              <a:ea typeface="Source Han Sans CN"/>
              <a:cs typeface="Source Han Sans CN"/>
            </a:endParaRPr>
          </a:p>
        </p:txBody>
      </p:sp>
      <p:sp>
        <p:nvSpPr>
          <p:cNvPr id="19" name="Rectangle 18"/>
          <p:cNvSpPr>
            <a:spLocks noGrp="1"/>
          </p:cNvSpPr>
          <p:nvPr/>
        </p:nvSpPr>
        <p:spPr>
          <a:xfrm>
            <a:off x="7210425"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b="0">
                <a:solidFill>
                  <a:srgbClr val="666A70"/>
                </a:solidFill>
                <a:latin typeface="Source Han Sans CN"/>
                <a:ea typeface="Source Han Sans CN"/>
                <a:cs typeface="Source Han Sans CN"/>
              </a:rPr>
              <a:t>用算子行为解释性能表现</a:t>
            </a:r>
            <a:endParaRPr sz="1425" b="0">
              <a:solidFill>
                <a:srgbClr val="666A70"/>
              </a:solidFill>
              <a:latin typeface="Source Han Sans CN"/>
              <a:ea typeface="Source Han Sans CN"/>
              <a:cs typeface="Source Han Sans CN"/>
            </a:endParaRPr>
          </a:p>
        </p:txBody>
      </p:sp>
      <p:sp>
        <p:nvSpPr>
          <p:cNvPr id="20" name="Rectangle 19"/>
          <p:cNvSpPr>
            <a:spLocks noGrp="1"/>
          </p:cNvSpPr>
          <p:nvPr/>
        </p:nvSpPr>
        <p:spPr>
          <a:xfrm>
            <a:off x="8877300" y="2190750"/>
            <a:ext cx="476250" cy="476250"/>
          </a:xfrm>
          <a:prstGeom prst="rect">
            <a:avLst/>
          </a:prstGeom>
          <a:noFill/>
          <a:ln w="0">
            <a:noFill/>
            <a:prstDash val="solid"/>
          </a:ln>
        </p:spPr>
        <p:txBody>
          <a:bodyPr wrap="square" lIns="38100" tIns="19050" rIns="38100" bIns="19050" anchor="t">
            <a:normAutofit/>
          </a:bodyPr>
          <a:lstStyle/>
          <a:p>
            <a:pPr algn="ctr">
              <a:lnSpc>
                <a:spcPct val="108000"/>
              </a:lnSpc>
              <a:buNone/>
              <a:defRPr sz="2250" b="0">
                <a:solidFill>
                  <a:srgbClr val="A894B1"/>
                </a:solidFill>
                <a:latin typeface="Source Han Sans CN"/>
                <a:ea typeface="Source Han Sans CN"/>
                <a:cs typeface="Source Han Sans CN"/>
              </a:defRPr>
            </a:pPr>
            <a:r>
              <a:rPr sz="2250" b="0">
                <a:solidFill>
                  <a:srgbClr val="A894B1"/>
                </a:solidFill>
                <a:latin typeface="Source Han Sans CN"/>
                <a:ea typeface="Source Han Sans CN"/>
                <a:cs typeface="Source Han Sans CN"/>
              </a:rPr>
              <a:t>→</a:t>
            </a:r>
            <a:endParaRPr sz="2250" b="0">
              <a:solidFill>
                <a:srgbClr val="A894B1"/>
              </a:solidFill>
              <a:latin typeface="Source Han Sans CN"/>
              <a:ea typeface="Source Han Sans CN"/>
              <a:cs typeface="Source Han Sans CN"/>
            </a:endParaRPr>
          </a:p>
        </p:txBody>
      </p:sp>
      <p:sp>
        <p:nvSpPr>
          <p:cNvPr id="21" name="Rectangle 20"/>
          <p:cNvSpPr>
            <a:spLocks noGrp="1"/>
          </p:cNvSpPr>
          <p:nvPr/>
        </p:nvSpPr>
        <p:spPr>
          <a:xfrm>
            <a:off x="9353550" y="2095500"/>
            <a:ext cx="571500" cy="571500"/>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2250" b="1">
                <a:solidFill>
                  <a:srgbClr val="FFFFFF"/>
                </a:solidFill>
                <a:latin typeface="Source Han Sans CN"/>
                <a:ea typeface="Source Han Sans CN"/>
                <a:cs typeface="Source Han Sans CN"/>
              </a:defRPr>
            </a:pPr>
            <a:r>
              <a:rPr sz="2250" b="1">
                <a:solidFill>
                  <a:srgbClr val="FFFFFF"/>
                </a:solidFill>
                <a:latin typeface="Source Han Sans CN"/>
                <a:ea typeface="Source Han Sans CN"/>
                <a:cs typeface="Source Han Sans CN"/>
              </a:rPr>
              <a:t>5</a:t>
            </a:r>
            <a:endParaRPr sz="2250" b="1">
              <a:solidFill>
                <a:srgbClr val="FFFFFF"/>
              </a:solidFill>
              <a:latin typeface="Source Han Sans CN"/>
              <a:ea typeface="Source Han Sans CN"/>
              <a:cs typeface="Source Han Sans CN"/>
            </a:endParaRPr>
          </a:p>
        </p:txBody>
      </p:sp>
      <p:sp>
        <p:nvSpPr>
          <p:cNvPr id="22" name="Rectangle 21"/>
          <p:cNvSpPr>
            <a:spLocks noGrp="1"/>
          </p:cNvSpPr>
          <p:nvPr/>
        </p:nvSpPr>
        <p:spPr>
          <a:xfrm>
            <a:off x="9353550" y="2905125"/>
            <a:ext cx="1666875" cy="457200"/>
          </a:xfrm>
          <a:prstGeom prst="rect">
            <a:avLst/>
          </a:prstGeom>
          <a:noFill/>
          <a:ln w="0">
            <a:noFill/>
            <a:prstDash val="solid"/>
          </a:ln>
        </p:spPr>
        <p:txBody>
          <a:bodyPr wrap="square" lIns="38100" tIns="19050" rIns="38100" bIns="19050" anchor="t">
            <a:normAutofit/>
          </a:bodyPr>
          <a:lstStyle/>
          <a:p>
            <a:pPr algn="ctr">
              <a:lnSpc>
                <a:spcPct val="108000"/>
              </a:lnSpc>
              <a:buNone/>
              <a:defRPr sz="2025" b="1">
                <a:solidFill>
                  <a:srgbClr val="202124"/>
                </a:solidFill>
                <a:latin typeface="Source Han Sans CN"/>
                <a:ea typeface="Source Han Sans CN"/>
                <a:cs typeface="Source Han Sans CN"/>
              </a:defRPr>
            </a:pPr>
            <a:r>
              <a:rPr sz="2025" b="1">
                <a:solidFill>
                  <a:srgbClr val="202124"/>
                </a:solidFill>
                <a:latin typeface="Source Han Sans CN"/>
                <a:ea typeface="Source Han Sans CN"/>
                <a:cs typeface="Source Han Sans CN"/>
              </a:rPr>
              <a:t>接入</a:t>
            </a:r>
            <a:endParaRPr sz="2025" b="1">
              <a:solidFill>
                <a:srgbClr val="202124"/>
              </a:solidFill>
              <a:latin typeface="Source Han Sans CN"/>
              <a:ea typeface="Source Han Sans CN"/>
              <a:cs typeface="Source Han Sans CN"/>
            </a:endParaRPr>
          </a:p>
        </p:txBody>
      </p:sp>
      <p:sp>
        <p:nvSpPr>
          <p:cNvPr id="23" name="Rectangle 22"/>
          <p:cNvSpPr>
            <a:spLocks noGrp="1"/>
          </p:cNvSpPr>
          <p:nvPr/>
        </p:nvSpPr>
        <p:spPr>
          <a:xfrm>
            <a:off x="9353550" y="3476625"/>
            <a:ext cx="1666875" cy="714375"/>
          </a:xfrm>
          <a:prstGeom prst="rect">
            <a:avLst/>
          </a:prstGeom>
          <a:noFill/>
          <a:ln w="0">
            <a:noFill/>
            <a:prstDash val="solid"/>
          </a:ln>
        </p:spPr>
        <p:txBody>
          <a:bodyPr wrap="square" lIns="38100" tIns="19050" rIns="38100" bIns="19050" anchor="ctr">
            <a:normAutofit/>
          </a:bodyPr>
          <a:lstStyle/>
          <a:p>
            <a:pPr algn="ctr">
              <a:lnSpc>
                <a:spcPct val="108000"/>
              </a:lnSpc>
              <a:buNone/>
              <a:defRPr sz="1425" b="0">
                <a:solidFill>
                  <a:srgbClr val="666A70"/>
                </a:solidFill>
                <a:latin typeface="Source Han Sans CN"/>
                <a:ea typeface="Source Han Sans CN"/>
                <a:cs typeface="Source Han Sans CN"/>
              </a:defRPr>
            </a:pPr>
            <a:r>
              <a:rPr sz="1425">
                <a:solidFill>
                  <a:srgbClr val="666A70"/>
                </a:solidFill>
                <a:latin typeface="Source Han Sans CN"/>
                <a:ea typeface="Source Han Sans CN"/>
                <a:cs typeface="Source Han Sans CN"/>
              </a:rPr>
              <a:t>实际应用验证效果</a:t>
            </a:r>
            <a:endParaRPr sz="1425" b="0">
              <a:solidFill>
                <a:srgbClr val="666A70"/>
              </a:solidFill>
              <a:latin typeface="Source Han Sans CN"/>
              <a:ea typeface="Source Han Sans CN"/>
              <a:cs typeface="Source Han Sans CN"/>
            </a:endParaRPr>
          </a:p>
        </p:txBody>
      </p:sp>
      <p:sp>
        <p:nvSpPr>
          <p:cNvPr id="24" name="Rectangle: Rounded Corners 23"/>
          <p:cNvSpPr>
            <a:spLocks noGrp="1"/>
          </p:cNvSpPr>
          <p:nvPr/>
        </p:nvSpPr>
        <p:spPr>
          <a:xfrm>
            <a:off x="1571625" y="4953000"/>
            <a:ext cx="9048750" cy="628650"/>
          </a:xfrm>
          <a:prstGeom prst="roundRect">
            <a:avLst>
              <a:gd name="adj" fmla="val 18182"/>
            </a:avLst>
          </a:prstGeom>
          <a:solidFill>
            <a:srgbClr val="F0F8EB"/>
          </a:solidFill>
          <a:ln w="9525">
            <a:solidFill>
              <a:srgbClr val="1E8E94"/>
            </a:solidFill>
            <a:prstDash val="solid"/>
          </a:ln>
        </p:spPr>
        <p:txBody>
          <a:bodyPr lIns="76200" tIns="38100" rIns="76200" bIns="38100" anchor="ctr">
            <a:normAutofit/>
          </a:bodyPr>
          <a:lstStyle/>
          <a:p>
            <a:pPr algn="ctr">
              <a:buNone/>
              <a:defRPr sz="1875" b="1">
                <a:solidFill>
                  <a:srgbClr val="1E8E94"/>
                </a:solidFill>
                <a:latin typeface="Source Han Sans CN"/>
                <a:ea typeface="Source Han Sans CN"/>
                <a:cs typeface="Source Han Sans CN"/>
              </a:defRPr>
            </a:pPr>
            <a:r>
              <a:rPr sz="1875" b="1">
                <a:solidFill>
                  <a:srgbClr val="1E8E94"/>
                </a:solidFill>
                <a:latin typeface="Source Han Sans CN"/>
                <a:ea typeface="Source Han Sans CN"/>
                <a:cs typeface="Source Han Sans CN"/>
              </a:rPr>
              <a:t>值得接入 = 确认整体瓶颈 + 正确性不变 + 真实负载有收益 + 稳定的端到端增益</a:t>
            </a:r>
            <a:endParaRPr sz="1875" b="1">
              <a:solidFill>
                <a:srgbClr val="1E8E94"/>
              </a:solidFill>
              <a:latin typeface="Source Han Sans CN"/>
              <a:ea typeface="Source Han Sans CN"/>
              <a:cs typeface="Source Han Sans C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lstStyle/>
          <a:p>
            <a:r>
              <a:t>课后任务：用一页完成 Softmax 优化分析</a:t>
            </a:r>
          </a:p>
        </p:txBody>
      </p:sp>
      <p:sp>
        <p:nvSpPr>
          <p:cNvPr id="4" name="内容占位符 3"/>
          <p:cNvSpPr>
            <a:spLocks noGrp="1"/>
          </p:cNvSpPr>
          <p:nvPr>
            <p:ph idx="1"/>
          </p:nvPr>
        </p:nvSpPr>
        <p:spPr>
          <a:xfrm>
            <a:off x="838200" y="1066800"/>
            <a:ext cx="10420350" cy="361950"/>
          </a:xfrm>
        </p:spPr>
        <p:txBody>
          <a:bodyPr lIns="38100" tIns="19050" rIns="38100" bIns="19050" anchor="ctr">
            <a:normAutofit fontScale="94444"/>
          </a:bodyPr>
          <a:lstStyle/>
          <a:p>
            <a:pPr>
              <a:buNone/>
              <a:defRPr sz="1500" b="1">
                <a:solidFill>
                  <a:srgbClr val="660874"/>
                </a:solidFill>
                <a:latin typeface="Source Han Sans CN"/>
                <a:ea typeface="Source Han Sans CN"/>
                <a:cs typeface="Source Han Sans CN"/>
              </a:defRPr>
            </a:pPr>
            <a:r>
              <a:rPr sz="1500" b="1">
                <a:solidFill>
                  <a:srgbClr val="660874"/>
                </a:solidFill>
                <a:latin typeface="Source Han Sans CN"/>
                <a:ea typeface="Source Han Sans CN"/>
                <a:cs typeface="Source Han Sans CN"/>
              </a:rPr>
              <a:t>必做聚焦分析；选做补充一个真实模型 shape</a:t>
            </a:r>
            <a:endParaRPr sz="1500" b="1">
              <a:solidFill>
                <a:srgbClr val="660874"/>
              </a:solidFill>
              <a:latin typeface="Source Han Sans CN"/>
              <a:ea typeface="Source Han Sans CN"/>
              <a:cs typeface="Source Han Sans CN"/>
            </a:endParaRPr>
          </a:p>
        </p:txBody>
      </p:sp>
      <p:sp>
        <p:nvSpPr>
          <p:cNvPr id="2" name="灯片编号占位符 1"/>
          <p:cNvSpPr>
            <a:spLocks noGrp="1"/>
          </p:cNvSpPr>
          <p:nvPr>
            <p:ph type="sldNum" idx="4294967295"/>
          </p:nvPr>
        </p:nvSpPr>
        <p:spPr>
          <a:xfrm>
            <a:off x="9448800" y="6356350"/>
            <a:ext cx="2743200" cy="365125"/>
          </a:xfrm>
        </p:spPr>
        <p:txBody>
          <a:bodyPr/>
          <a:lstStyle/>
          <a:p>
            <a:pPr algn="r">
              <a:buNone/>
              <a:defRPr sz="1200">
                <a:solidFill>
                  <a:srgbClr val="8B8E93"/>
                </a:solidFill>
                <a:latin typeface="Arial" panose="020B0604020202090204"/>
                <a:ea typeface="Arial" panose="020B0604020202090204"/>
                <a:cs typeface="Arial" panose="020B0604020202090204"/>
              </a:defRPr>
            </a:pPr>
            <a:r>
              <a:rPr sz="1200">
                <a:solidFill>
                  <a:srgbClr val="8B8E93"/>
                </a:solidFill>
                <a:latin typeface="Arial" panose="020B0604020202090204"/>
                <a:ea typeface="Arial" panose="020B0604020202090204"/>
                <a:cs typeface="Arial" panose="020B0604020202090204"/>
              </a:rPr>
              <a:t>32</a:t>
            </a:r>
            <a:endParaRPr sz="1200">
              <a:solidFill>
                <a:srgbClr val="8B8E93"/>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1000125" y="1809749"/>
            <a:ext cx="1238250" cy="523875"/>
          </a:xfrm>
          <a:prstGeom prst="rect">
            <a:avLst/>
          </a:prstGeom>
          <a:solidFill>
            <a:srgbClr val="660874"/>
          </a:solidFill>
          <a:ln w="0">
            <a:noFill/>
            <a:prstDash val="solid"/>
          </a:ln>
        </p:spPr>
        <p:txBody>
          <a:bodyPr wrap="square" lIns="38100" tIns="19050" rIns="38100" bIns="19050" anchor="ctr">
            <a:normAutofit/>
          </a:bodyPr>
          <a:lstStyle/>
          <a:p>
            <a:pPr algn="ctr">
              <a:lnSpc>
                <a:spcPct val="108000"/>
              </a:lnSpc>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必做</a:t>
            </a:r>
            <a:endParaRPr sz="1875" b="1">
              <a:solidFill>
                <a:srgbClr val="FFFFFF"/>
              </a:solidFill>
              <a:latin typeface="Source Han Sans CN"/>
              <a:ea typeface="Source Han Sans CN"/>
              <a:cs typeface="Source Han Sans CN"/>
            </a:endParaRPr>
          </a:p>
        </p:txBody>
      </p:sp>
      <p:sp>
        <p:nvSpPr>
          <p:cNvPr id="6" name="Rectangle 5"/>
          <p:cNvSpPr>
            <a:spLocks noGrp="1"/>
          </p:cNvSpPr>
          <p:nvPr/>
        </p:nvSpPr>
        <p:spPr>
          <a:xfrm>
            <a:off x="1000125" y="3253702"/>
            <a:ext cx="6191250" cy="2714625"/>
          </a:xfrm>
          <a:prstGeom prst="rect">
            <a:avLst/>
          </a:prstGeom>
          <a:noFill/>
          <a:ln w="0">
            <a:noFill/>
            <a:prstDash val="solid"/>
          </a:ln>
        </p:spPr>
        <p:txBody>
          <a:bodyPr wrap="square" lIns="38100" tIns="19050" rIns="38100" bIns="19050" anchor="t">
            <a:normAutofit/>
          </a:bodyPr>
          <a:lstStyle/>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说明 Attention 中 Softmax 的位置与 rows / cols 含义</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对比 v1 / v2 / v3 的线程映射与规约</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给出一个窄行和一个宽行的误差、耗时、加速比</a:t>
            </a:r>
            <a:endParaRPr sz="1575" b="0">
              <a:solidFill>
                <a:srgbClr val="202124"/>
              </a:solidFill>
              <a:latin typeface="Source Han Sans CN"/>
              <a:ea typeface="Source Han Sans CN"/>
              <a:cs typeface="Source Han Sans CN"/>
            </a:endParaRPr>
          </a:p>
          <a:p>
            <a:pPr marL="0" indent="0" algn="l">
              <a:lnSpc>
                <a:spcPct val="108000"/>
              </a:lnSpc>
              <a:spcAft>
                <a:spcPts val="10"/>
              </a:spcAft>
              <a:buNone/>
              <a:defRPr sz="1575" b="0">
                <a:solidFill>
                  <a:srgbClr val="202124"/>
                </a:solidFill>
                <a:latin typeface="Source Han Sans CN"/>
                <a:ea typeface="Source Han Sans CN"/>
                <a:cs typeface="Source Han Sans CN"/>
              </a:defRPr>
            </a:pPr>
            <a:r>
              <a:rPr sz="1575" b="0">
                <a:solidFill>
                  <a:srgbClr val="202124"/>
                </a:solidFill>
                <a:latin typeface="Source Han Sans CN"/>
                <a:ea typeface="Source Han Sans CN"/>
                <a:cs typeface="Source Han Sans CN"/>
              </a:rPr>
              <a:t>解释版本排序变化，并写明接回模型前缺少的证据</a:t>
            </a:r>
            <a:endParaRPr sz="1575" b="0">
              <a:solidFill>
                <a:srgbClr val="202124"/>
              </a:solidFill>
              <a:latin typeface="Source Han Sans CN"/>
              <a:ea typeface="Source Han Sans CN"/>
              <a:cs typeface="Source Han Sans CN"/>
            </a:endParaRPr>
          </a:p>
        </p:txBody>
      </p:sp>
      <p:sp>
        <p:nvSpPr>
          <p:cNvPr id="7" name="Rectangle 6"/>
          <p:cNvSpPr>
            <a:spLocks noGrp="1"/>
          </p:cNvSpPr>
          <p:nvPr/>
        </p:nvSpPr>
        <p:spPr>
          <a:xfrm>
            <a:off x="7905750" y="1809750"/>
            <a:ext cx="1238250" cy="523875"/>
          </a:xfrm>
          <a:prstGeom prst="rect">
            <a:avLst/>
          </a:prstGeom>
          <a:solidFill>
            <a:srgbClr val="1E8E94"/>
          </a:solidFill>
          <a:ln w="0">
            <a:noFill/>
            <a:prstDash val="solid"/>
          </a:ln>
        </p:spPr>
        <p:txBody>
          <a:bodyPr wrap="square" lIns="38100" tIns="19050" rIns="38100" bIns="19050" anchor="ctr">
            <a:normAutofit/>
          </a:bodyPr>
          <a:lstStyle/>
          <a:p>
            <a:pPr algn="ctr">
              <a:lnSpc>
                <a:spcPct val="108000"/>
              </a:lnSpc>
              <a:buNone/>
              <a:defRPr sz="1875" b="1">
                <a:solidFill>
                  <a:srgbClr val="FFFFFF"/>
                </a:solidFill>
                <a:latin typeface="Source Han Sans CN"/>
                <a:ea typeface="Source Han Sans CN"/>
                <a:cs typeface="Source Han Sans CN"/>
              </a:defRPr>
            </a:pPr>
            <a:r>
              <a:rPr sz="1875" b="1">
                <a:solidFill>
                  <a:srgbClr val="FFFFFF"/>
                </a:solidFill>
                <a:latin typeface="Source Han Sans CN"/>
                <a:ea typeface="Source Han Sans CN"/>
                <a:cs typeface="Source Han Sans CN"/>
              </a:rPr>
              <a:t>选做</a:t>
            </a:r>
            <a:endParaRPr sz="1875" b="1">
              <a:solidFill>
                <a:srgbClr val="FFFFFF"/>
              </a:solidFill>
              <a:latin typeface="Source Han Sans CN"/>
              <a:ea typeface="Source Han Sans CN"/>
              <a:cs typeface="Source Han Sans CN"/>
            </a:endParaRPr>
          </a:p>
        </p:txBody>
      </p:sp>
      <p:sp>
        <p:nvSpPr>
          <p:cNvPr id="8" name="Rectangle 7"/>
          <p:cNvSpPr>
            <a:spLocks noGrp="1"/>
          </p:cNvSpPr>
          <p:nvPr/>
        </p:nvSpPr>
        <p:spPr>
          <a:xfrm>
            <a:off x="7524750" y="2714625"/>
            <a:ext cx="3143250" cy="1714500"/>
          </a:xfrm>
          <a:prstGeom prst="rect">
            <a:avLst/>
          </a:prstGeom>
          <a:solidFill>
            <a:srgbClr val="EAF6F6"/>
          </a:solidFill>
          <a:ln w="0">
            <a:noFill/>
            <a:prstDash val="solid"/>
          </a:ln>
        </p:spPr>
        <p:txBody>
          <a:bodyPr wrap="square" lIns="38100" tIns="19050" rIns="38100" bIns="19050" anchor="ctr">
            <a:normAutofit/>
          </a:bodyPr>
          <a:lstStyle/>
          <a:p>
            <a:pPr algn="ctr">
              <a:lnSpc>
                <a:spcPct val="108000"/>
              </a:lnSpc>
              <a:buNone/>
              <a:defRPr sz="1725" b="0">
                <a:solidFill>
                  <a:srgbClr val="202124"/>
                </a:solidFill>
                <a:latin typeface="Source Han Sans CN"/>
                <a:ea typeface="Source Han Sans CN"/>
                <a:cs typeface="Source Han Sans CN"/>
              </a:defRPr>
            </a:pPr>
            <a:r>
              <a:rPr sz="1725" b="0">
                <a:solidFill>
                  <a:srgbClr val="202124"/>
                </a:solidFill>
                <a:latin typeface="Source Han Sans CN"/>
                <a:ea typeface="Source Han Sans CN"/>
                <a:cs typeface="Source Han Sans CN"/>
              </a:rPr>
              <a:t>从第 5 课模型记录真实 rows / cols</a:t>
            </a:r>
            <a:endParaRPr sz="1725" b="0">
              <a:solidFill>
                <a:srgbClr val="202124"/>
              </a:solidFill>
              <a:latin typeface="Source Han Sans CN"/>
              <a:ea typeface="Source Han Sans CN"/>
              <a:cs typeface="Source Han Sans CN"/>
            </a:endParaRPr>
          </a:p>
          <a:p>
            <a:pPr algn="ctr">
              <a:lnSpc>
                <a:spcPct val="108000"/>
              </a:lnSpc>
              <a:buNone/>
              <a:defRPr sz="1725" b="0">
                <a:solidFill>
                  <a:srgbClr val="202124"/>
                </a:solidFill>
                <a:latin typeface="Source Han Sans CN"/>
                <a:ea typeface="Source Han Sans CN"/>
                <a:cs typeface="Source Han Sans CN"/>
              </a:defRPr>
            </a:pPr>
            <a:r>
              <a:rPr sz="1725" b="0">
                <a:solidFill>
                  <a:srgbClr val="202124"/>
                </a:solidFill>
                <a:latin typeface="Source Han Sans CN"/>
                <a:ea typeface="Source Han Sans CN"/>
                <a:cs typeface="Source Han Sans CN"/>
              </a:rPr>
              <a:t>比较 v1 / v2 / v3 / mcDNN</a:t>
            </a:r>
            <a:endParaRPr sz="1725" b="0">
              <a:solidFill>
                <a:srgbClr val="202124"/>
              </a:solidFill>
              <a:latin typeface="Source Han Sans CN"/>
              <a:ea typeface="Source Han Sans CN"/>
              <a:cs typeface="Source Han Sans CN"/>
            </a:endParaRPr>
          </a:p>
          <a:p>
            <a:pPr algn="ctr">
              <a:lnSpc>
                <a:spcPct val="108000"/>
              </a:lnSpc>
              <a:buNone/>
              <a:defRPr sz="1725" b="0">
                <a:solidFill>
                  <a:srgbClr val="202124"/>
                </a:solidFill>
                <a:latin typeface="Source Han Sans CN"/>
                <a:ea typeface="Source Han Sans CN"/>
                <a:cs typeface="Source Han Sans CN"/>
              </a:defRPr>
            </a:pPr>
            <a:r>
              <a:rPr sz="1725" b="0">
                <a:solidFill>
                  <a:srgbClr val="202124"/>
                </a:solidFill>
                <a:latin typeface="Source Han Sans CN"/>
                <a:ea typeface="Source Han Sans CN"/>
                <a:cs typeface="Source Han Sans CN"/>
              </a:rPr>
              <a:t>给出选择与证据边界</a:t>
            </a:r>
            <a:endParaRPr sz="1725" b="0">
              <a:solidFill>
                <a:srgbClr val="202124"/>
              </a:solidFill>
              <a:latin typeface="Source Han Sans CN"/>
              <a:ea typeface="Source Han Sans CN"/>
              <a:cs typeface="Source Han Sans CN"/>
            </a:endParaRPr>
          </a:p>
        </p:txBody>
      </p:sp>
      <p:sp>
        <p:nvSpPr>
          <p:cNvPr id="9" name="Rectangle 8"/>
          <p:cNvSpPr>
            <a:spLocks noGrp="1"/>
          </p:cNvSpPr>
          <p:nvPr/>
        </p:nvSpPr>
        <p:spPr>
          <a:xfrm>
            <a:off x="7286625" y="4810125"/>
            <a:ext cx="3619500" cy="523875"/>
          </a:xfrm>
          <a:prstGeom prst="rect">
            <a:avLst/>
          </a:prstGeom>
          <a:noFill/>
          <a:ln w="0">
            <a:noFill/>
            <a:prstDash val="solid"/>
          </a:ln>
        </p:spPr>
        <p:txBody>
          <a:bodyPr wrap="square" lIns="38100" tIns="19050" rIns="38100" bIns="19050" anchor="ctr">
            <a:normAutofit/>
          </a:bodyPr>
          <a:lstStyle/>
          <a:p>
            <a:pPr algn="ctr">
              <a:lnSpc>
                <a:spcPct val="108000"/>
              </a:lnSpc>
              <a:buNone/>
              <a:defRPr sz="1575" b="1">
                <a:solidFill>
                  <a:srgbClr val="C23B55"/>
                </a:solidFill>
                <a:latin typeface="Source Han Sans CN"/>
                <a:ea typeface="Source Han Sans CN"/>
                <a:cs typeface="Source Han Sans CN"/>
              </a:defRPr>
            </a:pPr>
            <a:r>
              <a:rPr sz="1575" b="1">
                <a:solidFill>
                  <a:srgbClr val="C23B55"/>
                </a:solidFill>
                <a:latin typeface="Source Han Sans CN"/>
                <a:ea typeface="Source Han Sans CN"/>
                <a:cs typeface="Source Han Sans CN"/>
              </a:rPr>
              <a:t>Triton / TileLang 不作为代码作业</a:t>
            </a:r>
            <a:endParaRPr sz="1575" b="1">
              <a:solidFill>
                <a:srgbClr val="C23B55"/>
              </a:solidFill>
              <a:latin typeface="Source Han Sans CN"/>
              <a:ea typeface="Source Han Sans CN"/>
              <a:cs typeface="Source Han Sans C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normAutofit fontScale="90000"/>
          </a:bodyPr>
          <a:lstStyle/>
          <a:p>
            <a:r>
              <a:t>用真实 shape 与真实数据，确定自定义算子的价值</a:t>
            </a:r>
          </a:p>
        </p:txBody>
      </p:sp>
    </p:spTree>
  </p:cSld>
  <p:clrMapOvr>
    <a:masterClrMapping/>
  </p:clrMapOvr>
</p:sld>
</file>

<file path=ppt/theme/theme1.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6930</Words>
  <Application>WPS 演示</Application>
  <PresentationFormat>Converted Presentation</PresentationFormat>
  <Paragraphs>1076</Paragraphs>
  <Slides>33</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33</vt:i4>
      </vt:variant>
    </vt:vector>
  </HeadingPairs>
  <TitlesOfParts>
    <vt:vector size="59" baseType="lpstr">
      <vt:lpstr>Arial</vt:lpstr>
      <vt:lpstr>宋体</vt:lpstr>
      <vt:lpstr>Wingdings</vt:lpstr>
      <vt:lpstr>Arial</vt:lpstr>
      <vt:lpstr>ZapfDingbatsITC</vt:lpstr>
      <vt:lpstr>AppleSymbols</vt:lpstr>
      <vt:lpstr>Source Han Sans CN</vt:lpstr>
      <vt:lpstr>Thonburi</vt:lpstr>
      <vt:lpstr>思源黑体 CN Regular</vt:lpstr>
      <vt:lpstr>黑体-简</vt:lpstr>
      <vt:lpstr>Helvetica</vt:lpstr>
      <vt:lpstr>Consolas</vt:lpstr>
      <vt:lpstr>宋体</vt:lpstr>
      <vt:lpstr>宋体-简</vt:lpstr>
      <vt:lpstr>微软雅黑</vt:lpstr>
      <vt:lpstr>汉仪旗黑</vt:lpstr>
      <vt:lpstr>Arial Unicode MS</vt:lpstr>
      <vt:lpstr>黑体</vt:lpstr>
      <vt:lpstr>MS PGothic</vt:lpstr>
      <vt:lpstr>苹方-简</vt:lpstr>
      <vt:lpstr>华文仿宋</vt:lpstr>
      <vt:lpstr>Geneva</vt:lpstr>
      <vt:lpstr>Calibri</vt:lpstr>
      <vt:lpstr>Helvetica Neue</vt:lpstr>
      <vt:lpstr>1_Office 主题​​</vt:lpstr>
      <vt:lpstr>自定义设计方案</vt:lpstr>
      <vt:lpstr>第6课｜从 Transformer 到 MACA C++自定义算子实践</vt:lpstr>
      <vt:lpstr>本课内容路线图</vt:lpstr>
      <vt:lpstr>PowerPoint 演示文稿</vt:lpstr>
      <vt:lpstr>PowerPoint 演示文稿</vt:lpstr>
      <vt:lpstr>PowerPoint 演示文稿</vt:lpstr>
      <vt:lpstr>一个自定义的 kernel，什么时候值得接回模型？</vt:lpstr>
      <vt:lpstr>PowerPoint 演示文稿</vt:lpstr>
      <vt:lpstr>PowerPoint 演示文稿</vt:lpstr>
      <vt:lpstr>Attention 中，我们尝试替换的是最后一维 Softmax</vt:lpstr>
      <vt:lpstr>高维 Tensor 可以视为很多条彼此独立的行</vt:lpstr>
      <vt:lpstr>稳定 Softmax </vt:lpstr>
      <vt:lpstr>三个版本实现对应的三层执行粒度</vt:lpstr>
      <vt:lpstr>如何判断算子可用？</vt:lpstr>
      <vt:lpstr>固定测量环境，多次重复测量性能</vt:lpstr>
      <vt:lpstr>三个版本的并行方式</vt:lpstr>
      <vt:lpstr>v1：基线方法，一线程一行</vt:lpstr>
      <vt:lpstr>v2：一个 block 协作处理一行</vt:lpstr>
      <vt:lpstr>v2 的性能成本集中在两次共享内存规约</vt:lpstr>
      <vt:lpstr>v3：一个 64-lane wave 处理一行</vt:lpstr>
      <vt:lpstr>v3 用 shuffle 消除共享内存与块级同步</vt:lpstr>
      <vt:lpstr>三种映射各有优势区间</vt:lpstr>
      <vt:lpstr>尝试预测：行宽变化时，谁会最快？</vt:lpstr>
      <vt:lpstr>手写实现的优势区间：v3 中窄行，v2 超宽行</vt:lpstr>
      <vt:lpstr>测试不同输入条件的误差</vt:lpstr>
      <vt:lpstr>代表 shape 下的性能表现</vt:lpstr>
      <vt:lpstr>Kernel 延迟均值更小不代表绝对最优</vt:lpstr>
      <vt:lpstr>大部分情况官方成熟库的实现都要优于手写</vt:lpstr>
      <vt:lpstr>PyTorch 扩展</vt:lpstr>
      <vt:lpstr>接回 Transformer</vt:lpstr>
      <vt:lpstr>其它自定义算子的接入方式：Triton 与 TileLang</vt:lpstr>
      <vt:lpstr>实验驱动的算子优化闭环</vt:lpstr>
      <vt:lpstr>课后任务：用一页完成 Softmax 优化分析</vt:lpstr>
      <vt:lpstr>用真实 shape 与真实数据，确定自定义算子的价值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第6课｜从 Transformer 到 MACA C++自定义算子实践</dc:title>
  <dc:creator>Walnut Exporter</dc:creator>
  <cp:lastModifiedBy>冯家鑫</cp:lastModifiedBy>
  <cp:revision>1</cp:revision>
  <dcterms:created xsi:type="dcterms:W3CDTF">2026-08-31T06:01:13Z</dcterms:created>
  <dcterms:modified xsi:type="dcterms:W3CDTF">2026-08-31T06:01:13Z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5F37D51D6E3E5585A918956A4478E7A7_42</vt:lpwstr>
  </property>
  <property fmtid="{D5CDD505-2E9C-101B-9397-08002B2CF9AE}" pid="3" name="KSOProductBuildVer">
    <vt:lpwstr>2052-12.1.26050.26050</vt:lpwstr>
  </property>
</Properties>
</file>
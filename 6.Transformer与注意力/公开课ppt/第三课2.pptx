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ink/ink1.xml" ContentType="application/inkml+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2"/>
  </p:sldMasterIdLst>
  <p:notesMasterIdLst>
    <p:notesMasterId r:id="rId51"/>
  </p:notesMasterIdLst>
  <p:sldIdLst>
    <p:sldId id="256" r:id="rId3"/>
    <p:sldId id="257" r:id="rId4"/>
    <p:sldId id="258" r:id="rId5"/>
    <p:sldId id="259" r:id="rId6"/>
    <p:sldId id="260" r:id="rId7"/>
    <p:sldId id="294" r:id="rId8"/>
    <p:sldId id="261" r:id="rId9"/>
    <p:sldId id="307" r:id="rId10"/>
    <p:sldId id="262" r:id="rId11"/>
    <p:sldId id="263" r:id="rId12"/>
    <p:sldId id="264" r:id="rId13"/>
    <p:sldId id="265" r:id="rId14"/>
    <p:sldId id="266" r:id="rId15"/>
    <p:sldId id="267" r:id="rId16"/>
    <p:sldId id="308" r:id="rId17"/>
    <p:sldId id="268" r:id="rId18"/>
    <p:sldId id="295" r:id="rId19"/>
    <p:sldId id="269" r:id="rId20"/>
    <p:sldId id="287" r:id="rId21"/>
    <p:sldId id="309" r:id="rId22"/>
    <p:sldId id="271" r:id="rId23"/>
    <p:sldId id="296" r:id="rId24"/>
    <p:sldId id="273" r:id="rId25"/>
    <p:sldId id="311" r:id="rId26"/>
    <p:sldId id="312" r:id="rId27"/>
    <p:sldId id="274" r:id="rId28"/>
    <p:sldId id="275" r:id="rId29"/>
    <p:sldId id="276" r:id="rId30"/>
    <p:sldId id="277" r:id="rId31"/>
    <p:sldId id="278" r:id="rId32"/>
    <p:sldId id="279" r:id="rId33"/>
    <p:sldId id="280" r:id="rId34"/>
    <p:sldId id="281" r:id="rId35"/>
    <p:sldId id="293" r:id="rId36"/>
    <p:sldId id="288" r:id="rId37"/>
    <p:sldId id="284" r:id="rId38"/>
    <p:sldId id="290" r:id="rId39"/>
    <p:sldId id="291" r:id="rId40"/>
    <p:sldId id="292" r:id="rId41"/>
    <p:sldId id="297" r:id="rId42"/>
    <p:sldId id="298" r:id="rId43"/>
    <p:sldId id="299" r:id="rId44"/>
    <p:sldId id="300" r:id="rId45"/>
    <p:sldId id="301" r:id="rId46"/>
    <p:sldId id="302" r:id="rId47"/>
    <p:sldId id="303" r:id="rId48"/>
    <p:sldId id="306" r:id="rId49"/>
    <p:sldId id="286" r:id="rId5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4927"/>
    <p:restoredTop sz="96305"/>
  </p:normalViewPr>
  <p:slideViewPr>
    <p:cSldViewPr snapToGrid="0" snapToObjects="1">
      <p:cViewPr varScale="1">
        <p:scale>
          <a:sx n="151" d="100"/>
          <a:sy n="151" d="100"/>
        </p:scale>
        <p:origin x="728"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8-23T14:41:04.297"/>
    </inkml:context>
    <inkml:brush xml:id="br0">
      <inkml:brushProperty name="width" value="0.05292" units="cm"/>
      <inkml:brushProperty name="height" value="0.05292" units="cm"/>
      <inkml:brushProperty name="color" value="#FF0000"/>
    </inkml:brush>
  </inkml:definitions>
  <inkml:trace contextRef="#ctx0" brushRef="#br0">6357 10475 24575,'0'0'0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大家先回顾一下我们上一节课做到哪里。</a:t>
            </a:r>
          </a:p>
          <a:p>
            <a:r>
              <a:rPr lang="zh-CN" altLang="zh-CN" dirty="0"/>
              <a:t>第二课我们已经在沐曦 C500 上把 Encoder–Decoder 的训练流程跑通了。也就是说，我们已经不只是把模型代码搭起来，而是真正完成了一次训练，并且得到了后面可以继续使用的一系列训练产物。</a:t>
            </a:r>
            <a:endParaRPr lang="en-US" altLang="zh-CN" dirty="0"/>
          </a:p>
          <a:p>
            <a:endParaRPr lang="zh-CN" altLang="zh-CN" dirty="0"/>
          </a:p>
          <a:p>
            <a:r>
              <a:rPr lang="zh-CN" altLang="zh-CN" dirty="0"/>
              <a:t>这里主要包括 checkpoint，也就是训练好的模型权重；除此之外，还有训练日志以及预测文件。</a:t>
            </a:r>
            <a:endParaRPr lang="en-US" altLang="zh-CN" dirty="0"/>
          </a:p>
          <a:p>
            <a:endParaRPr lang="zh-CN" altLang="zh-CN" dirty="0"/>
          </a:p>
          <a:p>
            <a:r>
              <a:rPr lang="zh-CN" altLang="zh-CN" dirty="0"/>
              <a:t>所以第三课不会再</a:t>
            </a:r>
            <a:r>
              <a:rPr lang="zh-CN" altLang="en-US" dirty="0"/>
              <a:t>详细</a:t>
            </a:r>
            <a:r>
              <a:rPr lang="zh-CN" altLang="zh-CN" dirty="0"/>
              <a:t>从头开始训练，而是直接站在第二课的结果上继续往下做。</a:t>
            </a:r>
            <a:endParaRPr lang="en-US" altLang="zh-CN" dirty="0"/>
          </a:p>
          <a:p>
            <a:endParaRPr lang="zh-CN" altLang="zh-CN" dirty="0"/>
          </a:p>
          <a:p>
            <a:r>
              <a:rPr lang="zh-CN" altLang="zh-CN" dirty="0"/>
              <a:t>这一节课我们主要完成四项验收任务。</a:t>
            </a:r>
            <a:endParaRPr lang="en-US" altLang="zh-CN" dirty="0"/>
          </a:p>
          <a:p>
            <a:endParaRPr lang="zh-CN" altLang="zh-CN" dirty="0"/>
          </a:p>
          <a:p>
            <a:r>
              <a:rPr lang="zh-CN" altLang="zh-CN" dirty="0"/>
              <a:t>第一，加载上一节课已经训练好的模型权重，确认这个 checkpoint 能不能被正确恢复和使用。</a:t>
            </a:r>
            <a:endParaRPr lang="en-US" altLang="zh-CN" dirty="0"/>
          </a:p>
          <a:p>
            <a:endParaRPr lang="zh-CN" altLang="zh-CN" dirty="0"/>
          </a:p>
          <a:p>
            <a:r>
              <a:rPr lang="zh-CN" altLang="zh-CN" dirty="0"/>
              <a:t>第二，验证 Attention 和 Mask 的数值计算是否正确。也就是说，我们不仅要看程序“能不能跑”，还要进一步确认模型内部的计算逻辑是不是对的。</a:t>
            </a:r>
            <a:endParaRPr lang="en-US" altLang="zh-CN" dirty="0"/>
          </a:p>
          <a:p>
            <a:endParaRPr lang="zh-CN" altLang="zh-CN" dirty="0"/>
          </a:p>
          <a:p>
            <a:r>
              <a:rPr lang="zh-CN" altLang="zh-CN" dirty="0"/>
              <a:t>第三，我们会看 Loss 的计算方式，并观察模型的收敛变化。这里重点会关注 PAD、目标序列以及验证指标这些问题。</a:t>
            </a:r>
            <a:endParaRPr lang="en-US" altLang="zh-CN" dirty="0"/>
          </a:p>
          <a:p>
            <a:endParaRPr lang="zh-CN" altLang="zh-CN" dirty="0"/>
          </a:p>
          <a:p>
            <a:r>
              <a:rPr lang="zh-CN" altLang="zh-CN" dirty="0"/>
              <a:t>第四，在前面的检查都完成以后，我们会真正使用这个模型做翻译，最后完成 10 个测试句的翻译并提交结果。</a:t>
            </a:r>
            <a:endParaRPr lang="en-US" altLang="zh-CN" dirty="0"/>
          </a:p>
          <a:p>
            <a:endParaRPr lang="zh-CN" altLang="zh-CN" dirty="0"/>
          </a:p>
          <a:p>
            <a:r>
              <a:rPr lang="zh-CN" altLang="zh-CN" dirty="0"/>
              <a:t>所以大家可以把今天这一课理解成：第二课解决的是“模型能不能训练起来”，第三课进一步解决的是“训练出来的模型到底对不对、好不好用”。</a:t>
            </a:r>
            <a:endParaRPr lang="en-US" altLang="zh-CN" dirty="0"/>
          </a:p>
          <a:p>
            <a:endParaRPr lang="zh-CN" altLang="zh-CN" dirty="0"/>
          </a:p>
          <a:p>
            <a:r>
              <a:rPr lang="zh-CN" altLang="zh-CN" dirty="0"/>
              <a:t>另外提醒一下，本节课不会再重新完整推导 Transformer 的结构。像 Encoder、Decoder、Multi-Head Attention 这些整体结构，我们默认沿用前面课程的基础，今天重点放在模型加载、数值验证、训练优化和实际翻译上。</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接下来大家先看一下今天整个 90 分钟的安排。</a:t>
            </a:r>
            <a:endParaRPr lang="en-US" altLang="zh-CN" dirty="0"/>
          </a:p>
          <a:p>
            <a:endParaRPr lang="zh-CN" altLang="zh-CN" dirty="0"/>
          </a:p>
          <a:p>
            <a:r>
              <a:rPr lang="zh-CN" altLang="zh-CN" dirty="0"/>
              <a:t>今天的内容一共分成六个阶段，这六个阶段实际上是前后衔接的。</a:t>
            </a:r>
            <a:endParaRPr lang="en-US" altLang="zh-CN" dirty="0"/>
          </a:p>
          <a:p>
            <a:endParaRPr lang="zh-CN" altLang="zh-CN" dirty="0"/>
          </a:p>
          <a:p>
            <a:r>
              <a:rPr lang="zh-CN" altLang="zh-CN" dirty="0"/>
              <a:t>第一个阶段，我们先加载第二课训练好的模型权重。这里重点要解决的是 checkpoint 怎么读取，以及模型配置、词表和 BPE 是否能够正确配套。完成以后，我们首先要保证模型能够正常运行。</a:t>
            </a:r>
            <a:endParaRPr lang="en-US" altLang="zh-CN" dirty="0"/>
          </a:p>
          <a:p>
            <a:endParaRPr lang="zh-CN" altLang="zh-CN" dirty="0"/>
          </a:p>
          <a:p>
            <a:r>
              <a:rPr lang="zh-CN" altLang="zh-CN" dirty="0"/>
              <a:t>第二个阶段我们重点验证 Attention 和 Mask 的数值。这里不会只看代码有没有报错，而是会真正检查 Attention 的 shape、Softmax 之后的结果，以及 PAD 和未来位置有没有被正确屏蔽。做到这一步，我们才能说模型内部的核心计算是可信的。</a:t>
            </a:r>
            <a:endParaRPr lang="en-US" altLang="zh-CN" dirty="0"/>
          </a:p>
          <a:p>
            <a:endParaRPr lang="zh-CN" altLang="zh-CN" dirty="0"/>
          </a:p>
          <a:p>
            <a:r>
              <a:rPr lang="zh-CN" altLang="zh-CN" dirty="0"/>
              <a:t>第三个阶段是 ，我们来看 Loss。包括目标序列为什么要右移、为什么 Loss 和 Accuracy 要忽略 PAD，以及我们应该怎样从验证指标判断模型有没有正常收敛。</a:t>
            </a:r>
            <a:endParaRPr lang="en-US" altLang="zh-CN" dirty="0"/>
          </a:p>
          <a:p>
            <a:endParaRPr lang="zh-CN" altLang="zh-CN" dirty="0"/>
          </a:p>
          <a:p>
            <a:r>
              <a:rPr lang="zh-CN" altLang="zh-CN" dirty="0"/>
              <a:t>第四个阶段这一部分主要讲三个训练技巧：Batch、梯度累积，以及学习率调度和 Warmup。大家需要知道它们分别是在解决显存、训练效率和收敛稳定性的问题。</a:t>
            </a:r>
            <a:endParaRPr lang="en-US" altLang="zh-CN" dirty="0"/>
          </a:p>
          <a:p>
            <a:endParaRPr lang="zh-CN" altLang="zh-CN" dirty="0"/>
          </a:p>
          <a:p>
            <a:r>
              <a:rPr lang="zh-CN" altLang="zh-CN" dirty="0"/>
              <a:t>第五个阶段前面的模型和训练过程检查完之后，我们会选择最佳模型权重，并且真正执行翻译，看看模型最后生成出来的句子是否合理。</a:t>
            </a:r>
            <a:endParaRPr lang="en-US" altLang="zh-CN" dirty="0"/>
          </a:p>
          <a:p>
            <a:endParaRPr lang="zh-CN" altLang="zh-CN" dirty="0"/>
          </a:p>
          <a:p>
            <a:r>
              <a:rPr lang="zh-CN" altLang="zh-CN" dirty="0"/>
              <a:t>最后</a:t>
            </a:r>
            <a:r>
              <a:rPr lang="zh-CN" altLang="en-US" dirty="0"/>
              <a:t>呢</a:t>
            </a:r>
            <a:r>
              <a:rPr lang="zh-CN" altLang="zh-CN" dirty="0"/>
              <a:t>，我们完成 10 个句子的翻译结果整理和任务验收。</a:t>
            </a:r>
            <a:endParaRPr lang="en-US" altLang="zh-CN" dirty="0"/>
          </a:p>
          <a:p>
            <a:endParaRPr lang="zh-CN" altLang="zh-CN" dirty="0"/>
          </a:p>
          <a:p>
            <a:r>
              <a:rPr lang="zh-CN" altLang="zh-CN" dirty="0"/>
              <a:t>所以今天大家不要把这六个阶段看成六块互相独立的知识点。</a:t>
            </a:r>
          </a:p>
          <a:p>
            <a:r>
              <a:rPr lang="zh-CN" altLang="zh-CN" dirty="0"/>
              <a:t>它其实是一条完整的模型验收链路：</a:t>
            </a:r>
          </a:p>
          <a:p>
            <a:r>
              <a:rPr lang="zh-CN" altLang="zh-CN" dirty="0"/>
              <a:t>先把权重加载进来，</a:t>
            </a:r>
            <a:br>
              <a:rPr lang="zh-CN" altLang="zh-CN" dirty="0"/>
            </a:br>
            <a:r>
              <a:rPr lang="zh-CN" altLang="zh-CN" dirty="0"/>
              <a:t>再检查内部计算，</a:t>
            </a:r>
            <a:br>
              <a:rPr lang="zh-CN" altLang="zh-CN" dirty="0"/>
            </a:br>
            <a:r>
              <a:rPr lang="zh-CN" altLang="zh-CN" dirty="0"/>
              <a:t>然后检查 Loss 和训练收敛，</a:t>
            </a:r>
            <a:br>
              <a:rPr lang="zh-CN" altLang="zh-CN" dirty="0"/>
            </a:br>
            <a:r>
              <a:rPr lang="zh-CN" altLang="zh-CN" dirty="0"/>
              <a:t>接着了解怎么优化训练，</a:t>
            </a:r>
            <a:br>
              <a:rPr lang="zh-CN" altLang="zh-CN" dirty="0"/>
            </a:br>
            <a:r>
              <a:rPr lang="zh-CN" altLang="zh-CN" dirty="0"/>
              <a:t>最后才真正拿模型去翻译。</a:t>
            </a:r>
          </a:p>
          <a:p>
            <a:r>
              <a:rPr lang="zh-CN" altLang="zh-CN" dirty="0"/>
              <a:t>只要这条链路全部走通，今天第三课的任务就完成了</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前面我们已经知道，今天第一步是加载第二课训练好的权重。</a:t>
            </a:r>
          </a:p>
          <a:p>
            <a:r>
              <a:rPr lang="zh-CN" altLang="zh-CN" dirty="0"/>
              <a:t>但是在真正加载之前，我们先要明确一件事情：模型运行并不是只有一个 checkpoint 文件就够了，它还需要和训练时使用的词表以及 BPE 规则配套。</a:t>
            </a:r>
          </a:p>
          <a:p>
            <a:r>
              <a:rPr lang="zh-CN" altLang="zh-CN" dirty="0"/>
              <a:t>我们先看上面这个例子。</a:t>
            </a:r>
            <a:endParaRPr lang="en-US" altLang="zh-CN" dirty="0"/>
          </a:p>
          <a:p>
            <a:endParaRPr lang="zh-CN" altLang="zh-CN" dirty="0"/>
          </a:p>
          <a:p>
            <a:r>
              <a:rPr lang="zh-CN" altLang="zh-CN" dirty="0"/>
              <a:t>假设现在输入一句英文：</a:t>
            </a:r>
          </a:p>
          <a:p>
            <a:r>
              <a:rPr lang="zh-CN" altLang="zh-CN" dirty="0"/>
              <a:t>I love cats.</a:t>
            </a:r>
          </a:p>
          <a:p>
            <a:r>
              <a:rPr lang="zh-CN" altLang="zh-CN" dirty="0"/>
              <a:t>对于我们来说，这是一句话，但是模型本身并不能直接理解文字，模型真正处理的是数字。</a:t>
            </a:r>
            <a:endParaRPr lang="en-US" altLang="zh-CN" dirty="0"/>
          </a:p>
          <a:p>
            <a:endParaRPr lang="zh-CN" altLang="zh-CN" dirty="0"/>
          </a:p>
          <a:p>
            <a:r>
              <a:rPr lang="zh-CN" altLang="zh-CN" dirty="0"/>
              <a:t>所以第一步，需要先通过训练时使用的词表和 BPE 规则，把这句话转换成模型能够处理的编号。比如这里为了说明，我们把它表示成 [18, 56, 203]。</a:t>
            </a:r>
          </a:p>
          <a:p>
            <a:r>
              <a:rPr lang="zh-CN" altLang="zh-CN" dirty="0"/>
              <a:t>接下来，这些编号才会进入我们训练好的模型。</a:t>
            </a:r>
            <a:endParaRPr lang="en-US" altLang="zh-CN" dirty="0"/>
          </a:p>
          <a:p>
            <a:endParaRPr lang="zh-CN" altLang="zh-CN" dirty="0"/>
          </a:p>
          <a:p>
            <a:r>
              <a:rPr lang="zh-CN" altLang="zh-CN" dirty="0"/>
              <a:t>checkpoint 中保存的模型参数，会根据输入的英文编号，预测对应的中文编号。比如这里模型最后预测出 [41, 78, 95]。</a:t>
            </a:r>
            <a:endParaRPr lang="en-US" altLang="zh-CN" dirty="0"/>
          </a:p>
          <a:p>
            <a:endParaRPr lang="zh-CN" altLang="zh-CN" dirty="0"/>
          </a:p>
          <a:p>
            <a:r>
              <a:rPr lang="zh-CN" altLang="zh-CN" dirty="0"/>
              <a:t>但是模型输出的依然只是数字，所以最后还需要使用训练时的中文词表，把这些编号重新转换回中文，我们才能得到“我爱猫”这样的译文。</a:t>
            </a:r>
            <a:endParaRPr lang="en-US" altLang="zh-CN" dirty="0"/>
          </a:p>
          <a:p>
            <a:endParaRPr lang="zh-CN" altLang="zh-CN" dirty="0"/>
          </a:p>
          <a:p>
            <a:r>
              <a:rPr lang="zh-CN" altLang="zh-CN" dirty="0"/>
              <a:t>这里就出现了一个非常关键的问题：</a:t>
            </a:r>
          </a:p>
          <a:p>
            <a:r>
              <a:rPr lang="zh-CN" altLang="zh-CN" b="1" dirty="0"/>
              <a:t>为什么词表一定要和 checkpoint 配套？</a:t>
            </a:r>
            <a:endParaRPr lang="en-US" altLang="zh-CN" b="1" dirty="0"/>
          </a:p>
          <a:p>
            <a:endParaRPr lang="zh-CN" altLang="zh-CN" dirty="0"/>
          </a:p>
          <a:p>
            <a:r>
              <a:rPr lang="zh-CN" altLang="zh-CN" dirty="0"/>
              <a:t>因为模型真正认识的是“编号”，而不是“词”。</a:t>
            </a:r>
          </a:p>
          <a:p>
            <a:r>
              <a:rPr lang="zh-CN" altLang="zh-CN" dirty="0"/>
              <a:t>比如模型训练的时候，编号 41 代表“我”。那么模型学到的参数，其实是在学习什么时候应该输出编号 41。</a:t>
            </a:r>
          </a:p>
          <a:p>
            <a:r>
              <a:rPr lang="zh-CN" altLang="zh-CN" dirty="0"/>
              <a:t>但是如果我们换了一套词表，编号 41 可能就不再表示“我”，而是变成其他词。</a:t>
            </a:r>
          </a:p>
          <a:p>
            <a:r>
              <a:rPr lang="zh-CN" altLang="zh-CN" dirty="0"/>
              <a:t>这种情况下，即使 checkpoint 可以成功加载，程序也完全不报错，最后翻译出来的结果仍然可能是错误的。</a:t>
            </a:r>
            <a:endParaRPr lang="en-US" altLang="zh-CN" dirty="0"/>
          </a:p>
          <a:p>
            <a:endParaRPr lang="zh-CN" altLang="zh-CN" dirty="0"/>
          </a:p>
          <a:p>
            <a:r>
              <a:rPr lang="zh-CN" altLang="zh-CN" dirty="0"/>
              <a:t>所以模型运行时，至少要带齐三类文件。</a:t>
            </a:r>
          </a:p>
          <a:p>
            <a:r>
              <a:rPr lang="zh-CN" altLang="zh-CN" dirty="0"/>
              <a:t>第一类是 </a:t>
            </a:r>
            <a:r>
              <a:rPr lang="zh-CN" altLang="zh-CN" b="1" dirty="0"/>
              <a:t>best_model.chkpt</a:t>
            </a:r>
            <a:r>
              <a:rPr lang="zh-CN" altLang="zh-CN" dirty="0"/>
              <a:t>。</a:t>
            </a:r>
          </a:p>
          <a:p>
            <a:r>
              <a:rPr lang="zh-CN" altLang="zh-CN" dirty="0"/>
              <a:t>它保存的是模型训练得到的参数，以及相关的训练配置。我们可以简单理解成，它决定了这个模型到底“会不会翻译”。</a:t>
            </a:r>
          </a:p>
          <a:p>
            <a:r>
              <a:rPr lang="zh-CN" altLang="zh-CN" dirty="0"/>
              <a:t>第二类是 </a:t>
            </a:r>
            <a:r>
              <a:rPr lang="zh-CN" altLang="zh-CN" b="1" dirty="0"/>
              <a:t>词表或者数据文件</a:t>
            </a:r>
            <a:r>
              <a:rPr lang="zh-CN" altLang="zh-CN" dirty="0"/>
              <a:t>。</a:t>
            </a:r>
          </a:p>
          <a:p>
            <a:r>
              <a:rPr lang="zh-CN" altLang="zh-CN" dirty="0"/>
              <a:t>它负责规定“哪个编号代表哪个词”。</a:t>
            </a:r>
          </a:p>
          <a:p>
            <a:r>
              <a:rPr lang="zh-CN" altLang="zh-CN" dirty="0"/>
              <a:t>第三类是 </a:t>
            </a:r>
            <a:r>
              <a:rPr lang="zh-CN" altLang="zh-CN" b="1" dirty="0"/>
              <a:t>BPE 规则</a:t>
            </a:r>
            <a:r>
              <a:rPr lang="zh-CN" altLang="zh-CN" dirty="0"/>
              <a:t>。</a:t>
            </a:r>
          </a:p>
          <a:p>
            <a:r>
              <a:rPr lang="zh-CN" altLang="zh-CN" dirty="0"/>
              <a:t>它负责规定一句话应该怎样切成模型真正使用的子词。</a:t>
            </a:r>
            <a:endParaRPr lang="en-US" altLang="zh-CN" dirty="0"/>
          </a:p>
          <a:p>
            <a:endParaRPr lang="zh-CN" altLang="zh-CN" dirty="0"/>
          </a:p>
          <a:p>
            <a:r>
              <a:rPr lang="zh-CN" altLang="zh-CN" dirty="0"/>
              <a:t>大家再看右下角。</a:t>
            </a:r>
          </a:p>
          <a:p>
            <a:r>
              <a:rPr lang="zh-CN" altLang="zh-CN" dirty="0"/>
              <a:t>train.log、valid.log 和 predictions.txt 这些文件当然也很重要，但是它们不会直接参与一次翻译的计算。</a:t>
            </a:r>
          </a:p>
          <a:p>
            <a:r>
              <a:rPr lang="zh-CN" altLang="zh-CN" dirty="0"/>
              <a:t>训练日志和验证日志主要帮助我们判断训练有没有收敛、哪一轮模型表现最好；predictions.txt 可以帮助我们检查译文有没有重复、漏译或者翻错。</a:t>
            </a:r>
            <a:endParaRPr lang="en-US" altLang="zh-CN" dirty="0"/>
          </a:p>
          <a:p>
            <a:endParaRPr lang="zh-CN" altLang="zh-CN" dirty="0"/>
          </a:p>
          <a:p>
            <a:r>
              <a:rPr lang="zh-CN" altLang="zh-CN" dirty="0"/>
              <a:t>所以这一页大家最后只需要记住一句话：</a:t>
            </a:r>
          </a:p>
          <a:p>
            <a:r>
              <a:rPr lang="zh-CN" altLang="zh-CN" b="1" dirty="0"/>
              <a:t>权重决定模型“会不会翻”，配套的词表和 BPE 决定这些编号“到底是什么意思”。</a:t>
            </a:r>
            <a:endParaRPr lang="zh-CN" altLang="zh-CN" dirty="0"/>
          </a:p>
          <a:p>
            <a:r>
              <a:rPr lang="zh-CN" altLang="zh-CN" dirty="0"/>
              <a:t>这也是为什么我们加载模型之前，首先要检查这三类文件是不是来自同一次训练流程。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理解了为什么三类文件必须配套以后，我们来看第一个实操。这里 PPT 上我主要展示的是检查思路和关键结果。</a:t>
            </a:r>
          </a:p>
          <a:p>
            <a:r>
              <a:rPr lang="zh-CN" altLang="zh-CN" b="1" dirty="0"/>
              <a:t>完整的检查代码，以及大家实际操作时需要使用的命令，我已经放在后面的附录里</a:t>
            </a:r>
            <a:endParaRPr lang="en-US" altLang="zh-CN" dirty="0"/>
          </a:p>
          <a:p>
            <a:endParaRPr lang="zh-CN" altLang="zh-CN" dirty="0"/>
          </a:p>
          <a:p>
            <a:r>
              <a:rPr lang="zh-CN" altLang="zh-CN" dirty="0"/>
              <a:t>这里我们的目标其实非常简单：</a:t>
            </a:r>
          </a:p>
          <a:p>
            <a:r>
              <a:rPr lang="zh-CN" altLang="zh-CN" b="1" dirty="0"/>
              <a:t>在加载模型之前，先确认 checkpoint、数据文件和 BPE 文件都存在，而且它们的关键配置是一致的。</a:t>
            </a:r>
            <a:endParaRPr lang="en-US" altLang="zh-CN" b="1" dirty="0"/>
          </a:p>
          <a:p>
            <a:endParaRPr lang="zh-CN" altLang="zh-CN" dirty="0"/>
          </a:p>
          <a:p>
            <a:r>
              <a:rPr lang="zh-CN" altLang="zh-CN" dirty="0"/>
              <a:t>大家先看左上角。</a:t>
            </a:r>
          </a:p>
          <a:p>
            <a:r>
              <a:rPr lang="zh-CN" altLang="zh-CN" dirty="0"/>
              <a:t>这里我们分别指定了三个文件的位置。</a:t>
            </a:r>
          </a:p>
          <a:p>
            <a:r>
              <a:rPr lang="zh-CN" altLang="zh-CN" dirty="0"/>
              <a:t>MODEL 对应的是训练得到的 best_model.chkpt；</a:t>
            </a:r>
          </a:p>
          <a:p>
            <a:r>
              <a:rPr lang="zh-CN" altLang="zh-CN" dirty="0"/>
              <a:t>DATA 对应的是训练时使用的数据文件；</a:t>
            </a:r>
          </a:p>
          <a:p>
            <a:r>
              <a:rPr lang="zh-CN" altLang="zh-CN" dirty="0"/>
              <a:t>CODES 对应的是训练时使用的 BPE 规则。</a:t>
            </a:r>
            <a:endParaRPr lang="en-US" altLang="zh-CN" dirty="0"/>
          </a:p>
          <a:p>
            <a:endParaRPr lang="zh-CN" altLang="zh-CN" dirty="0"/>
          </a:p>
          <a:p>
            <a:r>
              <a:rPr lang="zh-CN" altLang="zh-CN" dirty="0"/>
              <a:t>然后使用 ls 去确认这三个文件确实存在。</a:t>
            </a:r>
          </a:p>
          <a:p>
            <a:r>
              <a:rPr lang="zh-CN" altLang="zh-CN" dirty="0"/>
              <a:t>这一部分主要解决的是最基础的问题：路径有没有写错、文件有没有缺失。</a:t>
            </a:r>
            <a:endParaRPr lang="en-US" altLang="zh-CN" dirty="0"/>
          </a:p>
          <a:p>
            <a:endParaRPr lang="zh-CN" altLang="zh-CN" dirty="0"/>
          </a:p>
          <a:p>
            <a:r>
              <a:rPr lang="zh-CN" altLang="zh-CN" dirty="0"/>
              <a:t>接下来左下角这一部分，是进一步检查词表和 checkpoint 中保存的配置是不是一致。</a:t>
            </a:r>
          </a:p>
          <a:p>
            <a:r>
              <a:rPr lang="zh-CN" altLang="zh-CN" dirty="0"/>
              <a:t>比如这里会检查：</a:t>
            </a:r>
          </a:p>
          <a:p>
            <a:r>
              <a:rPr lang="zh-CN" altLang="zh-CN" dirty="0"/>
              <a:t>训练数据中的源语言词表大小，是不是等于 checkpoint 中记录的 src_vocab_size；</a:t>
            </a:r>
          </a:p>
          <a:p>
            <a:r>
              <a:rPr lang="zh-CN" altLang="zh-CN" dirty="0"/>
              <a:t>目标语言词表大小，是不是等于 trg_vocab_size；</a:t>
            </a:r>
          </a:p>
          <a:p>
            <a:r>
              <a:rPr lang="zh-CN" altLang="zh-CN" dirty="0"/>
              <a:t>同时还会检查 PAD 对应的编号是不是一致。</a:t>
            </a:r>
            <a:endParaRPr lang="en-US" altLang="zh-CN" dirty="0"/>
          </a:p>
          <a:p>
            <a:endParaRPr lang="zh-CN" altLang="zh-CN" dirty="0"/>
          </a:p>
          <a:p>
            <a:r>
              <a:rPr lang="zh-CN" altLang="zh-CN" dirty="0"/>
              <a:t>为什么这些东西需要检查？</a:t>
            </a:r>
            <a:endParaRPr lang="en-US" altLang="zh-CN" dirty="0"/>
          </a:p>
          <a:p>
            <a:endParaRPr lang="zh-CN" altLang="zh-CN" dirty="0"/>
          </a:p>
          <a:p>
            <a:r>
              <a:rPr lang="zh-CN" altLang="zh-CN" dirty="0"/>
              <a:t>因为如果 checkpoint 训练时使用的是一个 11109 大小的词表，而我们现在加载了另外一个词表，即使程序能够继续运行，模型中的 embedding 和词编号对应关系也可能已经不一致。</a:t>
            </a:r>
          </a:p>
          <a:p>
            <a:r>
              <a:rPr lang="zh-CN" altLang="zh-CN" dirty="0"/>
              <a:t>所以这一步实际上是在确认：</a:t>
            </a:r>
          </a:p>
          <a:p>
            <a:r>
              <a:rPr lang="zh-CN" altLang="zh-CN" b="1" dirty="0"/>
              <a:t>我们现在使用的，确实是和这个 checkpoint 配套的那一套数据。</a:t>
            </a:r>
            <a:endParaRPr lang="en-US" altLang="zh-CN" b="1" dirty="0"/>
          </a:p>
          <a:p>
            <a:endParaRPr lang="zh-CN" altLang="zh-CN" dirty="0"/>
          </a:p>
          <a:p>
            <a:r>
              <a:rPr lang="zh-CN" altLang="zh-CN" dirty="0"/>
              <a:t>大家再看右边，这是检查通过以后终端打印出来的结果。</a:t>
            </a:r>
            <a:endParaRPr lang="en-US" altLang="zh-CN" dirty="0"/>
          </a:p>
          <a:p>
            <a:r>
              <a:rPr lang="zh-CN" altLang="en-US" dirty="0"/>
              <a:t>比如说我们可以</a:t>
            </a:r>
            <a:r>
              <a:rPr lang="zh-CN" altLang="zh-CN" dirty="0"/>
              <a:t>看到当前运行设备</a:t>
            </a:r>
            <a:r>
              <a:rPr lang="zh-CN" altLang="en-US" dirty="0"/>
              <a:t>（</a:t>
            </a:r>
            <a:r>
              <a:rPr lang="zh-CN" altLang="zh-CN" dirty="0"/>
              <a:t> </a:t>
            </a:r>
            <a:r>
              <a:rPr lang="zh-CN" altLang="en-US" dirty="0"/>
              <a:t>批注：</a:t>
            </a:r>
            <a:r>
              <a:rPr lang="zh-CN" altLang="zh-CN" dirty="0"/>
              <a:t>MetaX C500</a:t>
            </a:r>
            <a:r>
              <a:rPr lang="zh-CN" altLang="en-US" dirty="0"/>
              <a:t>）</a:t>
            </a:r>
            <a:r>
              <a:rPr lang="zh-CN" altLang="zh-CN" dirty="0"/>
              <a:t>，说明模型是在我们预期的设备环境中运行。</a:t>
            </a:r>
          </a:p>
          <a:p>
            <a:r>
              <a:rPr lang="zh-CN" altLang="zh-CN" dirty="0"/>
              <a:t>然后可以看到 checkpoint 中包含 epoch、settings 和 model。</a:t>
            </a:r>
          </a:p>
          <a:p>
            <a:r>
              <a:rPr lang="zh-CN" altLang="zh-CN" dirty="0"/>
              <a:t>下面还打印出了词表大小、PAD 编号、模型维度、层数、注意力头数、batch size、warmup steps 等配置。</a:t>
            </a:r>
            <a:endParaRPr lang="en-US" altLang="zh-CN" dirty="0"/>
          </a:p>
          <a:p>
            <a:endParaRPr lang="zh-CN" altLang="zh-CN" dirty="0"/>
          </a:p>
          <a:p>
            <a:r>
              <a:rPr lang="zh-CN" altLang="zh-CN" dirty="0"/>
              <a:t>我们目前重点只检查几个关键结果。</a:t>
            </a:r>
          </a:p>
          <a:p>
            <a:r>
              <a:rPr lang="zh-CN" altLang="zh-CN" dirty="0"/>
              <a:t>比如数据集的 src vocab 是 11109，checkpoint 中的 src vocab 也是 11109；</a:t>
            </a:r>
          </a:p>
          <a:p>
            <a:r>
              <a:rPr lang="zh-CN" altLang="zh-CN" dirty="0"/>
              <a:t>数据集的 trg vocab 是 11109，checkpoint 中记录的 trg vocab 也是 11109。</a:t>
            </a:r>
          </a:p>
          <a:p>
            <a:r>
              <a:rPr lang="zh-CN" altLang="zh-CN" dirty="0"/>
              <a:t>也就是说，这些关键配置能够对应上。</a:t>
            </a:r>
          </a:p>
          <a:p>
            <a:r>
              <a:rPr lang="zh-CN" altLang="zh-CN" dirty="0"/>
              <a:t>如果这些 assert 都能够通过，而且没有报错，就说明 checkpoint、词表和相关配置至少在这一层检查中是配套的。</a:t>
            </a:r>
          </a:p>
          <a:p>
            <a:endParaRPr lang="zh-CN" altLang="zh-CN" dirty="0"/>
          </a:p>
          <a:p>
            <a:r>
              <a:rPr lang="zh-CN" altLang="zh-CN" dirty="0"/>
              <a:t>大家在真正做实验的时候，可以直接到附录找到“实操1：checkpoint、词表与 BPE 配套”，</a:t>
            </a:r>
            <a:r>
              <a:rPr lang="zh-CN" altLang="en-US" dirty="0"/>
              <a:t>参考</a:t>
            </a:r>
            <a:r>
              <a:rPr lang="zh-CN" altLang="zh-CN" dirty="0"/>
              <a:t>里面的完整命令运行。</a:t>
            </a:r>
          </a:p>
          <a:p>
            <a:r>
              <a:rPr lang="zh-CN" altLang="zh-CN" dirty="0"/>
              <a:t>我们现在更重要的是先理解：为什么要做这些检查，以及最后应该看到什么结果。</a:t>
            </a:r>
          </a:p>
          <a:p>
            <a:r>
              <a:rPr lang="zh-CN" altLang="zh-CN" dirty="0"/>
              <a:t>只要这一关通过，我们下一步就可以真正按照 checkpoint 中的配置去重建模型，并加载训练好的权重。</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3249934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上一页我们已经确认了 checkpoint、词表和 BPE 是配套的。</a:t>
            </a:r>
          </a:p>
          <a:p>
            <a:r>
              <a:rPr lang="zh-CN" altLang="zh-CN" dirty="0"/>
              <a:t>接下来就可以真正开始加载模型。</a:t>
            </a:r>
            <a:endParaRPr lang="en-US" altLang="zh-CN" dirty="0"/>
          </a:p>
          <a:p>
            <a:endParaRPr lang="zh-CN" altLang="zh-CN" dirty="0"/>
          </a:p>
          <a:p>
            <a:r>
              <a:rPr lang="zh-CN" altLang="zh-CN" dirty="0"/>
              <a:t>不过这里有一个很重要的顺序：</a:t>
            </a:r>
          </a:p>
          <a:p>
            <a:r>
              <a:rPr lang="zh-CN" altLang="zh-CN" b="1" dirty="0"/>
              <a:t>我们不能拿到 checkpoint 之后，直接把权重塞进一个随便创建的模型里。</a:t>
            </a:r>
            <a:endParaRPr lang="zh-CN" altLang="zh-CN" dirty="0"/>
          </a:p>
          <a:p>
            <a:r>
              <a:rPr lang="zh-CN" altLang="zh-CN" dirty="0"/>
              <a:t>因为 checkpoint 里面其实保存了两类非常关键的信息。</a:t>
            </a:r>
            <a:endParaRPr lang="en-US" altLang="zh-CN" dirty="0"/>
          </a:p>
          <a:p>
            <a:endParaRPr lang="zh-CN" altLang="zh-CN" dirty="0"/>
          </a:p>
          <a:p>
            <a:r>
              <a:rPr lang="zh-CN" altLang="zh-CN" dirty="0"/>
              <a:t>第一类叫做 </a:t>
            </a:r>
            <a:r>
              <a:rPr lang="zh-CN" altLang="zh-CN" b="1" dirty="0"/>
              <a:t>settings</a:t>
            </a:r>
            <a:r>
              <a:rPr lang="zh-CN" altLang="zh-CN" dirty="0"/>
              <a:t>。</a:t>
            </a:r>
          </a:p>
          <a:p>
            <a:r>
              <a:rPr lang="zh-CN" altLang="zh-CN" dirty="0"/>
              <a:t>大家可以把 settings 理解成这个模型的“设计图”。</a:t>
            </a:r>
          </a:p>
          <a:p>
            <a:r>
              <a:rPr lang="zh-CN" altLang="zh-CN" dirty="0"/>
              <a:t>这里面记录了模型当时训练时使用的结构，例如模型有多少层、隐藏层维度是多少、用了多少个注意力头、词表大小是多少等等。</a:t>
            </a:r>
          </a:p>
          <a:p>
            <a:r>
              <a:rPr lang="zh-CN" altLang="zh-CN" dirty="0"/>
              <a:t>也就是说，settings 决定的是：</a:t>
            </a:r>
            <a:r>
              <a:rPr lang="zh-CN" altLang="zh-CN" b="1" dirty="0"/>
              <a:t>这个模型当时到底“长什么样”。</a:t>
            </a:r>
            <a:endParaRPr lang="zh-CN" altLang="zh-CN" dirty="0"/>
          </a:p>
          <a:p>
            <a:r>
              <a:rPr lang="zh-CN" altLang="zh-CN" dirty="0"/>
              <a:t>第二类叫做 </a:t>
            </a:r>
            <a:r>
              <a:rPr lang="zh-CN" altLang="zh-CN" b="1" dirty="0"/>
              <a:t>model</a:t>
            </a:r>
            <a:r>
              <a:rPr lang="zh-CN" altLang="zh-CN" dirty="0"/>
              <a:t>。</a:t>
            </a:r>
          </a:p>
          <a:p>
            <a:r>
              <a:rPr lang="zh-CN" altLang="zh-CN" dirty="0"/>
              <a:t>这里保存的是训练之后真正学到的参数，也就是上一节课训练出来的“翻译能力”。</a:t>
            </a:r>
          </a:p>
          <a:p>
            <a:r>
              <a:rPr lang="zh-CN" altLang="zh-CN" dirty="0"/>
              <a:t>所以我们加载 checkpoint 的时候，可以把整个过程理解成：</a:t>
            </a:r>
          </a:p>
          <a:p>
            <a:r>
              <a:rPr lang="zh-CN" altLang="zh-CN" b="1" dirty="0"/>
              <a:t>先按照设计图，把房子的结构重新搭出来；然后再把训练好的参数放回对应的位置。</a:t>
            </a:r>
            <a:endParaRPr lang="en-US" altLang="zh-CN" b="1" dirty="0"/>
          </a:p>
          <a:p>
            <a:endParaRPr lang="en-US" altLang="zh-CN" b="1" dirty="0"/>
          </a:p>
          <a:p>
            <a:endParaRPr lang="zh-CN" altLang="zh-CN" dirty="0"/>
          </a:p>
          <a:p>
            <a:r>
              <a:rPr lang="zh-CN" altLang="zh-CN" dirty="0"/>
              <a:t>大家看下面这个流程。</a:t>
            </a:r>
          </a:p>
          <a:p>
            <a:r>
              <a:rPr lang="zh-CN" altLang="zh-CN" dirty="0"/>
              <a:t>第一步，我们先打开 checkpoint。</a:t>
            </a:r>
          </a:p>
          <a:p>
            <a:r>
              <a:rPr lang="zh-CN" altLang="zh-CN" dirty="0"/>
              <a:t>打开之后，从里面拿到两部分：一部分是 settings，一部分是 model。</a:t>
            </a:r>
            <a:endParaRPr lang="en-US" altLang="zh-CN" dirty="0"/>
          </a:p>
          <a:p>
            <a:endParaRPr lang="zh-CN" altLang="zh-CN" dirty="0"/>
          </a:p>
          <a:p>
            <a:r>
              <a:rPr lang="zh-CN" altLang="zh-CN" dirty="0"/>
              <a:t>第二步，读取 settings。</a:t>
            </a:r>
          </a:p>
          <a:p>
            <a:r>
              <a:rPr lang="zh-CN" altLang="zh-CN" dirty="0"/>
              <a:t>我们需要知道模型原来有多少层、维度是多少、注意力头数是多少，以及词表有多大。</a:t>
            </a:r>
            <a:endParaRPr lang="en-US" altLang="zh-CN" dirty="0"/>
          </a:p>
          <a:p>
            <a:endParaRPr lang="zh-CN" altLang="zh-CN" dirty="0"/>
          </a:p>
          <a:p>
            <a:r>
              <a:rPr lang="zh-CN" altLang="zh-CN" dirty="0"/>
              <a:t>第三步，根据这些 settings，重新创建一个完全相同结构的 Transformer 模型。</a:t>
            </a:r>
          </a:p>
          <a:p>
            <a:r>
              <a:rPr lang="zh-CN" altLang="zh-CN" dirty="0"/>
              <a:t>注意，这一步完成以后，我们只是把模型的“架子”搭好了。</a:t>
            </a:r>
          </a:p>
          <a:p>
            <a:r>
              <a:rPr lang="zh-CN" altLang="zh-CN" dirty="0"/>
              <a:t>它虽然长得和上一节课训练时的模型一样，但是此时还没有恢复上一节课学到的翻译能力。</a:t>
            </a:r>
            <a:endParaRPr lang="en-US" altLang="zh-CN" dirty="0"/>
          </a:p>
          <a:p>
            <a:endParaRPr lang="zh-CN" altLang="zh-CN" dirty="0"/>
          </a:p>
          <a:p>
            <a:r>
              <a:rPr lang="zh-CN" altLang="zh-CN" dirty="0"/>
              <a:t>所以第四步，我们再把 checkpoint 里面的 model 权重加载进去。</a:t>
            </a:r>
          </a:p>
          <a:p>
            <a:r>
              <a:rPr lang="zh-CN" altLang="zh-CN" dirty="0"/>
              <a:t>这一步完成以后，模型才真正恢复到训练后的状态。</a:t>
            </a:r>
            <a:endParaRPr lang="en-US" altLang="zh-CN" dirty="0"/>
          </a:p>
          <a:p>
            <a:endParaRPr lang="zh-CN" altLang="zh-CN" dirty="0"/>
          </a:p>
          <a:p>
            <a:r>
              <a:rPr lang="zh-CN" altLang="zh-CN" dirty="0"/>
              <a:t>为什么一定要先恢复相同的结构？</a:t>
            </a:r>
          </a:p>
          <a:p>
            <a:r>
              <a:rPr lang="zh-CN" altLang="zh-CN" dirty="0"/>
              <a:t>因为权重和模型结构是一一对应的。</a:t>
            </a:r>
          </a:p>
          <a:p>
            <a:r>
              <a:rPr lang="zh-CN" altLang="zh-CN" dirty="0"/>
              <a:t>比如训练的时候是 4 个 Attention Head，加载的时候如果我们创建成 8 个 Head，那么里面很多参数的尺寸就对不上。</a:t>
            </a:r>
          </a:p>
          <a:p>
            <a:r>
              <a:rPr lang="zh-CN" altLang="zh-CN" dirty="0"/>
              <a:t>这种情况下，权重就无法正确加载。</a:t>
            </a:r>
            <a:endParaRPr lang="en-US" altLang="zh-CN" dirty="0"/>
          </a:p>
          <a:p>
            <a:endParaRPr lang="zh-CN" altLang="zh-CN" dirty="0"/>
          </a:p>
          <a:p>
            <a:r>
              <a:rPr lang="zh-CN" altLang="zh-CN" dirty="0"/>
              <a:t>所以这里大家一定要记住这个顺序：</a:t>
            </a:r>
          </a:p>
          <a:p>
            <a:r>
              <a:rPr lang="zh-CN" altLang="zh-CN" b="1" dirty="0"/>
              <a:t>先根据 settings 重建相同的模型，再加载 model 权重。</a:t>
            </a:r>
            <a:endParaRPr lang="zh-CN" altLang="zh-CN" dirty="0"/>
          </a:p>
          <a:p>
            <a:r>
              <a:rPr lang="zh-CN" altLang="zh-CN" dirty="0"/>
              <a:t>最后还有一步，就是调用 </a:t>
            </a:r>
            <a:r>
              <a:rPr lang="zh-CN" altLang="zh-CN" b="1" dirty="0"/>
              <a:t>model.eval()</a:t>
            </a:r>
            <a:r>
              <a:rPr lang="zh-CN" altLang="zh-CN" dirty="0"/>
              <a:t>。</a:t>
            </a:r>
            <a:endParaRPr lang="en-US" altLang="zh-CN" dirty="0"/>
          </a:p>
          <a:p>
            <a:endParaRPr lang="zh-CN" altLang="zh-CN" dirty="0"/>
          </a:p>
          <a:p>
            <a:r>
              <a:rPr lang="zh-CN" altLang="zh-CN" dirty="0"/>
              <a:t>它的作用是把模型切换到验证或者推理模式。</a:t>
            </a:r>
          </a:p>
          <a:p>
            <a:r>
              <a:rPr lang="zh-CN" altLang="zh-CN" dirty="0"/>
              <a:t>也就是说，从这一刻开始，我们不是继续训练它，而是准备使用它做后面的数值验证和实际翻译。</a:t>
            </a:r>
          </a:p>
          <a:p>
            <a:r>
              <a:rPr lang="zh-CN" altLang="zh-CN" dirty="0"/>
              <a:t>所以这一页最后大家只记住一句话就可以：</a:t>
            </a:r>
          </a:p>
          <a:p>
            <a:r>
              <a:rPr lang="zh-CN" altLang="zh-CN" b="1" dirty="0"/>
              <a:t>先按 settings 搭出同样的模型，再装入 model 权重，顺序不能颠倒。</a:t>
            </a:r>
            <a:endParaRPr lang="zh-CN"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刚才讲的是加载模型的整体逻辑。</a:t>
            </a:r>
          </a:p>
          <a:p>
            <a:r>
              <a:rPr lang="zh-CN" altLang="zh-CN" dirty="0"/>
              <a:t>这一页我们来看一下，这个过程在代码里面具体是怎样实现的。我们主要看它是不是和上一页的流程完全对应。这里正文中我只展示最核心的代码结构，大家不需要现场抄这一整段。</a:t>
            </a:r>
            <a:r>
              <a:rPr lang="zh-CN" altLang="zh-CN" b="1" dirty="0"/>
              <a:t>完整的可运行代码和具体命令都放在后面的附录“实操2”里面，大家真正做实验的时候直接</a:t>
            </a:r>
            <a:r>
              <a:rPr lang="zh-CN" altLang="en-US" b="1" dirty="0"/>
              <a:t>参考</a:t>
            </a:r>
            <a:r>
              <a:rPr lang="zh-CN" altLang="zh-CN" b="1" dirty="0"/>
              <a:t>附录运行就可以</a:t>
            </a:r>
            <a:r>
              <a:rPr lang="zh-CN" altLang="en-US" b="1" dirty="0"/>
              <a:t>。</a:t>
            </a:r>
            <a:endParaRPr lang="zh-CN" altLang="zh-CN" dirty="0"/>
          </a:p>
          <a:p>
            <a:r>
              <a:rPr lang="zh-CN" altLang="zh-CN" dirty="0"/>
              <a:t>课堂上我们现在更重要的是理解这几行代码分别对应什么步骤。</a:t>
            </a:r>
          </a:p>
          <a:p>
            <a:endParaRPr lang="zh-CN" altLang="zh-CN" dirty="0"/>
          </a:p>
          <a:p>
            <a:r>
              <a:rPr lang="zh-CN" altLang="zh-CN" dirty="0"/>
              <a:t>首先看最上面。</a:t>
            </a:r>
          </a:p>
          <a:p>
            <a:r>
              <a:rPr lang="zh-CN" altLang="zh-CN" dirty="0"/>
              <a:t>这里使用 </a:t>
            </a:r>
            <a:r>
              <a:rPr lang="zh-CN" altLang="zh-CN" sz="1200" kern="1200" dirty="0"/>
              <a:t>torch.load</a:t>
            </a:r>
            <a:r>
              <a:rPr lang="zh-CN" altLang="zh-CN" dirty="0"/>
              <a:t> 打开我们刚才确认过的 checkpoint。</a:t>
            </a:r>
          </a:p>
          <a:p>
            <a:r>
              <a:rPr lang="zh-CN" altLang="zh-CN" dirty="0"/>
              <a:t>然后这一行：</a:t>
            </a:r>
          </a:p>
          <a:p>
            <a:r>
              <a:rPr lang="zh-CN" altLang="zh-CN" sz="1200" kern="1200" dirty="0"/>
              <a:t>model_opt = checkpoint["settings"]</a:t>
            </a:r>
            <a:endParaRPr lang="zh-CN" altLang="zh-CN" dirty="0"/>
          </a:p>
          <a:p>
            <a:r>
              <a:rPr lang="zh-CN" altLang="zh-CN" dirty="0"/>
              <a:t>就是把 checkpoint 里面保存的 settings 读取出来。</a:t>
            </a:r>
          </a:p>
          <a:p>
            <a:r>
              <a:rPr lang="zh-CN" altLang="zh-CN" dirty="0"/>
              <a:t>也就是先拿到刚才讲的那张“设计图”。</a:t>
            </a:r>
            <a:endParaRPr lang="en-US" altLang="zh-CN" dirty="0"/>
          </a:p>
          <a:p>
            <a:endParaRPr lang="zh-CN" altLang="zh-CN" dirty="0"/>
          </a:p>
          <a:p>
            <a:r>
              <a:rPr lang="zh-CN" altLang="zh-CN" dirty="0"/>
              <a:t>接下来这一大段 </a:t>
            </a:r>
            <a:r>
              <a:rPr lang="zh-CN" altLang="zh-CN" sz="1200" kern="1200" dirty="0"/>
              <a:t>Transformer(...)</a:t>
            </a:r>
            <a:r>
              <a:rPr lang="zh-CN" altLang="zh-CN" dirty="0"/>
              <a:t>，其实就在完成上一页的第三步：</a:t>
            </a:r>
          </a:p>
          <a:p>
            <a:r>
              <a:rPr lang="zh-CN" altLang="zh-CN" b="1" dirty="0"/>
              <a:t>按照 settings 重新搭建和训练时完全相同的模型结构。</a:t>
            </a:r>
            <a:endParaRPr lang="zh-CN" altLang="zh-CN" dirty="0"/>
          </a:p>
          <a:p>
            <a:r>
              <a:rPr lang="zh-CN" altLang="zh-CN" dirty="0"/>
              <a:t>大家可以看到，这里使用了很多 checkpoint 中原来保存的参数。</a:t>
            </a:r>
          </a:p>
          <a:p>
            <a:r>
              <a:rPr lang="zh-CN" altLang="zh-CN" dirty="0"/>
              <a:t>比如 </a:t>
            </a:r>
            <a:r>
              <a:rPr lang="zh-CN" altLang="zh-CN" sz="1200" kern="1200" dirty="0"/>
              <a:t>src_vocab_size</a:t>
            </a:r>
            <a:r>
              <a:rPr lang="zh-CN" altLang="zh-CN" dirty="0"/>
              <a:t>，也就是 source vocab size，源语言词表大小；</a:t>
            </a:r>
          </a:p>
          <a:p>
            <a:r>
              <a:rPr lang="zh-CN" altLang="zh-CN" sz="1200" kern="1200" dirty="0"/>
              <a:t>trg_vocab_size</a:t>
            </a:r>
            <a:r>
              <a:rPr lang="zh-CN" altLang="zh-CN" dirty="0"/>
              <a:t>，也就是 target vocab size，目标语言词表大小；</a:t>
            </a:r>
          </a:p>
          <a:p>
            <a:r>
              <a:rPr lang="zh-CN" altLang="zh-CN" dirty="0"/>
              <a:t>除此之外，还有 </a:t>
            </a:r>
            <a:r>
              <a:rPr lang="zh-CN" altLang="zh-CN" sz="1200" kern="1200" dirty="0"/>
              <a:t>d_model</a:t>
            </a:r>
            <a:r>
              <a:rPr lang="zh-CN" altLang="zh-CN" dirty="0"/>
              <a:t>、</a:t>
            </a:r>
            <a:r>
              <a:rPr lang="zh-CN" altLang="zh-CN" sz="1200" kern="1200" dirty="0"/>
              <a:t>n_layers</a:t>
            </a:r>
            <a:r>
              <a:rPr lang="zh-CN" altLang="zh-CN" dirty="0"/>
              <a:t>、</a:t>
            </a:r>
            <a:r>
              <a:rPr lang="zh-CN" altLang="zh-CN" sz="1200" kern="1200" dirty="0"/>
              <a:t>n_head</a:t>
            </a:r>
            <a:r>
              <a:rPr lang="zh-CN" altLang="zh-CN" dirty="0"/>
              <a:t> 和 dropout 等参数。</a:t>
            </a:r>
          </a:p>
          <a:p>
            <a:r>
              <a:rPr lang="zh-CN" altLang="zh-CN" dirty="0"/>
              <a:t>这些参数共同决定了模型的结构。</a:t>
            </a:r>
            <a:endParaRPr lang="en-US" altLang="zh-CN" dirty="0"/>
          </a:p>
          <a:p>
            <a:endParaRPr lang="zh-CN" altLang="zh-CN" dirty="0"/>
          </a:p>
          <a:p>
            <a:r>
              <a:rPr lang="zh-CN" altLang="zh-CN" dirty="0"/>
              <a:t>这里不要求大家现在把每一个参数都背下来。</a:t>
            </a:r>
          </a:p>
          <a:p>
            <a:r>
              <a:rPr lang="zh-CN" altLang="zh-CN" dirty="0"/>
              <a:t>我们只需要知道一点：</a:t>
            </a:r>
          </a:p>
          <a:p>
            <a:r>
              <a:rPr lang="zh-CN" altLang="zh-CN" b="1" dirty="0"/>
              <a:t>重新创建模型的时候，不能自己随便填写参数，而是要使用 checkpoint 中原来保存的 settings。</a:t>
            </a:r>
            <a:endParaRPr lang="en-US" altLang="zh-CN" b="1" dirty="0"/>
          </a:p>
          <a:p>
            <a:endParaRPr lang="zh-CN" altLang="zh-CN" dirty="0"/>
          </a:p>
          <a:p>
            <a:r>
              <a:rPr lang="zh-CN" altLang="zh-CN" dirty="0"/>
              <a:t>模型结构创建完成以后，再看下面这一行：</a:t>
            </a:r>
          </a:p>
          <a:p>
            <a:r>
              <a:rPr lang="zh-CN" altLang="zh-CN" sz="1200" kern="1200" dirty="0"/>
              <a:t>model.load_state_dict(checkpoint["model"])</a:t>
            </a:r>
            <a:endParaRPr lang="zh-CN" altLang="zh-CN" dirty="0"/>
          </a:p>
          <a:p>
            <a:r>
              <a:rPr lang="zh-CN" altLang="zh-CN" dirty="0"/>
              <a:t>这一行就是把 checkpoint 中真正训练好的权重加载进刚才创建的模型。</a:t>
            </a:r>
          </a:p>
          <a:p>
            <a:r>
              <a:rPr lang="zh-CN" altLang="zh-CN" dirty="0"/>
              <a:t>也就是说，前面是“搭架子”，这一行才是在“恢复训练成果”。</a:t>
            </a:r>
            <a:endParaRPr lang="en-US" altLang="zh-CN" dirty="0"/>
          </a:p>
          <a:p>
            <a:endParaRPr lang="zh-CN" altLang="zh-CN" dirty="0"/>
          </a:p>
          <a:p>
            <a:r>
              <a:rPr lang="zh-CN" altLang="zh-CN" dirty="0"/>
              <a:t>最后：</a:t>
            </a:r>
          </a:p>
          <a:p>
            <a:r>
              <a:rPr lang="zh-CN" altLang="zh-CN" sz="1200" kern="1200" dirty="0"/>
              <a:t>model.eval()</a:t>
            </a:r>
            <a:endParaRPr lang="zh-CN" altLang="zh-CN" dirty="0"/>
          </a:p>
          <a:p>
            <a:r>
              <a:rPr lang="zh-CN" altLang="zh-CN" dirty="0"/>
              <a:t>把模型切换到验证模式。</a:t>
            </a:r>
          </a:p>
          <a:p>
            <a:r>
              <a:rPr lang="zh-CN" altLang="zh-CN" dirty="0"/>
              <a:t>所以把这一页代码压缩成四步，其实就是：</a:t>
            </a:r>
          </a:p>
          <a:p>
            <a:r>
              <a:rPr lang="zh-CN" altLang="zh-CN" b="1" dirty="0"/>
              <a:t>加载 checkpoint，读取 settings，重建模型，加载权重，然后切换到 eval 模式。</a:t>
            </a:r>
            <a:endParaRPr lang="zh-CN" altLang="zh-CN" dirty="0"/>
          </a:p>
          <a:p>
            <a:r>
              <a:rPr lang="zh-CN" altLang="zh-CN" dirty="0"/>
              <a:t>这和上一页的流程是一一对应的。</a:t>
            </a:r>
          </a:p>
          <a:p>
            <a:r>
              <a:rPr lang="zh-CN" altLang="zh-CN" dirty="0"/>
              <a:t>只要模型能够按照原来的 settings 成功创建，并且 </a:t>
            </a:r>
            <a:r>
              <a:rPr lang="zh-CN" altLang="zh-CN" sz="1200" kern="1200" dirty="0"/>
              <a:t>load_state_dict</a:t>
            </a:r>
            <a:r>
              <a:rPr lang="zh-CN" altLang="zh-CN" dirty="0"/>
              <a:t> 没有报错，就说明训练好的参数已经成功恢复到模型里面。</a:t>
            </a:r>
          </a:p>
          <a:p>
            <a:r>
              <a:rPr lang="zh-CN" altLang="zh-CN" dirty="0"/>
              <a:t>但是大家注意：</a:t>
            </a:r>
          </a:p>
          <a:p>
            <a:r>
              <a:rPr lang="zh-CN" altLang="zh-CN" b="1" dirty="0"/>
              <a:t>权重成功加载，并不等于这个模型已经验证正确。</a:t>
            </a:r>
            <a:endParaRPr lang="zh-CN" altLang="zh-CN" dirty="0"/>
          </a:p>
          <a:p>
            <a:r>
              <a:rPr lang="zh-CN" altLang="zh-CN" dirty="0"/>
              <a:t>下一步，我们还需要继续检查 Attention 和 Mask 的数值是不是符合预期。</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2855282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前面我们已经完成了模型权重的加载。</a:t>
            </a:r>
          </a:p>
          <a:p>
            <a:r>
              <a:rPr lang="zh-CN" altLang="zh-CN" dirty="0"/>
              <a:t>如果终端出现：</a:t>
            </a:r>
          </a:p>
          <a:p>
            <a:r>
              <a:rPr lang="zh-CN" altLang="zh-CN" sz="1200" kern="1200" dirty="0"/>
              <a:t>Trained model state loaded</a:t>
            </a:r>
            <a:endParaRPr lang="zh-CN" altLang="zh-CN" dirty="0"/>
          </a:p>
          <a:p>
            <a:endParaRPr lang="zh-CN" altLang="zh-CN" dirty="0"/>
          </a:p>
          <a:p>
            <a:r>
              <a:rPr lang="zh-CN" altLang="zh-CN" dirty="0"/>
              <a:t>它只能说明一件事情：</a:t>
            </a:r>
          </a:p>
          <a:p>
            <a:r>
              <a:rPr lang="zh-CN" altLang="zh-CN" b="1" dirty="0"/>
              <a:t>checkpoint 里面保存的参数，已经成功装进我们刚刚重建的模型里。</a:t>
            </a:r>
            <a:endParaRPr lang="en-US" altLang="zh-CN" b="1" dirty="0"/>
          </a:p>
          <a:p>
            <a:endParaRPr lang="zh-CN" altLang="zh-CN" dirty="0"/>
          </a:p>
          <a:p>
            <a:r>
              <a:rPr lang="zh-CN" altLang="zh-CN" dirty="0"/>
              <a:t>但是大家要注意，</a:t>
            </a:r>
            <a:r>
              <a:rPr lang="zh-CN" altLang="zh-CN" b="1" dirty="0"/>
              <a:t>权重加载成功，并不等于模型已经验证正确，更不等于模型已经可以放心使用。</a:t>
            </a:r>
            <a:endParaRPr lang="zh-CN" altLang="zh-CN" dirty="0"/>
          </a:p>
          <a:p>
            <a:r>
              <a:rPr lang="zh-CN" altLang="zh-CN" dirty="0"/>
              <a:t>大家看右边这条流程。</a:t>
            </a:r>
          </a:p>
          <a:p>
            <a:r>
              <a:rPr lang="zh-CN" altLang="zh-CN" dirty="0"/>
              <a:t>我们现在其实只完成了第一步，也就是“权重装入”。</a:t>
            </a:r>
          </a:p>
          <a:p>
            <a:r>
              <a:rPr lang="zh-CN" altLang="zh-CN" dirty="0"/>
              <a:t>接下来还要继续检查三个方面。</a:t>
            </a:r>
            <a:endParaRPr lang="en-US" altLang="zh-CN" dirty="0"/>
          </a:p>
          <a:p>
            <a:endParaRPr lang="zh-CN" altLang="zh-CN" dirty="0"/>
          </a:p>
          <a:p>
            <a:r>
              <a:rPr lang="zh-CN" altLang="zh-CN" dirty="0"/>
              <a:t>第一，</a:t>
            </a:r>
            <a:r>
              <a:rPr lang="zh-CN" altLang="zh-CN" b="1" dirty="0"/>
              <a:t>配套是否一致</a:t>
            </a:r>
            <a:r>
              <a:rPr lang="zh-CN" altLang="zh-CN" dirty="0"/>
              <a:t>。</a:t>
            </a:r>
          </a:p>
          <a:p>
            <a:r>
              <a:rPr lang="zh-CN" altLang="zh-CN" dirty="0"/>
              <a:t>也就是我们前面讲过的词表、BPE 规则，以及当前运行设备是不是正确。</a:t>
            </a:r>
          </a:p>
          <a:p>
            <a:r>
              <a:rPr lang="zh-CN" altLang="zh-CN" dirty="0"/>
              <a:t>如果词表没有配套，那么即使权重已经成功加载，同一个编号也可能对应错误的词，最后翻译结果依然会出问题。</a:t>
            </a:r>
            <a:endParaRPr lang="en-US" altLang="zh-CN" dirty="0"/>
          </a:p>
          <a:p>
            <a:endParaRPr lang="zh-CN" altLang="zh-CN" dirty="0"/>
          </a:p>
          <a:p>
            <a:r>
              <a:rPr lang="zh-CN" altLang="zh-CN" dirty="0"/>
              <a:t>第二，</a:t>
            </a:r>
            <a:r>
              <a:rPr lang="zh-CN" altLang="zh-CN" b="1" dirty="0"/>
              <a:t>数值计算是否正确</a:t>
            </a:r>
            <a:r>
              <a:rPr lang="zh-CN" altLang="zh-CN" dirty="0"/>
              <a:t>。</a:t>
            </a:r>
          </a:p>
          <a:p>
            <a:r>
              <a:rPr lang="zh-CN" altLang="zh-CN" dirty="0"/>
              <a:t>这一部分就是我们接下来马上要讲的重点。</a:t>
            </a:r>
          </a:p>
          <a:p>
            <a:r>
              <a:rPr lang="zh-CN" altLang="zh-CN" dirty="0"/>
              <a:t>我们要检查 Attention 的计算是不是正常，Padding Mask 和 Causal Mask 有没有真正把不应该看到的位置遮住。</a:t>
            </a:r>
          </a:p>
          <a:p>
            <a:r>
              <a:rPr lang="zh-CN" altLang="zh-CN" dirty="0"/>
              <a:t>换句话说，我们不仅要确认模型“能跑”，还要确认它内部“算得对”。</a:t>
            </a:r>
            <a:endParaRPr lang="en-US" altLang="zh-CN" dirty="0"/>
          </a:p>
          <a:p>
            <a:endParaRPr lang="zh-CN" altLang="zh-CN" dirty="0"/>
          </a:p>
          <a:p>
            <a:r>
              <a:rPr lang="zh-CN" altLang="zh-CN" dirty="0"/>
              <a:t>第三，</a:t>
            </a:r>
            <a:r>
              <a:rPr lang="zh-CN" altLang="zh-CN" b="1" dirty="0"/>
              <a:t>实际翻译是否可用</a:t>
            </a:r>
            <a:r>
              <a:rPr lang="zh-CN" altLang="zh-CN" dirty="0"/>
              <a:t>。</a:t>
            </a:r>
          </a:p>
          <a:p>
            <a:r>
              <a:rPr lang="zh-CN" altLang="zh-CN" dirty="0"/>
              <a:t>最后我们还要拿固定的测试句真正跑一次翻译，看看模型输出的中文是否合理，有没有出现乱码、重复、漏译或者明显翻错。</a:t>
            </a:r>
          </a:p>
          <a:p>
            <a:r>
              <a:rPr lang="zh-CN" altLang="zh-CN" dirty="0"/>
              <a:t>所以右边这四个阶段可以理解成：</a:t>
            </a:r>
          </a:p>
          <a:p>
            <a:r>
              <a:rPr lang="zh-CN" altLang="zh-CN" dirty="0"/>
              <a:t>第一步，参数有没有正确装进去；</a:t>
            </a:r>
          </a:p>
          <a:p>
            <a:r>
              <a:rPr lang="zh-CN" altLang="zh-CN" dirty="0"/>
              <a:t>第二步，模型配置有没有对应上；</a:t>
            </a:r>
          </a:p>
          <a:p>
            <a:r>
              <a:rPr lang="zh-CN" altLang="zh-CN" dirty="0"/>
              <a:t>第三步，内部计算是不是正确；</a:t>
            </a:r>
          </a:p>
          <a:p>
            <a:r>
              <a:rPr lang="zh-CN" altLang="zh-CN" dirty="0"/>
              <a:t>第四步，最后生成出来的译文能不能用。</a:t>
            </a:r>
          </a:p>
          <a:p>
            <a:r>
              <a:rPr lang="zh-CN" altLang="zh-CN" dirty="0"/>
              <a:t>只有这几项都通过，我们才能真正说这个模型是可用的。</a:t>
            </a:r>
          </a:p>
          <a:p>
            <a:r>
              <a:rPr lang="zh-CN" altLang="zh-CN" dirty="0"/>
              <a:t>所以</a:t>
            </a:r>
            <a:r>
              <a:rPr lang="zh-CN" altLang="zh-CN" b="1" dirty="0"/>
              <a:t>加载成功只是起点，不是验证终点。</a:t>
            </a:r>
            <a:endParaRPr lang="zh-CN" altLang="zh-CN" dirty="0"/>
          </a:p>
          <a:p>
            <a:r>
              <a:rPr lang="zh-CN" altLang="zh-CN" dirty="0"/>
              <a:t>接下来，我们就进入第二部分，开始检查模型内部的数值计算，重点看 Attention 和 Mask。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前面我们已经把模型权重成功加载进来了。</a:t>
            </a:r>
          </a:p>
          <a:p>
            <a:r>
              <a:rPr lang="zh-CN" altLang="zh-CN" dirty="0"/>
              <a:t>但是刚才也说过，模型“能加载”还不够，我们接下来要确认它内部的计算到底是不是正确的。</a:t>
            </a:r>
            <a:endParaRPr lang="en-US" altLang="zh-CN" dirty="0"/>
          </a:p>
          <a:p>
            <a:endParaRPr lang="zh-CN" altLang="zh-CN" dirty="0"/>
          </a:p>
          <a:p>
            <a:r>
              <a:rPr lang="zh-CN" altLang="zh-CN" dirty="0"/>
              <a:t>这一部分我们重点检查 Attention。大家可以先把 Attention 简单理解成：</a:t>
            </a:r>
            <a:r>
              <a:rPr lang="zh-CN" altLang="zh-CN" b="1" dirty="0"/>
              <a:t>当前这个词，应该把多少注意力分给其他位置。</a:t>
            </a:r>
            <a:endParaRPr lang="en-US" altLang="zh-CN" b="1" dirty="0"/>
          </a:p>
          <a:p>
            <a:endParaRPr lang="zh-CN" altLang="zh-CN" dirty="0"/>
          </a:p>
          <a:p>
            <a:r>
              <a:rPr lang="zh-CN" altLang="zh-CN" dirty="0"/>
              <a:t>那怎么判断 Attention 算得对不对？</a:t>
            </a:r>
          </a:p>
          <a:p>
            <a:r>
              <a:rPr lang="zh-CN" altLang="zh-CN" dirty="0"/>
              <a:t>我们主要看三个问题。</a:t>
            </a:r>
            <a:endParaRPr lang="en-US" altLang="zh-CN" dirty="0"/>
          </a:p>
          <a:p>
            <a:endParaRPr lang="zh-CN" altLang="zh-CN" dirty="0"/>
          </a:p>
          <a:p>
            <a:r>
              <a:rPr lang="zh-CN" altLang="zh-CN" dirty="0"/>
              <a:t>第一个问题，</a:t>
            </a:r>
            <a:r>
              <a:rPr lang="zh-CN" altLang="zh-CN" b="1" dirty="0"/>
              <a:t>尺寸对不对。</a:t>
            </a:r>
            <a:endParaRPr lang="zh-CN" altLang="zh-CN" dirty="0"/>
          </a:p>
          <a:p>
            <a:r>
              <a:rPr lang="zh-CN" altLang="zh-CN" dirty="0"/>
              <a:t>先看左边这个例子。</a:t>
            </a:r>
          </a:p>
          <a:p>
            <a:r>
              <a:rPr lang="zh-CN" altLang="zh-CN" dirty="0"/>
              <a:t>假设一次输入 2 个句子，每个句子有 4 个注意力头。</a:t>
            </a:r>
          </a:p>
          <a:p>
            <a:r>
              <a:rPr lang="zh-CN" altLang="zh-CN" dirty="0"/>
              <a:t>对于每一个注意力头，有 3 个查询位置，每个查询位置可以关注 5 个位置。</a:t>
            </a:r>
          </a:p>
          <a:p>
            <a:r>
              <a:rPr lang="zh-CN" altLang="zh-CN" dirty="0"/>
              <a:t>那么 Attention 的形状就应该是：</a:t>
            </a:r>
          </a:p>
          <a:p>
            <a:r>
              <a:rPr lang="zh-CN" altLang="zh-CN" sz="1200" kern="1200" dirty="0"/>
              <a:t>[2, 4, 3, 5]</a:t>
            </a:r>
            <a:endParaRPr lang="en-US" altLang="zh-CN" sz="1200" kern="1200" dirty="0"/>
          </a:p>
          <a:p>
            <a:r>
              <a:rPr lang="zh-CN" altLang="zh-CN" dirty="0"/>
              <a:t>如果这里的 shape 不对，就说明模型中间某个维度可能少了、顺序写反了，或者张量 reshape 的时候出了问题。</a:t>
            </a:r>
            <a:endParaRPr lang="en-US" altLang="zh-CN" dirty="0"/>
          </a:p>
          <a:p>
            <a:endParaRPr lang="zh-CN" altLang="zh-CN" dirty="0"/>
          </a:p>
          <a:p>
            <a:r>
              <a:rPr lang="zh-CN" altLang="zh-CN" dirty="0"/>
              <a:t>第二个问题，</a:t>
            </a:r>
            <a:r>
              <a:rPr lang="zh-CN" altLang="zh-CN" b="1" dirty="0"/>
              <a:t>每一行的注意力权重加起来是不是等于 1。</a:t>
            </a:r>
            <a:endParaRPr lang="zh-CN" altLang="zh-CN" dirty="0"/>
          </a:p>
          <a:p>
            <a:r>
              <a:rPr lang="zh-CN" altLang="zh-CN" dirty="0"/>
              <a:t>看中间这个例子。</a:t>
            </a:r>
          </a:p>
          <a:p>
            <a:r>
              <a:rPr lang="zh-CN" altLang="zh-CN" dirty="0"/>
              <a:t>当前这个词把注意力分给了 4 个位置，权重分别是：</a:t>
            </a:r>
          </a:p>
          <a:p>
            <a:r>
              <a:rPr lang="zh-CN" altLang="zh-CN" dirty="0"/>
              <a:t>0.10、0.25、0.55 和 0.10。</a:t>
            </a:r>
          </a:p>
          <a:p>
            <a:r>
              <a:rPr lang="zh-CN" altLang="zh-CN" dirty="0"/>
              <a:t>把它们加起来，正好等于 1。</a:t>
            </a:r>
          </a:p>
          <a:p>
            <a:r>
              <a:rPr lang="zh-CN" altLang="zh-CN" dirty="0"/>
              <a:t>这说明经过 Softmax 之后，模型把 100% 的注意力完整地分配给了这些位置。</a:t>
            </a:r>
            <a:endParaRPr lang="en-US" altLang="zh-CN" dirty="0"/>
          </a:p>
          <a:p>
            <a:endParaRPr lang="zh-CN" altLang="zh-CN" dirty="0"/>
          </a:p>
          <a:p>
            <a:r>
              <a:rPr lang="zh-CN" altLang="zh-CN" dirty="0"/>
              <a:t>第三个问题，</a:t>
            </a:r>
            <a:r>
              <a:rPr lang="zh-CN" altLang="zh-CN" b="1" dirty="0"/>
              <a:t>Mask 有没有真正生效。</a:t>
            </a:r>
            <a:r>
              <a:rPr lang="zh-CN" altLang="zh-CN" dirty="0"/>
              <a:t>看右边。</a:t>
            </a:r>
          </a:p>
          <a:p>
            <a:r>
              <a:rPr lang="zh-CN" altLang="zh-CN" dirty="0"/>
              <a:t>前两个位置是允许看到的内容，所以它们可以有正常的注意力权重。</a:t>
            </a:r>
          </a:p>
          <a:p>
            <a:r>
              <a:rPr lang="zh-CN" altLang="zh-CN" dirty="0"/>
              <a:t>但是后面的未来位置以及 PAD，模型是不应该关注的。</a:t>
            </a:r>
          </a:p>
          <a:p>
            <a:r>
              <a:rPr lang="zh-CN" altLang="zh-CN" dirty="0"/>
              <a:t>因此这些位置最终的 Attention 权重应该接近 0。</a:t>
            </a:r>
          </a:p>
          <a:p>
            <a:r>
              <a:rPr lang="zh-CN" altLang="zh-CN" dirty="0"/>
              <a:t>如果一个本来应该被遮住的位置，最后还有比较明显的权重，比如 0.2、0.3，那就说明 Mask 可能没有真正参与 Attention 的计算。</a:t>
            </a:r>
            <a:endParaRPr lang="en-US" altLang="zh-CN" dirty="0"/>
          </a:p>
          <a:p>
            <a:endParaRPr lang="zh-CN" altLang="zh-CN" dirty="0"/>
          </a:p>
          <a:p>
            <a:r>
              <a:rPr lang="zh-CN" altLang="zh-CN" dirty="0"/>
              <a:t>所以这一页最后大家只需要记住三个判断标准：</a:t>
            </a:r>
          </a:p>
          <a:p>
            <a:r>
              <a:rPr lang="zh-CN" altLang="zh-CN" b="1" dirty="0"/>
              <a:t>第一，shape 正确；</a:t>
            </a:r>
            <a:br>
              <a:rPr lang="zh-CN" altLang="zh-CN" b="1" dirty="0"/>
            </a:br>
            <a:r>
              <a:rPr lang="zh-CN" altLang="zh-CN" b="1" dirty="0"/>
              <a:t>第二，每一行的权重之和接近 1；</a:t>
            </a:r>
            <a:br>
              <a:rPr lang="zh-CN" altLang="zh-CN" b="1" dirty="0"/>
            </a:br>
            <a:r>
              <a:rPr lang="zh-CN" altLang="zh-CN" b="1" dirty="0"/>
              <a:t>第三，被 Mask 的位置权重接近 0。</a:t>
            </a:r>
            <a:endParaRPr lang="zh-CN" altLang="zh-CN" dirty="0"/>
          </a:p>
          <a:p>
            <a:r>
              <a:rPr lang="zh-CN" altLang="zh-CN" dirty="0"/>
              <a:t>只有这三项都通过，我们才能认为 Attention 的数值计算是正常的。</a:t>
            </a:r>
            <a:endParaRPr lang="en-US" altLang="zh-CN" dirty="0"/>
          </a:p>
          <a:p>
            <a:endParaRPr lang="zh-CN" altLang="zh-CN" dirty="0"/>
          </a:p>
          <a:p>
            <a:r>
              <a:rPr lang="zh-CN" altLang="zh-CN" dirty="0"/>
              <a:t>接下来我们就把这三个问题拆开来看，先从 Attention 的 shape 和归一化开始。</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en-US" dirty="0"/>
              <a:t>这一部分之前的课就有详细提到，我就不展开了，大家忘记了的话可以把之前的课的对应部分翻出来看看</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这一页的 Mask 计算逻辑我们上一节课其实已经讲过了，所以这里不再展开推导，只快速复习一下。</a:t>
            </a:r>
          </a:p>
          <a:p>
            <a:r>
              <a:rPr lang="zh-CN" altLang="zh-CN" dirty="0"/>
              <a:t>大家只需要记住：</a:t>
            </a:r>
          </a:p>
          <a:p>
            <a:r>
              <a:rPr lang="zh-CN" altLang="zh-CN" dirty="0"/>
              <a:t>模型先计算原始的 Attention 分数，然后在 Softmax 之前，把不允许关注的位置用一个非常小的值，比如 </a:t>
            </a:r>
            <a:r>
              <a:rPr lang="zh-CN" altLang="zh-CN" sz="1200" kern="1200" dirty="0"/>
              <a:t>-1e9</a:t>
            </a:r>
            <a:r>
              <a:rPr lang="zh-CN" altLang="zh-CN" dirty="0"/>
              <a:t> 遮住。</a:t>
            </a:r>
          </a:p>
          <a:p>
            <a:r>
              <a:rPr lang="zh-CN" altLang="zh-CN" dirty="0"/>
              <a:t>这样经过 Softmax 以后，这些位置对应的 Attention 权重就会接近 0。</a:t>
            </a:r>
            <a:endParaRPr lang="en-US" altLang="zh-CN" dirty="0"/>
          </a:p>
          <a:p>
            <a:endParaRPr lang="zh-CN" altLang="zh-CN" dirty="0"/>
          </a:p>
          <a:p>
            <a:r>
              <a:rPr lang="zh-CN" altLang="zh-CN" dirty="0"/>
              <a:t>这里再提醒一个点：</a:t>
            </a:r>
          </a:p>
          <a:p>
            <a:r>
              <a:rPr lang="zh-CN" altLang="zh-CN" dirty="0"/>
              <a:t>为什么不能直接把被屏蔽位置的原始分数设成 0？</a:t>
            </a:r>
          </a:p>
          <a:p>
            <a:r>
              <a:rPr lang="zh-CN" altLang="zh-CN" dirty="0"/>
              <a:t>因为 Softmax 前的 0，并不代表 Softmax 后的概率就是 0，所以我们通常要先把它设成一个极小值。</a:t>
            </a:r>
          </a:p>
          <a:p>
            <a:r>
              <a:rPr lang="zh-CN" altLang="zh-CN" dirty="0"/>
              <a:t>代码里对应的就是：</a:t>
            </a:r>
            <a:endParaRPr lang="en-US" altLang="zh-CN" dirty="0"/>
          </a:p>
          <a:p>
            <a:endParaRPr lang="zh-CN" altLang="zh-CN" dirty="0"/>
          </a:p>
          <a:p>
            <a:r>
              <a:rPr lang="zh-CN" altLang="zh-CN" sz="1200" kern="1200" dirty="0"/>
              <a:t>masked_fill(mask == 0, -1e9)</a:t>
            </a:r>
            <a:endParaRPr lang="zh-CN" altLang="zh-CN" dirty="0"/>
          </a:p>
          <a:p>
            <a:endParaRPr lang="zh-CN" altLang="zh-CN" dirty="0"/>
          </a:p>
          <a:p>
            <a:r>
              <a:rPr lang="zh-CN" altLang="zh-CN" dirty="0"/>
              <a:t>这一节课</a:t>
            </a:r>
            <a:r>
              <a:rPr lang="zh-CN" altLang="en-US" dirty="0"/>
              <a:t>我们</a:t>
            </a:r>
            <a:r>
              <a:rPr lang="zh-CN" altLang="zh-CN" dirty="0"/>
              <a:t>更关注的是：</a:t>
            </a:r>
          </a:p>
          <a:p>
            <a:r>
              <a:rPr lang="zh-CN" altLang="zh-CN" b="1" dirty="0"/>
              <a:t>我们怎么验证它真的生效了。</a:t>
            </a:r>
            <a:endParaRPr lang="zh-CN" altLang="zh-CN" dirty="0"/>
          </a:p>
          <a:p>
            <a:r>
              <a:rPr lang="zh-CN" altLang="zh-CN" dirty="0"/>
              <a:t>所以后面检查 Attention 的时候，只要确认被 Mask 的位置权重接近 0，而未被屏蔽位置的权重之和接近 1，就说明这一部分计算是正常的。</a:t>
            </a:r>
          </a:p>
          <a:p>
            <a:r>
              <a:rPr lang="zh-CN" altLang="zh-CN" dirty="0"/>
              <a:t>详细代码和完整验证流程还是放在附录里，大家实操的时候直接看附录即可。</a:t>
            </a:r>
          </a:p>
          <a:p>
            <a:r>
              <a:rPr lang="zh-CN" altLang="zh-CN" dirty="0"/>
              <a:t>接下来我们看 Decoder 里面为什么会同时需要两种不同的 Mask。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 Decoder 的两种 Mask，我们上一节课其实也讲过了，所以这里快速复习一下它们分别解决什么问题。</a:t>
            </a:r>
          </a:p>
          <a:p>
            <a:r>
              <a:rPr lang="zh-CN" altLang="zh-CN" dirty="0"/>
              <a:t>假设 Decoder 的输入是：</a:t>
            </a:r>
          </a:p>
          <a:p>
            <a:r>
              <a:rPr lang="zh-CN" altLang="zh-CN" sz="1200" kern="1200" dirty="0"/>
              <a:t>[BOS，我，爱，PAD]</a:t>
            </a:r>
            <a:endParaRPr lang="zh-CN" altLang="zh-CN" dirty="0"/>
          </a:p>
          <a:p>
            <a:r>
              <a:rPr lang="zh-CN" altLang="zh-CN" dirty="0"/>
              <a:t>这里主要需要两种 Mask。</a:t>
            </a:r>
            <a:endParaRPr lang="en-US" altLang="zh-CN" dirty="0"/>
          </a:p>
          <a:p>
            <a:endParaRPr lang="zh-CN" altLang="zh-CN" dirty="0"/>
          </a:p>
          <a:p>
            <a:r>
              <a:rPr lang="zh-CN" altLang="zh-CN" dirty="0"/>
              <a:t>第一种是 </a:t>
            </a:r>
            <a:r>
              <a:rPr lang="zh-CN" altLang="zh-CN" b="1" dirty="0"/>
              <a:t>Padding Mask</a:t>
            </a:r>
            <a:r>
              <a:rPr lang="zh-CN" altLang="zh-CN" dirty="0"/>
              <a:t>。</a:t>
            </a:r>
          </a:p>
          <a:p>
            <a:r>
              <a:rPr lang="zh-CN" altLang="zh-CN" dirty="0"/>
              <a:t>它解决的是：</a:t>
            </a:r>
          </a:p>
          <a:p>
            <a:r>
              <a:rPr lang="zh-CN" altLang="zh-CN" b="1" dirty="0"/>
              <a:t>这个位置是不是真实内容。</a:t>
            </a:r>
            <a:endParaRPr lang="zh-CN" altLang="zh-CN" dirty="0"/>
          </a:p>
          <a:p>
            <a:r>
              <a:rPr lang="zh-CN" altLang="zh-CN" dirty="0"/>
              <a:t>像 PAD 只是为了把句子补到相同长度，并不是真正的译文，所以模型不应该把注意力分给 PAD。</a:t>
            </a:r>
            <a:endParaRPr lang="en-US" altLang="zh-CN" dirty="0"/>
          </a:p>
          <a:p>
            <a:endParaRPr lang="zh-CN" altLang="zh-CN" dirty="0"/>
          </a:p>
          <a:p>
            <a:r>
              <a:rPr lang="zh-CN" altLang="zh-CN" dirty="0"/>
              <a:t>第二种是 </a:t>
            </a:r>
            <a:r>
              <a:rPr lang="zh-CN" altLang="zh-CN" b="1" dirty="0"/>
              <a:t>Causal Mask</a:t>
            </a:r>
            <a:r>
              <a:rPr lang="zh-CN" altLang="zh-CN" dirty="0"/>
              <a:t>。</a:t>
            </a:r>
          </a:p>
          <a:p>
            <a:r>
              <a:rPr lang="zh-CN" altLang="zh-CN" dirty="0"/>
              <a:t>它解决的是：</a:t>
            </a:r>
          </a:p>
          <a:p>
            <a:r>
              <a:rPr lang="zh-CN" altLang="zh-CN" b="1" dirty="0"/>
              <a:t>这个位置现在能不能看到。</a:t>
            </a:r>
            <a:endParaRPr lang="zh-CN" altLang="zh-CN" dirty="0"/>
          </a:p>
          <a:p>
            <a:r>
              <a:rPr lang="zh-CN" altLang="zh-CN" dirty="0"/>
              <a:t>因为 Decoder 是按照顺序生成句子的，所以当前这个词只能看到自己和前面已经出现的词，不能提前看到未来的答案。</a:t>
            </a:r>
            <a:endParaRPr lang="en-US" altLang="zh-CN" dirty="0"/>
          </a:p>
          <a:p>
            <a:endParaRPr lang="zh-CN" altLang="zh-CN" dirty="0"/>
          </a:p>
          <a:p>
            <a:r>
              <a:rPr lang="zh-CN" altLang="zh-CN" dirty="0"/>
              <a:t>所以大家可以简单记成：</a:t>
            </a:r>
          </a:p>
          <a:p>
            <a:r>
              <a:rPr lang="zh-CN" altLang="zh-CN" b="1" dirty="0"/>
              <a:t>Padding Mask 管“是不是空位置”，Causal Mask 管“现在能不能看”。</a:t>
            </a:r>
            <a:endParaRPr lang="zh-CN" altLang="zh-CN" dirty="0"/>
          </a:p>
          <a:p>
            <a:r>
              <a:rPr lang="zh-CN" altLang="zh-CN" dirty="0"/>
              <a:t>最后代码里会用 </a:t>
            </a:r>
            <a:r>
              <a:rPr lang="zh-CN" altLang="zh-CN" sz="1200" kern="1200" dirty="0"/>
              <a:t>&amp;</a:t>
            </a:r>
            <a:r>
              <a:rPr lang="zh-CN" altLang="zh-CN" dirty="0"/>
              <a:t> 把这两个 Mask 合并。</a:t>
            </a:r>
            <a:endParaRPr lang="en-US" altLang="zh-CN" dirty="0"/>
          </a:p>
          <a:p>
            <a:endParaRPr lang="zh-CN" altLang="zh-CN" dirty="0"/>
          </a:p>
          <a:p>
            <a:r>
              <a:rPr lang="zh-CN" altLang="zh-CN" dirty="0"/>
              <a:t>也就是说，一个位置必须同时满足两个条件：</a:t>
            </a:r>
          </a:p>
          <a:p>
            <a:r>
              <a:rPr lang="zh-CN" altLang="zh-CN" b="1" dirty="0"/>
              <a:t>它不是 PAD，并且它也不是未来的词，Decoder 才能关注它。</a:t>
            </a:r>
            <a:endParaRPr lang="zh-CN" altLang="zh-CN" dirty="0"/>
          </a:p>
          <a:p>
            <a:r>
              <a:rPr lang="zh-CN" altLang="zh-CN" dirty="0"/>
              <a:t>这一部分的具体构造方法上一节课已经讲过，所以这里不再展开，完整的 Mask 构造和验证代码也可以直接看后面的附录。</a:t>
            </a:r>
          </a:p>
          <a:p>
            <a:r>
              <a:rPr lang="zh-CN" altLang="zh-CN" dirty="0"/>
              <a:t>这一节课我们更关注的是：</a:t>
            </a:r>
            <a:r>
              <a:rPr lang="zh-CN" altLang="zh-CN" b="1" dirty="0"/>
              <a:t>构造完以后，怎么通过 Attention 的数值去验证这两个 Mask 确实生效了。</a:t>
            </a:r>
            <a:endParaRPr lang="zh-CN"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这一页是实操代码，我们不逐行看，只看和前面理论直接对应的几行。</a:t>
            </a:r>
            <a:endParaRPr lang="en-US" altLang="zh-CN" dirty="0"/>
          </a:p>
          <a:p>
            <a:endParaRPr lang="zh-CN" altLang="zh-CN" dirty="0"/>
          </a:p>
          <a:p>
            <a:r>
              <a:rPr lang="zh-CN" altLang="zh-CN" dirty="0"/>
              <a:t>首先这一行：</a:t>
            </a:r>
          </a:p>
          <a:p>
            <a:r>
              <a:rPr lang="zh-CN" altLang="zh-CN" sz="1200" kern="1200" dirty="0"/>
              <a:t>model_opt = checkpoint["settings"]</a:t>
            </a:r>
            <a:endParaRPr lang="zh-CN" altLang="zh-CN" dirty="0"/>
          </a:p>
          <a:p>
            <a:r>
              <a:rPr lang="zh-CN" altLang="zh-CN" dirty="0"/>
              <a:t>就是读取我们刚才讲过的 settings，也就是模型的“设计图”。</a:t>
            </a:r>
            <a:endParaRPr lang="en-US" altLang="zh-CN" dirty="0"/>
          </a:p>
          <a:p>
            <a:endParaRPr lang="zh-CN" altLang="zh-CN" dirty="0"/>
          </a:p>
          <a:p>
            <a:r>
              <a:rPr lang="zh-CN" altLang="zh-CN" dirty="0"/>
              <a:t>接下来创建 </a:t>
            </a:r>
            <a:r>
              <a:rPr lang="zh-CN" altLang="zh-CN" sz="1200" kern="1200" dirty="0"/>
              <a:t>Transformer</a:t>
            </a:r>
            <a:r>
              <a:rPr lang="zh-CN" altLang="zh-CN" dirty="0"/>
              <a:t> 的时候，大家重点看这里的：</a:t>
            </a:r>
          </a:p>
          <a:p>
            <a:r>
              <a:rPr lang="zh-CN" altLang="zh-CN" sz="1200" kern="1200" dirty="0"/>
              <a:t>src_pad_i</a:t>
            </a:r>
            <a:r>
              <a:rPr lang="en-US" altLang="zh-CN" sz="1200" kern="1200" dirty="0" err="1"/>
              <a:t>ndex</a:t>
            </a:r>
            <a:r>
              <a:rPr lang="zh-CN" altLang="zh-CN" dirty="0"/>
              <a:t> 和 </a:t>
            </a:r>
            <a:r>
              <a:rPr lang="zh-CN" altLang="zh-CN" sz="1200" kern="1200" dirty="0"/>
              <a:t>trg_pad_idx</a:t>
            </a:r>
            <a:endParaRPr lang="zh-CN" altLang="zh-CN" dirty="0"/>
          </a:p>
          <a:p>
            <a:r>
              <a:rPr lang="zh-CN" altLang="zh-CN" dirty="0"/>
              <a:t>它们分别记录源语言和目标语言中 PAD 的编号。</a:t>
            </a:r>
            <a:endParaRPr lang="en-US" altLang="zh-CN" dirty="0"/>
          </a:p>
          <a:p>
            <a:endParaRPr lang="zh-CN" altLang="zh-CN" dirty="0"/>
          </a:p>
          <a:p>
            <a:r>
              <a:rPr lang="zh-CN" altLang="zh-CN" dirty="0"/>
              <a:t>这个信息很重要，因为我们前面讲 Padding Mask 的时候说过：</a:t>
            </a:r>
          </a:p>
          <a:p>
            <a:r>
              <a:rPr lang="zh-CN" altLang="zh-CN" b="1" dirty="0"/>
              <a:t>模型需要先知道哪个位置是 PAD，才能把这些位置遮住。</a:t>
            </a:r>
            <a:endParaRPr lang="en-US" altLang="zh-CN" b="1" dirty="0"/>
          </a:p>
          <a:p>
            <a:endParaRPr lang="zh-CN" altLang="zh-CN" dirty="0"/>
          </a:p>
          <a:p>
            <a:r>
              <a:rPr lang="zh-CN" altLang="zh-CN" dirty="0"/>
              <a:t>然后下面这行：</a:t>
            </a:r>
          </a:p>
          <a:p>
            <a:r>
              <a:rPr lang="zh-CN" altLang="zh-CN" sz="1200" kern="1200" dirty="0"/>
              <a:t>model.load_state_dict(checkpoint["model"])</a:t>
            </a:r>
            <a:endParaRPr lang="zh-CN" altLang="zh-CN" dirty="0"/>
          </a:p>
          <a:p>
            <a:r>
              <a:rPr lang="zh-CN" altLang="zh-CN" dirty="0"/>
              <a:t>就是把训练好的权重重新装进模型，这和前面“先恢复结构、再加载权重”的流程完全对应。</a:t>
            </a:r>
            <a:endParaRPr lang="en-US" altLang="zh-CN" dirty="0"/>
          </a:p>
          <a:p>
            <a:endParaRPr lang="zh-CN" altLang="zh-CN" dirty="0"/>
          </a:p>
          <a:p>
            <a:r>
              <a:rPr lang="zh-CN" altLang="zh-CN" dirty="0"/>
              <a:t>最后：</a:t>
            </a:r>
          </a:p>
          <a:p>
            <a:r>
              <a:rPr lang="zh-CN" altLang="zh-CN" sz="1200" kern="1200" dirty="0"/>
              <a:t>model.eval()</a:t>
            </a:r>
            <a:endParaRPr lang="zh-CN" altLang="zh-CN" dirty="0"/>
          </a:p>
          <a:p>
            <a:r>
              <a:rPr lang="zh-CN" altLang="zh-CN" dirty="0"/>
              <a:t>把模型切换到验证模式，接下来我们就可以用它进行 Attention 和 Mask 的数值检查。</a:t>
            </a:r>
          </a:p>
          <a:p>
            <a:r>
              <a:rPr lang="zh-CN" altLang="zh-CN" dirty="0"/>
              <a:t>所以这一页大家不需要记整段代码，只要看懂这几行和前面理论的对应关系就可以。</a:t>
            </a:r>
          </a:p>
          <a:p>
            <a:r>
              <a:rPr lang="zh-CN" altLang="zh-CN" b="1" dirty="0"/>
              <a:t>完整的 Mask 构造代码和运行命令都放在附录里，实际操作的时候直接看附录。</a:t>
            </a:r>
            <a:endParaRPr lang="zh-CN" altLang="zh-CN"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4894630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前面我们已经分别看过 Attention 的 shape、Softmax 以及 Mask。</a:t>
            </a:r>
          </a:p>
          <a:p>
            <a:r>
              <a:rPr lang="zh-CN" altLang="zh-CN" dirty="0"/>
              <a:t>这一页我们把它们总结成一个最终的验收标准。</a:t>
            </a:r>
            <a:endParaRPr lang="en-US" altLang="zh-CN" dirty="0"/>
          </a:p>
          <a:p>
            <a:endParaRPr lang="zh-CN" altLang="zh-CN" dirty="0"/>
          </a:p>
          <a:p>
            <a:r>
              <a:rPr lang="zh-CN" altLang="zh-CN" dirty="0"/>
              <a:t>这里首先要强调一句：</a:t>
            </a:r>
          </a:p>
          <a:p>
            <a:r>
              <a:rPr lang="zh-CN" altLang="zh-CN" b="1" dirty="0"/>
              <a:t>代码没有报错，并不等于数值验证通过。</a:t>
            </a:r>
            <a:endParaRPr lang="zh-CN" altLang="zh-CN" dirty="0"/>
          </a:p>
          <a:p>
            <a:r>
              <a:rPr lang="zh-CN" altLang="zh-CN" dirty="0"/>
              <a:t>因为程序能够运行，只能说明语法和基本流程没有问题。我们还需要看到可以打印、可以比较的数值结果。</a:t>
            </a:r>
            <a:endParaRPr lang="en-US" altLang="zh-CN" dirty="0"/>
          </a:p>
          <a:p>
            <a:endParaRPr lang="zh-CN" altLang="zh-CN" dirty="0"/>
          </a:p>
          <a:p>
            <a:r>
              <a:rPr lang="zh-CN" altLang="zh-CN" dirty="0"/>
              <a:t>这里主要检查三项。</a:t>
            </a:r>
          </a:p>
          <a:p>
            <a:r>
              <a:rPr lang="zh-CN" altLang="zh-CN" dirty="0"/>
              <a:t>第一，检查 Attention 的“表有多大”，也就是它的 </a:t>
            </a:r>
            <a:r>
              <a:rPr lang="zh-CN" altLang="zh-CN" b="1" dirty="0"/>
              <a:t>shape</a:t>
            </a:r>
            <a:r>
              <a:rPr lang="zh-CN" altLang="zh-CN" dirty="0"/>
              <a:t>。</a:t>
            </a:r>
          </a:p>
          <a:p>
            <a:r>
              <a:rPr lang="zh-CN" altLang="zh-CN" dirty="0"/>
              <a:t>Attention 的标准形状写成：</a:t>
            </a:r>
          </a:p>
          <a:p>
            <a:r>
              <a:rPr lang="zh-CN" altLang="zh-CN" sz="1200" kern="1200" dirty="0"/>
              <a:t>[B, H, Q, K]</a:t>
            </a:r>
            <a:endParaRPr lang="zh-CN" altLang="zh-CN" dirty="0"/>
          </a:p>
          <a:p>
            <a:r>
              <a:rPr lang="zh-CN" altLang="zh-CN" dirty="0"/>
              <a:t>分别对应 batch size、注意力头数、query 的长度和 key 的长度。</a:t>
            </a:r>
          </a:p>
          <a:p>
            <a:r>
              <a:rPr lang="zh-CN" altLang="zh-CN" dirty="0"/>
              <a:t>比如我们预期是 </a:t>
            </a:r>
            <a:r>
              <a:rPr lang="zh-CN" altLang="zh-CN" sz="1200" kern="1200" dirty="0"/>
              <a:t>[2, 4, 3, 5]</a:t>
            </a:r>
            <a:r>
              <a:rPr lang="zh-CN" altLang="zh-CN" dirty="0"/>
              <a:t>，那么程序实际输出也必须和它一致。</a:t>
            </a:r>
            <a:endParaRPr lang="en-US" altLang="zh-CN" dirty="0"/>
          </a:p>
          <a:p>
            <a:endParaRPr lang="zh-CN" altLang="zh-CN" dirty="0"/>
          </a:p>
          <a:p>
            <a:r>
              <a:rPr lang="zh-CN" altLang="zh-CN" dirty="0"/>
              <a:t>第二，检查 Attention 的</a:t>
            </a:r>
            <a:r>
              <a:rPr lang="zh-CN" altLang="zh-CN" b="1" dirty="0"/>
              <a:t>概率分配</a:t>
            </a:r>
            <a:r>
              <a:rPr lang="zh-CN" altLang="zh-CN" dirty="0"/>
              <a:t>。</a:t>
            </a:r>
          </a:p>
          <a:p>
            <a:r>
              <a:rPr lang="zh-CN" altLang="zh-CN" dirty="0"/>
              <a:t>经过 Softmax 以后，每一行的 Attention 权重之和应该接近 1。</a:t>
            </a:r>
          </a:p>
          <a:p>
            <a:r>
              <a:rPr lang="zh-CN" altLang="zh-CN" dirty="0"/>
              <a:t>同时，我们还要确认里面没有出现 </a:t>
            </a:r>
            <a:r>
              <a:rPr lang="zh-CN" altLang="zh-CN" sz="1200" kern="1200" dirty="0"/>
              <a:t>NaN</a:t>
            </a:r>
            <a:r>
              <a:rPr lang="zh-CN" altLang="zh-CN" dirty="0"/>
              <a:t> 或者 </a:t>
            </a:r>
            <a:r>
              <a:rPr lang="zh-CN" altLang="zh-CN" sz="1200" kern="1200" dirty="0"/>
              <a:t>Inf</a:t>
            </a:r>
            <a:r>
              <a:rPr lang="zh-CN" altLang="zh-CN" dirty="0"/>
              <a:t> 这样的异常数值。</a:t>
            </a:r>
            <a:endParaRPr lang="en-US" altLang="zh-CN" dirty="0"/>
          </a:p>
          <a:p>
            <a:endParaRPr lang="zh-CN" altLang="zh-CN" dirty="0"/>
          </a:p>
          <a:p>
            <a:r>
              <a:rPr lang="zh-CN" altLang="zh-CN" dirty="0"/>
              <a:t>第三，检查 </a:t>
            </a:r>
            <a:r>
              <a:rPr lang="zh-CN" altLang="zh-CN" b="1" dirty="0"/>
              <a:t>Mask 的遮挡结果</a:t>
            </a:r>
            <a:r>
              <a:rPr lang="zh-CN" altLang="zh-CN" dirty="0"/>
              <a:t>。</a:t>
            </a:r>
          </a:p>
          <a:p>
            <a:r>
              <a:rPr lang="zh-CN" altLang="zh-CN" dirty="0"/>
              <a:t>前面讲过，被屏蔽的位置，比如 PAD 和未来位置，它们的 Attention 权重应该接近 0。</a:t>
            </a:r>
          </a:p>
          <a:p>
            <a:r>
              <a:rPr lang="zh-CN" altLang="zh-CN" dirty="0"/>
              <a:t>而没有被屏蔽的位置，权重之和仍然应该接近 1。</a:t>
            </a:r>
            <a:endParaRPr lang="en-US" altLang="zh-CN" dirty="0"/>
          </a:p>
          <a:p>
            <a:endParaRPr lang="zh-CN" altLang="zh-CN" dirty="0"/>
          </a:p>
          <a:p>
            <a:r>
              <a:rPr lang="zh-CN" altLang="zh-CN" dirty="0"/>
              <a:t>所以最后大家就记住三个标准：</a:t>
            </a:r>
          </a:p>
          <a:p>
            <a:r>
              <a:rPr lang="zh-CN" altLang="zh-CN" b="1" dirty="0"/>
              <a:t>shape 对；每行和接近 1；被屏蔽位置接近 0。</a:t>
            </a:r>
            <a:endParaRPr lang="zh-CN" altLang="zh-CN" dirty="0"/>
          </a:p>
          <a:p>
            <a:r>
              <a:rPr lang="zh-CN" altLang="zh-CN" dirty="0"/>
              <a:t>三项全部满足，我们才认为 Attention 和 Mask 的数值验证通过。</a:t>
            </a:r>
          </a:p>
          <a:p>
            <a:r>
              <a:rPr lang="zh-CN" altLang="zh-CN" dirty="0"/>
              <a:t>下一页我们就通过代码实际检查这三个结果。</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接下来进入实操 3-B。</a:t>
            </a:r>
          </a:p>
          <a:p>
            <a:r>
              <a:rPr lang="zh-CN" altLang="zh-CN" dirty="0"/>
              <a:t>这一页只看和刚才三个验收标准直接对应的关键部分。</a:t>
            </a:r>
          </a:p>
          <a:p>
            <a:r>
              <a:rPr lang="zh-CN" altLang="zh-CN" dirty="0"/>
              <a:t>首先看最上面这几行。</a:t>
            </a:r>
          </a:p>
          <a:p>
            <a:r>
              <a:rPr lang="zh-CN" altLang="zh-CN" sz="1200" kern="1200" dirty="0"/>
              <a:t>get_pad_mask</a:t>
            </a:r>
            <a:endParaRPr lang="zh-CN" altLang="zh-CN" dirty="0"/>
          </a:p>
          <a:p>
            <a:r>
              <a:rPr lang="zh-CN" altLang="zh-CN" dirty="0"/>
              <a:t>就是生成我们前面讲过的 Padding Mask。</a:t>
            </a:r>
          </a:p>
          <a:p>
            <a:r>
              <a:rPr lang="zh-CN" altLang="zh-CN" dirty="0"/>
              <a:t>目标端这里除了 Padding Mask 之外，还通过 </a:t>
            </a:r>
            <a:r>
              <a:rPr lang="zh-CN" altLang="zh-CN" sz="1200" kern="1200" dirty="0"/>
              <a:t>get_subsequent_mask</a:t>
            </a:r>
            <a:r>
              <a:rPr lang="zh-CN" altLang="zh-CN" dirty="0"/>
              <a:t> 生成 Causal Mask，然后用 </a:t>
            </a:r>
            <a:r>
              <a:rPr lang="zh-CN" altLang="zh-CN" sz="1200" kern="1200" dirty="0"/>
              <a:t>&amp;</a:t>
            </a:r>
            <a:r>
              <a:rPr lang="zh-CN" altLang="zh-CN" dirty="0"/>
              <a:t> 把两种 Mask 合并起来。</a:t>
            </a:r>
          </a:p>
          <a:p>
            <a:r>
              <a:rPr lang="zh-CN" altLang="zh-CN" dirty="0"/>
              <a:t>这和前面的理论完全对应：</a:t>
            </a:r>
          </a:p>
          <a:p>
            <a:r>
              <a:rPr lang="zh-CN" altLang="zh-CN" b="1" dirty="0"/>
              <a:t>既不能看 PAD，也不能偷看未来位置</a:t>
            </a:r>
            <a:endParaRPr lang="en-US" altLang="zh-CN" b="1" dirty="0"/>
          </a:p>
          <a:p>
            <a:endParaRPr lang="zh-CN" altLang="zh-CN" dirty="0"/>
          </a:p>
          <a:p>
            <a:r>
              <a:rPr lang="zh-CN" altLang="zh-CN" dirty="0"/>
              <a:t>接下来这一段调用 </a:t>
            </a:r>
            <a:r>
              <a:rPr lang="zh-CN" altLang="zh-CN" sz="1200" kern="1200" dirty="0"/>
              <a:t>model.encoder</a:t>
            </a:r>
            <a:r>
              <a:rPr lang="zh-CN" altLang="zh-CN" dirty="0"/>
              <a:t>，并且这里有一个：</a:t>
            </a:r>
          </a:p>
          <a:p>
            <a:r>
              <a:rPr lang="zh-CN" altLang="zh-CN" sz="1200" kern="1200" dirty="0"/>
              <a:t>return_attns=True</a:t>
            </a:r>
            <a:endParaRPr lang="zh-CN" altLang="zh-CN" dirty="0"/>
          </a:p>
          <a:p>
            <a:r>
              <a:rPr lang="zh-CN" altLang="zh-CN" dirty="0"/>
              <a:t>它的作用就是让模型除了返回正常的计算结果之外，也把 Attention 权重返回出来。</a:t>
            </a:r>
          </a:p>
          <a:p>
            <a:r>
              <a:rPr lang="zh-CN" altLang="zh-CN" dirty="0"/>
              <a:t>因为我们这一节课的目的就是要检查这些 Attention 数值。</a:t>
            </a:r>
            <a:endParaRPr lang="en-US" altLang="zh-CN" dirty="0"/>
          </a:p>
          <a:p>
            <a:endParaRPr lang="zh-CN" altLang="zh-CN" dirty="0"/>
          </a:p>
          <a:p>
            <a:r>
              <a:rPr lang="zh-CN" altLang="zh-CN" dirty="0"/>
              <a:t>然后下面这几个检查对应刚才讲的验收标准。</a:t>
            </a:r>
          </a:p>
          <a:p>
            <a:r>
              <a:rPr lang="zh-CN" altLang="zh-CN" dirty="0"/>
              <a:t>首先：</a:t>
            </a:r>
          </a:p>
          <a:p>
            <a:r>
              <a:rPr lang="zh-CN" altLang="zh-CN" sz="1200" kern="1200" dirty="0"/>
              <a:t>attn.sum(dim=-1)</a:t>
            </a:r>
            <a:endParaRPr lang="zh-CN" altLang="zh-CN" dirty="0"/>
          </a:p>
          <a:p>
            <a:r>
              <a:rPr lang="zh-CN" altLang="zh-CN" dirty="0"/>
              <a:t>是在把每一行 Attention 权重加起来。</a:t>
            </a:r>
          </a:p>
          <a:p>
            <a:r>
              <a:rPr lang="zh-CN" altLang="zh-CN" dirty="0"/>
              <a:t>我们希望它的结果接近 1。</a:t>
            </a:r>
          </a:p>
          <a:p>
            <a:r>
              <a:rPr lang="zh-CN" altLang="zh-CN" dirty="0"/>
              <a:t>接下来检查有没有 </a:t>
            </a:r>
            <a:r>
              <a:rPr lang="zh-CN" altLang="zh-CN" sz="1200" kern="1200" dirty="0"/>
              <a:t>NaN</a:t>
            </a:r>
            <a:r>
              <a:rPr lang="zh-CN" altLang="zh-CN" dirty="0"/>
              <a:t> </a:t>
            </a:r>
            <a:r>
              <a:rPr lang="zh-CN" altLang="en-US" dirty="0"/>
              <a:t>（</a:t>
            </a:r>
            <a:r>
              <a:rPr lang="en-US" altLang="zh-CN" dirty="0"/>
              <a:t>not</a:t>
            </a:r>
            <a:r>
              <a:rPr lang="zh-CN" altLang="en-US" dirty="0"/>
              <a:t> </a:t>
            </a:r>
            <a:r>
              <a:rPr lang="en-US" altLang="zh-CN" dirty="0"/>
              <a:t>a</a:t>
            </a:r>
            <a:r>
              <a:rPr lang="zh-CN" altLang="en-US" dirty="0"/>
              <a:t> </a:t>
            </a:r>
            <a:r>
              <a:rPr lang="en-US" altLang="zh-CN" dirty="0"/>
              <a:t>number</a:t>
            </a:r>
            <a:r>
              <a:rPr lang="zh-CN" altLang="en-US" dirty="0"/>
              <a:t>）</a:t>
            </a:r>
            <a:r>
              <a:rPr lang="zh-CN" altLang="zh-CN" dirty="0"/>
              <a:t>和 </a:t>
            </a:r>
            <a:r>
              <a:rPr lang="zh-CN" altLang="zh-CN" sz="1200" kern="1200" dirty="0"/>
              <a:t>Inf</a:t>
            </a:r>
            <a:r>
              <a:rPr lang="zh-CN" altLang="en-US" sz="1200" kern="1200" dirty="0"/>
              <a:t>（</a:t>
            </a:r>
            <a:r>
              <a:rPr lang="en-US" altLang="zh-CN" sz="1200" kern="1200" dirty="0"/>
              <a:t>infinity</a:t>
            </a:r>
            <a:r>
              <a:rPr lang="zh-CN" altLang="en-US" sz="1200" kern="1200" dirty="0"/>
              <a:t>）</a:t>
            </a:r>
            <a:r>
              <a:rPr lang="zh-CN" altLang="zh-CN" dirty="0"/>
              <a:t>，保证 Attention 中没有出现异常数值。</a:t>
            </a:r>
          </a:p>
          <a:p>
            <a:r>
              <a:rPr lang="zh-CN" altLang="zh-CN" dirty="0"/>
              <a:t>最后还会检查被 Mask 的位置，它们最大的 Attention 权重是不是接近 0。</a:t>
            </a:r>
            <a:endParaRPr lang="en-US" altLang="zh-CN" dirty="0"/>
          </a:p>
          <a:p>
            <a:endParaRPr lang="zh-CN" altLang="zh-CN" dirty="0"/>
          </a:p>
          <a:p>
            <a:r>
              <a:rPr lang="zh-CN" altLang="zh-CN" dirty="0"/>
              <a:t>大家再看右边实际输出。</a:t>
            </a:r>
          </a:p>
          <a:p>
            <a:r>
              <a:rPr lang="zh-CN" altLang="zh-CN" dirty="0"/>
              <a:t>这里可以看到 Attention 的 shape 是：</a:t>
            </a:r>
          </a:p>
          <a:p>
            <a:r>
              <a:rPr lang="zh-CN" altLang="zh-CN" sz="1200" kern="1200" dirty="0"/>
              <a:t>[2, 4, 26, 22]</a:t>
            </a:r>
            <a:endParaRPr lang="zh-CN" altLang="zh-CN" dirty="0"/>
          </a:p>
          <a:p>
            <a:r>
              <a:rPr lang="zh-CN" altLang="zh-CN" dirty="0"/>
              <a:t>同时每一行和 1 的误差非常小，没有 </a:t>
            </a:r>
            <a:r>
              <a:rPr lang="zh-CN" altLang="zh-CN" sz="1200" kern="1200" dirty="0"/>
              <a:t>NaN</a:t>
            </a:r>
            <a:r>
              <a:rPr lang="zh-CN" altLang="zh-CN" dirty="0"/>
              <a:t>，也没有 </a:t>
            </a:r>
            <a:r>
              <a:rPr lang="zh-CN" altLang="zh-CN" sz="1200" kern="1200" dirty="0"/>
              <a:t>Inf</a:t>
            </a:r>
            <a:r>
              <a:rPr lang="zh-CN" altLang="zh-CN" dirty="0"/>
              <a:t>。</a:t>
            </a:r>
          </a:p>
          <a:p>
            <a:r>
              <a:rPr lang="zh-CN" altLang="zh-CN" dirty="0"/>
              <a:t>而且被屏蔽位置的最大 Attention 权重是 0。</a:t>
            </a:r>
            <a:endParaRPr lang="en-US" altLang="zh-CN" dirty="0"/>
          </a:p>
          <a:p>
            <a:endParaRPr lang="zh-CN" altLang="zh-CN" dirty="0"/>
          </a:p>
          <a:p>
            <a:r>
              <a:rPr lang="zh-CN" altLang="zh-CN" dirty="0"/>
              <a:t>所以最终程序给出的结果是：</a:t>
            </a:r>
          </a:p>
          <a:p>
            <a:r>
              <a:rPr lang="zh-CN" altLang="zh-CN" sz="1200" kern="1200" dirty="0"/>
              <a:t>PASS</a:t>
            </a:r>
            <a:endParaRPr lang="zh-CN" altLang="zh-CN" dirty="0"/>
          </a:p>
          <a:p>
            <a:r>
              <a:rPr lang="zh-CN" altLang="zh-CN" dirty="0"/>
              <a:t>也就是说，刚才讲的 </a:t>
            </a:r>
            <a:r>
              <a:rPr lang="zh-CN" altLang="zh-CN" b="1" dirty="0"/>
              <a:t>shape、归一化和 Mask</a:t>
            </a:r>
            <a:r>
              <a:rPr lang="zh-CN" altLang="zh-CN" dirty="0"/>
              <a:t> 三项检查都通过了。</a:t>
            </a:r>
          </a:p>
          <a:p>
            <a:r>
              <a:rPr lang="zh-CN" altLang="zh-CN" dirty="0"/>
              <a:t>完整的验证代码我放在后面的附录里，大家实际操作的时候可以直接使用。</a:t>
            </a:r>
          </a:p>
          <a:p>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5561394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zh-CN" dirty="0"/>
              <a:t>接下来我们进入 Loss 和收敛这一部分。</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接下来我们进入 Loss 和收敛这一部分。</a:t>
            </a:r>
          </a:p>
          <a:p>
            <a:r>
              <a:rPr lang="zh-CN" altLang="zh-CN" dirty="0"/>
              <a:t>首先要解决一个很关键的问题：</a:t>
            </a:r>
          </a:p>
          <a:p>
            <a:r>
              <a:rPr lang="zh-CN" altLang="zh-CN" b="1" dirty="0"/>
              <a:t>训练 Decoder 的时候，我们到底希望它预测什么？</a:t>
            </a:r>
            <a:endParaRPr lang="zh-CN" altLang="zh-CN" dirty="0"/>
          </a:p>
          <a:p>
            <a:r>
              <a:rPr lang="zh-CN" altLang="zh-CN" dirty="0"/>
              <a:t>假设正确译文是：</a:t>
            </a:r>
          </a:p>
          <a:p>
            <a:r>
              <a:rPr lang="zh-CN" altLang="zh-CN" dirty="0"/>
              <a:t>“我爱猫。”</a:t>
            </a:r>
          </a:p>
          <a:p>
            <a:r>
              <a:rPr lang="zh-CN" altLang="zh-CN" dirty="0"/>
              <a:t>在训练过程中，Decoder 要反复完成的其实都是同一个任务：</a:t>
            </a:r>
          </a:p>
          <a:p>
            <a:r>
              <a:rPr lang="zh-CN" altLang="zh-CN" b="1" dirty="0"/>
              <a:t>根据前面已经出现的内容，预测下一个词。</a:t>
            </a:r>
            <a:endParaRPr lang="en-US" altLang="zh-CN" b="1" dirty="0"/>
          </a:p>
          <a:p>
            <a:endParaRPr lang="zh-CN" altLang="zh-CN" dirty="0"/>
          </a:p>
          <a:p>
            <a:r>
              <a:rPr lang="zh-CN" altLang="zh-CN" dirty="0"/>
              <a:t>比如：</a:t>
            </a:r>
          </a:p>
          <a:p>
            <a:r>
              <a:rPr lang="zh-CN" altLang="zh-CN" dirty="0"/>
              <a:t>看到 BOS，预测“我”；</a:t>
            </a:r>
          </a:p>
          <a:p>
            <a:r>
              <a:rPr lang="zh-CN" altLang="zh-CN" dirty="0"/>
              <a:t>看到 BOS 和“我”，预测“爱”；</a:t>
            </a:r>
          </a:p>
          <a:p>
            <a:r>
              <a:rPr lang="zh-CN" altLang="zh-CN" dirty="0"/>
              <a:t>看到 BOS、“我”和“爱”，预测“猫”；</a:t>
            </a:r>
          </a:p>
          <a:p>
            <a:r>
              <a:rPr lang="zh-CN" altLang="zh-CN" dirty="0"/>
              <a:t>再继续预测句号，最后预测 EOS，表示句子结束。</a:t>
            </a:r>
          </a:p>
          <a:p>
            <a:r>
              <a:rPr lang="zh-CN" altLang="zh-CN" dirty="0"/>
              <a:t>所以完整的目标序列是：</a:t>
            </a:r>
          </a:p>
          <a:p>
            <a:r>
              <a:rPr lang="zh-CN" altLang="zh-CN" sz="1200" kern="1200" dirty="0"/>
              <a:t>BOS | 我 | 爱 | 猫 | 。 | EOS</a:t>
            </a:r>
            <a:endParaRPr lang="en-US" altLang="zh-CN" sz="1200" kern="1200" dirty="0"/>
          </a:p>
          <a:p>
            <a:endParaRPr lang="zh-CN" altLang="zh-CN" dirty="0"/>
          </a:p>
          <a:p>
            <a:r>
              <a:rPr lang="zh-CN" altLang="zh-CN" dirty="0"/>
              <a:t>但是训练的时候，我们不能把这一整条序列同时作为输入和答案。</a:t>
            </a:r>
          </a:p>
          <a:p>
            <a:r>
              <a:rPr lang="zh-CN" altLang="zh-CN" dirty="0"/>
              <a:t>而是要把它错开一个位置。</a:t>
            </a:r>
          </a:p>
          <a:p>
            <a:r>
              <a:rPr lang="zh-CN" altLang="zh-CN" dirty="0"/>
              <a:t>Decoder 的输入是：</a:t>
            </a:r>
          </a:p>
          <a:p>
            <a:r>
              <a:rPr lang="zh-CN" altLang="zh-CN" sz="1200" kern="1200" dirty="0"/>
              <a:t>BOS | 我 | 爱 | 猫 | 。</a:t>
            </a:r>
            <a:endParaRPr lang="zh-CN" altLang="zh-CN" dirty="0"/>
          </a:p>
          <a:p>
            <a:r>
              <a:rPr lang="zh-CN" altLang="zh-CN" dirty="0"/>
              <a:t>正确答案是：</a:t>
            </a:r>
          </a:p>
          <a:p>
            <a:r>
              <a:rPr lang="zh-CN" altLang="zh-CN" sz="1200" kern="1200" dirty="0"/>
              <a:t>我 | 爱 | 猫 | 。 | EOS</a:t>
            </a:r>
            <a:endParaRPr lang="en-US" altLang="zh-CN" sz="1200" kern="1200" dirty="0"/>
          </a:p>
          <a:p>
            <a:endParaRPr lang="zh-CN" altLang="zh-CN" dirty="0"/>
          </a:p>
          <a:p>
            <a:r>
              <a:rPr lang="zh-CN" altLang="zh-CN" dirty="0"/>
              <a:t>大家可以看到：</a:t>
            </a:r>
          </a:p>
          <a:p>
            <a:r>
              <a:rPr lang="zh-CN" altLang="zh-CN" b="1" dirty="0"/>
              <a:t>两边长度完全一样，但是正确答案整体向右错开了一位。</a:t>
            </a:r>
            <a:endParaRPr lang="zh-CN" altLang="zh-CN" dirty="0"/>
          </a:p>
          <a:p>
            <a:r>
              <a:rPr lang="zh-CN" altLang="zh-CN" dirty="0"/>
              <a:t>这样每一个输入位置，对应的答案正好就是“下一个词”。</a:t>
            </a:r>
            <a:endParaRPr lang="en-US" altLang="zh-CN" dirty="0"/>
          </a:p>
          <a:p>
            <a:endParaRPr lang="zh-CN" altLang="zh-CN" dirty="0"/>
          </a:p>
          <a:p>
            <a:r>
              <a:rPr lang="zh-CN" altLang="zh-CN" dirty="0"/>
              <a:t>右边代码其实就是在做这件事情。</a:t>
            </a:r>
          </a:p>
          <a:p>
            <a:r>
              <a:rPr lang="zh-CN" altLang="zh-CN" sz="1200" kern="1200" dirty="0"/>
              <a:t>trg_seq = trg[:, :-1]</a:t>
            </a:r>
            <a:endParaRPr lang="zh-CN" altLang="zh-CN" dirty="0"/>
          </a:p>
          <a:p>
            <a:r>
              <a:rPr lang="zh-CN" altLang="zh-CN" dirty="0"/>
              <a:t>表示去掉最后面的 EOS，作为 Decoder 的输入。</a:t>
            </a:r>
          </a:p>
          <a:p>
            <a:r>
              <a:rPr lang="zh-CN" altLang="zh-CN" dirty="0"/>
              <a:t>而：</a:t>
            </a:r>
          </a:p>
          <a:p>
            <a:r>
              <a:rPr lang="zh-CN" altLang="zh-CN" sz="1200" kern="1200" dirty="0"/>
              <a:t>gold = trg[:, 1:]</a:t>
            </a:r>
            <a:endParaRPr lang="zh-CN" altLang="zh-CN" dirty="0"/>
          </a:p>
          <a:p>
            <a:r>
              <a:rPr lang="zh-CN" altLang="zh-CN" dirty="0"/>
              <a:t>表示去掉最前面的 BOS，作为模型真正需要预测的正确答案。</a:t>
            </a:r>
          </a:p>
          <a:p>
            <a:r>
              <a:rPr lang="zh-CN" altLang="zh-CN" dirty="0"/>
              <a:t>所以这两行代码大家可以直接对应到左边这两行序列来看。</a:t>
            </a:r>
            <a:endParaRPr lang="en-US" altLang="zh-CN" dirty="0"/>
          </a:p>
          <a:p>
            <a:endParaRPr lang="zh-CN" altLang="zh-CN" dirty="0"/>
          </a:p>
          <a:p>
            <a:r>
              <a:rPr lang="zh-CN" altLang="zh-CN" dirty="0"/>
              <a:t>为什么一定要错开？</a:t>
            </a:r>
          </a:p>
          <a:p>
            <a:r>
              <a:rPr lang="zh-CN" altLang="zh-CN" dirty="0"/>
              <a:t>因为如果输入和答案完全放在同一个位置，模型学到的就可能变成“当前这个词对应当前这个词”。</a:t>
            </a:r>
            <a:endParaRPr lang="en-US" altLang="zh-CN" dirty="0"/>
          </a:p>
          <a:p>
            <a:endParaRPr lang="zh-CN" altLang="zh-CN" dirty="0"/>
          </a:p>
          <a:p>
            <a:r>
              <a:rPr lang="zh-CN" altLang="zh-CN" dirty="0"/>
              <a:t>而我们真正希望它学的是：</a:t>
            </a:r>
          </a:p>
          <a:p>
            <a:r>
              <a:rPr lang="zh-CN" altLang="zh-CN" b="1" dirty="0"/>
              <a:t>根据已经出现的内容，预测下一个正确的词。</a:t>
            </a:r>
            <a:endParaRPr lang="zh-CN" altLang="zh-CN" dirty="0"/>
          </a:p>
          <a:p>
            <a:r>
              <a:rPr lang="zh-CN" altLang="zh-CN" dirty="0"/>
              <a:t>所以这一页最后记住一句话：</a:t>
            </a:r>
          </a:p>
          <a:p>
            <a:r>
              <a:rPr lang="zh-CN" altLang="zh-CN" b="1" dirty="0"/>
              <a:t>输入去掉最后一个词，答案去掉第一个词，两边错开一位，Loss 才真正是在训练“预测下一个词”。</a:t>
            </a:r>
            <a:endParaRPr lang="zh-CN" altLang="zh-CN"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77783164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这一页我们来看一下刚才的“目标右移”在代码里面是怎么实现的。</a:t>
            </a:r>
            <a:endParaRPr lang="en-US" altLang="zh-CN" dirty="0"/>
          </a:p>
          <a:p>
            <a:endParaRPr lang="zh-CN" altLang="zh-CN" dirty="0"/>
          </a:p>
          <a:p>
            <a:r>
              <a:rPr lang="zh-CN" altLang="en-US" sz="1200" kern="1200" dirty="0"/>
              <a:t>刚刚我们已经提到了，</a:t>
            </a:r>
            <a:r>
              <a:rPr lang="zh-CN" altLang="zh-CN" sz="1200" kern="1200" dirty="0"/>
              <a:t>trg_seq = trg_full[:, :-1]</a:t>
            </a:r>
            <a:endParaRPr lang="zh-CN" altLang="zh-CN" dirty="0"/>
          </a:p>
          <a:p>
            <a:r>
              <a:rPr lang="zh-CN" altLang="zh-CN" dirty="0"/>
              <a:t>就是去掉目标序列最后面的 EOS，把剩下的内容作为 Decoder 输入。</a:t>
            </a:r>
          </a:p>
          <a:p>
            <a:r>
              <a:rPr lang="zh-CN" altLang="zh-CN" sz="1200" kern="1200" dirty="0"/>
              <a:t>gold_2d = trg_full[:, 1:]</a:t>
            </a:r>
            <a:endParaRPr lang="zh-CN" altLang="zh-CN" dirty="0"/>
          </a:p>
          <a:p>
            <a:r>
              <a:rPr lang="zh-CN" altLang="zh-CN" dirty="0"/>
              <a:t>就是去掉开头的 BOS，得到模型真正需要预测的正确答案。</a:t>
            </a:r>
          </a:p>
          <a:p>
            <a:r>
              <a:rPr lang="zh-CN" altLang="zh-CN" dirty="0"/>
              <a:t>这样两边长度相同，但是刚好错开一个位置。</a:t>
            </a:r>
            <a:endParaRPr lang="en-US" altLang="zh-CN" dirty="0"/>
          </a:p>
          <a:p>
            <a:endParaRPr lang="zh-CN" altLang="zh-CN" dirty="0"/>
          </a:p>
          <a:p>
            <a:r>
              <a:rPr lang="zh-CN" altLang="zh-CN" dirty="0"/>
              <a:t>下面的 </a:t>
            </a:r>
            <a:r>
              <a:rPr lang="zh-CN" altLang="zh-CN" sz="1200" kern="1200" dirty="0"/>
              <a:t>cross_entropy</a:t>
            </a:r>
            <a:r>
              <a:rPr lang="zh-CN" altLang="zh-CN" dirty="0"/>
              <a:t> 就会把模型在每个位置的预测结果和对应的 gold 进行比较，从而计算 Loss。</a:t>
            </a:r>
          </a:p>
          <a:p>
            <a:r>
              <a:rPr lang="zh-CN" altLang="zh-CN" dirty="0"/>
              <a:t>这里还有一个 </a:t>
            </a:r>
            <a:r>
              <a:rPr lang="zh-CN" altLang="zh-CN" sz="1200" kern="1200" dirty="0"/>
              <a:t>ignore_index=pad_idx</a:t>
            </a:r>
            <a:r>
              <a:rPr lang="zh-CN" altLang="zh-CN" dirty="0"/>
              <a:t>。</a:t>
            </a:r>
          </a:p>
          <a:p>
            <a:r>
              <a:rPr lang="zh-CN" altLang="zh-CN" dirty="0"/>
              <a:t>这一行我们先简单看一下，它表示计算 Loss 的时候忽略 PAD。</a:t>
            </a:r>
            <a:endParaRPr lang="en-US" altLang="zh-CN" dirty="0"/>
          </a:p>
          <a:p>
            <a:endParaRPr lang="zh-CN" altLang="zh-CN" dirty="0"/>
          </a:p>
          <a:p>
            <a:r>
              <a:rPr lang="zh-CN" altLang="zh-CN" b="1" dirty="0"/>
              <a:t>为什么 PAD 要忽略，我们下一页马上单独讲。</a:t>
            </a:r>
            <a:endParaRPr lang="zh-CN" altLang="zh-CN" dirty="0"/>
          </a:p>
          <a:p>
            <a:r>
              <a:rPr lang="zh-CN" altLang="zh-CN" dirty="0"/>
              <a:t>所以这一页大家主要看懂最上面的两行就够了：</a:t>
            </a:r>
          </a:p>
          <a:p>
            <a:endParaRPr lang="zh-CN" altLang="zh-CN" dirty="0"/>
          </a:p>
          <a:p>
            <a:r>
              <a:rPr lang="zh-CN" altLang="zh-CN" dirty="0"/>
              <a:t>完整的实操代码还是放在附录里，真正运行的时候大家可以直接参考附录。</a:t>
            </a:r>
            <a:endParaRPr lang="en-US" altLang="zh-CN" dirty="0"/>
          </a:p>
          <a:p>
            <a:endParaRPr lang="zh-CN" altLang="zh-CN" dirty="0"/>
          </a:p>
          <a:p>
            <a:r>
              <a:rPr lang="zh-CN" altLang="zh-CN" dirty="0"/>
              <a:t>接下来我们就看刚才代码里出现的另一个问题：</a:t>
            </a:r>
          </a:p>
          <a:p>
            <a:r>
              <a:rPr lang="zh-CN" altLang="zh-CN" b="1" dirty="0"/>
              <a:t>为什么计算 Loss 和 Accuracy 的时候一定要忽略 PAD？</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0637154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上一页我们讲了，Decoder 的输入和正确答案需要错开一个位置。</a:t>
            </a:r>
            <a:endParaRPr lang="en-US" altLang="zh-CN" dirty="0"/>
          </a:p>
          <a:p>
            <a:endParaRPr lang="zh-CN" altLang="zh-CN" dirty="0"/>
          </a:p>
          <a:p>
            <a:r>
              <a:rPr lang="zh-CN" altLang="zh-CN" dirty="0"/>
              <a:t>接下来还有一个很重要的问题：</a:t>
            </a:r>
          </a:p>
          <a:p>
            <a:r>
              <a:rPr lang="zh-CN" altLang="zh-CN" b="1" dirty="0"/>
              <a:t>计算 Loss 和 Accuracy 的时候，为什么一定要忽略 PAD？</a:t>
            </a:r>
            <a:endParaRPr lang="zh-CN" altLang="zh-CN" dirty="0"/>
          </a:p>
          <a:p>
            <a:r>
              <a:rPr lang="zh-CN" altLang="zh-CN" dirty="0"/>
              <a:t>原因很简单，因为 PAD 只是为了把不同长度的句子补齐，它并不是真实的翻译内容。</a:t>
            </a:r>
          </a:p>
          <a:p>
            <a:r>
              <a:rPr lang="zh-CN" altLang="zh-CN" dirty="0"/>
              <a:t>比如这里，正确答案是：</a:t>
            </a:r>
          </a:p>
          <a:p>
            <a:r>
              <a:rPr lang="zh-CN" altLang="zh-CN" dirty="0"/>
              <a:t>“我、爱、EOS、PAD、PAD”。</a:t>
            </a:r>
          </a:p>
          <a:p>
            <a:r>
              <a:rPr lang="zh-CN" altLang="zh-CN" dirty="0"/>
              <a:t>假设模型前面三个真实位置全部预测错了，但是最后两个 PAD 预测对了。</a:t>
            </a:r>
          </a:p>
          <a:p>
            <a:r>
              <a:rPr lang="zh-CN" altLang="zh-CN" dirty="0"/>
              <a:t>如果我们把 PAD 也算进 Accuracy，那么模型就答对了 2 个位置，一共 5 个位置：</a:t>
            </a:r>
          </a:p>
          <a:p>
            <a:r>
              <a:rPr lang="zh-CN" altLang="zh-CN" dirty="0"/>
              <a:t>Accuracy 就变成了 40%。</a:t>
            </a:r>
          </a:p>
          <a:p>
            <a:r>
              <a:rPr lang="zh-CN" altLang="zh-CN" dirty="0"/>
              <a:t>看起来好像模型还有 40% 的正确率。</a:t>
            </a:r>
            <a:endParaRPr lang="en-US" altLang="zh-CN" dirty="0"/>
          </a:p>
          <a:p>
            <a:endParaRPr lang="zh-CN" altLang="zh-CN" dirty="0"/>
          </a:p>
          <a:p>
            <a:r>
              <a:rPr lang="zh-CN" altLang="zh-CN" dirty="0"/>
              <a:t>但实际上，真正有意义的三个 token，它一个都没有预测对。</a:t>
            </a:r>
          </a:p>
          <a:p>
            <a:r>
              <a:rPr lang="zh-CN" altLang="zh-CN" dirty="0"/>
              <a:t>所以如果把 PAD 算进去，Accuracy 就会被“虚高”。</a:t>
            </a:r>
          </a:p>
          <a:p>
            <a:r>
              <a:rPr lang="zh-CN" altLang="zh-CN" dirty="0"/>
              <a:t>忽略 PAD 以后，我们只统计前三个真实 token。</a:t>
            </a:r>
            <a:endParaRPr lang="en-US" altLang="zh-CN" dirty="0"/>
          </a:p>
          <a:p>
            <a:endParaRPr lang="zh-CN" altLang="zh-CN" dirty="0"/>
          </a:p>
          <a:p>
            <a:r>
              <a:rPr lang="zh-CN" altLang="zh-CN" dirty="0"/>
              <a:t>这时候 Accuracy 就是：</a:t>
            </a:r>
          </a:p>
          <a:p>
            <a:r>
              <a:rPr lang="zh-CN" altLang="zh-CN" dirty="0"/>
              <a:t>0 除以 3，也就是 0%。</a:t>
            </a:r>
          </a:p>
          <a:p>
            <a:r>
              <a:rPr lang="zh-CN" altLang="zh-CN" dirty="0"/>
              <a:t>这个结果才真正反映模型的翻译能力。</a:t>
            </a:r>
            <a:endParaRPr lang="en-US" altLang="zh-CN" dirty="0"/>
          </a:p>
          <a:p>
            <a:endParaRPr lang="zh-CN" altLang="zh-CN" dirty="0"/>
          </a:p>
          <a:p>
            <a:r>
              <a:rPr lang="zh-CN" altLang="zh-CN" dirty="0"/>
              <a:t>Loss 也是同样的道理。</a:t>
            </a:r>
          </a:p>
          <a:p>
            <a:r>
              <a:rPr lang="zh-CN" altLang="zh-CN" dirty="0"/>
              <a:t>PAD 往往是比较容易预测的位置，如果把大量 PAD 一起算进平均 Loss，就可能把 Loss 拉低，让训练效果看起来比实际更好。</a:t>
            </a:r>
          </a:p>
          <a:p>
            <a:r>
              <a:rPr lang="zh-CN" altLang="zh-CN" dirty="0"/>
              <a:t>所以最终原则就是：</a:t>
            </a:r>
          </a:p>
          <a:p>
            <a:r>
              <a:rPr lang="zh-CN" altLang="zh-CN" b="1" dirty="0"/>
              <a:t>Loss 和 Accuracy 都只统计非 PAD 的有效 token。</a:t>
            </a:r>
            <a:endParaRPr lang="zh-CN" altLang="zh-CN" dirty="0"/>
          </a:p>
          <a:p>
            <a:r>
              <a:rPr lang="zh-CN" altLang="zh-CN" dirty="0"/>
              <a:t>右边这张流程图表达的也是这个过程：</a:t>
            </a:r>
          </a:p>
          <a:p>
            <a:r>
              <a:rPr lang="zh-CN" altLang="zh-CN" dirty="0"/>
              <a:t>先计算每个 token 的误差，然后根据 </a:t>
            </a:r>
            <a:r>
              <a:rPr lang="zh-CN" altLang="zh-CN" sz="1200" kern="1200" dirty="0"/>
              <a:t>gold != PAD</a:t>
            </a:r>
            <a:r>
              <a:rPr lang="zh-CN" altLang="zh-CN" dirty="0"/>
              <a:t> 找到真正有效的位置，只保留这些 token，再计算最终用于日志比较和反向传播的 Loss。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接下来我们用实际结果验证刚才这个结论。</a:t>
            </a:r>
          </a:p>
          <a:p>
            <a:r>
              <a:rPr lang="zh-CN" altLang="zh-CN" dirty="0"/>
              <a:t>我们主要看右边几个关键结果。</a:t>
            </a:r>
          </a:p>
          <a:p>
            <a:r>
              <a:rPr lang="zh-CN" altLang="zh-CN" dirty="0"/>
              <a:t>首先可以看到：</a:t>
            </a:r>
          </a:p>
          <a:p>
            <a:r>
              <a:rPr lang="zh-CN" altLang="zh-CN" dirty="0"/>
              <a:t>总位置数是 52，</a:t>
            </a:r>
          </a:p>
          <a:p>
            <a:r>
              <a:rPr lang="zh-CN" altLang="zh-CN" dirty="0"/>
              <a:t>其中真正有效的非 PAD token 是 38 个，</a:t>
            </a:r>
          </a:p>
          <a:p>
            <a:r>
              <a:rPr lang="zh-CN" altLang="zh-CN" dirty="0"/>
              <a:t>PAD token 是 14 个。</a:t>
            </a:r>
          </a:p>
          <a:p>
            <a:r>
              <a:rPr lang="zh-CN" altLang="zh-CN" dirty="0"/>
              <a:t>也就是说，这 14 个位置本来就不应该参与 Loss 和 Accuracy 的统计。</a:t>
            </a:r>
            <a:endParaRPr lang="en-US" altLang="zh-CN" dirty="0"/>
          </a:p>
          <a:p>
            <a:endParaRPr lang="zh-CN" altLang="zh-CN" dirty="0"/>
          </a:p>
          <a:p>
            <a:r>
              <a:rPr lang="zh-CN" altLang="zh-CN" dirty="0"/>
              <a:t>下面我们再看验证结果。</a:t>
            </a:r>
          </a:p>
          <a:p>
            <a:r>
              <a:rPr lang="zh-CN" altLang="zh-CN" dirty="0"/>
              <a:t>程序分别比较了忽略 PAD 前后参与统计的结果。</a:t>
            </a:r>
          </a:p>
          <a:p>
            <a:r>
              <a:rPr lang="zh-CN" altLang="zh-CN" dirty="0"/>
              <a:t>最终可以看到，在正确屏蔽 PAD 之后，这些 PAD 位置不会改变我们最终使用的 Loss 和 Accuracy。</a:t>
            </a:r>
          </a:p>
          <a:p>
            <a:r>
              <a:rPr lang="zh-CN" altLang="zh-CN" dirty="0"/>
              <a:t>这就说明：</a:t>
            </a:r>
          </a:p>
          <a:p>
            <a:r>
              <a:rPr lang="zh-CN" altLang="zh-CN" b="1" dirty="0"/>
              <a:t>真正参与模型评价的，是那 38 个有效 token，而不是所有 52 个位置。</a:t>
            </a:r>
            <a:endParaRPr lang="en-US" altLang="zh-CN" b="1" dirty="0"/>
          </a:p>
          <a:p>
            <a:endParaRPr lang="zh-CN" altLang="zh-CN" dirty="0"/>
          </a:p>
          <a:p>
            <a:r>
              <a:rPr lang="zh-CN" altLang="zh-CN" dirty="0"/>
              <a:t>所以这个实操主要验证两件事情：</a:t>
            </a:r>
          </a:p>
          <a:p>
            <a:r>
              <a:rPr lang="zh-CN" altLang="zh-CN" dirty="0"/>
              <a:t>第一，目标序列确实完成了上一页讲的右移；</a:t>
            </a:r>
          </a:p>
          <a:p>
            <a:r>
              <a:rPr lang="zh-CN" altLang="zh-CN" dirty="0"/>
              <a:t>第二，Loss 和 Accuracy 的统计确实排除了 PAD。</a:t>
            </a:r>
          </a:p>
          <a:p>
            <a:r>
              <a:rPr lang="zh-CN" altLang="zh-CN" dirty="0"/>
              <a:t>最后终端给出 </a:t>
            </a:r>
            <a:r>
              <a:rPr lang="zh-CN" altLang="zh-CN" sz="1200" kern="1200" dirty="0"/>
              <a:t>PASS</a:t>
            </a:r>
            <a:r>
              <a:rPr lang="zh-CN" altLang="zh-CN" dirty="0"/>
              <a:t>，说明这两项检查都已经通过。</a:t>
            </a:r>
          </a:p>
          <a:p>
            <a:r>
              <a:rPr lang="zh-CN" altLang="zh-CN" dirty="0"/>
              <a:t>大家不需要记整段代码，重点会看这些输出结果就可以。</a:t>
            </a:r>
          </a:p>
          <a:p>
            <a:r>
              <a:rPr lang="zh-CN" altLang="zh-CN" b="1" dirty="0"/>
              <a:t>完整的 Loss、Accuracy 和 PAD 忽略验证代码都放在附录里，实际做实验的时候直接按照附录运行。</a:t>
            </a:r>
            <a:endParaRPr lang="zh-CN" altLang="zh-CN" dirty="0"/>
          </a:p>
          <a:p>
            <a:r>
              <a:rPr lang="zh-CN" altLang="zh-CN" dirty="0"/>
              <a:t>到这里，我们就确认了 Loss 的计算逻辑本身是可信的。</a:t>
            </a:r>
          </a:p>
          <a:p>
            <a:r>
              <a:rPr lang="zh-CN" altLang="zh-CN" dirty="0"/>
              <a:t>下一步就可以开始看一个更实际的问题：</a:t>
            </a:r>
          </a:p>
          <a:p>
            <a:r>
              <a:rPr lang="zh-CN" altLang="zh-CN" b="1" dirty="0"/>
              <a:t>模型训练这么多轮以后，Loss 到底有没有下降，模型是不是在正常收敛。</a:t>
            </a:r>
            <a:endParaRPr lang="zh-CN" altLang="zh-CN" dirty="0"/>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0276880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接下来我们来看模型的收敛情况。</a:t>
            </a:r>
          </a:p>
          <a:p>
            <a:r>
              <a:rPr lang="zh-CN" altLang="zh-CN" dirty="0"/>
              <a:t>大家先注意一下右边这张图。</a:t>
            </a:r>
          </a:p>
          <a:p>
            <a:r>
              <a:rPr lang="zh-CN" altLang="zh-CN" b="1" dirty="0"/>
              <a:t>这里展示的是 epoch 设置为 10 时的一次完整训练结果。</a:t>
            </a:r>
            <a:endParaRPr lang="zh-CN" altLang="zh-CN" dirty="0"/>
          </a:p>
          <a:p>
            <a:r>
              <a:rPr lang="zh-CN" altLang="zh-CN" dirty="0"/>
              <a:t>上一节课为了让大家快速把整个训练流程跑通，我们主要使用的是 </a:t>
            </a:r>
            <a:r>
              <a:rPr lang="zh-CN" altLang="zh-CN" b="1" dirty="0"/>
              <a:t>2 epoch 的快速训练</a:t>
            </a:r>
            <a:r>
              <a:rPr lang="zh-CN" altLang="zh-CN" dirty="0"/>
              <a:t>。</a:t>
            </a:r>
            <a:endParaRPr lang="en-US" altLang="zh-CN" dirty="0"/>
          </a:p>
          <a:p>
            <a:endParaRPr lang="zh-CN" altLang="zh-CN" dirty="0"/>
          </a:p>
          <a:p>
            <a:r>
              <a:rPr lang="zh-CN" altLang="zh-CN" dirty="0"/>
              <a:t>2 epoch 比较适合课堂上快速验证代码能不能正常运行，但是如果我们想更直观地观察模型到底有没有持续学习，只看两轮其实还不够明显。</a:t>
            </a:r>
          </a:p>
          <a:p>
            <a:r>
              <a:rPr lang="zh-CN" altLang="zh-CN" dirty="0"/>
              <a:t>所以这里我把训练轮数增加到了 </a:t>
            </a:r>
            <a:r>
              <a:rPr lang="zh-CN" altLang="zh-CN" b="1" dirty="0"/>
              <a:t>10 epoch</a:t>
            </a:r>
            <a:r>
              <a:rPr lang="zh-CN" altLang="zh-CN" dirty="0"/>
              <a:t>。</a:t>
            </a:r>
            <a:endParaRPr lang="en-US" altLang="zh-CN" dirty="0"/>
          </a:p>
          <a:p>
            <a:endParaRPr lang="zh-CN" altLang="zh-CN" dirty="0"/>
          </a:p>
          <a:p>
            <a:r>
              <a:rPr lang="zh-CN" altLang="zh-CN" dirty="0"/>
              <a:t>后面实操的时候我也会简单告诉大家，怎么把 2 epoch 修改成 10 epoch。主要就是修改训练轮数这个参数，不需要重新改整个模型。</a:t>
            </a:r>
          </a:p>
          <a:p>
            <a:r>
              <a:rPr lang="zh-CN" altLang="zh-CN" dirty="0"/>
              <a:t>现在我们先看这 10 轮的结果。</a:t>
            </a:r>
            <a:endParaRPr lang="en-US" altLang="zh-CN" dirty="0"/>
          </a:p>
          <a:p>
            <a:endParaRPr lang="zh-CN" altLang="zh-CN" dirty="0"/>
          </a:p>
          <a:p>
            <a:r>
              <a:rPr lang="zh-CN" altLang="zh-CN" dirty="0"/>
              <a:t>这里挑了四个比较有代表性的节点。</a:t>
            </a:r>
          </a:p>
          <a:p>
            <a:r>
              <a:rPr lang="zh-CN" altLang="zh-CN" dirty="0"/>
              <a:t>第 1 轮：</a:t>
            </a:r>
          </a:p>
          <a:p>
            <a:r>
              <a:rPr lang="zh-CN" altLang="zh-CN" dirty="0"/>
              <a:t>PPL 是 271.13，Accuracy 是 19.093%。</a:t>
            </a:r>
          </a:p>
          <a:p>
            <a:r>
              <a:rPr lang="zh-CN" altLang="zh-CN" dirty="0"/>
              <a:t>第 4 轮：</a:t>
            </a:r>
          </a:p>
          <a:p>
            <a:r>
              <a:rPr lang="zh-CN" altLang="zh-CN" dirty="0"/>
              <a:t>PPL 已经下降到了 67.70，Accuracy 上升到了 31.476%。</a:t>
            </a:r>
          </a:p>
          <a:p>
            <a:r>
              <a:rPr lang="zh-CN" altLang="zh-CN" dirty="0"/>
              <a:t>到第 7 轮：</a:t>
            </a:r>
          </a:p>
          <a:p>
            <a:r>
              <a:rPr lang="zh-CN" altLang="zh-CN" dirty="0"/>
              <a:t>PPL 继续下降到 32.61，Accuracy 上升到 40.148%。</a:t>
            </a:r>
          </a:p>
          <a:p>
            <a:r>
              <a:rPr lang="zh-CN" altLang="zh-CN" dirty="0"/>
              <a:t>最后第 10 轮：</a:t>
            </a:r>
          </a:p>
          <a:p>
            <a:r>
              <a:rPr lang="zh-CN" altLang="zh-CN" dirty="0"/>
              <a:t>PPL 降到了 21.66，Accuracy 提升到了 45.559%。</a:t>
            </a:r>
          </a:p>
          <a:p>
            <a:r>
              <a:rPr lang="zh-CN" altLang="zh-CN" dirty="0"/>
              <a:t>PPL 可以简单理解成模型对“下一个词”有多困惑。</a:t>
            </a:r>
          </a:p>
          <a:p>
            <a:r>
              <a:rPr lang="zh-CN" altLang="zh-CN" dirty="0"/>
              <a:t>所以 </a:t>
            </a:r>
            <a:r>
              <a:rPr lang="zh-CN" altLang="zh-CN" b="1" dirty="0"/>
              <a:t>PPL 越低越好</a:t>
            </a:r>
            <a:r>
              <a:rPr lang="zh-CN" altLang="zh-CN" dirty="0"/>
              <a:t>。</a:t>
            </a:r>
            <a:endParaRPr lang="en-US" altLang="zh-CN" dirty="0"/>
          </a:p>
          <a:p>
            <a:endParaRPr lang="zh-CN" altLang="zh-CN" dirty="0"/>
          </a:p>
          <a:p>
            <a:r>
              <a:rPr lang="zh-CN" altLang="zh-CN" dirty="0"/>
              <a:t>Accuracy 就是模型预测正确的 token 比例。</a:t>
            </a:r>
          </a:p>
          <a:p>
            <a:r>
              <a:rPr lang="zh-CN" altLang="zh-CN" dirty="0"/>
              <a:t>所以 </a:t>
            </a:r>
            <a:r>
              <a:rPr lang="zh-CN" altLang="zh-CN" b="1" dirty="0"/>
              <a:t>Accuracy 越高越好</a:t>
            </a:r>
            <a:r>
              <a:rPr lang="zh-CN" altLang="zh-CN" dirty="0"/>
              <a:t>。</a:t>
            </a:r>
          </a:p>
          <a:p>
            <a:r>
              <a:rPr lang="zh-CN" altLang="zh-CN" dirty="0"/>
              <a:t>大家可以看到，在这 10 轮训练过程中：</a:t>
            </a:r>
          </a:p>
          <a:p>
            <a:r>
              <a:rPr lang="zh-CN" altLang="zh-CN" b="1" dirty="0"/>
              <a:t>PPL 是持续下降的，Accuracy 是持续上升的。</a:t>
            </a:r>
            <a:endParaRPr lang="zh-CN" altLang="zh-CN" dirty="0"/>
          </a:p>
          <a:p>
            <a:r>
              <a:rPr lang="zh-CN" altLang="zh-CN" dirty="0"/>
              <a:t>这说明模型在验证集上的预测能力一直在改善，也就是说整个训练过程是在正常收敛的。</a:t>
            </a:r>
            <a:endParaRPr lang="en-US" altLang="zh-CN" dirty="0"/>
          </a:p>
          <a:p>
            <a:endParaRPr lang="zh-CN" altLang="zh-CN" dirty="0"/>
          </a:p>
          <a:p>
            <a:r>
              <a:rPr lang="zh-CN" altLang="zh-CN" dirty="0"/>
              <a:t>而且从第 7 轮到第 10 轮，PPL 仍然从 32.61 降到了 21.66，Accuracy 也继续从 40.148% 上升到 45.559%。</a:t>
            </a:r>
          </a:p>
          <a:p>
            <a:r>
              <a:rPr lang="zh-CN" altLang="zh-CN" dirty="0"/>
              <a:t>说明训练到第 7 轮以后，模型还没有完全停止改善。</a:t>
            </a:r>
            <a:endParaRPr lang="en-US" altLang="zh-CN" dirty="0"/>
          </a:p>
          <a:p>
            <a:endParaRPr lang="zh-CN" altLang="zh-CN" dirty="0"/>
          </a:p>
          <a:p>
            <a:r>
              <a:rPr lang="zh-CN" altLang="zh-CN" dirty="0"/>
              <a:t>所以这里为什么强调“连续验证趋势”？</a:t>
            </a:r>
          </a:p>
          <a:p>
            <a:r>
              <a:rPr lang="zh-CN" altLang="zh-CN" dirty="0"/>
              <a:t>因为我们不能只看某一轮的一个数字。</a:t>
            </a:r>
          </a:p>
          <a:p>
            <a:r>
              <a:rPr lang="zh-CN" altLang="zh-CN" b="1" dirty="0"/>
              <a:t>判断模型有没有正常训练，更重要的是看连续多轮的指标变化。</a:t>
            </a:r>
            <a:endParaRPr lang="zh-CN" altLang="zh-CN" dirty="0"/>
          </a:p>
          <a:p>
            <a:r>
              <a:rPr lang="zh-CN" altLang="zh-CN" dirty="0"/>
              <a:t>如果 PPL 总体下降、Accuracy 总体上升，我们就有比较明确的证据说明模型正在学习。</a:t>
            </a:r>
          </a:p>
          <a:p>
            <a:r>
              <a:rPr lang="zh-CN" altLang="zh-CN" dirty="0"/>
              <a:t>这次实验里，每一轮验证结果都在改善，因此训练脚本会持续更新 </a:t>
            </a:r>
            <a:r>
              <a:rPr lang="zh-CN" altLang="zh-CN" sz="1200" kern="1200" dirty="0"/>
              <a:t>best_model.chkpt</a:t>
            </a:r>
            <a:r>
              <a:rPr lang="zh-CN" altLang="zh-CN" dirty="0"/>
              <a:t>，最终第 10 轮对应当前这次训练中的最佳模型。</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知道为什么要看 10 epoch 以后，我们来看这次实操具体要做什么。</a:t>
            </a:r>
          </a:p>
          <a:p>
            <a:r>
              <a:rPr lang="zh-CN" altLang="zh-CN" dirty="0"/>
              <a:t>整个流程其实只有三步。</a:t>
            </a:r>
          </a:p>
          <a:p>
            <a:r>
              <a:rPr lang="zh-CN" altLang="zh-CN" dirty="0"/>
              <a:t>第一步，完成一次独立的 </a:t>
            </a:r>
            <a:r>
              <a:rPr lang="zh-CN" altLang="zh-CN" b="1" dirty="0"/>
              <a:t>10 epoch 训练</a:t>
            </a:r>
            <a:r>
              <a:rPr lang="zh-CN" altLang="zh-CN" dirty="0"/>
              <a:t>。</a:t>
            </a:r>
          </a:p>
          <a:p>
            <a:r>
              <a:rPr lang="zh-CN" altLang="zh-CN" dirty="0"/>
              <a:t>训练结束以后，会在：</a:t>
            </a:r>
          </a:p>
          <a:p>
            <a:r>
              <a:rPr lang="zh-CN" altLang="zh-CN" sz="1200" kern="1200" dirty="0"/>
              <a:t>outputs/en_zh_epoch10/</a:t>
            </a:r>
            <a:endParaRPr lang="zh-CN" altLang="zh-CN" dirty="0"/>
          </a:p>
          <a:p>
            <a:r>
              <a:rPr lang="zh-CN" altLang="zh-CN" dirty="0"/>
              <a:t>这个目录下面生成对应的训练日志、验证日志以及 checkpoint。</a:t>
            </a:r>
            <a:endParaRPr lang="en-US" altLang="zh-CN" dirty="0"/>
          </a:p>
          <a:p>
            <a:endParaRPr lang="zh-CN" altLang="zh-CN" dirty="0"/>
          </a:p>
          <a:p>
            <a:r>
              <a:rPr lang="zh-CN" altLang="zh-CN" dirty="0"/>
              <a:t>第二步，我们读取其中的 </a:t>
            </a:r>
            <a:r>
              <a:rPr lang="zh-CN" altLang="zh-CN" sz="1200" kern="1200" dirty="0"/>
              <a:t>valid.log</a:t>
            </a:r>
            <a:r>
              <a:rPr lang="zh-CN" altLang="zh-CN" dirty="0"/>
              <a:t>。</a:t>
            </a:r>
          </a:p>
          <a:p>
            <a:r>
              <a:rPr lang="zh-CN" altLang="zh-CN" dirty="0"/>
              <a:t>把每一轮的验证结果拿出来比较。</a:t>
            </a:r>
          </a:p>
          <a:p>
            <a:r>
              <a:rPr lang="zh-CN" altLang="zh-CN" dirty="0"/>
              <a:t>主要看：</a:t>
            </a:r>
          </a:p>
          <a:p>
            <a:r>
              <a:rPr lang="zh-CN" altLang="zh-CN" b="1" dirty="0"/>
              <a:t>valid loss、PPL 和 Accuracy。</a:t>
            </a:r>
            <a:endParaRPr lang="zh-CN" altLang="zh-CN" dirty="0"/>
          </a:p>
          <a:p>
            <a:r>
              <a:rPr lang="zh-CN" altLang="zh-CN" dirty="0"/>
              <a:t>其中选择最佳模型的时候，我们重点寻找：</a:t>
            </a:r>
          </a:p>
          <a:p>
            <a:r>
              <a:rPr lang="zh-CN" altLang="zh-CN" b="1" dirty="0"/>
              <a:t>valid loss 最小的那一轮。</a:t>
            </a:r>
            <a:endParaRPr lang="zh-CN" altLang="zh-CN" dirty="0"/>
          </a:p>
          <a:p>
            <a:r>
              <a:rPr lang="zh-CN" altLang="zh-CN" dirty="0"/>
              <a:t>找到 valid loss 最小的轮次以后，第三步就是确认对应保存下来的：</a:t>
            </a:r>
          </a:p>
          <a:p>
            <a:r>
              <a:rPr lang="zh-CN" altLang="zh-CN" sz="1200" kern="1200" dirty="0"/>
              <a:t>best_model.chkpt</a:t>
            </a:r>
            <a:endParaRPr lang="zh-CN" altLang="zh-CN" dirty="0"/>
          </a:p>
          <a:p>
            <a:r>
              <a:rPr lang="zh-CN" altLang="zh-CN" dirty="0"/>
              <a:t>这就是我们从“看训练有没有收敛”，进一步走到“到底应该使用哪一份模型权重”。</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26784612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最后我们看一下，这个 10 epoch 的训练实际上怎么启动。</a:t>
            </a:r>
          </a:p>
          <a:p>
            <a:r>
              <a:rPr lang="zh-CN" altLang="zh-CN" dirty="0"/>
              <a:t>大家不用把整条命令都记下来，我们只看几个关键参数。</a:t>
            </a:r>
          </a:p>
          <a:p>
            <a:r>
              <a:rPr lang="zh-CN" altLang="zh-CN" dirty="0"/>
              <a:t>首先最重要的是：</a:t>
            </a:r>
          </a:p>
          <a:p>
            <a:r>
              <a:rPr lang="zh-CN" altLang="zh-CN" sz="1200" kern="1200" dirty="0"/>
              <a:t>EPOCHS=10</a:t>
            </a:r>
            <a:endParaRPr lang="zh-CN" altLang="zh-CN" dirty="0"/>
          </a:p>
          <a:p>
            <a:r>
              <a:rPr lang="zh-CN" altLang="zh-CN" dirty="0"/>
              <a:t>这就是把训练轮数设置成 10。</a:t>
            </a:r>
          </a:p>
          <a:p>
            <a:r>
              <a:rPr lang="zh-CN" altLang="zh-CN" dirty="0"/>
              <a:t>所以和上一节课的 2 epoch 快速训练相比，最直接的变化就是把这里的训练轮数改成 10。</a:t>
            </a:r>
            <a:endParaRPr lang="en-US" altLang="zh-CN" dirty="0"/>
          </a:p>
          <a:p>
            <a:endParaRPr lang="zh-CN" altLang="zh-CN" dirty="0"/>
          </a:p>
          <a:p>
            <a:r>
              <a:rPr lang="zh-CN" altLang="zh-CN" dirty="0"/>
              <a:t>接下来：</a:t>
            </a:r>
          </a:p>
          <a:p>
            <a:r>
              <a:rPr lang="zh-CN" altLang="zh-CN" sz="1200" kern="1200" dirty="0"/>
              <a:t>BATCH_SIZE=64</a:t>
            </a:r>
            <a:endParaRPr lang="zh-CN" altLang="zh-CN" dirty="0"/>
          </a:p>
          <a:p>
            <a:r>
              <a:rPr lang="zh-CN" altLang="zh-CN" dirty="0"/>
              <a:t>表示每个 batch 同时处理 64 组数据。</a:t>
            </a:r>
          </a:p>
          <a:p>
            <a:r>
              <a:rPr lang="zh-CN" altLang="zh-CN" dirty="0"/>
              <a:t>Batch 后面我们还会专门讲，所以这里先知道它控制一次处理的数据量就可以。</a:t>
            </a:r>
            <a:endParaRPr lang="en-US" altLang="zh-CN" dirty="0"/>
          </a:p>
          <a:p>
            <a:endParaRPr lang="zh-CN" altLang="zh-CN" dirty="0"/>
          </a:p>
          <a:p>
            <a:r>
              <a:rPr lang="zh-CN" altLang="zh-CN" sz="1200" kern="1200" dirty="0"/>
              <a:t>OUTPUT_DIR=outputs/en_zh_epoch10</a:t>
            </a:r>
            <a:endParaRPr lang="zh-CN" altLang="zh-CN" dirty="0"/>
          </a:p>
          <a:p>
            <a:r>
              <a:rPr lang="zh-CN" altLang="zh-CN" dirty="0"/>
              <a:t>则是给这次 10 epoch 实验单独指定一个输出目录。</a:t>
            </a:r>
          </a:p>
          <a:p>
            <a:r>
              <a:rPr lang="zh-CN" altLang="zh-CN" dirty="0"/>
              <a:t>这样它不会和前面的快速实验混在一起，后面查日志和 checkpoint 也更方便。</a:t>
            </a:r>
          </a:p>
          <a:p>
            <a:r>
              <a:rPr lang="zh-CN" altLang="zh-CN" dirty="0"/>
              <a:t>然后运行下面这个训练脚本，模型就会开始 10 轮训练。</a:t>
            </a:r>
            <a:endParaRPr lang="en-US" altLang="zh-CN" dirty="0"/>
          </a:p>
          <a:p>
            <a:endParaRPr lang="zh-CN" altLang="zh-CN" dirty="0"/>
          </a:p>
          <a:p>
            <a:r>
              <a:rPr lang="zh-CN" altLang="zh-CN" dirty="0"/>
              <a:t>训练完成以后，大家看左下角。</a:t>
            </a:r>
          </a:p>
          <a:p>
            <a:r>
              <a:rPr lang="zh-CN" altLang="zh-CN" dirty="0"/>
              <a:t>目录里面主要会得到：</a:t>
            </a:r>
          </a:p>
          <a:p>
            <a:r>
              <a:rPr lang="zh-CN" altLang="zh-CN" sz="1200" kern="1200" dirty="0"/>
              <a:t>best_model.chkpt</a:t>
            </a:r>
            <a:r>
              <a:rPr lang="zh-CN" altLang="zh-CN" dirty="0"/>
              <a:t>，</a:t>
            </a:r>
          </a:p>
          <a:p>
            <a:r>
              <a:rPr lang="zh-CN" altLang="zh-CN" sz="1200" kern="1200" dirty="0"/>
              <a:t>train.log</a:t>
            </a:r>
            <a:r>
              <a:rPr lang="zh-CN" altLang="zh-CN" dirty="0"/>
              <a:t>，</a:t>
            </a:r>
          </a:p>
          <a:p>
            <a:r>
              <a:rPr lang="zh-CN" altLang="zh-CN" sz="1200" kern="1200" dirty="0"/>
              <a:t>valid.log</a:t>
            </a:r>
            <a:r>
              <a:rPr lang="zh-CN" altLang="zh-CN" dirty="0"/>
              <a:t>，</a:t>
            </a:r>
          </a:p>
          <a:p>
            <a:r>
              <a:rPr lang="zh-CN" altLang="zh-CN" dirty="0"/>
              <a:t>以及 </a:t>
            </a:r>
            <a:r>
              <a:rPr lang="zh-CN" altLang="zh-CN" sz="1200" kern="1200" dirty="0"/>
              <a:t>predictions.txt</a:t>
            </a:r>
            <a:r>
              <a:rPr lang="zh-CN" altLang="zh-CN" dirty="0"/>
              <a:t>。</a:t>
            </a:r>
            <a:endParaRPr lang="en-US" altLang="zh-CN" dirty="0"/>
          </a:p>
          <a:p>
            <a:endParaRPr lang="zh-CN" altLang="zh-CN" dirty="0"/>
          </a:p>
          <a:p>
            <a:r>
              <a:rPr lang="zh-CN" altLang="zh-CN" dirty="0"/>
              <a:t>右边就是实际训练过程中打印出来的日志。</a:t>
            </a:r>
          </a:p>
          <a:p>
            <a:r>
              <a:rPr lang="zh-CN" altLang="zh-CN" dirty="0"/>
              <a:t>大家可以看到，从不同 epoch 的验证结果中，PPL 在不断下降，Accuracy 在不断上升，同时当验证效果改善以后，程序会提示 checkpoint 已经更新。</a:t>
            </a:r>
          </a:p>
          <a:p>
            <a:endParaRPr lang="zh-CN" altLang="zh-CN" dirty="0"/>
          </a:p>
          <a:p>
            <a:r>
              <a:rPr lang="zh-CN" altLang="en-US" dirty="0"/>
              <a:t>我们</a:t>
            </a:r>
            <a:r>
              <a:rPr lang="zh-CN" altLang="zh-CN" dirty="0"/>
              <a:t>只要确认三件事情：</a:t>
            </a:r>
          </a:p>
          <a:p>
            <a:r>
              <a:rPr lang="zh-CN" altLang="zh-CN" b="1" dirty="0"/>
              <a:t>10 epoch 正常跑完；</a:t>
            </a:r>
            <a:br>
              <a:rPr lang="zh-CN" altLang="zh-CN" b="1" dirty="0"/>
            </a:br>
            <a:r>
              <a:rPr lang="zh-CN" altLang="zh-CN" b="1" dirty="0"/>
              <a:t>验证指标整体在改善；</a:t>
            </a:r>
            <a:br>
              <a:rPr lang="zh-CN" altLang="zh-CN" b="1" dirty="0"/>
            </a:br>
            <a:r>
              <a:rPr lang="zh-CN" altLang="zh-CN" b="1" dirty="0"/>
              <a:t>best_model.chkpt 正常生成并更新。</a:t>
            </a:r>
            <a:endParaRPr lang="zh-CN" altLang="zh-CN" dirty="0"/>
          </a:p>
          <a:p>
            <a:r>
              <a:rPr lang="zh-CN" altLang="zh-CN" dirty="0"/>
              <a:t>就说明这一步实验完成了。</a:t>
            </a:r>
          </a:p>
          <a:p>
            <a:endParaRPr lang="zh-CN" altLang="zh-CN" dirty="0"/>
          </a:p>
          <a:p>
            <a:r>
              <a:rPr lang="zh-CN" altLang="zh-CN" dirty="0"/>
              <a:t>到这里，我们已经不仅确认了 Loss 的计算逻辑正确，也通过实际的 10 epoch 训练看到了模型的收敛趋势。</a:t>
            </a:r>
          </a:p>
          <a:p>
            <a:r>
              <a:rPr lang="zh-CN" altLang="zh-CN" dirty="0"/>
              <a:t>接下来我们进入下一部分，看看有哪些训练技巧可以进一步影响训练效率和收敛效果。</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62856457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接下来我们进入训练技巧这一部分。</a:t>
            </a:r>
          </a:p>
          <a:p>
            <a:r>
              <a:rPr lang="zh-CN" altLang="zh-CN" dirty="0"/>
              <a:t>首先来看第一个很常见的参数：</a:t>
            </a:r>
            <a:r>
              <a:rPr lang="zh-CN" altLang="zh-CN" b="1" dirty="0"/>
              <a:t>Batch Size</a:t>
            </a:r>
            <a:r>
              <a:rPr lang="zh-CN" altLang="zh-CN" dirty="0"/>
              <a:t>。</a:t>
            </a:r>
          </a:p>
          <a:p>
            <a:r>
              <a:rPr lang="zh-CN" altLang="zh-CN" dirty="0"/>
              <a:t>Batch Size 可以简单理解成：</a:t>
            </a:r>
          </a:p>
          <a:p>
            <a:r>
              <a:rPr lang="zh-CN" altLang="zh-CN" b="1" dirty="0"/>
              <a:t>模型一次同时拿多少组句子来进行训练。</a:t>
            </a:r>
            <a:endParaRPr lang="zh-CN" altLang="zh-CN" dirty="0"/>
          </a:p>
          <a:p>
            <a:r>
              <a:rPr lang="zh-CN" altLang="zh-CN" dirty="0"/>
              <a:t>比如这里：</a:t>
            </a:r>
          </a:p>
          <a:p>
            <a:r>
              <a:rPr lang="zh-CN" altLang="zh-CN" sz="1200" kern="1200" dirty="0"/>
              <a:t>BATCH_SIZE = 32</a:t>
            </a:r>
            <a:endParaRPr lang="zh-CN" altLang="zh-CN" dirty="0"/>
          </a:p>
          <a:p>
            <a:r>
              <a:rPr lang="zh-CN" altLang="zh-CN" dirty="0"/>
              <a:t>就表示模型每次同时处理 32 组句子。</a:t>
            </a:r>
          </a:p>
          <a:p>
            <a:r>
              <a:rPr lang="zh-CN" altLang="zh-CN" dirty="0"/>
              <a:t>为什么训练的时候要把多条句子放在一起？</a:t>
            </a:r>
          </a:p>
          <a:p>
            <a:r>
              <a:rPr lang="zh-CN" altLang="zh-CN" dirty="0"/>
              <a:t>主要是因为 GPU 很擅长做并行计算。相比一次只处理一条句子，把多条句子组成一个 Batch，可以更充分地利用 GPU 的计算能力。</a:t>
            </a:r>
          </a:p>
          <a:p>
            <a:r>
              <a:rPr lang="zh-CN" altLang="zh-CN" dirty="0"/>
              <a:t>但是 Batch 也不是越大越好。</a:t>
            </a:r>
          </a:p>
          <a:p>
            <a:r>
              <a:rPr lang="zh-CN" altLang="zh-CN" dirty="0"/>
              <a:t>一般来说，Batch 增大以后，一次能够并行处理的数据更多，训练吞吐通常会提高；</a:t>
            </a:r>
          </a:p>
          <a:p>
            <a:r>
              <a:rPr lang="zh-CN" altLang="zh-CN" dirty="0"/>
              <a:t>但是同时，它占用的显存也会更多。</a:t>
            </a:r>
          </a:p>
          <a:p>
            <a:r>
              <a:rPr lang="zh-CN" altLang="zh-CN" dirty="0"/>
              <a:t>相反，如果 Batch 比较小，显存压力会比较低，但是 GPU 可能没有被充分利用，训练速度也可能更慢。</a:t>
            </a:r>
          </a:p>
          <a:p>
            <a:r>
              <a:rPr lang="zh-CN" altLang="zh-CN" dirty="0"/>
              <a:t>这里还有一个和翻译任务比较相关的问题。</a:t>
            </a:r>
            <a:endParaRPr lang="en-US" altLang="zh-CN" dirty="0"/>
          </a:p>
          <a:p>
            <a:endParaRPr lang="zh-CN" altLang="zh-CN" dirty="0"/>
          </a:p>
          <a:p>
            <a:r>
              <a:rPr lang="zh-CN" altLang="zh-CN" dirty="0"/>
              <a:t>大家看右边。</a:t>
            </a:r>
          </a:p>
          <a:p>
            <a:r>
              <a:rPr lang="zh-CN" altLang="zh-CN" dirty="0"/>
              <a:t>如果一个 Batch 里面的句子长度差别特别大，为了把它们组成同一个矩阵，就需要加入更多 PAD。</a:t>
            </a:r>
          </a:p>
          <a:p>
            <a:r>
              <a:rPr lang="zh-CN" altLang="zh-CN" dirty="0"/>
              <a:t>PAD 越多，就意味着有一部分计算实际上花在了补齐位置上。</a:t>
            </a:r>
          </a:p>
          <a:p>
            <a:r>
              <a:rPr lang="zh-CN" altLang="zh-CN" dirty="0"/>
              <a:t>所以如果一个 Batch 中的句子长度比较接近，PAD 比例通常会更低，有效 token 会更加密集，GPU 的计算也会更有效率。</a:t>
            </a:r>
          </a:p>
          <a:p>
            <a:r>
              <a:rPr lang="zh-CN" altLang="zh-CN" dirty="0"/>
              <a:t>所以实际训练时，如果出现显存不足，我们可以把 Batch 从：</a:t>
            </a:r>
          </a:p>
          <a:p>
            <a:r>
              <a:rPr lang="zh-CN" altLang="zh-CN" dirty="0"/>
              <a:t>32 调成 16，再调成 8。</a:t>
            </a:r>
          </a:p>
          <a:p>
            <a:r>
              <a:rPr lang="zh-CN" altLang="zh-CN" dirty="0"/>
              <a:t>这一页最后大家记住一个基本原则：</a:t>
            </a:r>
          </a:p>
          <a:p>
            <a:r>
              <a:rPr lang="zh-CN" altLang="zh-CN" b="1" dirty="0"/>
              <a:t>选择 GPU 能够稳定运行的较大 Batch，而不是一味追求 Batch 越大越好。</a:t>
            </a:r>
            <a:endParaRPr lang="zh-CN" altLang="zh-CN" dirty="0"/>
          </a:p>
          <a:p>
            <a:r>
              <a:rPr lang="zh-CN" altLang="zh-CN" dirty="0"/>
              <a:t>那怎么判断我们现在这个 Batch 到底合不合适？</a:t>
            </a:r>
          </a:p>
          <a:p>
            <a:r>
              <a:rPr lang="zh-CN" altLang="zh-CN" dirty="0"/>
              <a:t>下一页我们就通过沐曦的 </a:t>
            </a:r>
            <a:r>
              <a:rPr lang="zh-CN" altLang="zh-CN" sz="1200" kern="1200" dirty="0"/>
              <a:t>mx-smi</a:t>
            </a:r>
            <a:r>
              <a:rPr lang="zh-CN" altLang="zh-CN" dirty="0"/>
              <a:t> 来看实际 GPU 状态。</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刚才我们说，Batch 太小可能没有充分利用 GPU，太大又可能导致显存不足。</a:t>
            </a:r>
          </a:p>
          <a:p>
            <a:r>
              <a:rPr lang="zh-CN" altLang="zh-CN" dirty="0"/>
              <a:t>所以到底应该选多大的 Batch，不能只靠猜，要看实际运行状态。</a:t>
            </a:r>
          </a:p>
          <a:p>
            <a:r>
              <a:rPr lang="zh-CN" altLang="zh-CN" dirty="0"/>
              <a:t>在沐曦 GPU 上，我们可以使用 </a:t>
            </a:r>
            <a:r>
              <a:rPr lang="zh-CN" altLang="zh-CN" sz="1200" kern="1200" dirty="0"/>
              <a:t>mx-smi</a:t>
            </a:r>
            <a:r>
              <a:rPr lang="zh-CN" altLang="zh-CN" dirty="0"/>
              <a:t> 来观察设备情况。</a:t>
            </a:r>
            <a:r>
              <a:rPr lang="zh-CN" altLang="en-US" dirty="0"/>
              <a:t>这个指令我们在之前的课上也有提过</a:t>
            </a:r>
            <a:endParaRPr lang="zh-CN" altLang="zh-CN" dirty="0"/>
          </a:p>
          <a:p>
            <a:r>
              <a:rPr lang="zh-CN" altLang="zh-CN" dirty="0"/>
              <a:t>这一页主要看三个指标。</a:t>
            </a:r>
          </a:p>
          <a:p>
            <a:r>
              <a:rPr lang="zh-CN" altLang="zh-CN" dirty="0"/>
              <a:t>第一个是</a:t>
            </a:r>
            <a:r>
              <a:rPr lang="zh-CN" altLang="zh-CN" b="1" dirty="0"/>
              <a:t>显存占用</a:t>
            </a:r>
            <a:r>
              <a:rPr lang="zh-CN" altLang="zh-CN" dirty="0"/>
              <a:t>。</a:t>
            </a:r>
          </a:p>
          <a:p>
            <a:r>
              <a:rPr lang="zh-CN" altLang="zh-CN" dirty="0"/>
              <a:t>Batch 增大以后，显存占用通常也会跟着增加。</a:t>
            </a:r>
          </a:p>
          <a:p>
            <a:r>
              <a:rPr lang="zh-CN" altLang="zh-CN" dirty="0"/>
              <a:t>如果显存已经非常接近设备上限，甚至直接出现 OOM，也就是显存不足，那么就说明当前 Batch 太大，需要适当减小。</a:t>
            </a:r>
          </a:p>
          <a:p>
            <a:r>
              <a:rPr lang="zh-CN" altLang="zh-CN" dirty="0"/>
              <a:t>第二个是 </a:t>
            </a:r>
            <a:r>
              <a:rPr lang="zh-CN" altLang="zh-CN" b="1" dirty="0"/>
              <a:t>GPU 利用率</a:t>
            </a:r>
            <a:r>
              <a:rPr lang="zh-CN" altLang="zh-CN" dirty="0"/>
              <a:t>。</a:t>
            </a:r>
          </a:p>
          <a:p>
            <a:r>
              <a:rPr lang="zh-CN" altLang="zh-CN" dirty="0"/>
              <a:t>它反映的是 GPU 的计算能力有没有被充分使用。</a:t>
            </a:r>
          </a:p>
          <a:p>
            <a:r>
              <a:rPr lang="zh-CN" altLang="zh-CN" dirty="0"/>
              <a:t>如果训练过程中 GPU 利用率长期比较低，同时还有很多空闲显存，那么我们可以尝试适当增大 Batch，让 GPU 一次处理更多数据。</a:t>
            </a:r>
          </a:p>
          <a:p>
            <a:r>
              <a:rPr lang="zh-CN" altLang="zh-CN" dirty="0"/>
              <a:t>第三个是</a:t>
            </a:r>
            <a:r>
              <a:rPr lang="zh-CN" altLang="zh-CN" b="1" dirty="0"/>
              <a:t>单轮训练时间</a:t>
            </a:r>
            <a:r>
              <a:rPr lang="zh-CN" altLang="zh-CN" dirty="0"/>
              <a:t>。</a:t>
            </a:r>
          </a:p>
          <a:p>
            <a:r>
              <a:rPr lang="zh-CN" altLang="zh-CN" dirty="0"/>
              <a:t>这一点也很重要。</a:t>
            </a:r>
          </a:p>
          <a:p>
            <a:r>
              <a:rPr lang="zh-CN" altLang="zh-CN" dirty="0"/>
              <a:t>因为 Batch 变大并不代表训练一定会按比例变快。</a:t>
            </a:r>
          </a:p>
          <a:p>
            <a:r>
              <a:rPr lang="zh-CN" altLang="zh-CN" dirty="0"/>
              <a:t>所以我们还要比较：增大 Batch 以后，每个 epoch 的实际训练时间有没有明显改善。</a:t>
            </a:r>
          </a:p>
          <a:p>
            <a:r>
              <a:rPr lang="zh-CN" altLang="zh-CN" dirty="0"/>
              <a:t>右边还放了 GPU 温度。</a:t>
            </a:r>
          </a:p>
          <a:p>
            <a:r>
              <a:rPr lang="zh-CN" altLang="zh-CN" dirty="0"/>
              <a:t>温度主要用来观察设备运行状态。如果负载升高以后温度保持稳定，可以继续观察；如果出现持续告警，就需要按照平台要求处理。</a:t>
            </a:r>
          </a:p>
          <a:p>
            <a:r>
              <a:rPr lang="zh-CN" altLang="zh-CN" dirty="0"/>
              <a:t>所以实际判断 Batch 的时候，我们可以做一个很简单的对照实验。</a:t>
            </a:r>
            <a:endParaRPr lang="en-US" altLang="zh-CN" dirty="0"/>
          </a:p>
          <a:p>
            <a:endParaRPr lang="zh-CN" altLang="zh-CN" dirty="0"/>
          </a:p>
          <a:p>
            <a:r>
              <a:rPr lang="zh-CN" altLang="zh-CN" dirty="0"/>
              <a:t>比如实验 A：</a:t>
            </a:r>
          </a:p>
          <a:p>
            <a:r>
              <a:rPr lang="zh-CN" altLang="zh-CN" sz="1200" kern="1200" dirty="0"/>
              <a:t>batch = 32</a:t>
            </a:r>
            <a:endParaRPr lang="zh-CN" altLang="zh-CN" dirty="0"/>
          </a:p>
          <a:p>
            <a:r>
              <a:rPr lang="zh-CN" altLang="zh-CN" dirty="0"/>
              <a:t>实验 B：</a:t>
            </a:r>
          </a:p>
          <a:p>
            <a:r>
              <a:rPr lang="zh-CN" altLang="zh-CN" sz="1200" kern="1200" dirty="0"/>
              <a:t>batch = 64</a:t>
            </a:r>
            <a:endParaRPr lang="zh-CN" altLang="zh-CN" dirty="0"/>
          </a:p>
          <a:p>
            <a:r>
              <a:rPr lang="zh-CN" altLang="zh-CN" dirty="0"/>
              <a:t>其他条件尽量保持不变，只修改 Batch Size。</a:t>
            </a:r>
          </a:p>
          <a:p>
            <a:r>
              <a:rPr lang="zh-CN" altLang="zh-CN" dirty="0"/>
              <a:t>然后比较显存、GPU 利用率、训练时间，同时也记录验证集的 PPL 和 Accuracy。</a:t>
            </a:r>
          </a:p>
          <a:p>
            <a:r>
              <a:rPr lang="zh-CN" altLang="zh-CN" dirty="0"/>
              <a:t>如果 Batch 从 32 增加到 64以后，显存占用明显增加，但是训练时间和验证指标都没有什么收益，那么就没有必要保留更大的 Batch。</a:t>
            </a:r>
          </a:p>
          <a:p>
            <a:r>
              <a:rPr lang="zh-CN" altLang="zh-CN" dirty="0"/>
              <a:t>所以这一页最核心的思路就是：</a:t>
            </a:r>
          </a:p>
          <a:p>
            <a:r>
              <a:rPr lang="zh-CN" altLang="zh-CN" b="1" dirty="0"/>
              <a:t>Batch 合不合适，要用实际的 GPU 数据和验证结果来判断。</a:t>
            </a:r>
            <a:endParaRPr lang="zh-CN" altLang="zh-CN" dirty="0"/>
          </a:p>
          <a:p>
            <a:endParaRPr lang="zh-CN" altLang="zh-CN"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前面我们讲了，如果 Batch 太大，GPU 显存可能放不下。</a:t>
            </a:r>
          </a:p>
          <a:p>
            <a:r>
              <a:rPr lang="zh-CN" altLang="zh-CN" dirty="0"/>
              <a:t>那这里就出现一个问题：</a:t>
            </a:r>
          </a:p>
          <a:p>
            <a:r>
              <a:rPr lang="zh-CN" altLang="zh-CN" dirty="0"/>
              <a:t>如果显存一次只能放 16 组句子，但是我们又希望模型参考更多数据以后，再进行一次参数更新，该怎么办？</a:t>
            </a:r>
          </a:p>
          <a:p>
            <a:r>
              <a:rPr lang="zh-CN" altLang="zh-CN" dirty="0"/>
              <a:t>这时候可以使用</a:t>
            </a:r>
            <a:r>
              <a:rPr lang="zh-CN" altLang="zh-CN" b="1" dirty="0"/>
              <a:t>梯度累积</a:t>
            </a:r>
            <a:r>
              <a:rPr lang="zh-CN" altLang="zh-CN" dirty="0"/>
              <a:t>。</a:t>
            </a:r>
          </a:p>
          <a:p>
            <a:r>
              <a:rPr lang="zh-CN" altLang="zh-CN" dirty="0"/>
              <a:t>大家可以把梯度累积简单理解成：</a:t>
            </a:r>
          </a:p>
          <a:p>
            <a:r>
              <a:rPr lang="zh-CN" altLang="zh-CN" b="1" dirty="0"/>
              <a:t>一次放不下，就分几次处理，最后统一更新一次模型。</a:t>
            </a:r>
            <a:endParaRPr lang="zh-CN" altLang="zh-CN" dirty="0"/>
          </a:p>
          <a:p>
            <a:r>
              <a:rPr lang="zh-CN" altLang="zh-CN" dirty="0"/>
              <a:t>比如这里，我们希望得到相当于 Batch 64 的效果。</a:t>
            </a:r>
          </a:p>
          <a:p>
            <a:r>
              <a:rPr lang="zh-CN" altLang="zh-CN" dirty="0"/>
              <a:t>但是 GPU 每次最多只能处理 16 组句子。</a:t>
            </a:r>
          </a:p>
          <a:p>
            <a:r>
              <a:rPr lang="zh-CN" altLang="zh-CN" dirty="0"/>
              <a:t>那就可以把这 64 组句子分成 4 次。</a:t>
            </a:r>
          </a:p>
          <a:p>
            <a:r>
              <a:rPr lang="zh-CN" altLang="zh-CN" dirty="0"/>
              <a:t>第一次处理 16 组，进行反向传播，把这一次得到的梯度先保留下来。</a:t>
            </a:r>
          </a:p>
          <a:p>
            <a:r>
              <a:rPr lang="zh-CN" altLang="zh-CN" dirty="0"/>
              <a:t>第二次再处理 16 组，这时候累计到 32 组。</a:t>
            </a:r>
          </a:p>
          <a:p>
            <a:r>
              <a:rPr lang="zh-CN" altLang="zh-CN" dirty="0"/>
              <a:t>第三次累计到 48 组。</a:t>
            </a:r>
          </a:p>
          <a:p>
            <a:r>
              <a:rPr lang="zh-CN" altLang="zh-CN" dirty="0"/>
              <a:t>第四次以后，一共就累计了 64 组句子的梯度。</a:t>
            </a:r>
          </a:p>
          <a:p>
            <a:r>
              <a:rPr lang="zh-CN" altLang="zh-CN" dirty="0"/>
              <a:t>这四次过程中，我们并不是每处理 16 组就马上更新模型。</a:t>
            </a:r>
          </a:p>
          <a:p>
            <a:r>
              <a:rPr lang="zh-CN" altLang="zh-CN" dirty="0"/>
              <a:t>而是先不断进行反向传播，把梯度累积起来。</a:t>
            </a:r>
          </a:p>
          <a:p>
            <a:r>
              <a:rPr lang="zh-CN" altLang="zh-CN" dirty="0"/>
              <a:t>等到第四次完成以后，再调用：</a:t>
            </a:r>
          </a:p>
          <a:p>
            <a:r>
              <a:rPr lang="zh-CN" altLang="zh-CN" sz="1200" kern="1200" dirty="0"/>
              <a:t>optimizer.step()</a:t>
            </a:r>
            <a:endParaRPr lang="zh-CN" altLang="zh-CN" dirty="0"/>
          </a:p>
          <a:p>
            <a:r>
              <a:rPr lang="zh-CN" altLang="zh-CN" dirty="0"/>
              <a:t>真正更新一次模型参数。</a:t>
            </a:r>
          </a:p>
          <a:p>
            <a:r>
              <a:rPr lang="zh-CN" altLang="zh-CN" dirty="0"/>
              <a:t>更新以后，再调用：</a:t>
            </a:r>
          </a:p>
          <a:p>
            <a:r>
              <a:rPr lang="zh-CN" altLang="zh-CN" sz="1200" kern="1200" dirty="0"/>
              <a:t>zero_grad()</a:t>
            </a:r>
            <a:endParaRPr lang="zh-CN" altLang="zh-CN" dirty="0"/>
          </a:p>
          <a:p>
            <a:r>
              <a:rPr lang="zh-CN" altLang="zh-CN" dirty="0"/>
              <a:t>把刚才累计的梯度清空，然后开始下一轮累积。</a:t>
            </a:r>
          </a:p>
          <a:p>
            <a:r>
              <a:rPr lang="zh-CN" altLang="zh-CN" dirty="0"/>
              <a:t>所以这里：</a:t>
            </a:r>
          </a:p>
          <a:p>
            <a:r>
              <a:rPr lang="zh-CN" altLang="zh-CN" b="1" dirty="0"/>
              <a:t>16 × 4 = 有效 Batch 64。</a:t>
            </a:r>
            <a:endParaRPr lang="zh-CN" altLang="zh-CN" dirty="0"/>
          </a:p>
          <a:p>
            <a:r>
              <a:rPr lang="zh-CN" altLang="zh-CN" dirty="0"/>
              <a:t>虽然 GPU 每一次实际只需要装下 16 组句子，但是一次参数更新综合了 4 个 micro-batch，也就是总共 64 组句子的信息。</a:t>
            </a:r>
          </a:p>
          <a:p>
            <a:r>
              <a:rPr lang="zh-CN" altLang="zh-CN" dirty="0"/>
              <a:t>这就是梯度累积最重要的作用：</a:t>
            </a:r>
          </a:p>
          <a:p>
            <a:r>
              <a:rPr lang="zh-CN" altLang="zh-CN" b="1" dirty="0"/>
              <a:t>在显存无法直接支持大 Batch 的情况下，通过多次小 Batch 的计算，得到更大的有效 Batch。</a:t>
            </a:r>
            <a:endParaRPr lang="zh-CN" altLang="zh-CN" dirty="0"/>
          </a:p>
          <a:p>
            <a:r>
              <a:rPr lang="zh-CN" altLang="zh-CN" dirty="0"/>
              <a:t>所以 Batch Size 解决的是“每次实际放多少数据进 GPU”，而梯度累积解决的是：</a:t>
            </a:r>
          </a:p>
          <a:p>
            <a:r>
              <a:rPr lang="zh-CN" altLang="zh-CN" b="1" dirty="0"/>
              <a:t>一次放不下的时候，能不能分几次算完以后再统一更新。</a:t>
            </a:r>
            <a:endParaRPr lang="zh-CN" altLang="zh-CN" dirty="0"/>
          </a:p>
          <a:p>
            <a:r>
              <a:rPr lang="zh-CN" altLang="zh-CN" dirty="0"/>
              <a:t>下一步，我们再来看另一个非常重要的训练参数——学习率，以及为什么 Transformer 训练中经常会使用 Warmup。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接下来我们来看另一个会直接影响训练稳定性的参数——</a:t>
            </a:r>
            <a:r>
              <a:rPr lang="zh-CN" altLang="zh-CN" b="1" dirty="0"/>
              <a:t>学习率</a:t>
            </a:r>
            <a:r>
              <a:rPr lang="zh-CN" altLang="zh-CN" dirty="0"/>
              <a:t>。</a:t>
            </a:r>
          </a:p>
          <a:p>
            <a:r>
              <a:rPr lang="zh-CN" altLang="zh-CN" dirty="0"/>
              <a:t>学习率可以简单理解成：</a:t>
            </a:r>
          </a:p>
          <a:p>
            <a:r>
              <a:rPr lang="zh-CN" altLang="zh-CN" b="1" dirty="0"/>
              <a:t>模型每次调整参数的时候，步子迈多大。</a:t>
            </a:r>
            <a:endParaRPr lang="zh-CN" altLang="zh-CN" dirty="0"/>
          </a:p>
          <a:p>
            <a:r>
              <a:rPr lang="zh-CN" altLang="zh-CN" dirty="0"/>
              <a:t>如果学习率太大，相当于每一步迈得太远，模型可能会在合适的位置附近来回跳，训练就容易不稳定。</a:t>
            </a:r>
          </a:p>
          <a:p>
            <a:r>
              <a:rPr lang="zh-CN" altLang="zh-CN" dirty="0"/>
              <a:t>如果学习率太小，又相当于每次只挪一点点，虽然比较稳，但是训练速度会很慢。</a:t>
            </a:r>
          </a:p>
          <a:p>
            <a:r>
              <a:rPr lang="zh-CN" altLang="zh-CN" dirty="0"/>
              <a:t>所以在 Transformer 训练里，我们通常不会让学习率从头到尾保持不变，而是让它随着训练过程发生变化。</a:t>
            </a:r>
            <a:endParaRPr lang="en-US" altLang="zh-CN" dirty="0"/>
          </a:p>
          <a:p>
            <a:endParaRPr lang="en-US" altLang="zh-CN" dirty="0"/>
          </a:p>
          <a:p>
            <a:endParaRPr lang="zh-CN" altLang="zh-CN" dirty="0"/>
          </a:p>
          <a:p>
            <a:r>
              <a:rPr lang="zh-CN" altLang="zh-CN" dirty="0"/>
              <a:t>大家看右边这条曲线。</a:t>
            </a:r>
          </a:p>
          <a:p>
            <a:r>
              <a:rPr lang="zh-CN" altLang="zh-CN" dirty="0"/>
              <a:t>训练刚开始的时候，模型还没有稳定下来，所以我们先使用比较小的学习率，让模型“小步试探”。</a:t>
            </a:r>
          </a:p>
          <a:p>
            <a:r>
              <a:rPr lang="zh-CN" altLang="zh-CN" dirty="0"/>
              <a:t>然后在前面一段训练过程中，学习率逐渐升高。</a:t>
            </a:r>
          </a:p>
          <a:p>
            <a:r>
              <a:rPr lang="zh-CN" altLang="zh-CN" dirty="0"/>
              <a:t>这一段就叫做 </a:t>
            </a:r>
            <a:r>
              <a:rPr lang="zh-CN" altLang="zh-CN" b="1" dirty="0"/>
              <a:t>Warmup</a:t>
            </a:r>
            <a:r>
              <a:rPr lang="zh-CN" altLang="zh-CN" dirty="0"/>
              <a:t>。</a:t>
            </a:r>
            <a:endParaRPr lang="en-US" altLang="zh-CN" dirty="0"/>
          </a:p>
          <a:p>
            <a:endParaRPr lang="en-US" altLang="zh-CN" dirty="0"/>
          </a:p>
          <a:p>
            <a:endParaRPr lang="zh-CN" altLang="zh-CN" dirty="0"/>
          </a:p>
          <a:p>
            <a:r>
              <a:rPr lang="zh-CN" altLang="zh-CN" dirty="0"/>
              <a:t>可以把它理解成模型刚开始训练时的一个适应过程。</a:t>
            </a:r>
          </a:p>
          <a:p>
            <a:r>
              <a:rPr lang="zh-CN" altLang="zh-CN" dirty="0"/>
              <a:t>当 Warmup 结束以后，学习率达到一个较高的位置。</a:t>
            </a:r>
          </a:p>
          <a:p>
            <a:r>
              <a:rPr lang="zh-CN" altLang="zh-CN" dirty="0"/>
              <a:t>之后随着训练继续进行，学习率再逐渐下降。</a:t>
            </a:r>
          </a:p>
          <a:p>
            <a:r>
              <a:rPr lang="zh-CN" altLang="zh-CN" dirty="0"/>
              <a:t>为什么后面还要降低？</a:t>
            </a:r>
          </a:p>
          <a:p>
            <a:r>
              <a:rPr lang="zh-CN" altLang="zh-CN" dirty="0"/>
              <a:t>因为模型训练到后期以后，已经逐渐接近比较好的参数区域。</a:t>
            </a:r>
          </a:p>
          <a:p>
            <a:r>
              <a:rPr lang="zh-CN" altLang="zh-CN" dirty="0"/>
              <a:t>这时候如果还一直迈很大的步子，就容易错过更好的位置。</a:t>
            </a:r>
          </a:p>
          <a:p>
            <a:r>
              <a:rPr lang="zh-CN" altLang="zh-CN" dirty="0"/>
              <a:t>所以后期把学习率减小，让模型进行更细致的调整。</a:t>
            </a:r>
            <a:endParaRPr lang="en-US" altLang="zh-CN" dirty="0"/>
          </a:p>
          <a:p>
            <a:endParaRPr lang="zh-CN" altLang="zh-CN" dirty="0"/>
          </a:p>
          <a:p>
            <a:r>
              <a:rPr lang="zh-CN" altLang="zh-CN" dirty="0"/>
              <a:t>我们这次实验里设置的是：</a:t>
            </a:r>
          </a:p>
          <a:p>
            <a:r>
              <a:rPr lang="zh-CN" altLang="zh-CN" sz="1200" kern="1200" dirty="0"/>
              <a:t>WARMUP_STEPS = 4000</a:t>
            </a:r>
            <a:endParaRPr lang="zh-CN" altLang="zh-CN" dirty="0"/>
          </a:p>
          <a:p>
            <a:r>
              <a:rPr lang="zh-CN" altLang="zh-CN" dirty="0"/>
              <a:t>也就是说，前 4000 个 step 属于 Warmup 阶段。</a:t>
            </a:r>
            <a:endParaRPr lang="en-US" altLang="zh-CN" dirty="0"/>
          </a:p>
          <a:p>
            <a:endParaRPr lang="zh-CN" altLang="zh-CN" dirty="0"/>
          </a:p>
          <a:p>
            <a:r>
              <a:rPr lang="zh-CN" altLang="zh-CN" dirty="0"/>
              <a:t>这样做的目的，是让训练前期更加稳定，同时让后期的参数调整更加细致。</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那接下来还有一个很自然的问题：</a:t>
            </a:r>
          </a:p>
          <a:p>
            <a:r>
              <a:rPr lang="zh-CN" altLang="zh-CN" b="1" dirty="0"/>
              <a:t>Warmup 是不是随便设一个长度就可以？</a:t>
            </a:r>
            <a:endParaRPr lang="zh-CN" altLang="zh-CN" dirty="0"/>
          </a:p>
          <a:p>
            <a:r>
              <a:rPr lang="zh-CN" altLang="zh-CN" dirty="0"/>
              <a:t>也不是。</a:t>
            </a:r>
            <a:endParaRPr lang="en-US" altLang="zh-CN" dirty="0"/>
          </a:p>
          <a:p>
            <a:endParaRPr lang="zh-CN" altLang="zh-CN" dirty="0"/>
          </a:p>
          <a:p>
            <a:r>
              <a:rPr lang="zh-CN" altLang="zh-CN" dirty="0"/>
              <a:t>我们可以把 Warmup 理解成模型训练前期的一个“适应过程”。</a:t>
            </a:r>
          </a:p>
          <a:p>
            <a:r>
              <a:rPr lang="zh-CN" altLang="zh-CN" dirty="0"/>
              <a:t>如果 </a:t>
            </a:r>
            <a:r>
              <a:rPr lang="zh-CN" altLang="zh-CN" b="1" dirty="0"/>
              <a:t>Warmup 太短</a:t>
            </a:r>
            <a:r>
              <a:rPr lang="zh-CN" altLang="zh-CN" dirty="0"/>
              <a:t>，学习率会在很短的时间内升得比较快。</a:t>
            </a:r>
          </a:p>
          <a:p>
            <a:r>
              <a:rPr lang="zh-CN" altLang="zh-CN" dirty="0"/>
              <a:t>模型还没有稳定下来，步子就已经变大了，这时候训练可能会出现比较明显的波动。</a:t>
            </a:r>
            <a:endParaRPr lang="en-US" altLang="zh-CN" dirty="0"/>
          </a:p>
          <a:p>
            <a:endParaRPr lang="zh-CN" altLang="zh-CN" dirty="0"/>
          </a:p>
          <a:p>
            <a:r>
              <a:rPr lang="zh-CN" altLang="zh-CN" dirty="0"/>
              <a:t>最直观的表现就是：</a:t>
            </a:r>
          </a:p>
          <a:p>
            <a:r>
              <a:rPr lang="zh-CN" altLang="zh-CN" b="1" dirty="0"/>
              <a:t>Loss 上下波动得比较厉害。</a:t>
            </a:r>
            <a:endParaRPr lang="en-US" altLang="zh-CN" b="1" dirty="0"/>
          </a:p>
          <a:p>
            <a:endParaRPr lang="zh-CN" altLang="zh-CN" dirty="0"/>
          </a:p>
          <a:p>
            <a:r>
              <a:rPr lang="zh-CN" altLang="zh-CN" dirty="0"/>
              <a:t>反过来，如果 </a:t>
            </a:r>
            <a:r>
              <a:rPr lang="zh-CN" altLang="zh-CN" b="1" dirty="0"/>
              <a:t>Warmup 太长</a:t>
            </a:r>
            <a:r>
              <a:rPr lang="zh-CN" altLang="zh-CN" dirty="0"/>
              <a:t>，模型会长时间处在比较小的学习率下。</a:t>
            </a:r>
          </a:p>
          <a:p>
            <a:r>
              <a:rPr lang="zh-CN" altLang="zh-CN" dirty="0"/>
              <a:t>这样训练虽然可能比较稳定，但是参数每次调整得太少，训练速度就会比较慢。</a:t>
            </a:r>
            <a:endParaRPr lang="en-US" altLang="zh-CN" dirty="0"/>
          </a:p>
          <a:p>
            <a:endParaRPr lang="zh-CN" altLang="zh-CN" dirty="0"/>
          </a:p>
          <a:p>
            <a:r>
              <a:rPr lang="zh-CN" altLang="zh-CN" dirty="0"/>
              <a:t>最直观的表现就是：</a:t>
            </a:r>
          </a:p>
          <a:p>
            <a:r>
              <a:rPr lang="zh-CN" altLang="zh-CN" b="1" dirty="0"/>
              <a:t>Loss 下降得比较慢。</a:t>
            </a:r>
            <a:endParaRPr lang="zh-CN" altLang="zh-CN" dirty="0"/>
          </a:p>
          <a:p>
            <a:r>
              <a:rPr lang="zh-CN" altLang="zh-CN" dirty="0"/>
              <a:t>所以我们这次实验使用：</a:t>
            </a:r>
          </a:p>
          <a:p>
            <a:r>
              <a:rPr lang="zh-CN" altLang="zh-CN" sz="1200" kern="1200" dirty="0"/>
              <a:t>WARMUP_STEPS = 4000</a:t>
            </a:r>
            <a:endParaRPr lang="en-US" altLang="zh-CN" sz="1200" kern="1200" dirty="0"/>
          </a:p>
          <a:p>
            <a:endParaRPr lang="zh-CN" altLang="zh-CN" dirty="0"/>
          </a:p>
          <a:p>
            <a:r>
              <a:rPr lang="zh-CN" altLang="zh-CN" dirty="0"/>
              <a:t>但是注意，4000 并不是所有任务都必须使用的固定答案。</a:t>
            </a:r>
          </a:p>
          <a:p>
            <a:r>
              <a:rPr lang="zh-CN" altLang="zh-CN" dirty="0"/>
              <a:t>判断 Warmup 合不合适，最终还是要观察实际训练结果。</a:t>
            </a:r>
            <a:endParaRPr lang="en-US" altLang="zh-CN" dirty="0"/>
          </a:p>
          <a:p>
            <a:endParaRPr lang="zh-CN" altLang="zh-CN" dirty="0"/>
          </a:p>
          <a:p>
            <a:r>
              <a:rPr lang="zh-CN" altLang="zh-CN" dirty="0"/>
              <a:t>如果训练前期 Loss 波动特别明显，可以考虑 Warmup 是否太短；</a:t>
            </a:r>
          </a:p>
          <a:p>
            <a:r>
              <a:rPr lang="zh-CN" altLang="zh-CN" dirty="0"/>
              <a:t>如果 Loss 长时间下降得非常慢，也可以检查 Warmup 是否设置得过长。</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这一页我们把刚才三个训练参数快速总结一下。</a:t>
            </a:r>
          </a:p>
          <a:p>
            <a:r>
              <a:rPr lang="zh-CN" altLang="zh-CN" dirty="0"/>
              <a:t>其实大家只需要记住三个问题。</a:t>
            </a:r>
          </a:p>
          <a:p>
            <a:r>
              <a:rPr lang="zh-CN" altLang="zh-CN" dirty="0"/>
              <a:t>第一个，</a:t>
            </a:r>
            <a:r>
              <a:rPr lang="zh-CN" altLang="zh-CN" b="1" dirty="0"/>
              <a:t>Batch 管“一次多少句”</a:t>
            </a:r>
            <a:r>
              <a:rPr lang="zh-CN" altLang="zh-CN" dirty="0"/>
              <a:t>。</a:t>
            </a:r>
          </a:p>
          <a:p>
            <a:r>
              <a:rPr lang="zh-CN" altLang="zh-CN" dirty="0"/>
              <a:t>比如 </a:t>
            </a:r>
            <a:r>
              <a:rPr lang="zh-CN" altLang="zh-CN" sz="1200" kern="1200" dirty="0"/>
              <a:t>BATCH_SIZE = 32</a:t>
            </a:r>
            <a:r>
              <a:rPr lang="zh-CN" altLang="zh-CN" dirty="0"/>
              <a:t>，就是模型一次同时处理 32 组句子。</a:t>
            </a:r>
          </a:p>
          <a:p>
            <a:r>
              <a:rPr lang="zh-CN" altLang="zh-CN" dirty="0"/>
              <a:t>第二个，</a:t>
            </a:r>
            <a:r>
              <a:rPr lang="zh-CN" altLang="zh-CN" b="1" dirty="0"/>
              <a:t>学习率管“每次改多少”</a:t>
            </a:r>
            <a:r>
              <a:rPr lang="zh-CN" altLang="zh-CN" dirty="0"/>
              <a:t>。</a:t>
            </a:r>
          </a:p>
          <a:p>
            <a:r>
              <a:rPr lang="zh-CN" altLang="zh-CN" dirty="0"/>
              <a:t>学习率小，模型每次参数调整得比较少，训练会更稳，但是可能比较慢；</a:t>
            </a:r>
          </a:p>
          <a:p>
            <a:r>
              <a:rPr lang="zh-CN" altLang="zh-CN" dirty="0"/>
              <a:t>学习率大，调整幅度更大，训练可能更快，但也更容易不稳定。</a:t>
            </a:r>
          </a:p>
          <a:p>
            <a:r>
              <a:rPr lang="zh-CN" altLang="zh-CN" dirty="0"/>
              <a:t>第三个，</a:t>
            </a:r>
            <a:r>
              <a:rPr lang="zh-CN" altLang="zh-CN" b="1" dirty="0"/>
              <a:t>Warmup 管“训练一开始怎么加速”</a:t>
            </a:r>
            <a:r>
              <a:rPr lang="zh-CN" altLang="zh-CN" dirty="0"/>
              <a:t>。</a:t>
            </a:r>
          </a:p>
          <a:p>
            <a:r>
              <a:rPr lang="zh-CN" altLang="zh-CN" dirty="0"/>
              <a:t>训练刚开始时先用比较小的学习率，然后逐渐升高，等模型适应以后再进入后面的衰减阶段。</a:t>
            </a:r>
            <a:endParaRPr lang="en-US" altLang="zh-CN" dirty="0"/>
          </a:p>
          <a:p>
            <a:endParaRPr lang="en-US" altLang="zh-CN" dirty="0"/>
          </a:p>
          <a:p>
            <a:endParaRPr lang="zh-CN" altLang="zh-CN" dirty="0"/>
          </a:p>
          <a:p>
            <a:r>
              <a:rPr lang="zh-CN" altLang="zh-CN" dirty="0"/>
              <a:t>如果训练过程中出现问题，我们也可以反过来从这三个方向判断：</a:t>
            </a:r>
          </a:p>
          <a:p>
            <a:r>
              <a:rPr lang="zh-CN" altLang="zh-CN" dirty="0"/>
              <a:t>显存不够，先看 Batch；</a:t>
            </a:r>
          </a:p>
          <a:p>
            <a:r>
              <a:rPr lang="zh-CN" altLang="zh-CN" dirty="0"/>
              <a:t>Loss 波动明显，检查学习率和 Warmup；</a:t>
            </a:r>
          </a:p>
          <a:p>
            <a:r>
              <a:rPr lang="zh-CN" altLang="zh-CN" dirty="0"/>
              <a:t>训练太慢，也要结合 Batch、GPU 利用率和学习率一起看。</a:t>
            </a:r>
          </a:p>
          <a:p>
            <a:endParaRPr lang="zh-CN" altLang="zh-CN" dirty="0"/>
          </a:p>
          <a:p>
            <a:r>
              <a:rPr lang="zh-CN" altLang="zh-CN" dirty="0"/>
              <a:t>接下来我们进入最后一部分，开始看训练结束以后怎么选择最佳权重，并进行实际翻译。</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前面我们在看 10 epoch 验证日志的时候，其实已经讲过模型选择的问题了，这里再快速提醒一下。 </a:t>
            </a:r>
          </a:p>
          <a:p>
            <a:r>
              <a:rPr lang="zh-CN" altLang="zh-CN" dirty="0"/>
              <a:t>训练结束以后，我们不一定直接使用最后一轮模型，而是看验证集表现。 </a:t>
            </a:r>
          </a:p>
          <a:p>
            <a:r>
              <a:rPr lang="zh-CN" altLang="zh-CN" dirty="0"/>
              <a:t>这个例子里，第 8 轮的验证 Loss 最低，所以即使第 10 轮是最后一轮，我们仍然选择第 8 轮，并把它保存成 </a:t>
            </a:r>
            <a:r>
              <a:rPr lang="zh-CN" altLang="zh-CN" sz="1200" kern="1200" dirty="0"/>
              <a:t>best_model.chkpt</a:t>
            </a:r>
            <a:r>
              <a:rPr lang="zh-CN" altLang="zh-CN" dirty="0"/>
              <a:t>。 </a:t>
            </a:r>
          </a:p>
          <a:p>
            <a:r>
              <a:rPr lang="zh-CN" altLang="zh-CN" dirty="0"/>
              <a:t>所以大家只需要记住一句话：</a:t>
            </a:r>
            <a:r>
              <a:rPr lang="zh-CN" altLang="zh-CN" b="1" dirty="0"/>
              <a:t>最佳模型不一定是最后一轮，而是验证集表现最好的一轮。</a:t>
            </a:r>
            <a:r>
              <a:rPr lang="zh-CN" altLang="zh-CN" dirty="0"/>
              <a:t> </a:t>
            </a:r>
          </a:p>
          <a:p>
            <a:r>
              <a:rPr lang="zh-CN" altLang="zh-CN" dirty="0"/>
              <a:t>选好 </a:t>
            </a:r>
            <a:r>
              <a:rPr lang="zh-CN" altLang="zh-CN" sz="1200" kern="1200" dirty="0"/>
              <a:t>best_model.chkpt</a:t>
            </a:r>
            <a:r>
              <a:rPr lang="zh-CN" altLang="zh-CN" dirty="0"/>
              <a:t> 以后，下一步我们就真正拿它来做翻译。</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645836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这里我们需要区分一下：</a:t>
            </a:r>
          </a:p>
          <a:p>
            <a:r>
              <a:rPr lang="zh-CN" altLang="zh-CN" b="1" dirty="0"/>
              <a:t>训练时和实际翻译时，Decoder 得到的信息是不一样的</a:t>
            </a:r>
            <a:endParaRPr lang="en-US" altLang="zh-CN" b="1" dirty="0"/>
          </a:p>
          <a:p>
            <a:endParaRPr lang="zh-CN" altLang="zh-CN" dirty="0"/>
          </a:p>
          <a:p>
            <a:r>
              <a:rPr lang="zh-CN" altLang="zh-CN" dirty="0"/>
              <a:t>训练的时候，我们有正确译文。</a:t>
            </a:r>
          </a:p>
          <a:p>
            <a:r>
              <a:rPr lang="zh-CN" altLang="zh-CN" dirty="0"/>
              <a:t>所以模型可以使用正确答案中已经出现的词，来学习预测下一个词。</a:t>
            </a:r>
          </a:p>
          <a:p>
            <a:r>
              <a:rPr lang="zh-CN" altLang="zh-CN" dirty="0"/>
              <a:t>比如：</a:t>
            </a:r>
          </a:p>
          <a:p>
            <a:r>
              <a:rPr lang="zh-CN" altLang="zh-CN" dirty="0"/>
              <a:t>输入 BOS，预测“我”；</a:t>
            </a:r>
          </a:p>
          <a:p>
            <a:r>
              <a:rPr lang="zh-CN" altLang="zh-CN" dirty="0"/>
              <a:t>输入 BOS 和“我”，预测“爱”；</a:t>
            </a:r>
          </a:p>
          <a:p>
            <a:r>
              <a:rPr lang="zh-CN" altLang="zh-CN" dirty="0"/>
              <a:t>再根据 BOS、“我”和“爱”，预测“猫”。</a:t>
            </a:r>
          </a:p>
          <a:p>
            <a:r>
              <a:rPr lang="zh-CN" altLang="zh-CN" dirty="0"/>
              <a:t>这其实就是前面讲过的目标右移。</a:t>
            </a:r>
            <a:endParaRPr lang="en-US" altLang="zh-CN" dirty="0"/>
          </a:p>
          <a:p>
            <a:endParaRPr lang="zh-CN" altLang="zh-CN" dirty="0"/>
          </a:p>
          <a:p>
            <a:r>
              <a:rPr lang="zh-CN" altLang="zh-CN" dirty="0"/>
              <a:t>但是到了真正翻译的时候，情况就不一样了。</a:t>
            </a:r>
          </a:p>
          <a:p>
            <a:r>
              <a:rPr lang="zh-CN" altLang="zh-CN" dirty="0"/>
              <a:t>因为这个时候模型根本不知道正确译文是什么。</a:t>
            </a:r>
          </a:p>
          <a:p>
            <a:r>
              <a:rPr lang="zh-CN" altLang="zh-CN" dirty="0"/>
              <a:t>所以它只能从一个 BOS 开始，然后使用</a:t>
            </a:r>
            <a:r>
              <a:rPr lang="zh-CN" altLang="zh-CN" b="1" dirty="0"/>
              <a:t>自己刚刚生成出来的结果</a:t>
            </a:r>
            <a:r>
              <a:rPr lang="zh-CN" altLang="zh-CN" dirty="0"/>
              <a:t>继续往后预测。</a:t>
            </a:r>
          </a:p>
          <a:p>
            <a:r>
              <a:rPr lang="zh-CN" altLang="zh-CN" dirty="0"/>
              <a:t>比如第一步只有 BOS。</a:t>
            </a:r>
          </a:p>
          <a:p>
            <a:r>
              <a:rPr lang="zh-CN" altLang="zh-CN" dirty="0"/>
              <a:t>模型预测出“我”。</a:t>
            </a:r>
          </a:p>
          <a:p>
            <a:r>
              <a:rPr lang="zh-CN" altLang="zh-CN" dirty="0"/>
              <a:t>那么第二步就把：</a:t>
            </a:r>
          </a:p>
          <a:p>
            <a:r>
              <a:rPr lang="zh-CN" altLang="zh-CN" dirty="0"/>
              <a:t>BOS、“我”</a:t>
            </a:r>
          </a:p>
          <a:p>
            <a:r>
              <a:rPr lang="zh-CN" altLang="zh-CN" dirty="0"/>
              <a:t>重新作为输入，再预测出“爱”。</a:t>
            </a:r>
          </a:p>
          <a:p>
            <a:r>
              <a:rPr lang="zh-CN" altLang="zh-CN" dirty="0"/>
              <a:t>接下来再把：</a:t>
            </a:r>
          </a:p>
          <a:p>
            <a:r>
              <a:rPr lang="zh-CN" altLang="zh-CN" dirty="0"/>
              <a:t>BOS、“我”、“爱”</a:t>
            </a:r>
          </a:p>
          <a:p>
            <a:r>
              <a:rPr lang="zh-CN" altLang="zh-CN" dirty="0"/>
              <a:t>送进去，继续预测“猫”。</a:t>
            </a:r>
          </a:p>
          <a:p>
            <a:r>
              <a:rPr lang="zh-CN" altLang="zh-CN" dirty="0"/>
              <a:t>这样一个词一个词往后生成。</a:t>
            </a:r>
            <a:endParaRPr lang="en-US" altLang="zh-CN" dirty="0"/>
          </a:p>
          <a:p>
            <a:endParaRPr lang="zh-CN" altLang="zh-CN" dirty="0"/>
          </a:p>
          <a:p>
            <a:r>
              <a:rPr lang="zh-CN" altLang="zh-CN" dirty="0"/>
              <a:t>直到模型预测出 EOS，表示整句话结束。</a:t>
            </a:r>
          </a:p>
          <a:p>
            <a:r>
              <a:rPr lang="zh-CN" altLang="zh-CN" dirty="0"/>
              <a:t>所以实际翻译可以简单理解成：</a:t>
            </a:r>
          </a:p>
          <a:p>
            <a:r>
              <a:rPr lang="zh-CN" altLang="zh-CN" b="1" dirty="0"/>
              <a:t>从 BOS 出发，每次生成一个词，再把自己生成的词作为下一步输入，直到遇到 EOS。</a:t>
            </a:r>
            <a:endParaRPr lang="en-US" altLang="zh-CN" b="1" dirty="0"/>
          </a:p>
          <a:p>
            <a:endParaRPr lang="zh-CN" altLang="zh-CN" dirty="0"/>
          </a:p>
          <a:p>
            <a:r>
              <a:rPr lang="zh-CN" altLang="zh-CN" dirty="0"/>
              <a:t>右边就是我们实际运行翻译时使用的命令。</a:t>
            </a:r>
          </a:p>
          <a:p>
            <a:r>
              <a:rPr lang="zh-CN" altLang="zh-CN" dirty="0"/>
              <a:t>重点看几个参数。</a:t>
            </a:r>
          </a:p>
          <a:p>
            <a:r>
              <a:rPr lang="zh-CN" altLang="zh-CN" sz="1200" kern="1200" dirty="0"/>
              <a:t>-model</a:t>
            </a:r>
            <a:endParaRPr lang="zh-CN" altLang="zh-CN" dirty="0"/>
          </a:p>
          <a:p>
            <a:r>
              <a:rPr lang="zh-CN" altLang="zh-CN" dirty="0"/>
              <a:t>指定我们刚才选择的 </a:t>
            </a:r>
            <a:r>
              <a:rPr lang="zh-CN" altLang="zh-CN" sz="1200" kern="1200" dirty="0"/>
              <a:t>best_model.chkpt</a:t>
            </a:r>
            <a:r>
              <a:rPr lang="zh-CN" altLang="zh-CN" dirty="0"/>
              <a:t>。</a:t>
            </a:r>
            <a:endParaRPr lang="en-US" altLang="zh-CN" dirty="0"/>
          </a:p>
          <a:p>
            <a:endParaRPr lang="zh-CN" altLang="zh-CN" dirty="0"/>
          </a:p>
          <a:p>
            <a:r>
              <a:rPr lang="zh-CN" altLang="zh-CN" sz="1200" kern="1200" dirty="0"/>
              <a:t>-data_pkl</a:t>
            </a:r>
            <a:endParaRPr lang="zh-CN" altLang="zh-CN" dirty="0"/>
          </a:p>
          <a:p>
            <a:r>
              <a:rPr lang="zh-CN" altLang="zh-CN" dirty="0"/>
              <a:t>指定和模型配套的数据以及词表。</a:t>
            </a:r>
          </a:p>
          <a:p>
            <a:r>
              <a:rPr lang="zh-CN" altLang="zh-CN" sz="1200" kern="1200" dirty="0"/>
              <a:t>-codes</a:t>
            </a:r>
            <a:endParaRPr lang="zh-CN" altLang="zh-CN" dirty="0"/>
          </a:p>
          <a:p>
            <a:r>
              <a:rPr lang="zh-CN" altLang="zh-CN" dirty="0"/>
              <a:t>指定训练时使用的 BPE 规则。</a:t>
            </a:r>
          </a:p>
          <a:p>
            <a:r>
              <a:rPr lang="zh-CN" altLang="zh-CN" dirty="0"/>
              <a:t>最后的：</a:t>
            </a:r>
          </a:p>
          <a:p>
            <a:r>
              <a:rPr lang="zh-CN" altLang="zh-CN" sz="1200" kern="1200" dirty="0"/>
              <a:t>-src</a:t>
            </a:r>
            <a:endParaRPr lang="zh-CN" altLang="zh-CN" dirty="0"/>
          </a:p>
          <a:p>
            <a:r>
              <a:rPr lang="zh-CN" altLang="zh-CN" dirty="0"/>
              <a:t>就是我们真正想翻译的英文句子。</a:t>
            </a:r>
          </a:p>
          <a:p>
            <a:r>
              <a:rPr lang="zh-CN" altLang="zh-CN" dirty="0"/>
              <a:t>比如这里输入：</a:t>
            </a:r>
          </a:p>
          <a:p>
            <a:r>
              <a:rPr lang="zh-CN" altLang="zh-CN" dirty="0"/>
              <a:t>“Thank you for your help.”</a:t>
            </a:r>
          </a:p>
          <a:p>
            <a:r>
              <a:rPr lang="zh-CN" altLang="zh-CN" dirty="0"/>
              <a:t>模型就会按照刚才讲的方式，从 BOS 开始逐词生成中文。</a:t>
            </a:r>
          </a:p>
          <a:p>
            <a:r>
              <a:rPr lang="zh-CN" altLang="zh-CN" dirty="0"/>
              <a:t>所以这里又回到了这一课最开始强调的一点：</a:t>
            </a:r>
            <a:endParaRPr lang="en-US" altLang="zh-CN" dirty="0"/>
          </a:p>
          <a:p>
            <a:endParaRPr lang="zh-CN" altLang="zh-CN" dirty="0"/>
          </a:p>
          <a:p>
            <a:r>
              <a:rPr lang="zh-CN" altLang="zh-CN" b="1" dirty="0"/>
              <a:t>做实际翻译时，checkpoint、词表和 BPE 仍然必须使用配套的那一套文件。</a:t>
            </a:r>
            <a:endParaRPr lang="zh-CN" altLang="zh-CN" dirty="0"/>
          </a:p>
          <a:p>
            <a:r>
              <a:rPr lang="zh-CN" altLang="zh-CN" dirty="0"/>
              <a:t>下一步，我们就不再只看 Loss、PPL 和 Accuracy，而是真正看看模型翻译出来的句子质量怎么样。</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03799599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altLang="zh-CN" dirty="0"/>
              <a:t>这一页我们简单看一下实际翻译结果。</a:t>
            </a:r>
          </a:p>
          <a:p>
            <a:r>
              <a:rPr lang="zh-CN" altLang="zh-CN" dirty="0"/>
              <a:t>前面我们已经看到，10 epoch 训练以后，PPL 在下降，Accuracy 在上升，说明模型整体的预测能力是在改善的。</a:t>
            </a:r>
          </a:p>
          <a:p>
            <a:r>
              <a:rPr lang="zh-CN" altLang="zh-CN" dirty="0"/>
              <a:t>但是实际翻译的时候，还是可能出现一些问题。</a:t>
            </a:r>
          </a:p>
          <a:p>
            <a:r>
              <a:rPr lang="zh-CN" altLang="zh-CN" dirty="0"/>
              <a:t>比如 </a:t>
            </a:r>
            <a:r>
              <a:rPr lang="zh-CN" altLang="zh-CN" sz="1200" kern="1200" dirty="0"/>
              <a:t>I'm too busy.</a:t>
            </a:r>
            <a:r>
              <a:rPr lang="zh-CN" altLang="zh-CN" dirty="0"/>
              <a:t> 可以比较完整地翻成“我很忙”；</a:t>
            </a:r>
          </a:p>
          <a:p>
            <a:r>
              <a:rPr lang="zh-CN" altLang="zh-CN" dirty="0"/>
              <a:t>但 </a:t>
            </a:r>
            <a:r>
              <a:rPr lang="zh-CN" altLang="zh-CN" sz="1200" kern="1200" dirty="0"/>
              <a:t>hello</a:t>
            </a:r>
            <a:r>
              <a:rPr lang="zh-CN" altLang="zh-CN" dirty="0"/>
              <a:t> 可能出现重复；</a:t>
            </a:r>
          </a:p>
          <a:p>
            <a:r>
              <a:rPr lang="zh-CN" altLang="zh-CN" sz="1200" kern="1200" dirty="0"/>
              <a:t>three books</a:t>
            </a:r>
            <a:r>
              <a:rPr lang="zh-CN" altLang="zh-CN" dirty="0"/>
              <a:t> 也可能把数字翻错。</a:t>
            </a:r>
          </a:p>
          <a:p>
            <a:r>
              <a:rPr lang="zh-CN" altLang="zh-CN" dirty="0"/>
              <a:t>所以最终检查译文的时候，主要看几个问题：</a:t>
            </a:r>
          </a:p>
          <a:p>
            <a:r>
              <a:rPr lang="zh-CN" altLang="zh-CN" b="1" dirty="0"/>
              <a:t>核心意思、数字、否定、重复，以及有没有漏译或者过早结束。</a:t>
            </a:r>
            <a:endParaRPr lang="zh-CN" altLang="zh-CN" dirty="0"/>
          </a:p>
          <a:p>
            <a:r>
              <a:rPr lang="zh-CN" altLang="zh-CN" dirty="0"/>
              <a:t>所以大家记住：</a:t>
            </a:r>
          </a:p>
          <a:p>
            <a:r>
              <a:rPr lang="zh-CN" altLang="zh-CN" b="1" dirty="0"/>
              <a:t>PPL 和 Accuracy 反映整体趋势，但不能保证每一句都翻译正确。</a:t>
            </a:r>
            <a:endParaRPr lang="zh-CN" altLang="zh-CN" dirty="0"/>
          </a:p>
          <a:p>
            <a:r>
              <a:rPr lang="zh-CN" altLang="zh-CN" dirty="0"/>
              <a:t>因此最后验收的时候，指标和实际译文要一起看。</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最后我们把今天这节课快速回顾一下。</a:t>
            </a:r>
          </a:p>
          <a:p>
            <a:r>
              <a:rPr lang="zh-CN" altLang="zh-CN" dirty="0"/>
              <a:t>整节课其实就是从第二课的训练产物出发，一步一步把模型变成真正可以使用的翻译模型。</a:t>
            </a:r>
            <a:endParaRPr lang="en-US" altLang="zh-CN" dirty="0"/>
          </a:p>
          <a:p>
            <a:endParaRPr lang="zh-CN" altLang="zh-CN" dirty="0"/>
          </a:p>
          <a:p>
            <a:r>
              <a:rPr lang="zh-CN" altLang="zh-CN" dirty="0"/>
              <a:t>第一步是</a:t>
            </a:r>
            <a:r>
              <a:rPr lang="zh-CN" altLang="zh-CN" b="1" dirty="0"/>
              <a:t>加载模型</a:t>
            </a:r>
            <a:r>
              <a:rPr lang="zh-CN" altLang="zh-CN" dirty="0"/>
              <a:t>。</a:t>
            </a:r>
          </a:p>
          <a:p>
            <a:r>
              <a:rPr lang="zh-CN" altLang="zh-CN" dirty="0"/>
              <a:t>我们读取 checkpoint，根据 settings 恢复相同的模型结构，再加载训练好的权重，并切换到 eval 模式。</a:t>
            </a:r>
            <a:endParaRPr lang="en-US" altLang="zh-CN" dirty="0"/>
          </a:p>
          <a:p>
            <a:endParaRPr lang="zh-CN" altLang="zh-CN" dirty="0"/>
          </a:p>
          <a:p>
            <a:r>
              <a:rPr lang="zh-CN" altLang="zh-CN" dirty="0"/>
              <a:t>第二步是</a:t>
            </a:r>
            <a:r>
              <a:rPr lang="zh-CN" altLang="zh-CN" b="1" dirty="0"/>
              <a:t>数值验证</a:t>
            </a:r>
            <a:r>
              <a:rPr lang="zh-CN" altLang="zh-CN" dirty="0"/>
              <a:t>。</a:t>
            </a:r>
          </a:p>
          <a:p>
            <a:r>
              <a:rPr lang="zh-CN" altLang="zh-CN" dirty="0"/>
              <a:t>这里主要检查 Attention 的 shape、每行权重之和，以及 PAD 和未来位置有没有被正确 Mask。</a:t>
            </a:r>
            <a:endParaRPr lang="en-US" altLang="zh-CN" dirty="0"/>
          </a:p>
          <a:p>
            <a:endParaRPr lang="zh-CN" altLang="zh-CN" dirty="0"/>
          </a:p>
          <a:p>
            <a:r>
              <a:rPr lang="zh-CN" altLang="zh-CN" dirty="0"/>
              <a:t>第三步是</a:t>
            </a:r>
            <a:r>
              <a:rPr lang="zh-CN" altLang="zh-CN" b="1" dirty="0"/>
              <a:t>训练优化和收敛检查</a:t>
            </a:r>
            <a:r>
              <a:rPr lang="zh-CN" altLang="zh-CN" dirty="0"/>
              <a:t>。</a:t>
            </a:r>
          </a:p>
          <a:p>
            <a:r>
              <a:rPr lang="zh-CN" altLang="zh-CN" dirty="0"/>
              <a:t>我们确认了 Decoder 的目标右移，Loss 和 Accuracy 要忽略 PAD，同时通过 PPL 和 Accuracy 的连续变化判断模型是否正常收敛。</a:t>
            </a:r>
          </a:p>
          <a:p>
            <a:r>
              <a:rPr lang="zh-CN" altLang="zh-CN" dirty="0"/>
              <a:t>另外也介绍了 Batch、梯度累积和 Warmup 这些训练技巧。</a:t>
            </a:r>
            <a:endParaRPr lang="en-US" altLang="zh-CN" dirty="0"/>
          </a:p>
          <a:p>
            <a:endParaRPr lang="zh-CN" altLang="zh-CN" dirty="0"/>
          </a:p>
          <a:p>
            <a:r>
              <a:rPr lang="zh-CN" altLang="zh-CN" dirty="0"/>
              <a:t>最后一步是</a:t>
            </a:r>
            <a:r>
              <a:rPr lang="zh-CN" altLang="zh-CN" b="1" dirty="0"/>
              <a:t>验证与翻译</a:t>
            </a:r>
            <a:r>
              <a:rPr lang="zh-CN" altLang="zh-CN" dirty="0"/>
              <a:t>。</a:t>
            </a:r>
          </a:p>
          <a:p>
            <a:r>
              <a:rPr lang="zh-CN" altLang="zh-CN" dirty="0"/>
              <a:t>我们选择 best model，从 BOS 开始逐词生成译文，并且把数值指标和实际翻译结果一起检查。</a:t>
            </a:r>
            <a:endParaRPr lang="en-US" altLang="zh-CN" dirty="0"/>
          </a:p>
          <a:p>
            <a:endParaRPr lang="zh-CN" altLang="zh-CN" dirty="0"/>
          </a:p>
          <a:p>
            <a:r>
              <a:rPr lang="zh-CN" altLang="zh-CN" dirty="0"/>
              <a:t>所以今天整节课可以用一句话总结：</a:t>
            </a:r>
          </a:p>
          <a:p>
            <a:r>
              <a:rPr lang="zh-CN" altLang="zh-CN" b="1" dirty="0"/>
              <a:t>加载正确 → 计算正确 → 训练有效 → 翻译可用。</a:t>
            </a:r>
            <a:endParaRPr lang="zh-CN" altLang="zh-CN" dirty="0"/>
          </a:p>
          <a:p>
            <a:r>
              <a:rPr lang="zh-CN" altLang="zh-CN" dirty="0"/>
              <a:t>这就是我们从训练产物走到可用翻译模型的完整流程。</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395857101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zh-CN" dirty="0"/>
              <a:t>最后我们来看一下这节课的任务验收。</a:t>
            </a:r>
          </a:p>
          <a:p>
            <a:r>
              <a:rPr lang="zh-CN" altLang="zh-CN" dirty="0"/>
              <a:t>今天一共需要完成四项任务。</a:t>
            </a:r>
          </a:p>
          <a:p>
            <a:r>
              <a:rPr lang="zh-CN" altLang="zh-CN" dirty="0"/>
              <a:t>第一，</a:t>
            </a:r>
            <a:r>
              <a:rPr lang="zh-CN" altLang="zh-CN" b="1" dirty="0"/>
              <a:t>加载模型权重</a:t>
            </a:r>
            <a:r>
              <a:rPr lang="zh-CN" altLang="zh-CN" dirty="0"/>
              <a:t>。</a:t>
            </a:r>
          </a:p>
          <a:p>
            <a:r>
              <a:rPr lang="zh-CN" altLang="zh-CN" dirty="0"/>
              <a:t>需要能够使用 </a:t>
            </a:r>
            <a:r>
              <a:rPr lang="zh-CN" altLang="zh-CN" sz="1200" kern="1200" dirty="0"/>
              <a:t>best_model.chkpt</a:t>
            </a:r>
            <a:r>
              <a:rPr lang="zh-CN" altLang="zh-CN" dirty="0"/>
              <a:t>，按照 settings 恢复模型结构，并确认词表和 BPE 配套。</a:t>
            </a:r>
          </a:p>
          <a:p>
            <a:r>
              <a:rPr lang="zh-CN" altLang="zh-CN" dirty="0"/>
              <a:t>第二，</a:t>
            </a:r>
            <a:r>
              <a:rPr lang="zh-CN" altLang="zh-CN" b="1" dirty="0"/>
              <a:t>验证 Attention 和 Mask</a:t>
            </a:r>
            <a:r>
              <a:rPr lang="zh-CN" altLang="zh-CN" dirty="0"/>
              <a:t>。</a:t>
            </a:r>
          </a:p>
          <a:p>
            <a:r>
              <a:rPr lang="zh-CN" altLang="zh-CN" dirty="0"/>
              <a:t>需要能够输出 Attention 的 shape，检查每行权重之和接近 1，同时确认 PAD 和未来位置的权重接近 0，并且没有 NaN 或 Inf。</a:t>
            </a:r>
          </a:p>
          <a:p>
            <a:r>
              <a:rPr lang="zh-CN" altLang="zh-CN" dirty="0"/>
              <a:t>第三，</a:t>
            </a:r>
            <a:r>
              <a:rPr lang="zh-CN" altLang="zh-CN" b="1" dirty="0"/>
              <a:t>检查 Loss 和收敛</a:t>
            </a:r>
            <a:r>
              <a:rPr lang="zh-CN" altLang="zh-CN" dirty="0"/>
              <a:t>。</a:t>
            </a:r>
          </a:p>
          <a:p>
            <a:r>
              <a:rPr lang="zh-CN" altLang="zh-CN" dirty="0"/>
              <a:t>需要确认 Decoder 输入和正确答案错开一位，Loss 和 Accuracy 忽略 PAD，同时记录多轮验证结果，观察 PPL 和 Accuracy 的变化趋势。</a:t>
            </a:r>
          </a:p>
          <a:p>
            <a:r>
              <a:rPr lang="zh-CN" altLang="zh-CN" dirty="0"/>
              <a:t>第四，</a:t>
            </a:r>
            <a:r>
              <a:rPr lang="zh-CN" altLang="zh-CN" b="1" dirty="0"/>
              <a:t>完成 10 句翻译</a:t>
            </a:r>
            <a:r>
              <a:rPr lang="zh-CN" altLang="zh-CN" dirty="0"/>
              <a:t>。</a:t>
            </a:r>
          </a:p>
          <a:p>
            <a:r>
              <a:rPr lang="zh-CN" altLang="zh-CN" dirty="0"/>
              <a:t>使用最终选择的模型翻译 10 个固定句子，并保存英文输入和中文输出，同时检查核心意思、数字、否定、重复和漏译等问题。</a:t>
            </a:r>
          </a:p>
          <a:p>
            <a:r>
              <a:rPr lang="zh-CN" altLang="zh-CN" dirty="0"/>
              <a:t>最后提交的时候，大家按照下面这五类材料整理：</a:t>
            </a:r>
          </a:p>
          <a:p>
            <a:r>
              <a:rPr lang="zh-CN" altLang="zh-CN" dirty="0"/>
              <a:t>模型信息、数值验证结果、训练结果、10句译文，以及错误分析。</a:t>
            </a:r>
          </a:p>
          <a:p>
            <a:r>
              <a:rPr lang="zh-CN" altLang="zh-CN" dirty="0"/>
              <a:t>这五项材料整理完整，就可以完成本课的最终验收。</a:t>
            </a:r>
          </a:p>
          <a:p>
            <a:endParaRPr kumimoji="1" lang="zh-CN" altLang="en-US" dirty="0"/>
          </a:p>
        </p:txBody>
      </p:sp>
      <p:sp>
        <p:nvSpPr>
          <p:cNvPr id="4" name="灯片编号占位符 3"/>
          <p:cNvSpPr>
            <a:spLocks noGrp="1"/>
          </p:cNvSpPr>
          <p:nvPr>
            <p:ph type="sldNum" sz="quarter" idx="5"/>
          </p:nvPr>
        </p:nvSpPr>
        <p:spPr/>
        <p:txBody>
          <a:bodyPr/>
          <a:lstStyle/>
          <a:p>
            <a:endParaRPr lang="zh-CN" altLang="en-US"/>
          </a:p>
        </p:txBody>
      </p:sp>
    </p:spTree>
    <p:extLst>
      <p:ext uri="{BB962C8B-B14F-4D97-AF65-F5344CB8AC3E}">
        <p14:creationId xmlns:p14="http://schemas.microsoft.com/office/powerpoint/2010/main" val="16276511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14" name="图片 4"/>
          <p:cNvPicPr>
            <a:picLocks noChangeAspect="1"/>
          </p:cNvPicPr>
          <p:nvPr/>
        </p:nvPicPr>
        <p:blipFill>
          <a:blip r:embed="rId2"/>
          <a:stretch>
            <a:fillRect/>
          </a:stretch>
        </p:blipFill>
        <p:spPr>
          <a:xfrm>
            <a:off x="0" y="0"/>
            <a:ext cx="12192000" cy="6858000"/>
          </a:xfrm>
          <a:prstGeom prst="rect">
            <a:avLst/>
          </a:prstGeom>
        </p:spPr>
      </p:pic>
      <p:sp>
        <p:nvSpPr>
          <p:cNvPr id="8" name="标题 1">
            <a:extLst>
              <a:ext uri="{FF2B5EF4-FFF2-40B4-BE49-F238E27FC236}">
                <a16:creationId xmlns:a16="http://schemas.microsoft.com/office/drawing/2014/main" id="{60E03BF2-4477-47E2-95ED-8B961B98C17D}"/>
              </a:ext>
            </a:extLst>
          </p:cNvPr>
          <p:cNvSpPr>
            <a:spLocks noGrp="1"/>
          </p:cNvSpPr>
          <p:nvPr>
            <p:ph type="ctrTitle"/>
          </p:nvPr>
        </p:nvSpPr>
        <p:spPr>
          <a:xfrm>
            <a:off x="743985" y="2437178"/>
            <a:ext cx="9144000" cy="1369968"/>
          </a:xfrm>
        </p:spPr>
        <p:txBody>
          <a:bodyPr anchor="b">
            <a:normAutofit/>
          </a:bodyPr>
          <a:lstStyle>
            <a:lvl1pPr algn="l">
              <a:lnSpc>
                <a:spcPct val="100000"/>
              </a:lnSpc>
              <a:buNone/>
              <a:defRPr sz="4400" b="1" i="0" baseline="0">
                <a:solidFill>
                  <a:schemeClr val="bg1"/>
                </a:solidFill>
                <a:latin typeface="Arial"/>
                <a:ea typeface="Arial"/>
                <a:cs typeface="Arial"/>
              </a:defRPr>
            </a:lvl1pPr>
          </a:lstStyle>
          <a:p>
            <a:endParaRPr/>
          </a:p>
        </p:txBody>
      </p:sp>
      <p:sp>
        <p:nvSpPr>
          <p:cNvPr id="10" name="副标题 2">
            <a:extLst>
              <a:ext uri="{FF2B5EF4-FFF2-40B4-BE49-F238E27FC236}">
                <a16:creationId xmlns:a16="http://schemas.microsoft.com/office/drawing/2014/main" id="{B96C17DC-857C-4B89-92D0-66E0436B433C}"/>
              </a:ext>
            </a:extLst>
          </p:cNvPr>
          <p:cNvSpPr>
            <a:spLocks noGrp="1"/>
          </p:cNvSpPr>
          <p:nvPr>
            <p:ph type="subTitle" idx="1"/>
          </p:nvPr>
        </p:nvSpPr>
        <p:spPr>
          <a:xfrm>
            <a:off x="743985" y="4174810"/>
            <a:ext cx="9144000" cy="424021"/>
          </a:xfrm>
        </p:spPr>
        <p:txBody>
          <a:bodyPr>
            <a:normAutofit/>
          </a:bodyPr>
          <a:lstStyle>
            <a:lvl1pPr marL="0" indent="0" algn="l">
              <a:buNone/>
              <a:defRPr sz="1600" b="0" i="0" baseline="0">
                <a:solidFill>
                  <a:schemeClr val="bg1"/>
                </a:solidFill>
                <a:latin typeface="Arial"/>
                <a:ea typeface="Arial"/>
                <a:cs typeface="Aria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a:p>
        </p:txBody>
      </p:sp>
      <p:sp>
        <p:nvSpPr>
          <p:cNvPr id="11" name="矩形 10">
            <a:extLst>
              <a:ext uri="{FF2B5EF4-FFF2-40B4-BE49-F238E27FC236}">
                <a16:creationId xmlns:a16="http://schemas.microsoft.com/office/drawing/2014/main" id="{9E52D9D1-51BF-4B1C-A632-6874949538DB}"/>
              </a:ext>
            </a:extLst>
          </p:cNvPr>
          <p:cNvSpPr>
            <a:spLocks noGrp="1"/>
          </p:cNvSpPr>
          <p:nvPr/>
        </p:nvSpPr>
        <p:spPr>
          <a:xfrm>
            <a:off x="853207" y="3849897"/>
            <a:ext cx="2080493" cy="10455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p>
        </p:txBody>
      </p:sp>
      <p:pic>
        <p:nvPicPr>
          <p:cNvPr id="18" name="图片 11"/>
          <p:cNvPicPr>
            <a:picLocks noChangeAspect="1"/>
          </p:cNvPicPr>
          <p:nvPr/>
        </p:nvPicPr>
        <p:blipFill>
          <a:blip r:embed="rId3"/>
          <a:stretch>
            <a:fillRect/>
          </a:stretch>
        </p:blipFill>
        <p:spPr>
          <a:xfrm>
            <a:off x="865907" y="412582"/>
            <a:ext cx="1492015" cy="36191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pic>
        <p:nvPicPr>
          <p:cNvPr id="11" name="图片 6"/>
          <p:cNvPicPr>
            <a:picLocks noChangeAspect="1"/>
          </p:cNvPicPr>
          <p:nvPr/>
        </p:nvPicPr>
        <p:blipFill>
          <a:blip r:embed="rId2"/>
          <a:stretch>
            <a:fillRect/>
          </a:stretch>
        </p:blipFill>
        <p:spPr>
          <a:xfrm>
            <a:off x="-1235002" y="-1412301"/>
            <a:ext cx="12969802" cy="9727351"/>
          </a:xfrm>
          <a:prstGeom prst="rect">
            <a:avLst/>
          </a:prstGeom>
        </p:spPr>
      </p:pic>
      <p:sp>
        <p:nvSpPr>
          <p:cNvPr id="2" name="标题 1">
            <a:extLst>
              <a:ext uri="{FF2B5EF4-FFF2-40B4-BE49-F238E27FC236}">
                <a16:creationId xmlns:a16="http://schemas.microsoft.com/office/drawing/2014/main" id="{3C8924E2-79FA-4D80-B30F-20CCBA42CD60}"/>
              </a:ext>
            </a:extLst>
          </p:cNvPr>
          <p:cNvSpPr>
            <a:spLocks noGrp="1"/>
          </p:cNvSpPr>
          <p:nvPr>
            <p:ph type="title"/>
          </p:nvPr>
        </p:nvSpPr>
        <p:spPr>
          <a:xfrm>
            <a:off x="5649153" y="3033425"/>
            <a:ext cx="5711080" cy="677368"/>
          </a:xfrm>
        </p:spPr>
        <p:txBody>
          <a:bodyPr anchor="b">
            <a:noAutofit/>
          </a:bodyPr>
          <a:lstStyle>
            <a:lvl1pPr>
              <a:buNone/>
              <a:defRPr sz="3600" b="1" baseline="0">
                <a:latin typeface="Arial"/>
                <a:ea typeface="Arial"/>
                <a:cs typeface="Arial"/>
              </a:defRPr>
            </a:lvl1pPr>
          </a:lstStyle>
          <a:p>
            <a:endParaRPr/>
          </a:p>
        </p:txBody>
      </p:sp>
      <p:sp>
        <p:nvSpPr>
          <p:cNvPr id="8" name="直接连接符 28">
            <a:extLst>
              <a:ext uri="{FF2B5EF4-FFF2-40B4-BE49-F238E27FC236}">
                <a16:creationId xmlns:a16="http://schemas.microsoft.com/office/drawing/2014/main" id="{04009747-A2B8-4397-95E3-1F7698B50871}"/>
              </a:ext>
            </a:extLst>
          </p:cNvPr>
          <p:cNvSpPr>
            <a:spLocks noGrp="1"/>
          </p:cNvSpPr>
          <p:nvPr/>
        </p:nvSpPr>
        <p:spPr>
          <a:xfrm flipH="1">
            <a:off x="5601528" y="3824575"/>
            <a:ext cx="5711080" cy="0"/>
          </a:xfrm>
          <a:prstGeom prst="line">
            <a:avLst/>
          </a:prstGeom>
          <a:gradFill rotWithShape="1">
            <a:gsLst>
              <a:gs pos="100000">
                <a:srgbClr val="06DEB7">
                  <a:alpha val="40000"/>
                </a:srgbClr>
              </a:gs>
              <a:gs pos="1000">
                <a:srgbClr val="06DEB7">
                  <a:alpha val="0"/>
                </a:srgbClr>
              </a:gs>
            </a:gsLst>
            <a:path path="circle">
              <a:fillToRect l="50000" t="50000" r="50000" b="50000"/>
            </a:path>
            <a:tileRect/>
          </a:gradFill>
          <a:ln w="63500">
            <a:solidFill>
              <a:srgbClr val="660773"/>
            </a:solidFill>
          </a:ln>
        </p:spPr>
        <p:style>
          <a:lnRef idx="2">
            <a:schemeClr val="accent1">
              <a:shade val="50000"/>
            </a:schemeClr>
          </a:lnRef>
          <a:fillRef idx="1">
            <a:schemeClr val="accent1"/>
          </a:fillRef>
          <a:effectRef idx="0">
            <a:schemeClr val="accent1"/>
          </a:effectRef>
          <a:fontRef idx="minor">
            <a:schemeClr val="lt1"/>
          </a:fontRef>
        </p:style>
        <p:txBody>
          <a:bodyPr/>
          <a:lstStyle/>
          <a:p>
            <a:endParaRPr/>
          </a:p>
        </p:txBody>
      </p:sp>
      <p:pic>
        <p:nvPicPr>
          <p:cNvPr id="14" name="图片 9"/>
          <p:cNvPicPr>
            <a:picLocks noChangeAspect="1"/>
          </p:cNvPicPr>
          <p:nvPr/>
        </p:nvPicPr>
        <p:blipFill>
          <a:blip r:embed="rId3"/>
          <a:srcRect/>
          <a:stretch>
            <a:fillRect/>
          </a:stretch>
        </p:blipFill>
        <p:spPr>
          <a:xfrm>
            <a:off x="10235812" y="492349"/>
            <a:ext cx="1498988" cy="3636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EEE74A2-FA76-4193-B2BB-4B711B84181C}"/>
              </a:ext>
            </a:extLst>
          </p:cNvPr>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a:ea typeface="Arial"/>
                <a:cs typeface="Arial"/>
              </a:defRPr>
            </a:lvl1pPr>
          </a:lstStyle>
          <a:p>
            <a:endParaRPr/>
          </a:p>
        </p:txBody>
      </p:sp>
      <p:sp>
        <p:nvSpPr>
          <p:cNvPr id="9" name="直接连接符 8">
            <a:extLst>
              <a:ext uri="{FF2B5EF4-FFF2-40B4-BE49-F238E27FC236}">
                <a16:creationId xmlns:a16="http://schemas.microsoft.com/office/drawing/2014/main" id="{9B117366-E154-4BFF-B7D3-1547CA95F0CA}"/>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txBody>
          <a:bodyPr/>
          <a:lstStyle/>
          <a:p>
            <a:endParaRPr lang="zh-CN" altLang="en-US"/>
          </a:p>
        </p:txBody>
      </p:sp>
      <p:sp>
        <p:nvSpPr>
          <p:cNvPr id="12" name="矩形 11">
            <a:extLst>
              <a:ext uri="{FF2B5EF4-FFF2-40B4-BE49-F238E27FC236}">
                <a16:creationId xmlns:a16="http://schemas.microsoft.com/office/drawing/2014/main" id="{F6FE205C-1BEF-4FCA-A00E-69DF549F90E0}"/>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7"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7" name="内容占位符 2">
            <a:extLst>
              <a:ext uri="{FF2B5EF4-FFF2-40B4-BE49-F238E27FC236}">
                <a16:creationId xmlns:a16="http://schemas.microsoft.com/office/drawing/2014/main" id="{9778943E-16C7-4AAC-9C37-C6A3DC13DE84}"/>
              </a:ext>
            </a:extLst>
          </p:cNvPr>
          <p:cNvSpPr>
            <a:spLocks noGrp="1"/>
          </p:cNvSpPr>
          <p:nvPr>
            <p:ph idx="1"/>
          </p:nvPr>
        </p:nvSpPr>
        <p:spPr>
          <a:xfrm>
            <a:off x="838199" y="1074490"/>
            <a:ext cx="10417629" cy="5102473"/>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42AB4F4-4DE4-4961-B229-FBC26AF47467}"/>
              </a:ext>
            </a:extLst>
          </p:cNvPr>
          <p:cNvSpPr>
            <a:spLocks noGrp="1"/>
          </p:cNvSpPr>
          <p:nvPr>
            <p:ph type="title"/>
          </p:nvPr>
        </p:nvSpPr>
        <p:spPr>
          <a:xfrm>
            <a:off x="334257" y="97129"/>
            <a:ext cx="10054800" cy="651600"/>
          </a:xfrm>
        </p:spPr>
        <p:txBody>
          <a:bodyPr>
            <a:normAutofit/>
          </a:bodyPr>
          <a:lstStyle>
            <a:lvl1pPr algn="l" defTabSz="914400">
              <a:lnSpc>
                <a:spcPct val="90000"/>
              </a:lnSpc>
              <a:spcBef>
                <a:spcPct val="0"/>
              </a:spcBef>
              <a:buNone/>
              <a:defRPr sz="3200" b="1" i="0" kern="1200" baseline="0">
                <a:solidFill>
                  <a:schemeClr val="tx1"/>
                </a:solidFill>
                <a:latin typeface="Arial"/>
                <a:ea typeface="Arial"/>
                <a:cs typeface="Arial"/>
              </a:defRPr>
            </a:lvl1pPr>
          </a:lstStyle>
          <a:p>
            <a:endParaRPr/>
          </a:p>
        </p:txBody>
      </p:sp>
      <p:sp>
        <p:nvSpPr>
          <p:cNvPr id="9" name="直接连接符 8">
            <a:extLst>
              <a:ext uri="{FF2B5EF4-FFF2-40B4-BE49-F238E27FC236}">
                <a16:creationId xmlns:a16="http://schemas.microsoft.com/office/drawing/2014/main" id="{A8385008-D34A-482B-8A18-8A44A70FD7B3}"/>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1" name="矩形 10">
            <a:extLst>
              <a:ext uri="{FF2B5EF4-FFF2-40B4-BE49-F238E27FC236}">
                <a16:creationId xmlns:a16="http://schemas.microsoft.com/office/drawing/2014/main" id="{8A51EC91-B23D-43AA-9E70-904B1E95BF00}"/>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3"/>
          <p:cNvPicPr>
            <a:picLocks noChangeAspect="1"/>
          </p:cNvPicPr>
          <p:nvPr/>
        </p:nvPicPr>
        <p:blipFill>
          <a:blip r:embed="rId2"/>
          <a:srcRect/>
          <a:stretch>
            <a:fillRect/>
          </a:stretch>
        </p:blipFill>
        <p:spPr>
          <a:xfrm>
            <a:off x="10502900" y="466185"/>
            <a:ext cx="1114425" cy="270319"/>
          </a:xfrm>
          <a:prstGeom prst="rect">
            <a:avLst/>
          </a:prstGeom>
        </p:spPr>
      </p:pic>
      <p:sp>
        <p:nvSpPr>
          <p:cNvPr id="8" name="内容占位符 2">
            <a:extLst>
              <a:ext uri="{FF2B5EF4-FFF2-40B4-BE49-F238E27FC236}">
                <a16:creationId xmlns:a16="http://schemas.microsoft.com/office/drawing/2014/main" id="{D2C6B7CC-5763-499C-8DDF-550D7441D8EE}"/>
              </a:ext>
            </a:extLst>
          </p:cNvPr>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0" name="内容占位符 2">
            <a:extLst>
              <a:ext uri="{FF2B5EF4-FFF2-40B4-BE49-F238E27FC236}">
                <a16:creationId xmlns:a16="http://schemas.microsoft.com/office/drawing/2014/main" id="{CFD7A3CD-AE32-46F7-89AD-0E26C3ADC4C0}"/>
              </a:ext>
            </a:extLst>
          </p:cNvPr>
          <p:cNvSpPr>
            <a:spLocks noGrp="1"/>
          </p:cNvSpPr>
          <p:nvPr>
            <p:ph idx="14"/>
          </p:nvPr>
        </p:nvSpPr>
        <p:spPr>
          <a:xfrm>
            <a:off x="6096000" y="1099825"/>
            <a:ext cx="5662800" cy="5018400"/>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Dual Subjec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7E429D3-C052-422B-9F3F-AD82F96326F3}"/>
              </a:ext>
            </a:extLst>
          </p:cNvPr>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a:ea typeface="Arial"/>
                <a:cs typeface="Arial"/>
              </a:defRPr>
            </a:lvl1pPr>
          </a:lstStyle>
          <a:p>
            <a:endParaRPr/>
          </a:p>
        </p:txBody>
      </p:sp>
      <p:sp>
        <p:nvSpPr>
          <p:cNvPr id="8" name="直接连接符 7">
            <a:extLst>
              <a:ext uri="{FF2B5EF4-FFF2-40B4-BE49-F238E27FC236}">
                <a16:creationId xmlns:a16="http://schemas.microsoft.com/office/drawing/2014/main" id="{DCD142D5-70D3-4B9A-B216-871F8F109412}"/>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a:extLst>
              <a:ext uri="{FF2B5EF4-FFF2-40B4-BE49-F238E27FC236}">
                <a16:creationId xmlns:a16="http://schemas.microsoft.com/office/drawing/2014/main" id="{12DA6B0C-2D0C-4911-A63F-44F150DC1360}"/>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a:extLst>
              <a:ext uri="{FF2B5EF4-FFF2-40B4-BE49-F238E27FC236}">
                <a16:creationId xmlns:a16="http://schemas.microsoft.com/office/drawing/2014/main" id="{B4B34FAE-9230-41FD-A78F-B46578753DED}"/>
              </a:ext>
            </a:extLst>
          </p:cNvPr>
          <p:cNvSpPr>
            <a:spLocks noGrp="1"/>
          </p:cNvSpPr>
          <p:nvPr>
            <p:ph idx="1"/>
          </p:nvPr>
        </p:nvSpPr>
        <p:spPr>
          <a:xfrm>
            <a:off x="838199" y="1074491"/>
            <a:ext cx="10417629" cy="2189820"/>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a:extLst>
              <a:ext uri="{FF2B5EF4-FFF2-40B4-BE49-F238E27FC236}">
                <a16:creationId xmlns:a16="http://schemas.microsoft.com/office/drawing/2014/main" id="{A1F105ED-99BB-49A2-AECC-D6D38F07FA2C}"/>
              </a:ext>
            </a:extLst>
          </p:cNvPr>
          <p:cNvSpPr>
            <a:spLocks noGrp="1"/>
          </p:cNvSpPr>
          <p:nvPr>
            <p:ph idx="10"/>
          </p:nvPr>
        </p:nvSpPr>
        <p:spPr>
          <a:xfrm>
            <a:off x="838199" y="3593690"/>
            <a:ext cx="10417629" cy="2797278"/>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rio Subject">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943327-5C12-4922-81EF-A04FB647098F}"/>
              </a:ext>
            </a:extLst>
          </p:cNvPr>
          <p:cNvSpPr>
            <a:spLocks noGrp="1"/>
          </p:cNvSpPr>
          <p:nvPr>
            <p:ph type="title"/>
          </p:nvPr>
        </p:nvSpPr>
        <p:spPr>
          <a:xfrm>
            <a:off x="334800" y="97200"/>
            <a:ext cx="10054800" cy="651600"/>
          </a:xfrm>
        </p:spPr>
        <p:txBody>
          <a:bodyPr>
            <a:normAutofit/>
          </a:bodyPr>
          <a:lstStyle>
            <a:lvl1pPr>
              <a:buNone/>
              <a:defRPr sz="3200" b="1" i="0" kern="1200" baseline="0">
                <a:solidFill>
                  <a:schemeClr val="tx1"/>
                </a:solidFill>
                <a:latin typeface="Arial"/>
                <a:ea typeface="Arial"/>
                <a:cs typeface="Arial"/>
              </a:defRPr>
            </a:lvl1pPr>
          </a:lstStyle>
          <a:p>
            <a:endParaRPr/>
          </a:p>
        </p:txBody>
      </p:sp>
      <p:sp>
        <p:nvSpPr>
          <p:cNvPr id="9" name="直接连接符 8">
            <a:extLst>
              <a:ext uri="{FF2B5EF4-FFF2-40B4-BE49-F238E27FC236}">
                <a16:creationId xmlns:a16="http://schemas.microsoft.com/office/drawing/2014/main" id="{3BD798FC-EA3C-4874-9C23-016CC9B46E2E}"/>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txBody>
          <a:bodyPr/>
          <a:lstStyle/>
          <a:p>
            <a:endParaRPr/>
          </a:p>
        </p:txBody>
      </p:sp>
      <p:sp>
        <p:nvSpPr>
          <p:cNvPr id="12" name="矩形 11">
            <a:extLst>
              <a:ext uri="{FF2B5EF4-FFF2-40B4-BE49-F238E27FC236}">
                <a16:creationId xmlns:a16="http://schemas.microsoft.com/office/drawing/2014/main" id="{A79957BC-7485-4D69-B7EC-150589694FAC}"/>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8" name="图片 4"/>
          <p:cNvPicPr>
            <a:picLocks noChangeAspect="1"/>
          </p:cNvPicPr>
          <p:nvPr/>
        </p:nvPicPr>
        <p:blipFill>
          <a:blip r:embed="rId2"/>
          <a:srcRect/>
          <a:stretch>
            <a:fillRect/>
          </a:stretch>
        </p:blipFill>
        <p:spPr>
          <a:xfrm>
            <a:off x="10502900" y="466185"/>
            <a:ext cx="1114425" cy="270319"/>
          </a:xfrm>
          <a:prstGeom prst="rect">
            <a:avLst/>
          </a:prstGeom>
        </p:spPr>
      </p:pic>
      <p:sp>
        <p:nvSpPr>
          <p:cNvPr id="10" name="内容占位符 2">
            <a:extLst>
              <a:ext uri="{FF2B5EF4-FFF2-40B4-BE49-F238E27FC236}">
                <a16:creationId xmlns:a16="http://schemas.microsoft.com/office/drawing/2014/main" id="{92F4C086-935D-42A4-A499-C16211F77B2E}"/>
              </a:ext>
            </a:extLst>
          </p:cNvPr>
          <p:cNvSpPr>
            <a:spLocks noGrp="1"/>
          </p:cNvSpPr>
          <p:nvPr>
            <p:ph idx="1"/>
          </p:nvPr>
        </p:nvSpPr>
        <p:spPr>
          <a:xfrm>
            <a:off x="297277" y="1099825"/>
            <a:ext cx="5662800" cy="5018400"/>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1" name="内容占位符 2">
            <a:extLst>
              <a:ext uri="{FF2B5EF4-FFF2-40B4-BE49-F238E27FC236}">
                <a16:creationId xmlns:a16="http://schemas.microsoft.com/office/drawing/2014/main" id="{168F0248-0B30-42EA-A816-097780580857}"/>
              </a:ext>
            </a:extLst>
          </p:cNvPr>
          <p:cNvSpPr>
            <a:spLocks noGrp="1"/>
          </p:cNvSpPr>
          <p:nvPr>
            <p:ph idx="14"/>
          </p:nvPr>
        </p:nvSpPr>
        <p:spPr>
          <a:xfrm>
            <a:off x="6096000" y="1099825"/>
            <a:ext cx="5732462" cy="2587604"/>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
        <p:nvSpPr>
          <p:cNvPr id="13" name="内容占位符 2">
            <a:extLst>
              <a:ext uri="{FF2B5EF4-FFF2-40B4-BE49-F238E27FC236}">
                <a16:creationId xmlns:a16="http://schemas.microsoft.com/office/drawing/2014/main" id="{375C9ED9-DC31-4E42-AEDF-BD7D3F252EA0}"/>
              </a:ext>
            </a:extLst>
          </p:cNvPr>
          <p:cNvSpPr>
            <a:spLocks noGrp="1"/>
          </p:cNvSpPr>
          <p:nvPr>
            <p:ph idx="15"/>
          </p:nvPr>
        </p:nvSpPr>
        <p:spPr>
          <a:xfrm>
            <a:off x="6096000" y="3951887"/>
            <a:ext cx="5732462" cy="2166338"/>
          </a:xfrm>
        </p:spPr>
        <p:txBody>
          <a:bodyPr/>
          <a:lstStyle>
            <a:lvl1pPr marL="228600" indent="-228600">
              <a:lnSpc>
                <a:spcPct val="150000"/>
              </a:lnSpc>
              <a:buSzPct val="120000"/>
              <a:buFontTx/>
              <a:buNone/>
              <a:defRPr sz="1800" b="1" i="0" baseline="0">
                <a:solidFill>
                  <a:srgbClr val="660874"/>
                </a:solidFill>
                <a:latin typeface="Arial"/>
                <a:ea typeface="Arial"/>
                <a:cs typeface="Arial"/>
              </a:defRPr>
            </a:lvl1pPr>
            <a:lvl2pPr marL="685800" indent="-228600">
              <a:lnSpc>
                <a:spcPct val="150000"/>
              </a:lnSpc>
              <a:buClr>
                <a:srgbClr val="660874"/>
              </a:buClr>
              <a:buSzPct val="100000"/>
              <a:buFont typeface="ZapfDingbatsITC"/>
              <a:buChar char="➤"/>
              <a:defRPr sz="1600" b="0" i="0" baseline="0">
                <a:solidFill>
                  <a:schemeClr val="tx1">
                    <a:lumMod val="75000"/>
                    <a:lumOff val="25000"/>
                  </a:schemeClr>
                </a:solidFill>
                <a:latin typeface="Arial"/>
                <a:ea typeface="Arial"/>
                <a:cs typeface="Arial"/>
              </a:defRPr>
            </a:lvl2pPr>
            <a:lvl3pPr marL="1143000" indent="-228600">
              <a:lnSpc>
                <a:spcPct val="150000"/>
              </a:lnSpc>
              <a:buClr>
                <a:srgbClr val="660874"/>
              </a:buClr>
              <a:buSzPct val="100000"/>
              <a:buFont typeface="AppleSymbols"/>
              <a:buChar char="▻"/>
              <a:defRPr sz="1400" b="0" i="0" baseline="0">
                <a:latin typeface="Arial"/>
                <a:ea typeface="Arial"/>
                <a:cs typeface="Arial"/>
              </a:defRPr>
            </a:lvl3pPr>
            <a:lvl4pPr>
              <a:buNone/>
              <a:defRPr b="0" i="0">
                <a:latin typeface="Source Han Sans CN"/>
                <a:ea typeface="Source Han Sans CN"/>
                <a:cs typeface="Source Han Sans CN"/>
              </a:defRPr>
            </a:lvl4pPr>
            <a:lvl5pPr>
              <a:buNone/>
              <a:defRPr b="0" i="0">
                <a:latin typeface="Source Han Sans CN"/>
                <a:ea typeface="Source Han Sans CN"/>
                <a:cs typeface="Source Han Sans CN"/>
              </a:defRPr>
            </a:lvl5pPr>
          </a:lstStyle>
          <a:p>
            <a:pPr lvl="0">
              <a:buNone/>
            </a:pPr>
            <a:r>
              <a:t>单击此处编辑母版文本样式</a:t>
            </a:r>
          </a:p>
          <a:p>
            <a:pPr lvl="1">
              <a:buNone/>
            </a:pPr>
            <a:r>
              <a:t>二级</a:t>
            </a:r>
          </a:p>
          <a:p>
            <a:pPr lvl="2">
              <a:buNone/>
            </a:pPr>
            <a:r>
              <a:t>三级</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自定义">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D48BFF-90DD-4698-940B-FC1E14FBD596}"/>
              </a:ext>
            </a:extLst>
          </p:cNvPr>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a:ea typeface="Arial"/>
                <a:cs typeface="Arial"/>
              </a:defRPr>
            </a:lvl1pPr>
          </a:lstStyle>
          <a:p>
            <a:pPr lvl="0">
              <a:buNone/>
            </a:pPr>
            <a:endParaRPr/>
          </a:p>
        </p:txBody>
      </p:sp>
      <p:sp>
        <p:nvSpPr>
          <p:cNvPr id="8" name="直接连接符 7">
            <a:extLst>
              <a:ext uri="{FF2B5EF4-FFF2-40B4-BE49-F238E27FC236}">
                <a16:creationId xmlns:a16="http://schemas.microsoft.com/office/drawing/2014/main" id="{83ABF9D0-EC52-46C9-87C6-451A961FFDF6}"/>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1" name="矩形 10">
            <a:extLst>
              <a:ext uri="{FF2B5EF4-FFF2-40B4-BE49-F238E27FC236}">
                <a16:creationId xmlns:a16="http://schemas.microsoft.com/office/drawing/2014/main" id="{72E72DF4-EDB2-4FFD-94D7-D1BA2AEA428C}"/>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pic>
        <p:nvPicPr>
          <p:cNvPr id="16" name="图片 4"/>
          <p:cNvPicPr>
            <a:picLocks noChangeAspect="1"/>
          </p:cNvPicPr>
          <p:nvPr/>
        </p:nvPicPr>
        <p:blipFill>
          <a:blip r:embed="rId2"/>
          <a:srcRect/>
          <a:stretch>
            <a:fillRect/>
          </a:stretch>
        </p:blipFill>
        <p:spPr>
          <a:xfrm>
            <a:off x="10502900" y="466185"/>
            <a:ext cx="1114425" cy="270319"/>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目录页">
    <p:spTree>
      <p:nvGrpSpPr>
        <p:cNvPr id="1" name=""/>
        <p:cNvGrpSpPr/>
        <p:nvPr/>
      </p:nvGrpSpPr>
      <p:grpSpPr>
        <a:xfrm>
          <a:off x="0" y="0"/>
          <a:ext cx="0" cy="0"/>
          <a:chOff x="0" y="0"/>
          <a:chExt cx="0" cy="0"/>
        </a:xfrm>
      </p:grpSpPr>
      <p:pic>
        <p:nvPicPr>
          <p:cNvPr id="13" name="图片 2"/>
          <p:cNvPicPr>
            <a:picLocks noChangeAspect="1"/>
          </p:cNvPicPr>
          <p:nvPr/>
        </p:nvPicPr>
        <p:blipFill>
          <a:blip r:embed="rId2"/>
          <a:srcRect/>
          <a:stretch>
            <a:fillRect/>
          </a:stretch>
        </p:blipFill>
        <p:spPr>
          <a:xfrm>
            <a:off x="10502900" y="466185"/>
            <a:ext cx="1114425" cy="270319"/>
          </a:xfrm>
          <a:prstGeom prst="rect">
            <a:avLst/>
          </a:prstGeom>
        </p:spPr>
      </p:pic>
      <p:pic>
        <p:nvPicPr>
          <p:cNvPr id="14" name="图片 5"/>
          <p:cNvPicPr>
            <a:picLocks noChangeAspect="1"/>
          </p:cNvPicPr>
          <p:nvPr/>
        </p:nvPicPr>
        <p:blipFill>
          <a:blip r:embed="rId3"/>
          <a:stretch>
            <a:fillRect/>
          </a:stretch>
        </p:blipFill>
        <p:spPr>
          <a:xfrm>
            <a:off x="4450501" y="-645610"/>
            <a:ext cx="11947547" cy="8960660"/>
          </a:xfrm>
          <a:prstGeom prst="rect">
            <a:avLst/>
          </a:prstGeom>
        </p:spPr>
      </p:pic>
      <p:sp>
        <p:nvSpPr>
          <p:cNvPr id="7" name="内容占位符 2">
            <a:extLst>
              <a:ext uri="{FF2B5EF4-FFF2-40B4-BE49-F238E27FC236}">
                <a16:creationId xmlns:a16="http://schemas.microsoft.com/office/drawing/2014/main" id="{C1960241-E005-4034-8E3F-9C370BA3F57F}"/>
              </a:ext>
            </a:extLst>
          </p:cNvPr>
          <p:cNvSpPr>
            <a:spLocks noGrp="1"/>
          </p:cNvSpPr>
          <p:nvPr>
            <p:ph idx="1" hasCustomPrompt="1"/>
          </p:nvPr>
        </p:nvSpPr>
        <p:spPr>
          <a:xfrm>
            <a:off x="838200" y="1478782"/>
            <a:ext cx="4931979" cy="4351338"/>
          </a:xfrm>
        </p:spPr>
        <p:txBody>
          <a:bodyPr/>
          <a:lstStyle>
            <a:lvl1pPr marL="228600" indent="-228600">
              <a:lnSpc>
                <a:spcPct val="150000"/>
              </a:lnSpc>
              <a:buSzPct val="150000"/>
              <a:buFontTx/>
              <a:buNone/>
              <a:defRPr sz="2400" b="0" i="0" baseline="0">
                <a:latin typeface="Arial"/>
                <a:ea typeface="Arial"/>
                <a:cs typeface="Arial"/>
              </a:defRPr>
            </a:lvl1pPr>
            <a:lvl2pPr marL="685800" indent="-228600">
              <a:lnSpc>
                <a:spcPct val="150000"/>
              </a:lnSpc>
              <a:buClr>
                <a:srgbClr val="660874"/>
              </a:buClr>
              <a:buSzPct val="80000"/>
              <a:buFont typeface="ZapfDingbatsITC"/>
              <a:buChar char="➤"/>
              <a:defRPr sz="1800" b="0" i="0">
                <a:latin typeface="思源黑体 CN Regular"/>
                <a:ea typeface="思源黑体 CN Regular"/>
                <a:cs typeface="思源黑体 CN Regular"/>
              </a:defRPr>
            </a:lvl2pPr>
            <a:lvl3pPr marL="1143000" indent="-228600">
              <a:lnSpc>
                <a:spcPct val="150000"/>
              </a:lnSpc>
              <a:buClr>
                <a:srgbClr val="660874"/>
              </a:buClr>
              <a:buFont typeface="AppleSymbols"/>
              <a:buChar char="▻"/>
              <a:defRPr sz="1600" b="0" i="0">
                <a:latin typeface="思源黑体 CN Regular"/>
                <a:ea typeface="思源黑体 CN Regular"/>
                <a:cs typeface="思源黑体 CN Regular"/>
              </a:defRPr>
            </a:lvl3pPr>
            <a:lvl4pPr marL="1600200" indent="-228600">
              <a:lnSpc>
                <a:spcPct val="150000"/>
              </a:lnSpc>
              <a:buClr>
                <a:srgbClr val="660874"/>
              </a:buClr>
              <a:buFont typeface="Helvetica"/>
              <a:buChar char="‣"/>
              <a:defRPr sz="1200" b="0" i="0">
                <a:latin typeface="思源黑体 CN Regular"/>
                <a:ea typeface="思源黑体 CN Regular"/>
                <a:cs typeface="思源黑体 CN Regular"/>
              </a:defRPr>
            </a:lvl4pPr>
            <a:lvl5pPr>
              <a:lnSpc>
                <a:spcPct val="150000"/>
              </a:lnSpc>
              <a:buClr>
                <a:srgbClr val="660874"/>
              </a:buClr>
              <a:buNone/>
              <a:defRPr sz="1000" b="0" i="0">
                <a:latin typeface="思源黑体 CN Regular"/>
                <a:ea typeface="思源黑体 CN Regular"/>
                <a:cs typeface="思源黑体 CN Regular"/>
              </a:defRPr>
            </a:lvl5pPr>
          </a:lstStyle>
          <a:p>
            <a:pPr lvl="0">
              <a:buNone/>
            </a:pPr>
            <a:r>
              <a:t>  单击此处编辑母版文本样式</a:t>
            </a:r>
          </a:p>
        </p:txBody>
      </p:sp>
      <p:sp>
        <p:nvSpPr>
          <p:cNvPr id="8" name="直接连接符 7">
            <a:extLst>
              <a:ext uri="{FF2B5EF4-FFF2-40B4-BE49-F238E27FC236}">
                <a16:creationId xmlns:a16="http://schemas.microsoft.com/office/drawing/2014/main" id="{2D592EAF-7E1D-4F98-8A84-3AE2B3DF5AB9}"/>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9" name="矩形 8">
            <a:extLst>
              <a:ext uri="{FF2B5EF4-FFF2-40B4-BE49-F238E27FC236}">
                <a16:creationId xmlns:a16="http://schemas.microsoft.com/office/drawing/2014/main" id="{349B9267-CCFD-4CDE-B2AB-9A4FFC9FD109}"/>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0" name="标题 1">
            <a:extLst>
              <a:ext uri="{FF2B5EF4-FFF2-40B4-BE49-F238E27FC236}">
                <a16:creationId xmlns:a16="http://schemas.microsoft.com/office/drawing/2014/main" id="{B4EC5DE5-C4CE-4D43-AD2B-D3CB8789DF95}"/>
              </a:ext>
            </a:extLst>
          </p:cNvPr>
          <p:cNvSpPr>
            <a:spLocks noGrp="1"/>
          </p:cNvSpPr>
          <p:nvPr>
            <p:ph type="title"/>
          </p:nvPr>
        </p:nvSpPr>
        <p:spPr>
          <a:xfrm>
            <a:off x="334800" y="97200"/>
            <a:ext cx="10054800" cy="651600"/>
          </a:xfrm>
        </p:spPr>
        <p:txBody>
          <a:bodyPr vert="horz" lIns="91440" tIns="45720" rIns="91440" bIns="45720" anchor="ctr">
            <a:normAutofit/>
          </a:bodyPr>
          <a:lstStyle>
            <a:lvl1pPr>
              <a:buNone/>
              <a:defRPr sz="3200" b="1" baseline="0">
                <a:latin typeface="Arial"/>
                <a:ea typeface="Arial"/>
                <a:cs typeface="Arial"/>
              </a:defRPr>
            </a:lvl1pPr>
          </a:lstStyle>
          <a:p>
            <a:pPr lvl="0">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版式说明">
    <p:spTree>
      <p:nvGrpSpPr>
        <p:cNvPr id="1" name=""/>
        <p:cNvGrpSpPr/>
        <p:nvPr/>
      </p:nvGrpSpPr>
      <p:grpSpPr>
        <a:xfrm>
          <a:off x="0" y="0"/>
          <a:ext cx="0" cy="0"/>
          <a:chOff x="0" y="0"/>
          <a:chExt cx="0" cy="0"/>
        </a:xfrm>
      </p:grpSpPr>
      <p:pic>
        <p:nvPicPr>
          <p:cNvPr id="15" name="图片 7"/>
          <p:cNvPicPr>
            <a:picLocks noChangeAspect="1"/>
          </p:cNvPicPr>
          <p:nvPr/>
        </p:nvPicPr>
        <p:blipFill>
          <a:blip r:embed="rId2"/>
          <a:srcRect/>
          <a:stretch>
            <a:fillRect/>
          </a:stretch>
        </p:blipFill>
        <p:spPr>
          <a:xfrm>
            <a:off x="10491224" y="488311"/>
            <a:ext cx="1126345" cy="273211"/>
          </a:xfrm>
          <a:prstGeom prst="rect">
            <a:avLst/>
          </a:prstGeom>
        </p:spPr>
      </p:pic>
      <p:sp>
        <p:nvSpPr>
          <p:cNvPr id="4" name="文本框 3">
            <a:extLst>
              <a:ext uri="{FF2B5EF4-FFF2-40B4-BE49-F238E27FC236}">
                <a16:creationId xmlns:a16="http://schemas.microsoft.com/office/drawing/2014/main" id="{D9E4D892-BAD2-4E8F-8E06-9D20A005170E}"/>
              </a:ext>
            </a:extLst>
          </p:cNvPr>
          <p:cNvSpPr>
            <a:spLocks noGrp="1"/>
          </p:cNvSpPr>
          <p:nvPr/>
        </p:nvSpPr>
        <p:spPr>
          <a:xfrm>
            <a:off x="334257" y="1030778"/>
            <a:ext cx="11378376" cy="5301229"/>
          </a:xfrm>
          <a:prstGeom prst="rect">
            <a:avLst/>
          </a:prstGeom>
        </p:spPr>
        <p:txBody>
          <a:bodyPr vert="horz" wrap="square" lIns="91440" tIns="45720" rIns="91440" bIns="45720" anchor="ctr">
            <a:normAutofit/>
          </a:bodyPr>
          <a:lstStyle/>
          <a:p>
            <a:endParaRPr/>
          </a:p>
        </p:txBody>
      </p:sp>
      <p:sp>
        <p:nvSpPr>
          <p:cNvPr id="6" name="文本框 5">
            <a:extLst>
              <a:ext uri="{FF2B5EF4-FFF2-40B4-BE49-F238E27FC236}">
                <a16:creationId xmlns:a16="http://schemas.microsoft.com/office/drawing/2014/main" id="{BEFCF91D-2AE5-4DFC-B58A-2A233A802342}"/>
              </a:ext>
            </a:extLst>
          </p:cNvPr>
          <p:cNvSpPr>
            <a:spLocks noGrp="1"/>
          </p:cNvSpPr>
          <p:nvPr/>
        </p:nvSpPr>
        <p:spPr>
          <a:xfrm>
            <a:off x="479367" y="115209"/>
            <a:ext cx="9894917" cy="571061"/>
          </a:xfrm>
          <a:prstGeom prst="rect">
            <a:avLst/>
          </a:prstGeom>
        </p:spPr>
        <p:txBody>
          <a:bodyPr vert="horz" wrap="square" lIns="91440" tIns="45720" rIns="91440" bIns="45720" anchor="ctr">
            <a:normAutofit/>
          </a:bodyPr>
          <a:lstStyle/>
          <a:p>
            <a:endParaRPr/>
          </a:p>
        </p:txBody>
      </p:sp>
      <p:sp>
        <p:nvSpPr>
          <p:cNvPr id="10" name="直接连接符 9">
            <a:extLst>
              <a:ext uri="{FF2B5EF4-FFF2-40B4-BE49-F238E27FC236}">
                <a16:creationId xmlns:a16="http://schemas.microsoft.com/office/drawing/2014/main" id="{62A9BF50-1305-4905-BDC0-79F132706426}"/>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3" name="矩形 12">
            <a:extLst>
              <a:ext uri="{FF2B5EF4-FFF2-40B4-BE49-F238E27FC236}">
                <a16:creationId xmlns:a16="http://schemas.microsoft.com/office/drawing/2014/main" id="{9A69403E-AD30-47B8-9089-8981F63C262E}"/>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a:solidFill>
                <a:srgbClr val="51318E"/>
              </a:solidFill>
            </a:endParaRPr>
          </a:p>
        </p:txBody>
      </p:sp>
      <p:sp>
        <p:nvSpPr>
          <p:cNvPr id="11" name="文本框 10">
            <a:extLst>
              <a:ext uri="{FF2B5EF4-FFF2-40B4-BE49-F238E27FC236}">
                <a16:creationId xmlns:a16="http://schemas.microsoft.com/office/drawing/2014/main" id="{13C4914A-F74E-4AA5-94FB-9288F4BE8CA4}"/>
              </a:ext>
            </a:extLst>
          </p:cNvPr>
          <p:cNvSpPr>
            <a:spLocks noGrp="1"/>
          </p:cNvSpPr>
          <p:nvPr/>
        </p:nvSpPr>
        <p:spPr>
          <a:xfrm>
            <a:off x="297277" y="45898"/>
            <a:ext cx="7732626" cy="746234"/>
          </a:xfrm>
          <a:prstGeom prst="rect">
            <a:avLst/>
          </a:prstGeom>
        </p:spPr>
        <p:txBody>
          <a:bodyPr vert="horz" wrap="square" lIns="91440" tIns="45720" rIns="91440" bIns="45720" anchor="ctr">
            <a:noAutofit/>
          </a:bodyPr>
          <a:lstStyle/>
          <a:p>
            <a:r>
              <a:rPr sz="3200" b="1" i="0">
                <a:solidFill>
                  <a:schemeClr val="tx1"/>
                </a:solidFill>
                <a:latin typeface="Arial"/>
                <a:ea typeface="Arial"/>
                <a:cs typeface="Arial"/>
              </a:rPr>
              <a:t>DISCLAIMER &amp; ATTRIBUTION</a:t>
            </a:r>
            <a:endParaRPr sz="3200" b="1" i="0" baseline="0">
              <a:solidFill>
                <a:schemeClr val="tx1"/>
              </a:solidFill>
              <a:latin typeface="Arial"/>
              <a:ea typeface="Arial"/>
              <a:cs typeface="Arial"/>
            </a:endParaRPr>
          </a:p>
        </p:txBody>
      </p:sp>
      <p:sp>
        <p:nvSpPr>
          <p:cNvPr id="2" name="文本框 1">
            <a:extLst>
              <a:ext uri="{FF2B5EF4-FFF2-40B4-BE49-F238E27FC236}">
                <a16:creationId xmlns:a16="http://schemas.microsoft.com/office/drawing/2014/main" id="{55CB0789-9707-4F41-B35F-93B652CFFFB3}"/>
              </a:ext>
            </a:extLst>
          </p:cNvPr>
          <p:cNvSpPr>
            <a:spLocks noGrp="1"/>
          </p:cNvSpPr>
          <p:nvPr/>
        </p:nvSpPr>
        <p:spPr>
          <a:xfrm>
            <a:off x="386807" y="1183967"/>
            <a:ext cx="11507916" cy="4994850"/>
          </a:xfrm>
          <a:prstGeom prst="rect">
            <a:avLst/>
          </a:prstGeom>
        </p:spPr>
        <p:txBody>
          <a:bodyPr vert="horz" wrap="square" lIns="91440" tIns="45720" rIns="91440" bIns="45720" anchor="ctr">
            <a:normAutofit/>
          </a:bodyPr>
          <a:lstStyle/>
          <a:p>
            <a:r>
              <a:rPr sz="1600" b="0" i="0">
                <a:solidFill>
                  <a:srgbClr val="000000"/>
                </a:solidFill>
                <a:latin typeface="+mn-lt"/>
                <a:ea typeface="+mn-lt"/>
                <a:cs typeface="+mn-lt"/>
              </a:rPr>
              <a:t>This presentation may contain privileged and confidential information and is intended only for MetaX Integrated Circuits (Shanghai) Co., Ltd. and/or its affiliates (hereinafter collectively referred to as “MetaX”).  The information presented in this presentation should be kept strictly confidential and should not be allowed to make available to others without written consent from MetaX.</a:t>
            </a:r>
          </a:p>
          <a:p>
            <a:endParaRPr sz="1600" b="0" i="0">
              <a:solidFill>
                <a:srgbClr val="000000"/>
              </a:solidFill>
              <a:latin typeface="+mn-lt"/>
              <a:ea typeface="+mn-lt"/>
              <a:cs typeface="+mn-lt"/>
            </a:endParaRPr>
          </a:p>
          <a:p>
            <a:r>
              <a:rPr sz="1600" b="0" i="0">
                <a:solidFill>
                  <a:srgbClr val="000000"/>
                </a:solidFill>
                <a:latin typeface="+mn-lt"/>
                <a:ea typeface="+mn-lt"/>
                <a:cs typeface="+mn-lt"/>
              </a:rPr>
              <a:t>The information presented in this presentation is for informational purposes only and may contain technical inaccuracies, omissions and typographical errors.  MetaX makes no representation or warranty of any kind, express or implied, regarding the reliability, availability or completeness of any information on the Slides. </a:t>
            </a:r>
          </a:p>
          <a:p>
            <a:endParaRPr sz="1600" b="0" i="0">
              <a:solidFill>
                <a:srgbClr val="000000"/>
              </a:solidFill>
              <a:latin typeface="+mn-lt"/>
              <a:ea typeface="+mn-lt"/>
              <a:cs typeface="+mn-lt"/>
            </a:endParaRPr>
          </a:p>
          <a:p>
            <a:r>
              <a:rPr sz="1600" b="0" i="0">
                <a:solidFill>
                  <a:srgbClr val="000000"/>
                </a:solidFill>
                <a:latin typeface="+mn-lt"/>
                <a:ea typeface="+mn-lt"/>
                <a:cs typeface="+mn-lt"/>
              </a:rPr>
              <a:t>MetaX is the owner of the presentation and all portions thereof.  Except as expressly provided, you are prohibited from copying, modifying, distributing, displaying or transmitting any of the contents of the Slides for any purposes. </a:t>
            </a:r>
          </a:p>
          <a:p>
            <a:endParaRPr sz="1600" b="0" i="0">
              <a:solidFill>
                <a:srgbClr val="000000"/>
              </a:solidFill>
              <a:latin typeface="+mn-lt"/>
              <a:ea typeface="+mn-lt"/>
              <a:cs typeface="+mn-lt"/>
            </a:endParaRPr>
          </a:p>
          <a:p>
            <a:r>
              <a:rPr sz="1600" b="0" i="0">
                <a:solidFill>
                  <a:srgbClr val="000000"/>
                </a:solidFill>
                <a:latin typeface="+mn-lt"/>
                <a:ea typeface="+mn-lt"/>
                <a:cs typeface="+mn-lt"/>
              </a:rPr>
              <a:t>MetaX, </a:t>
            </a:r>
            <a:r>
              <a:rPr sz="1600" b="0" i="0">
                <a:solidFill>
                  <a:srgbClr val="000000"/>
                </a:solidFill>
                <a:latin typeface="+mn-ea"/>
                <a:ea typeface="+mn-ea"/>
                <a:cs typeface="+mn-ea"/>
              </a:rPr>
              <a:t>沐曦,</a:t>
            </a:r>
            <a:r>
              <a:rPr sz="1600" b="0" i="0">
                <a:solidFill>
                  <a:srgbClr val="000000"/>
                </a:solidFill>
                <a:latin typeface="+mn-lt"/>
                <a:ea typeface="+mn-lt"/>
                <a:cs typeface="+mn-lt"/>
              </a:rPr>
              <a:t> the MetaX logo and combinations thereof are trademarks of MetaX. Other product and company names used in this presentation are for identification purposes only and may be trademarks or trade names of their respective owners.</a:t>
            </a:r>
          </a:p>
          <a:p>
            <a:endParaRPr sz="1600" b="0" i="0">
              <a:solidFill>
                <a:srgbClr val="000000"/>
              </a:solidFill>
              <a:latin typeface="+mn-lt"/>
              <a:ea typeface="+mn-lt"/>
              <a:cs typeface="+mn-lt"/>
            </a:endParaRPr>
          </a:p>
          <a:p>
            <a:r>
              <a:rPr sz="1600" b="0" i="0">
                <a:solidFill>
                  <a:srgbClr val="000000"/>
                </a:solidFill>
                <a:latin typeface="+mn-lt"/>
                <a:ea typeface="+mn-lt"/>
                <a:cs typeface="+mn-lt"/>
              </a:rPr>
              <a:t> http://www.metax-tech.com/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506130DE-86FA-4F6F-B2A7-79239ABF12A4}"/>
              </a:ext>
            </a:extLst>
          </p:cNvPr>
          <p:cNvSpPr>
            <a:spLocks noGrp="1"/>
          </p:cNvSpPr>
          <p:nvPr>
            <p:ph type="dt" idx="10"/>
          </p:nvPr>
        </p:nvSpPr>
        <p:spPr>
          <a:xfrm>
            <a:off x="838200" y="6356350"/>
            <a:ext cx="2743200" cy="365125"/>
          </a:xfrm>
        </p:spPr>
        <p:txBody>
          <a:bodyPr/>
          <a:lstStyle/>
          <a:p>
            <a:fld id="{82F288E0-7875-42C4-84C8-98DBBD3BF4D2}" type="datetimeFigureOut">
              <a:t>2026/8/24</a:t>
            </a:fld>
            <a:endParaRPr/>
          </a:p>
        </p:txBody>
      </p:sp>
      <p:sp>
        <p:nvSpPr>
          <p:cNvPr id="3" name="页脚占位符 2">
            <a:extLst>
              <a:ext uri="{FF2B5EF4-FFF2-40B4-BE49-F238E27FC236}">
                <a16:creationId xmlns:a16="http://schemas.microsoft.com/office/drawing/2014/main" id="{B2461FD8-848C-4541-BD6C-D59CE4882B44}"/>
              </a:ext>
            </a:extLst>
          </p:cNvPr>
          <p:cNvSpPr>
            <a:spLocks noGrp="1"/>
          </p:cNvSpPr>
          <p:nvPr>
            <p:ph type="ftr" idx="11"/>
          </p:nvPr>
        </p:nvSpPr>
        <p:spPr>
          <a:xfrm>
            <a:off x="4038600" y="6356350"/>
            <a:ext cx="4114800" cy="365125"/>
          </a:xfrm>
        </p:spPr>
        <p:txBody>
          <a:bodyPr/>
          <a:lstStyle/>
          <a:p>
            <a:endParaRPr/>
          </a:p>
        </p:txBody>
      </p:sp>
      <p:sp>
        <p:nvSpPr>
          <p:cNvPr id="4" name="灯片编号占位符 3">
            <a:extLst>
              <a:ext uri="{FF2B5EF4-FFF2-40B4-BE49-F238E27FC236}">
                <a16:creationId xmlns:a16="http://schemas.microsoft.com/office/drawing/2014/main" id="{F4AA7858-3894-4ADC-B379-CBA094A14BC4}"/>
              </a:ext>
            </a:extLst>
          </p:cNvPr>
          <p:cNvSpPr>
            <a:spLocks noGrp="1"/>
          </p:cNvSpPr>
          <p:nvPr>
            <p:ph type="sldNum" idx="12"/>
          </p:nvPr>
        </p:nvSpPr>
        <p:spPr>
          <a:xfrm>
            <a:off x="8610600" y="6356350"/>
            <a:ext cx="2743200" cy="365125"/>
          </a:xfrm>
        </p:spPr>
        <p:txBody>
          <a:bodyPr/>
          <a:lstStyle/>
          <a:p>
            <a:fld id="{7D9BB5D0-35E4-459D-AEF3-FE4D7C45CC19}"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空白-旧">
    <p:spTree>
      <p:nvGrpSpPr>
        <p:cNvPr id="1" name=""/>
        <p:cNvGrpSpPr/>
        <p:nvPr/>
      </p:nvGrpSpPr>
      <p:grpSpPr>
        <a:xfrm>
          <a:off x="0" y="0"/>
          <a:ext cx="0" cy="0"/>
          <a:chOff x="0" y="0"/>
          <a:chExt cx="0" cy="0"/>
        </a:xfrm>
      </p:grpSpPr>
      <p:sp>
        <p:nvSpPr>
          <p:cNvPr id="10" name="直接连接符 9">
            <a:extLst>
              <a:ext uri="{FF2B5EF4-FFF2-40B4-BE49-F238E27FC236}">
                <a16:creationId xmlns:a16="http://schemas.microsoft.com/office/drawing/2014/main" id="{9952464D-5DCC-4BD9-A00F-2F88310DFA91}"/>
              </a:ext>
            </a:extLst>
          </p:cNvPr>
          <p:cNvSpPr>
            <a:spLocks noGrp="1"/>
          </p:cNvSpPr>
          <p:nvPr/>
        </p:nvSpPr>
        <p:spPr>
          <a:xfrm>
            <a:off x="0" y="813344"/>
            <a:ext cx="10439400" cy="0"/>
          </a:xfrm>
          <a:prstGeom prst="line">
            <a:avLst/>
          </a:prstGeom>
          <a:ln w="19050">
            <a:solidFill>
              <a:srgbClr val="660874"/>
            </a:solidFill>
          </a:ln>
        </p:spPr>
        <p:style>
          <a:lnRef idx="1">
            <a:schemeClr val="accent1"/>
          </a:lnRef>
          <a:fillRef idx="0">
            <a:schemeClr val="accent1"/>
          </a:fillRef>
          <a:effectRef idx="0">
            <a:schemeClr val="accent1"/>
          </a:effectRef>
          <a:fontRef idx="minor">
            <a:schemeClr val="tx1"/>
          </a:fontRef>
        </p:style>
      </p:sp>
      <p:sp>
        <p:nvSpPr>
          <p:cNvPr id="12" name="矩形 11">
            <a:extLst>
              <a:ext uri="{FF2B5EF4-FFF2-40B4-BE49-F238E27FC236}">
                <a16:creationId xmlns:a16="http://schemas.microsoft.com/office/drawing/2014/main" id="{5B8590F1-FD21-4337-AC3E-D654025600D2}"/>
              </a:ext>
            </a:extLst>
          </p:cNvPr>
          <p:cNvSpPr>
            <a:spLocks noGrp="1"/>
          </p:cNvSpPr>
          <p:nvPr/>
        </p:nvSpPr>
        <p:spPr>
          <a:xfrm>
            <a:off x="0" y="792317"/>
            <a:ext cx="3340800" cy="576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800" b="0" i="0" u="none" kern="1200" cap="none" spc="0" baseline="0">
              <a:ln>
                <a:noFill/>
              </a:ln>
              <a:solidFill>
                <a:srgbClr val="51318E"/>
              </a:solidFill>
              <a:latin typeface="思源黑体 CN Regular"/>
              <a:ea typeface="思源黑体 CN Regular"/>
              <a:cs typeface="思源黑体 CN Regular"/>
            </a:endParaRPr>
          </a:p>
        </p:txBody>
      </p:sp>
      <p:pic>
        <p:nvPicPr>
          <p:cNvPr id="19" name="图片 13"/>
          <p:cNvPicPr>
            <a:picLocks noChangeAspect="1"/>
          </p:cNvPicPr>
          <p:nvPr/>
        </p:nvPicPr>
        <p:blipFill>
          <a:blip r:embed="rId2"/>
          <a:srcRect/>
          <a:stretch>
            <a:fillRect/>
          </a:stretch>
        </p:blipFill>
        <p:spPr>
          <a:xfrm>
            <a:off x="10502900" y="466185"/>
            <a:ext cx="1114425" cy="270319"/>
          </a:xfrm>
          <a:prstGeom prst="rect">
            <a:avLst/>
          </a:prstGeom>
        </p:spPr>
      </p:pic>
      <p:sp>
        <p:nvSpPr>
          <p:cNvPr id="15" name="标题 1">
            <a:extLst>
              <a:ext uri="{FF2B5EF4-FFF2-40B4-BE49-F238E27FC236}">
                <a16:creationId xmlns:a16="http://schemas.microsoft.com/office/drawing/2014/main" id="{24817CCC-7D02-476C-BFD0-A0CAD356FE42}"/>
              </a:ext>
            </a:extLst>
          </p:cNvPr>
          <p:cNvSpPr>
            <a:spLocks noGrp="1"/>
          </p:cNvSpPr>
          <p:nvPr>
            <p:ph type="title"/>
          </p:nvPr>
        </p:nvSpPr>
        <p:spPr>
          <a:xfrm>
            <a:off x="297277" y="45720"/>
            <a:ext cx="10515600" cy="757026"/>
          </a:xfrm>
        </p:spPr>
        <p:txBody>
          <a:bodyPr>
            <a:normAutofit/>
          </a:bodyPr>
          <a:lstStyle>
            <a:lvl1pPr>
              <a:buNone/>
              <a:defRPr sz="3200" b="1" i="0" baseline="0">
                <a:solidFill>
                  <a:schemeClr val="tx1"/>
                </a:solidFill>
                <a:latin typeface="Arial"/>
                <a:ea typeface="Arial"/>
                <a:cs typeface="Arial"/>
              </a:defRPr>
            </a:lvl1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theme" Target="../theme/theme2.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BFA3EB21-9225-4CEA-BB18-8F1CA75DA5B0}"/>
              </a:ext>
            </a:extLst>
          </p:cNvPr>
          <p:cNvSpPr>
            <a:spLocks noGrp="1"/>
          </p:cNvSpPr>
          <p:nvPr>
            <p:ph type="title"/>
          </p:nvPr>
        </p:nvSpPr>
        <p:spPr>
          <a:xfrm>
            <a:off x="838200" y="365125"/>
            <a:ext cx="10515600" cy="1325563"/>
          </a:xfrm>
          <a:prstGeom prst="rect">
            <a:avLst/>
          </a:prstGeom>
          <a:noFill/>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6D64A014-90D6-49CC-B050-85CABB892721}"/>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14" name="文本框 13">
            <a:extLst>
              <a:ext uri="{FF2B5EF4-FFF2-40B4-BE49-F238E27FC236}">
                <a16:creationId xmlns:a16="http://schemas.microsoft.com/office/drawing/2014/main" id="{79592630-EBF7-4D9F-AAA9-69FE51AD40F6}"/>
              </a:ext>
            </a:extLst>
          </p:cNvPr>
          <p:cNvSpPr>
            <a:spLocks noGrp="1"/>
          </p:cNvSpPr>
          <p:nvPr/>
        </p:nvSpPr>
        <p:spPr>
          <a:xfrm>
            <a:off x="10715725" y="6538912"/>
            <a:ext cx="1276149" cy="246221"/>
          </a:xfrm>
          <a:prstGeom prst="rect">
            <a:avLst/>
          </a:prstGeom>
          <a:noFill/>
        </p:spPr>
        <p:txBody>
          <a:bodyPr wrap="square">
            <a:spAutoFit/>
          </a:bodyPr>
          <a:lstStyle/>
          <a:p>
            <a:pPr algn="r">
              <a:buNone/>
            </a:pPr>
            <a:fld id="{296E4521-5E5E-1A45-BB7B-23A14DB8FCED}" type="slidenum">
              <a:rPr sz="1000" b="0" i="0">
                <a:solidFill>
                  <a:srgbClr val="898989"/>
                </a:solidFill>
                <a:latin typeface="Arial"/>
                <a:ea typeface="Arial"/>
                <a:cs typeface="Arial"/>
              </a:rPr>
              <a:t>‹#›</a:t>
            </a:fld>
            <a:endParaRPr sz="1000" b="0" i="0" baseline="0">
              <a:solidFill>
                <a:srgbClr val="898989"/>
              </a:solidFill>
              <a:latin typeface="Arial"/>
              <a:ea typeface="Arial"/>
              <a:cs typeface="Arial"/>
            </a:endParaRPr>
          </a:p>
        </p:txBody>
      </p:sp>
      <p:sp>
        <p:nvSpPr>
          <p:cNvPr id="15" name="文本框 14">
            <a:extLst>
              <a:ext uri="{FF2B5EF4-FFF2-40B4-BE49-F238E27FC236}">
                <a16:creationId xmlns:a16="http://schemas.microsoft.com/office/drawing/2014/main" id="{293898B5-B710-4EDB-8B02-19EFC4136BBA}"/>
              </a:ext>
            </a:extLst>
          </p:cNvPr>
          <p:cNvSpPr>
            <a:spLocks noGrp="1"/>
          </p:cNvSpPr>
          <p:nvPr/>
        </p:nvSpPr>
        <p:spPr>
          <a:xfrm>
            <a:off x="119427" y="6530079"/>
            <a:ext cx="4075584" cy="230832"/>
          </a:xfrm>
          <a:prstGeom prst="rect">
            <a:avLst/>
          </a:prstGeom>
          <a:noFill/>
        </p:spPr>
        <p:txBody>
          <a:bodyPr wrap="square">
            <a:spAutoFit/>
          </a:bodyPr>
          <a:lstStyle/>
          <a:p>
            <a:r>
              <a:rPr sz="900" b="0" i="0">
                <a:solidFill>
                  <a:srgbClr val="898989"/>
                </a:solidFill>
                <a:latin typeface="Arial"/>
                <a:ea typeface="Arial"/>
                <a:cs typeface="Arial"/>
              </a:rPr>
              <a:t>| 沐曦内部资料 | MetaX Confidential | All Rights Reserved | </a:t>
            </a:r>
          </a:p>
        </p:txBody>
      </p:sp>
      <p:sp>
        <p:nvSpPr>
          <p:cNvPr id="18" name="矩形 17">
            <a:extLst>
              <a:ext uri="{FF2B5EF4-FFF2-40B4-BE49-F238E27FC236}">
                <a16:creationId xmlns:a16="http://schemas.microsoft.com/office/drawing/2014/main" id="{11A4CA6C-28D4-439F-89BE-FFF1A4B27E1B}"/>
              </a:ext>
            </a:extLst>
          </p:cNvPr>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endParaRPr sz="1200" b="0"/>
          </a:p>
        </p:txBody>
      </p:sp>
      <p:sp>
        <p:nvSpPr>
          <p:cNvPr id="19" name="矩形 18">
            <a:extLst>
              <a:ext uri="{FF2B5EF4-FFF2-40B4-BE49-F238E27FC236}">
                <a16:creationId xmlns:a16="http://schemas.microsoft.com/office/drawing/2014/main" id="{6A787A2D-8172-4DD5-9FE2-B97314BBBB71}"/>
              </a:ext>
            </a:extLst>
          </p:cNvPr>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168</a:t>
            </a:r>
          </a:p>
          <a:p>
            <a:pPr algn="ctr">
              <a:buNone/>
            </a:pPr>
            <a:r>
              <a:rPr sz="1000" b="0">
                <a:solidFill>
                  <a:schemeClr val="bg1"/>
                </a:solidFill>
              </a:rPr>
              <a:t>148</a:t>
            </a:r>
          </a:p>
          <a:p>
            <a:pPr algn="ctr">
              <a:buNone/>
            </a:pPr>
            <a:r>
              <a:rPr sz="1000" b="0">
                <a:solidFill>
                  <a:schemeClr val="bg1"/>
                </a:solidFill>
              </a:rPr>
              <a:t>177</a:t>
            </a:r>
          </a:p>
          <a:p>
            <a:pPr marL="0" marR="0" indent="0" algn="ctr" defTabSz="914400">
              <a:lnSpc>
                <a:spcPct val="100000"/>
              </a:lnSpc>
              <a:spcBef>
                <a:spcPts val="0"/>
              </a:spcBef>
              <a:spcAft>
                <a:spcPts val="0"/>
              </a:spcAft>
              <a:buClrTx/>
              <a:buSzTx/>
              <a:buFontTx/>
              <a:buNone/>
            </a:pPr>
            <a:r>
              <a:rPr sz="1000" b="0"/>
              <a:t>#A894B1</a:t>
            </a:r>
          </a:p>
        </p:txBody>
      </p:sp>
      <p:sp>
        <p:nvSpPr>
          <p:cNvPr id="20" name="矩形 19">
            <a:extLst>
              <a:ext uri="{FF2B5EF4-FFF2-40B4-BE49-F238E27FC236}">
                <a16:creationId xmlns:a16="http://schemas.microsoft.com/office/drawing/2014/main" id="{BFF89D25-BD58-45BB-B3BA-8CA2AE9C467C}"/>
              </a:ext>
            </a:extLst>
          </p:cNvPr>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t>102</a:t>
            </a:r>
          </a:p>
          <a:p>
            <a:pPr algn="ctr">
              <a:buNone/>
            </a:pPr>
            <a:r>
              <a:rPr sz="1000" b="0"/>
              <a:t>8</a:t>
            </a:r>
          </a:p>
          <a:p>
            <a:pPr algn="ctr">
              <a:buNone/>
            </a:pPr>
            <a:r>
              <a:rPr sz="1000" b="0"/>
              <a:t>116</a:t>
            </a:r>
          </a:p>
          <a:p>
            <a:pPr algn="ctr">
              <a:buNone/>
            </a:pPr>
            <a:r>
              <a:rPr sz="1000" b="0"/>
              <a:t>#660874</a:t>
            </a:r>
          </a:p>
        </p:txBody>
      </p:sp>
      <p:sp>
        <p:nvSpPr>
          <p:cNvPr id="21" name="矩形 20">
            <a:extLst>
              <a:ext uri="{FF2B5EF4-FFF2-40B4-BE49-F238E27FC236}">
                <a16:creationId xmlns:a16="http://schemas.microsoft.com/office/drawing/2014/main" id="{8F98DEFD-8A0C-4F41-AEEB-5DF63BCD7B4F}"/>
              </a:ext>
            </a:extLst>
          </p:cNvPr>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30</a:t>
            </a:r>
          </a:p>
          <a:p>
            <a:pPr algn="ctr">
              <a:buNone/>
            </a:pPr>
            <a:r>
              <a:rPr sz="1000" b="0">
                <a:solidFill>
                  <a:schemeClr val="bg1"/>
                </a:solidFill>
              </a:rPr>
              <a:t>142</a:t>
            </a:r>
          </a:p>
          <a:p>
            <a:pPr algn="ctr">
              <a:buNone/>
            </a:pPr>
            <a:r>
              <a:rPr sz="1000" b="0">
                <a:solidFill>
                  <a:schemeClr val="bg1"/>
                </a:solidFill>
              </a:rPr>
              <a:t>148</a:t>
            </a:r>
          </a:p>
          <a:p>
            <a:pPr algn="ctr">
              <a:buNone/>
            </a:pPr>
            <a:r>
              <a:rPr sz="1000" b="0">
                <a:solidFill>
                  <a:schemeClr val="bg1"/>
                </a:solidFill>
              </a:rPr>
              <a:t>#1E8E94</a:t>
            </a:r>
          </a:p>
        </p:txBody>
      </p:sp>
      <p:sp>
        <p:nvSpPr>
          <p:cNvPr id="22" name="矩形 21">
            <a:extLst>
              <a:ext uri="{FF2B5EF4-FFF2-40B4-BE49-F238E27FC236}">
                <a16:creationId xmlns:a16="http://schemas.microsoft.com/office/drawing/2014/main" id="{A41FDFD5-DCC7-4EA3-9B4C-0DDFC23BA59C}"/>
              </a:ext>
            </a:extLst>
          </p:cNvPr>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tx1"/>
                </a:solidFill>
              </a:rPr>
              <a:t>229</a:t>
            </a:r>
          </a:p>
          <a:p>
            <a:pPr algn="ctr">
              <a:buNone/>
            </a:pPr>
            <a:r>
              <a:rPr sz="1000" b="0">
                <a:solidFill>
                  <a:schemeClr val="tx1"/>
                </a:solidFill>
              </a:rPr>
              <a:t>230</a:t>
            </a:r>
          </a:p>
          <a:p>
            <a:pPr algn="ctr">
              <a:buNone/>
            </a:pPr>
            <a:r>
              <a:rPr sz="1000" b="0">
                <a:solidFill>
                  <a:schemeClr val="tx1"/>
                </a:solidFill>
              </a:rPr>
              <a:t>233</a:t>
            </a:r>
          </a:p>
          <a:p>
            <a:pPr algn="ctr">
              <a:buNone/>
            </a:pPr>
            <a:r>
              <a:rPr sz="1000" b="0">
                <a:solidFill>
                  <a:schemeClr val="tx1"/>
                </a:solidFill>
              </a:rPr>
              <a:t>#E5E6E9</a:t>
            </a:r>
          </a:p>
        </p:txBody>
      </p:sp>
      <p:sp>
        <p:nvSpPr>
          <p:cNvPr id="23" name="矩形 22">
            <a:extLst>
              <a:ext uri="{FF2B5EF4-FFF2-40B4-BE49-F238E27FC236}">
                <a16:creationId xmlns:a16="http://schemas.microsoft.com/office/drawing/2014/main" id="{8C4B65DD-AA77-423F-BC7F-DFBB73B9E0EB}"/>
              </a:ext>
            </a:extLst>
          </p:cNvPr>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72</a:t>
            </a:r>
          </a:p>
          <a:p>
            <a:pPr algn="ctr">
              <a:buNone/>
            </a:pPr>
            <a:r>
              <a:rPr sz="1000" b="0">
                <a:solidFill>
                  <a:schemeClr val="bg1"/>
                </a:solidFill>
              </a:rPr>
              <a:t>187</a:t>
            </a:r>
          </a:p>
          <a:p>
            <a:pPr algn="ctr">
              <a:buNone/>
            </a:pPr>
            <a:r>
              <a:rPr sz="1000" b="0">
                <a:solidFill>
                  <a:schemeClr val="bg1"/>
                </a:solidFill>
              </a:rPr>
              <a:t>0</a:t>
            </a:r>
          </a:p>
          <a:p>
            <a:pPr algn="ctr">
              <a:buNone/>
            </a:pPr>
            <a:r>
              <a:rPr sz="1000" b="0">
                <a:solidFill>
                  <a:schemeClr val="bg1"/>
                </a:solidFill>
              </a:rPr>
              <a:t>#48BB00</a:t>
            </a:r>
          </a:p>
        </p:txBody>
      </p:sp>
      <p:sp>
        <p:nvSpPr>
          <p:cNvPr id="24" name="矩形 23">
            <a:extLst>
              <a:ext uri="{FF2B5EF4-FFF2-40B4-BE49-F238E27FC236}">
                <a16:creationId xmlns:a16="http://schemas.microsoft.com/office/drawing/2014/main" id="{36CAEFA1-BF7C-4125-9F7D-99D797B16FBC}"/>
              </a:ext>
            </a:extLst>
          </p:cNvPr>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buNone/>
            </a:pPr>
            <a:r>
              <a:rPr sz="1000" b="0">
                <a:solidFill>
                  <a:schemeClr val="bg1"/>
                </a:solidFill>
              </a:rPr>
              <a:t>164</a:t>
            </a:r>
          </a:p>
          <a:p>
            <a:pPr algn="ctr">
              <a:buNone/>
            </a:pPr>
            <a:r>
              <a:rPr sz="1000" b="0">
                <a:solidFill>
                  <a:schemeClr val="bg1"/>
                </a:solidFill>
              </a:rPr>
              <a:t>212</a:t>
            </a:r>
          </a:p>
          <a:p>
            <a:pPr algn="ctr">
              <a:buNone/>
            </a:pPr>
            <a:r>
              <a:rPr sz="1000" b="0">
                <a:solidFill>
                  <a:schemeClr val="bg1"/>
                </a:solidFill>
              </a:rPr>
              <a:t>135</a:t>
            </a:r>
          </a:p>
          <a:p>
            <a:pPr algn="ctr">
              <a:buNone/>
            </a:pPr>
            <a:r>
              <a:rPr sz="1000" b="0">
                <a:solidFill>
                  <a:schemeClr val="bg1"/>
                </a:solidFill>
              </a:rPr>
              <a:t>#A4D487</a:t>
            </a:r>
          </a:p>
        </p:txBody>
      </p:sp>
      <p:pic>
        <p:nvPicPr>
          <p:cNvPr id="37" name="图片 24"/>
          <p:cNvPicPr>
            <a:picLocks noChangeAspect="1"/>
          </p:cNvPicPr>
          <p:nvPr/>
        </p:nvPicPr>
        <p:blipFill>
          <a:blip r:embed="rId12"/>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hdr="0" ftr="0" dt="0"/>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F4B9625C-4B18-443E-8DA7-62BA0ABC94D2}"/>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单击此处编辑母版标题样式</a:t>
            </a:r>
          </a:p>
        </p:txBody>
      </p:sp>
      <p:sp>
        <p:nvSpPr>
          <p:cNvPr id="3" name="文本占位符 2">
            <a:extLst>
              <a:ext uri="{FF2B5EF4-FFF2-40B4-BE49-F238E27FC236}">
                <a16:creationId xmlns:a16="http://schemas.microsoft.com/office/drawing/2014/main" id="{5D60FAD5-033B-4837-ACB7-B0C81C7767A6}"/>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单击此处编辑母版文本样式</a:t>
            </a:r>
          </a:p>
          <a:p>
            <a:pPr lvl="1">
              <a:buNone/>
            </a:pPr>
            <a:r>
              <a:t>二级</a:t>
            </a:r>
          </a:p>
          <a:p>
            <a:pPr lvl="2">
              <a:buNone/>
            </a:pPr>
            <a:r>
              <a:t>三级</a:t>
            </a:r>
          </a:p>
          <a:p>
            <a:pPr lvl="3">
              <a:buNone/>
            </a:pPr>
            <a:r>
              <a:t>四级</a:t>
            </a:r>
          </a:p>
          <a:p>
            <a:pPr lvl="4">
              <a:buNone/>
            </a:pPr>
            <a:r>
              <a:t>五级</a:t>
            </a:r>
          </a:p>
        </p:txBody>
      </p:sp>
      <p:sp>
        <p:nvSpPr>
          <p:cNvPr id="9" name="文本框 8">
            <a:extLst>
              <a:ext uri="{FF2B5EF4-FFF2-40B4-BE49-F238E27FC236}">
                <a16:creationId xmlns:a16="http://schemas.microsoft.com/office/drawing/2014/main" id="{47781C67-B2E3-40EB-B4E3-013FC3DF56C9}"/>
              </a:ext>
            </a:extLst>
          </p:cNvPr>
          <p:cNvSpPr>
            <a:spLocks noGrp="1"/>
          </p:cNvSpPr>
          <p:nvPr/>
        </p:nvSpPr>
        <p:spPr>
          <a:xfrm>
            <a:off x="10715725" y="6538912"/>
            <a:ext cx="1276149" cy="246221"/>
          </a:xfrm>
          <a:prstGeom prst="rect">
            <a:avLst/>
          </a:prstGeom>
          <a:noFill/>
        </p:spPr>
        <p:txBody>
          <a:bodyPr wrap="square">
            <a:spAutoFit/>
          </a:bodyPr>
          <a:lstStyle/>
          <a:p>
            <a:pPr marL="0" marR="0" lvl="0" indent="0" algn="r" defTabSz="914400">
              <a:lnSpc>
                <a:spcPct val="100000"/>
              </a:lnSpc>
              <a:spcBef>
                <a:spcPts val="0"/>
              </a:spcBef>
              <a:spcAft>
                <a:spcPts val="0"/>
              </a:spcAft>
              <a:buClrTx/>
              <a:buSzTx/>
              <a:buFontTx/>
              <a:buNone/>
            </a:pPr>
            <a:fld id="{296E4521-5E5E-1A45-BB7B-23A14DB8FCED}" type="slidenum">
              <a:rPr sz="1000" b="0" i="0" u="none" cap="none">
                <a:ln>
                  <a:noFill/>
                </a:ln>
                <a:solidFill>
                  <a:srgbClr val="898989"/>
                </a:solidFill>
                <a:latin typeface="Arial"/>
                <a:ea typeface="Arial"/>
                <a:cs typeface="Arial"/>
              </a:rPr>
              <a:t>‹#›</a:t>
            </a:fld>
            <a:endParaRPr sz="1000" b="0" i="0" u="none" kern="1200" cap="none" spc="0" baseline="0">
              <a:ln>
                <a:noFill/>
              </a:ln>
              <a:solidFill>
                <a:srgbClr val="898989"/>
              </a:solidFill>
              <a:latin typeface="Arial"/>
              <a:ea typeface="Arial"/>
              <a:cs typeface="Arial"/>
            </a:endParaRPr>
          </a:p>
        </p:txBody>
      </p:sp>
      <p:sp>
        <p:nvSpPr>
          <p:cNvPr id="10" name="文本框 9">
            <a:extLst>
              <a:ext uri="{FF2B5EF4-FFF2-40B4-BE49-F238E27FC236}">
                <a16:creationId xmlns:a16="http://schemas.microsoft.com/office/drawing/2014/main" id="{B89B342C-00D8-434B-B0BD-02AE9017D3DF}"/>
              </a:ext>
            </a:extLst>
          </p:cNvPr>
          <p:cNvSpPr>
            <a:spLocks noGrp="1"/>
          </p:cNvSpPr>
          <p:nvPr/>
        </p:nvSpPr>
        <p:spPr>
          <a:xfrm>
            <a:off x="119427" y="6530079"/>
            <a:ext cx="4075584" cy="246221"/>
          </a:xfrm>
          <a:prstGeom prst="rect">
            <a:avLst/>
          </a:prstGeom>
          <a:noFill/>
        </p:spPr>
        <p:txBody>
          <a:bodyPr wrap="square">
            <a:spAutoFit/>
          </a:bodyPr>
          <a:lstStyle/>
          <a:p>
            <a:pPr marL="0" marR="0" lvl="0" indent="0" algn="l" defTabSz="914400">
              <a:lnSpc>
                <a:spcPct val="100000"/>
              </a:lnSpc>
              <a:spcBef>
                <a:spcPts val="0"/>
              </a:spcBef>
              <a:spcAft>
                <a:spcPts val="0"/>
              </a:spcAft>
              <a:buClrTx/>
              <a:buSzTx/>
              <a:buFontTx/>
              <a:buNone/>
            </a:pPr>
            <a:r>
              <a:rPr sz="1000" b="0" i="0" u="none" cap="none">
                <a:ln>
                  <a:noFill/>
                </a:ln>
                <a:solidFill>
                  <a:srgbClr val="898989"/>
                </a:solidFill>
                <a:latin typeface="Arial"/>
                <a:ea typeface="Arial"/>
                <a:cs typeface="Arial"/>
              </a:rPr>
              <a:t>| 沐曦内部资料 | MetaX Confidential | All Rights Reserved | </a:t>
            </a:r>
          </a:p>
        </p:txBody>
      </p:sp>
      <p:sp>
        <p:nvSpPr>
          <p:cNvPr id="11" name="矩形 10">
            <a:extLst>
              <a:ext uri="{FF2B5EF4-FFF2-40B4-BE49-F238E27FC236}">
                <a16:creationId xmlns:a16="http://schemas.microsoft.com/office/drawing/2014/main" id="{36F0411C-4DFC-49BC-9A89-45B17A7B8A7B}"/>
              </a:ext>
            </a:extLst>
          </p:cNvPr>
          <p:cNvSpPr>
            <a:spLocks noGrp="1"/>
          </p:cNvSpPr>
          <p:nvPr/>
        </p:nvSpPr>
        <p:spPr>
          <a:xfrm>
            <a:off x="-1989822" y="901722"/>
            <a:ext cx="1889577" cy="326387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endParaRPr sz="1200" b="0" i="0" u="none" kern="1200" cap="none" spc="0" baseline="0">
              <a:ln>
                <a:noFill/>
              </a:ln>
              <a:solidFill>
                <a:prstClr val="white"/>
              </a:solidFill>
              <a:latin typeface="思源黑体 CN Regular"/>
              <a:ea typeface="思源黑体 CN Regular"/>
              <a:cs typeface="思源黑体 CN Regular"/>
            </a:endParaRPr>
          </a:p>
        </p:txBody>
      </p:sp>
      <p:sp>
        <p:nvSpPr>
          <p:cNvPr id="12" name="矩形 11">
            <a:extLst>
              <a:ext uri="{FF2B5EF4-FFF2-40B4-BE49-F238E27FC236}">
                <a16:creationId xmlns:a16="http://schemas.microsoft.com/office/drawing/2014/main" id="{1FECAD8D-E8D4-43B9-9E2E-18AFBE564A37}"/>
              </a:ext>
            </a:extLst>
          </p:cNvPr>
          <p:cNvSpPr>
            <a:spLocks noGrp="1"/>
          </p:cNvSpPr>
          <p:nvPr/>
        </p:nvSpPr>
        <p:spPr>
          <a:xfrm>
            <a:off x="-996268" y="1062906"/>
            <a:ext cx="787524" cy="720000"/>
          </a:xfrm>
          <a:prstGeom prst="rect">
            <a:avLst/>
          </a:prstGeom>
          <a:solidFill>
            <a:srgbClr val="A894B1"/>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137</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#A894B1</a:t>
            </a:r>
          </a:p>
        </p:txBody>
      </p:sp>
      <p:sp>
        <p:nvSpPr>
          <p:cNvPr id="13" name="矩形 12">
            <a:extLst>
              <a:ext uri="{FF2B5EF4-FFF2-40B4-BE49-F238E27FC236}">
                <a16:creationId xmlns:a16="http://schemas.microsoft.com/office/drawing/2014/main" id="{59705891-32F6-440E-AE33-ECE6439AB9F2}"/>
              </a:ext>
            </a:extLst>
          </p:cNvPr>
          <p:cNvSpPr>
            <a:spLocks noGrp="1"/>
          </p:cNvSpPr>
          <p:nvPr/>
        </p:nvSpPr>
        <p:spPr>
          <a:xfrm>
            <a:off x="-1883528" y="1062906"/>
            <a:ext cx="787524" cy="720000"/>
          </a:xfrm>
          <a:prstGeom prst="rect">
            <a:avLst/>
          </a:prstGeom>
          <a:solidFill>
            <a:srgbClr val="66087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102</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8</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116</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#660874</a:t>
            </a:r>
          </a:p>
        </p:txBody>
      </p:sp>
      <p:sp>
        <p:nvSpPr>
          <p:cNvPr id="14" name="矩形 13">
            <a:extLst>
              <a:ext uri="{FF2B5EF4-FFF2-40B4-BE49-F238E27FC236}">
                <a16:creationId xmlns:a16="http://schemas.microsoft.com/office/drawing/2014/main" id="{FD118E13-8FC0-4A1B-8713-BD3602D3B378}"/>
              </a:ext>
            </a:extLst>
          </p:cNvPr>
          <p:cNvSpPr>
            <a:spLocks noGrp="1"/>
          </p:cNvSpPr>
          <p:nvPr/>
        </p:nvSpPr>
        <p:spPr>
          <a:xfrm>
            <a:off x="-1883528" y="2729160"/>
            <a:ext cx="787524" cy="720000"/>
          </a:xfrm>
          <a:prstGeom prst="rect">
            <a:avLst/>
          </a:prstGeom>
          <a:solidFill>
            <a:srgbClr val="1E8E9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30</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142</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148</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#1E8E94</a:t>
            </a:r>
          </a:p>
        </p:txBody>
      </p:sp>
      <p:sp>
        <p:nvSpPr>
          <p:cNvPr id="15" name="矩形 14">
            <a:extLst>
              <a:ext uri="{FF2B5EF4-FFF2-40B4-BE49-F238E27FC236}">
                <a16:creationId xmlns:a16="http://schemas.microsoft.com/office/drawing/2014/main" id="{622A5A3C-8F40-4204-AC80-917EA9B2B7C0}"/>
              </a:ext>
            </a:extLst>
          </p:cNvPr>
          <p:cNvSpPr>
            <a:spLocks noGrp="1"/>
          </p:cNvSpPr>
          <p:nvPr/>
        </p:nvSpPr>
        <p:spPr>
          <a:xfrm>
            <a:off x="-1002993" y="2729160"/>
            <a:ext cx="787524" cy="720000"/>
          </a:xfrm>
          <a:prstGeom prst="rect">
            <a:avLst/>
          </a:prstGeom>
          <a:solidFill>
            <a:srgbClr val="E5E6E9"/>
          </a:soli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229</a:t>
            </a: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230</a:t>
            </a: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233</a:t>
            </a:r>
          </a:p>
          <a:p>
            <a:pPr marL="0" marR="0" lvl="0" indent="0" algn="ctr" defTabSz="914400">
              <a:lnSpc>
                <a:spcPct val="100000"/>
              </a:lnSpc>
              <a:spcBef>
                <a:spcPts val="0"/>
              </a:spcBef>
              <a:spcAft>
                <a:spcPts val="0"/>
              </a:spcAft>
              <a:buClrTx/>
              <a:buSzTx/>
              <a:buFontTx/>
              <a:buNone/>
            </a:pPr>
            <a:r>
              <a:rPr sz="1000" b="0" i="0" u="none" cap="none">
                <a:ln>
                  <a:noFill/>
                </a:ln>
                <a:solidFill>
                  <a:prstClr val="black"/>
                </a:solidFill>
                <a:latin typeface="思源黑体 CN Regular"/>
                <a:ea typeface="思源黑体 CN Regular"/>
                <a:cs typeface="思源黑体 CN Regular"/>
              </a:rPr>
              <a:t>#E5E6E9</a:t>
            </a:r>
          </a:p>
        </p:txBody>
      </p:sp>
      <p:sp>
        <p:nvSpPr>
          <p:cNvPr id="16" name="矩形 15">
            <a:extLst>
              <a:ext uri="{FF2B5EF4-FFF2-40B4-BE49-F238E27FC236}">
                <a16:creationId xmlns:a16="http://schemas.microsoft.com/office/drawing/2014/main" id="{2BD13F43-4FBF-4FA3-BF21-8292368DA507}"/>
              </a:ext>
            </a:extLst>
          </p:cNvPr>
          <p:cNvSpPr>
            <a:spLocks noGrp="1"/>
          </p:cNvSpPr>
          <p:nvPr/>
        </p:nvSpPr>
        <p:spPr>
          <a:xfrm>
            <a:off x="-1883528" y="1891510"/>
            <a:ext cx="787524" cy="720000"/>
          </a:xfrm>
          <a:prstGeom prst="rect">
            <a:avLst/>
          </a:prstGeom>
          <a:solidFill>
            <a:srgbClr val="48BB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72</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187</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0</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#48BB00</a:t>
            </a:r>
          </a:p>
        </p:txBody>
      </p:sp>
      <p:sp>
        <p:nvSpPr>
          <p:cNvPr id="17" name="矩形 16">
            <a:extLst>
              <a:ext uri="{FF2B5EF4-FFF2-40B4-BE49-F238E27FC236}">
                <a16:creationId xmlns:a16="http://schemas.microsoft.com/office/drawing/2014/main" id="{99A4B678-7241-49C3-8384-FE61E9999B30}"/>
              </a:ext>
            </a:extLst>
          </p:cNvPr>
          <p:cNvSpPr>
            <a:spLocks noGrp="1"/>
          </p:cNvSpPr>
          <p:nvPr/>
        </p:nvSpPr>
        <p:spPr>
          <a:xfrm>
            <a:off x="-996268" y="1883802"/>
            <a:ext cx="787524" cy="720000"/>
          </a:xfrm>
          <a:prstGeom prst="rect">
            <a:avLst/>
          </a:prstGeom>
          <a:solidFill>
            <a:srgbClr val="A4D48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104</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212</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135</a:t>
            </a:r>
          </a:p>
          <a:p>
            <a:pPr marL="0" marR="0" lvl="0" indent="0" algn="ctr" defTabSz="914400">
              <a:lnSpc>
                <a:spcPct val="100000"/>
              </a:lnSpc>
              <a:spcBef>
                <a:spcPts val="0"/>
              </a:spcBef>
              <a:spcAft>
                <a:spcPts val="0"/>
              </a:spcAft>
              <a:buClrTx/>
              <a:buSzTx/>
              <a:buFontTx/>
              <a:buNone/>
            </a:pPr>
            <a:r>
              <a:rPr sz="1000" b="0" i="0" u="none" cap="none">
                <a:ln>
                  <a:noFill/>
                </a:ln>
                <a:solidFill>
                  <a:prstClr val="white"/>
                </a:solidFill>
                <a:latin typeface="思源黑体 CN Regular"/>
                <a:ea typeface="思源黑体 CN Regular"/>
                <a:cs typeface="思源黑体 CN Regular"/>
              </a:rPr>
              <a:t>#A4D487</a:t>
            </a:r>
            <a:endParaRPr sz="1000" b="0" i="0" u="none" kern="1200" cap="none" spc="0" baseline="0">
              <a:ln>
                <a:noFill/>
              </a:ln>
              <a:solidFill>
                <a:prstClr val="white"/>
              </a:solidFill>
              <a:latin typeface="思源黑体 CN Regular"/>
              <a:ea typeface="思源黑体 CN Regular"/>
              <a:cs typeface="思源黑体 CN Regular"/>
            </a:endParaRPr>
          </a:p>
        </p:txBody>
      </p:sp>
      <p:pic>
        <p:nvPicPr>
          <p:cNvPr id="30" name="图片 17"/>
          <p:cNvPicPr>
            <a:picLocks noChangeAspect="1"/>
          </p:cNvPicPr>
          <p:nvPr/>
        </p:nvPicPr>
        <p:blipFill>
          <a:blip r:embed="rId3"/>
          <a:stretch>
            <a:fillRect/>
          </a:stretch>
        </p:blipFill>
        <p:spPr>
          <a:xfrm>
            <a:off x="-1883528" y="3610344"/>
            <a:ext cx="1616008" cy="391986"/>
          </a:xfrm>
          <a:prstGeom prst="rect">
            <a:avLst/>
          </a:prstGeom>
        </p:spPr>
      </p:pic>
    </p:spTree>
  </p:cSld>
  <p:clrMap bg1="lt1" tx1="dk1" bg2="lt2" tx2="dk2" accent1="accent1" accent2="accent2" accent3="accent3" accent4="accent4" accent5="accent5" accent6="accent6" hlink="hlink" folHlink="folHlink"/>
  <p:sldLayoutIdLst>
    <p:sldLayoutId id="2147483660" r:id="rId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3.xml"/><Relationship Id="rId1" Type="http://schemas.openxmlformats.org/officeDocument/2006/relationships/slideLayout" Target="../slideLayouts/slideLayout4.xml"/><Relationship Id="rId5" Type="http://schemas.openxmlformats.org/officeDocument/2006/relationships/image" Target="../media/image27.png"/><Relationship Id="rId4" Type="http://schemas.openxmlformats.org/officeDocument/2006/relationships/customXml" Target="../ink/ink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6.png"/><Relationship Id="rId4" Type="http://schemas.openxmlformats.org/officeDocument/2006/relationships/image" Target="../media/image29.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4AE3B4-8E56-4323-A9C6-4905DD1FD815}"/>
              </a:ext>
            </a:extLst>
          </p:cNvPr>
          <p:cNvSpPr>
            <a:spLocks noGrp="1"/>
          </p:cNvSpPr>
          <p:nvPr>
            <p:ph type="ctrTitle"/>
          </p:nvPr>
        </p:nvSpPr>
        <p:spPr>
          <a:xfrm>
            <a:off x="743998" y="2437162"/>
            <a:ext cx="9144000" cy="1369981"/>
          </a:xfrm>
        </p:spPr>
        <p:txBody>
          <a:bodyPr>
            <a:normAutofit fontScale="90000"/>
          </a:bodyPr>
          <a:lstStyle/>
          <a:p>
            <a:r>
              <a:rPr dirty="0" err="1"/>
              <a:t>第三课：国产</a:t>
            </a:r>
            <a:r>
              <a:rPr dirty="0"/>
              <a:t> GPU </a:t>
            </a:r>
            <a:r>
              <a:rPr dirty="0" err="1"/>
              <a:t>上的</a:t>
            </a:r>
            <a:endParaRPr dirty="0"/>
          </a:p>
          <a:p>
            <a:r>
              <a:t>Encoder–Decoder </a:t>
            </a:r>
            <a:r>
              <a:rPr dirty="0" err="1"/>
              <a:t>翻译训练与验证</a:t>
            </a:r>
            <a:endParaRPr dirty="0"/>
          </a:p>
        </p:txBody>
      </p:sp>
      <p:sp>
        <p:nvSpPr>
          <p:cNvPr id="3" name="副标题 2">
            <a:extLst>
              <a:ext uri="{FF2B5EF4-FFF2-40B4-BE49-F238E27FC236}">
                <a16:creationId xmlns:a16="http://schemas.microsoft.com/office/drawing/2014/main" id="{1CF84A56-5ED0-4249-AD29-3229A3BEBAED}"/>
              </a:ext>
            </a:extLst>
          </p:cNvPr>
          <p:cNvSpPr>
            <a:spLocks noGrp="1"/>
          </p:cNvSpPr>
          <p:nvPr>
            <p:ph type="subTitle" idx="1"/>
          </p:nvPr>
        </p:nvSpPr>
        <p:spPr>
          <a:xfrm>
            <a:off x="743985" y="4699245"/>
            <a:ext cx="9144000" cy="424021"/>
          </a:xfrm>
        </p:spPr>
        <p:txBody>
          <a:bodyPr/>
          <a:lstStyle/>
          <a:p>
            <a:r>
              <a:t>90分钟｜加载权重、数值验证、训练优化与10句翻译提交</a:t>
            </a:r>
          </a:p>
        </p:txBody>
      </p:sp>
      <p:sp>
        <p:nvSpPr>
          <p:cNvPr id="4" name="文本框 3">
            <a:extLst>
              <a:ext uri="{FF2B5EF4-FFF2-40B4-BE49-F238E27FC236}">
                <a16:creationId xmlns:a16="http://schemas.microsoft.com/office/drawing/2014/main" id="{B13ED946-F1A9-A150-1995-B51A028E8229}"/>
              </a:ext>
            </a:extLst>
          </p:cNvPr>
          <p:cNvSpPr>
            <a:spLocks noGrp="1"/>
          </p:cNvSpPr>
          <p:nvPr/>
        </p:nvSpPr>
        <p:spPr>
          <a:xfrm>
            <a:off x="2837329" y="4114800"/>
            <a:ext cx="0" cy="0"/>
          </a:xfrm>
          <a:prstGeom prst="rect">
            <a:avLst/>
          </a:prstGeom>
        </p:spPr>
        <p:txBody>
          <a:bodyPr vert="horz" wrap="none" lIns="91440" tIns="45720" rIns="91440" bIns="45720" anchor="ctr">
            <a:normAutofit fontScale="25000" lnSpcReduction="20000"/>
          </a:bodyPr>
          <a:lstStyle/>
          <a:p>
            <a:endParaRPr/>
          </a:p>
        </p:txBody>
      </p:sp>
    </p:spTree>
    <p:extLst>
      <p:ext uri="{BB962C8B-B14F-4D97-AF65-F5344CB8AC3E}">
        <p14:creationId xmlns:p14="http://schemas.microsoft.com/office/powerpoint/2010/main" val="661306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502BA-2A4C-2B7F-0D92-E15F6E130489}"/>
              </a:ext>
            </a:extLst>
          </p:cNvPr>
          <p:cNvSpPr>
            <a:spLocks noGrp="1"/>
          </p:cNvSpPr>
          <p:nvPr>
            <p:ph type="title"/>
          </p:nvPr>
        </p:nvSpPr>
        <p:spPr>
          <a:xfrm>
            <a:off x="5649182" y="3033427"/>
            <a:ext cx="5711095" cy="677323"/>
          </a:xfrm>
        </p:spPr>
        <p:txBody>
          <a:bodyPr/>
          <a:lstStyle/>
          <a:p>
            <a:pPr>
              <a:defRPr>
                <a:solidFill>
                  <a:srgbClr val="000000"/>
                </a:solidFill>
              </a:defRPr>
            </a:pPr>
            <a:r>
              <a:rPr dirty="0" err="1">
                <a:solidFill>
                  <a:srgbClr val="000000"/>
                </a:solidFill>
              </a:rPr>
              <a:t>一.加载权重</a:t>
            </a:r>
            <a:endParaRPr dirty="0">
              <a:solidFill>
                <a:srgbClr val="000000"/>
              </a:solidFill>
            </a:endParaRPr>
          </a:p>
        </p:txBody>
      </p:sp>
    </p:spTree>
    <p:extLst>
      <p:ext uri="{BB962C8B-B14F-4D97-AF65-F5344CB8AC3E}">
        <p14:creationId xmlns:p14="http://schemas.microsoft.com/office/powerpoint/2010/main" val="4849785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a:solidFill>
                  <a:srgbClr val="000000"/>
                </a:solidFill>
              </a:rPr>
              <a:t>1.1 第三课从第二课的训练产物继续</a:t>
            </a:r>
            <a:endParaRPr sz="180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297275" y="1099852"/>
            <a:ext cx="5662803" cy="5018437"/>
          </a:xfrm>
        </p:spPr>
        <p:txBody>
          <a:bodyPr>
            <a:normAutofit fontScale="88295" lnSpcReduction="20000"/>
          </a:bodyPr>
          <a:lstStyle/>
          <a:p>
            <a:pPr marL="0" indent="0">
              <a:buNone/>
            </a:pPr>
            <a:r>
              <a:rPr dirty="0" err="1">
                <a:solidFill>
                  <a:schemeClr val="tx1"/>
                </a:solidFill>
              </a:rPr>
              <a:t>第二课已经完成</a:t>
            </a:r>
            <a:endParaRPr dirty="0">
              <a:solidFill>
                <a:schemeClr val="tx1"/>
              </a:solidFill>
            </a:endParaRPr>
          </a:p>
          <a:p>
            <a:pPr marL="0" indent="0">
              <a:buNone/>
            </a:pPr>
            <a:r>
              <a:rPr b="0" dirty="0">
                <a:solidFill>
                  <a:schemeClr val="tx1"/>
                </a:solidFill>
              </a:rPr>
              <a:t>• </a:t>
            </a:r>
            <a:r>
              <a:rPr b="0" dirty="0" err="1">
                <a:solidFill>
                  <a:schemeClr val="tx1"/>
                </a:solidFill>
              </a:rPr>
              <a:t>在沐曦</a:t>
            </a:r>
            <a:r>
              <a:rPr b="0" dirty="0">
                <a:solidFill>
                  <a:schemeClr val="tx1"/>
                </a:solidFill>
              </a:rPr>
              <a:t> C500 </a:t>
            </a:r>
            <a:r>
              <a:rPr b="0" dirty="0" err="1">
                <a:solidFill>
                  <a:schemeClr val="tx1"/>
                </a:solidFill>
              </a:rPr>
              <a:t>上跑通</a:t>
            </a:r>
            <a:r>
              <a:rPr b="0" dirty="0">
                <a:solidFill>
                  <a:schemeClr val="tx1"/>
                </a:solidFill>
              </a:rPr>
              <a:t> Encoder–Decoder </a:t>
            </a:r>
            <a:r>
              <a:rPr b="0" dirty="0" err="1">
                <a:solidFill>
                  <a:schemeClr val="tx1"/>
                </a:solidFill>
              </a:rPr>
              <a:t>训练</a:t>
            </a:r>
            <a:endParaRPr b="0" dirty="0">
              <a:solidFill>
                <a:schemeClr val="tx1"/>
              </a:solidFill>
            </a:endParaRPr>
          </a:p>
          <a:p>
            <a:pPr marL="0" indent="0">
              <a:buNone/>
            </a:pPr>
            <a:r>
              <a:rPr b="0" dirty="0"/>
              <a:t>• </a:t>
            </a:r>
            <a:r>
              <a:rPr b="0" dirty="0" err="1"/>
              <a:t>生成</a:t>
            </a:r>
            <a:r>
              <a:rPr b="0" dirty="0"/>
              <a:t> </a:t>
            </a:r>
            <a:r>
              <a:rPr b="0" dirty="0" err="1"/>
              <a:t>checkpoint、训练日志、验证日志和预测文件</a:t>
            </a:r>
            <a:endParaRPr b="0" dirty="0">
              <a:solidFill>
                <a:schemeClr val="tx1"/>
              </a:solidFill>
            </a:endParaRPr>
          </a:p>
          <a:p>
            <a:pPr marL="0" indent="0">
              <a:buNone/>
            </a:pPr>
            <a:endParaRPr dirty="0"/>
          </a:p>
          <a:p>
            <a:pPr marL="0" lvl="0" indent="0">
              <a:buNone/>
            </a:pPr>
            <a:r>
              <a:rPr dirty="0" err="1">
                <a:solidFill>
                  <a:schemeClr val="tx1"/>
                </a:solidFill>
              </a:rPr>
              <a:t>第三课的四项验收任务</a:t>
            </a:r>
            <a:endParaRPr dirty="0">
              <a:solidFill>
                <a:schemeClr val="tx1"/>
              </a:solidFill>
            </a:endParaRPr>
          </a:p>
          <a:p>
            <a:pPr marL="0" lvl="0" indent="0">
              <a:buNone/>
            </a:pPr>
            <a:r>
              <a:rPr b="0" dirty="0"/>
              <a:t>1. </a:t>
            </a:r>
            <a:r>
              <a:rPr b="0" dirty="0" err="1"/>
              <a:t>加载已训练好的模型权重</a:t>
            </a:r>
            <a:endParaRPr b="0" dirty="0">
              <a:solidFill>
                <a:schemeClr val="tx1"/>
              </a:solidFill>
            </a:endParaRPr>
          </a:p>
          <a:p>
            <a:pPr marL="0" lvl="0" indent="0">
              <a:buNone/>
            </a:pPr>
            <a:r>
              <a:rPr b="0" dirty="0">
                <a:solidFill>
                  <a:schemeClr val="tx1"/>
                </a:solidFill>
              </a:rPr>
              <a:t>2. </a:t>
            </a:r>
            <a:r>
              <a:rPr b="0" dirty="0" err="1">
                <a:solidFill>
                  <a:schemeClr val="tx1"/>
                </a:solidFill>
              </a:rPr>
              <a:t>验证</a:t>
            </a:r>
            <a:r>
              <a:rPr b="0" dirty="0">
                <a:solidFill>
                  <a:schemeClr val="tx1"/>
                </a:solidFill>
              </a:rPr>
              <a:t> Attention </a:t>
            </a:r>
            <a:r>
              <a:rPr b="0" dirty="0" err="1">
                <a:solidFill>
                  <a:schemeClr val="tx1"/>
                </a:solidFill>
              </a:rPr>
              <a:t>与</a:t>
            </a:r>
            <a:r>
              <a:rPr b="0" dirty="0">
                <a:solidFill>
                  <a:schemeClr val="tx1"/>
                </a:solidFill>
              </a:rPr>
              <a:t> Mask </a:t>
            </a:r>
            <a:r>
              <a:rPr b="0" dirty="0" err="1">
                <a:solidFill>
                  <a:schemeClr val="tx1"/>
                </a:solidFill>
              </a:rPr>
              <a:t>的数值正确性</a:t>
            </a:r>
            <a:endParaRPr b="0" dirty="0">
              <a:solidFill>
                <a:schemeClr val="tx1"/>
              </a:solidFill>
            </a:endParaRPr>
          </a:p>
          <a:p>
            <a:pPr marL="0" indent="0">
              <a:buNone/>
            </a:pPr>
            <a:r>
              <a:rPr b="0" dirty="0"/>
              <a:t>3. </a:t>
            </a:r>
            <a:r>
              <a:rPr b="0" dirty="0" err="1"/>
              <a:t>优化损失计算并观察收敛变化</a:t>
            </a:r>
            <a:endParaRPr b="0" dirty="0">
              <a:solidFill>
                <a:schemeClr val="tx1"/>
              </a:solidFill>
            </a:endParaRPr>
          </a:p>
          <a:p>
            <a:pPr marL="0" indent="0">
              <a:buNone/>
            </a:pPr>
            <a:r>
              <a:rPr b="0" dirty="0"/>
              <a:t>4. 翻译10个测试句并提交结果</a:t>
            </a:r>
            <a:endParaRPr b="0" dirty="0">
              <a:solidFill>
                <a:schemeClr val="tx1"/>
              </a:solidFill>
            </a:endParaRPr>
          </a:p>
          <a:p>
            <a:pPr marL="0" indent="0">
              <a:buNone/>
            </a:pPr>
            <a:endParaRPr b="0" dirty="0">
              <a:solidFill>
                <a:schemeClr val="tx1"/>
              </a:solidFill>
            </a:endParaRPr>
          </a:p>
          <a:p>
            <a:pPr marL="0" indent="0">
              <a:buNone/>
            </a:pPr>
            <a:r>
              <a:rPr dirty="0" err="1"/>
              <a:t>本课不重复推导完整</a:t>
            </a:r>
            <a:r>
              <a:rPr dirty="0"/>
              <a:t> Transformer </a:t>
            </a:r>
            <a:r>
              <a:rPr dirty="0" err="1"/>
              <a:t>结构</a:t>
            </a:r>
            <a:r>
              <a:rPr dirty="0"/>
              <a:t>。</a:t>
            </a:r>
            <a:endParaRPr b="0" dirty="0">
              <a:solidFill>
                <a:schemeClr val="tx1"/>
              </a:solidFill>
            </a:endParaRP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spTree>
    <p:extLst>
      <p:ext uri="{BB962C8B-B14F-4D97-AF65-F5344CB8AC3E}">
        <p14:creationId xmlns:p14="http://schemas.microsoft.com/office/powerpoint/2010/main" val="322313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D7A4D-A5E7-8269-02BF-7E56A3CF51FD}"/>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dirty="0">
                <a:solidFill>
                  <a:srgbClr val="000000"/>
                </a:solidFill>
              </a:rPr>
              <a:t>1.2 90分钟围绕</a:t>
            </a:r>
            <a:r>
              <a:rPr lang="zh-CN" altLang="en-US" dirty="0">
                <a:solidFill>
                  <a:srgbClr val="000000"/>
                </a:solidFill>
              </a:rPr>
              <a:t>六个流程</a:t>
            </a:r>
            <a:r>
              <a:rPr dirty="0" err="1">
                <a:solidFill>
                  <a:srgbClr val="000000"/>
                </a:solidFill>
              </a:rPr>
              <a:t>展开</a:t>
            </a:r>
            <a:endParaRPr dirty="0">
              <a:solidFill>
                <a:srgbClr val="000000"/>
              </a:solidFill>
            </a:endParaRPr>
          </a:p>
        </p:txBody>
      </p:sp>
      <p:pic>
        <p:nvPicPr>
          <p:cNvPr id="5" name="内容占位符 4">
            <a:extLst>
              <a:ext uri="{FF2B5EF4-FFF2-40B4-BE49-F238E27FC236}">
                <a16:creationId xmlns:a16="http://schemas.microsoft.com/office/drawing/2014/main" id="{83E3E33A-E0C3-69A5-5998-CD553212F0C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34257" y="1094787"/>
            <a:ext cx="10972175" cy="5003312"/>
          </a:xfrm>
          <a:prstGeom prst="rect">
            <a:avLst/>
          </a:prstGeom>
        </p:spPr>
      </p:pic>
    </p:spTree>
    <p:extLst>
      <p:ext uri="{BB962C8B-B14F-4D97-AF65-F5344CB8AC3E}">
        <p14:creationId xmlns:p14="http://schemas.microsoft.com/office/powerpoint/2010/main" val="3320942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3D6D1C3-EDB3-D4EA-5F72-C719FABC70C0}"/>
              </a:ext>
            </a:extLst>
          </p:cNvPr>
          <p:cNvSpPr>
            <a:spLocks noGrp="1"/>
          </p:cNvSpPr>
          <p:nvPr>
            <p:ph type="title"/>
          </p:nvPr>
        </p:nvSpPr>
        <p:spPr>
          <a:xfrm>
            <a:off x="325524" y="293460"/>
            <a:ext cx="10054780" cy="651605"/>
          </a:xfrm>
        </p:spPr>
        <p:txBody>
          <a:bodyPr>
            <a:normAutofit/>
          </a:bodyPr>
          <a:lstStyle/>
          <a:p>
            <a:pPr>
              <a:defRPr>
                <a:solidFill>
                  <a:srgbClr val="000000"/>
                </a:solidFill>
              </a:defRPr>
            </a:pPr>
            <a:r>
              <a:rPr dirty="0">
                <a:solidFill>
                  <a:srgbClr val="000000"/>
                </a:solidFill>
              </a:rPr>
              <a:t>1.3 </a:t>
            </a:r>
            <a:r>
              <a:rPr dirty="0" err="1">
                <a:solidFill>
                  <a:srgbClr val="000000"/>
                </a:solidFill>
              </a:rPr>
              <a:t>加载权重前</a:t>
            </a:r>
            <a:r>
              <a:rPr dirty="0">
                <a:solidFill>
                  <a:srgbClr val="000000"/>
                </a:solidFill>
              </a:rPr>
              <a:t>，</a:t>
            </a:r>
            <a:r>
              <a:rPr lang="zh-CN" altLang="en-US" dirty="0">
                <a:solidFill>
                  <a:srgbClr val="000000"/>
                </a:solidFill>
              </a:rPr>
              <a:t>三</a:t>
            </a:r>
            <a:r>
              <a:rPr dirty="0" err="1">
                <a:solidFill>
                  <a:srgbClr val="000000"/>
                </a:solidFill>
              </a:rPr>
              <a:t>类文件必须配套</a:t>
            </a:r>
            <a:endParaRPr sz="1800" dirty="0"/>
          </a:p>
        </p:txBody>
      </p:sp>
      <p:pic>
        <p:nvPicPr>
          <p:cNvPr id="6" name="内容占位符 5">
            <a:extLst>
              <a:ext uri="{FF2B5EF4-FFF2-40B4-BE49-F238E27FC236}">
                <a16:creationId xmlns:a16="http://schemas.microsoft.com/office/drawing/2014/main" id="{42EDC6DC-A432-4C1C-5FE6-E5E214AB84D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32787" y="1008711"/>
            <a:ext cx="10750078" cy="5555829"/>
          </a:xfrm>
          <a:prstGeom prst="rect">
            <a:avLst/>
          </a:prstGeom>
        </p:spPr>
      </p:pic>
      <p:sp>
        <p:nvSpPr>
          <p:cNvPr id="7" name="文本框 6">
            <a:extLst>
              <a:ext uri="{FF2B5EF4-FFF2-40B4-BE49-F238E27FC236}">
                <a16:creationId xmlns:a16="http://schemas.microsoft.com/office/drawing/2014/main" id="{F60ECD2F-53B9-94F7-5C8F-AE7C425195A3}"/>
              </a:ext>
            </a:extLst>
          </p:cNvPr>
          <p:cNvSpPr>
            <a:spLocks noGrp="1"/>
          </p:cNvSpPr>
          <p:nvPr/>
        </p:nvSpPr>
        <p:spPr>
          <a:xfrm>
            <a:off x="5719482" y="3424518"/>
            <a:ext cx="0" cy="0"/>
          </a:xfrm>
          <a:prstGeom prst="rect">
            <a:avLst/>
          </a:prstGeom>
        </p:spPr>
        <p:txBody>
          <a:bodyPr vert="horz" wrap="none" lIns="91440" tIns="45720" rIns="91440" bIns="45720" anchor="ctr">
            <a:normAutofit fontScale="25000" lnSpcReduction="20000"/>
          </a:bodyPr>
          <a:lstStyle/>
          <a:p>
            <a:endParaRPr/>
          </a:p>
        </p:txBody>
      </p:sp>
      <p:sp>
        <p:nvSpPr>
          <p:cNvPr id="8" name="文本框 7">
            <a:extLst>
              <a:ext uri="{FF2B5EF4-FFF2-40B4-BE49-F238E27FC236}">
                <a16:creationId xmlns:a16="http://schemas.microsoft.com/office/drawing/2014/main" id="{6A8CE5B2-6EFB-0A65-A9B1-C986338A115D}"/>
              </a:ext>
            </a:extLst>
          </p:cNvPr>
          <p:cNvSpPr>
            <a:spLocks noGrp="1"/>
          </p:cNvSpPr>
          <p:nvPr/>
        </p:nvSpPr>
        <p:spPr>
          <a:xfrm>
            <a:off x="6400800" y="3065929"/>
            <a:ext cx="0" cy="0"/>
          </a:xfrm>
          <a:prstGeom prst="rect">
            <a:avLst/>
          </a:prstGeom>
        </p:spPr>
        <p:txBody>
          <a:bodyPr vert="horz" wrap="none" lIns="91440" tIns="45720" rIns="91440" bIns="45720" anchor="ctr">
            <a:normAutofit fontScale="25000" lnSpcReduction="20000"/>
          </a:bodyPr>
          <a:lstStyle/>
          <a:p>
            <a:endParaRPr/>
          </a:p>
        </p:txBody>
      </p:sp>
    </p:spTree>
    <p:extLst>
      <p:ext uri="{BB962C8B-B14F-4D97-AF65-F5344CB8AC3E}">
        <p14:creationId xmlns:p14="http://schemas.microsoft.com/office/powerpoint/2010/main" val="26534329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E3DE0F8-2B95-0870-07E8-66AE7A487BB3}"/>
              </a:ext>
            </a:extLst>
          </p:cNvPr>
          <p:cNvSpPr>
            <a:spLocks noGrp="1"/>
          </p:cNvSpPr>
          <p:nvPr>
            <p:ph type="title"/>
          </p:nvPr>
        </p:nvSpPr>
        <p:spPr/>
        <p:txBody>
          <a:bodyPr/>
          <a:lstStyle/>
          <a:p>
            <a:r>
              <a:rPr lang="en-US" altLang="zh-CN" dirty="0">
                <a:solidFill>
                  <a:srgbClr val="000000"/>
                </a:solidFill>
              </a:rPr>
              <a:t>1.3</a:t>
            </a:r>
            <a:r>
              <a:rPr lang="zh-CN" altLang="zh-CN" dirty="0"/>
              <a:t>实操 1：确认 checkpoint、词表与 BPE 配套</a:t>
            </a:r>
            <a:endParaRPr kumimoji="1" lang="zh-CN" altLang="en-US" dirty="0"/>
          </a:p>
        </p:txBody>
      </p:sp>
      <p:pic>
        <p:nvPicPr>
          <p:cNvPr id="5" name="内容占位符 4">
            <a:extLst>
              <a:ext uri="{FF2B5EF4-FFF2-40B4-BE49-F238E27FC236}">
                <a16:creationId xmlns:a16="http://schemas.microsoft.com/office/drawing/2014/main" id="{53B51C7E-6C33-CDB7-E3C9-4B83FBABCBD8}"/>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43756" y="845858"/>
            <a:ext cx="5042441" cy="6012142"/>
          </a:xfrm>
          <a:prstGeom prst="rect">
            <a:avLst/>
          </a:prstGeom>
        </p:spPr>
      </p:pic>
      <p:pic>
        <p:nvPicPr>
          <p:cNvPr id="9" name="图片 8">
            <a:extLst>
              <a:ext uri="{FF2B5EF4-FFF2-40B4-BE49-F238E27FC236}">
                <a16:creationId xmlns:a16="http://schemas.microsoft.com/office/drawing/2014/main" id="{86121BEE-1097-AE56-5738-295E5CD7FC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257" y="845858"/>
            <a:ext cx="4699000" cy="3276600"/>
          </a:xfrm>
          <a:prstGeom prst="rect">
            <a:avLst/>
          </a:prstGeom>
        </p:spPr>
      </p:pic>
    </p:spTree>
    <p:extLst>
      <p:ext uri="{BB962C8B-B14F-4D97-AF65-F5344CB8AC3E}">
        <p14:creationId xmlns:p14="http://schemas.microsoft.com/office/powerpoint/2010/main" val="973117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65053FB1-DC07-827F-DA8B-450D11CEB720}"/>
              </a:ext>
            </a:extLst>
          </p:cNvPr>
          <p:cNvPicPr>
            <a:picLocks noChangeAspect="1"/>
          </p:cNvPicPr>
          <p:nvPr/>
        </p:nvPicPr>
        <p:blipFill>
          <a:blip r:embed="rId3">
            <a:extLst>
              <a:ext uri="{28A0092B-C50C-407E-A947-70E740481C1C}">
                <a14:useLocalDpi xmlns:a14="http://schemas.microsoft.com/office/drawing/2010/main" val="0"/>
              </a:ext>
            </a:extLst>
          </a:blip>
          <a:srcRect t="11280"/>
          <a:stretch>
            <a:fillRect/>
          </a:stretch>
        </p:blipFill>
        <p:spPr>
          <a:xfrm>
            <a:off x="816145" y="2393005"/>
            <a:ext cx="9982212" cy="4144104"/>
          </a:xfrm>
          <a:prstGeom prst="rect">
            <a:avLst/>
          </a:prstGeom>
        </p:spPr>
      </p:pic>
      <p:sp>
        <p:nvSpPr>
          <p:cNvPr id="2" name="标题 1">
            <a:extLst>
              <a:ext uri="{FF2B5EF4-FFF2-40B4-BE49-F238E27FC236}">
                <a16:creationId xmlns:a16="http://schemas.microsoft.com/office/drawing/2014/main" id="{67FF0C15-E964-2BA1-5EC7-9E37675B5577}"/>
              </a:ext>
            </a:extLst>
          </p:cNvPr>
          <p:cNvSpPr>
            <a:spLocks noGrp="1"/>
          </p:cNvSpPr>
          <p:nvPr>
            <p:ph type="title"/>
          </p:nvPr>
        </p:nvSpPr>
        <p:spPr>
          <a:xfrm>
            <a:off x="334232" y="97155"/>
            <a:ext cx="10054780" cy="651605"/>
          </a:xfrm>
        </p:spPr>
        <p:txBody>
          <a:bodyPr/>
          <a:lstStyle/>
          <a:p>
            <a:pPr>
              <a:defRPr>
                <a:solidFill>
                  <a:srgbClr val="000000"/>
                </a:solidFill>
              </a:defRPr>
            </a:pPr>
            <a:r>
              <a:rPr dirty="0">
                <a:solidFill>
                  <a:srgbClr val="000000"/>
                </a:solidFill>
              </a:rPr>
              <a:t>1.4</a:t>
            </a:r>
            <a:r>
              <a:rPr lang="zh-CN" altLang="zh-CN" dirty="0"/>
              <a:t>加载模型：先恢复结构，再装入训练好的权重</a:t>
            </a:r>
            <a:endParaRPr dirty="0">
              <a:solidFill>
                <a:srgbClr val="000000"/>
              </a:solidFill>
            </a:endParaRPr>
          </a:p>
        </p:txBody>
      </p:sp>
      <p:sp>
        <p:nvSpPr>
          <p:cNvPr id="3" name="内容占位符 2">
            <a:extLst>
              <a:ext uri="{FF2B5EF4-FFF2-40B4-BE49-F238E27FC236}">
                <a16:creationId xmlns:a16="http://schemas.microsoft.com/office/drawing/2014/main" id="{D530B4F8-25AE-C86D-FDAC-F8601F005E49}"/>
              </a:ext>
            </a:extLst>
          </p:cNvPr>
          <p:cNvSpPr>
            <a:spLocks noGrp="1"/>
          </p:cNvSpPr>
          <p:nvPr>
            <p:ph idx="1"/>
          </p:nvPr>
        </p:nvSpPr>
        <p:spPr>
          <a:xfrm>
            <a:off x="816145" y="859431"/>
            <a:ext cx="9287057" cy="1669761"/>
          </a:xfrm>
        </p:spPr>
        <p:txBody>
          <a:bodyPr>
            <a:normAutofit fontScale="78906" lnSpcReduction="10000"/>
          </a:bodyPr>
          <a:lstStyle/>
          <a:p>
            <a:r>
              <a:rPr lang="en-US" altLang="zh-CN" b="0" dirty="0">
                <a:solidFill>
                  <a:schemeClr val="tx1"/>
                </a:solidFill>
              </a:rPr>
              <a:t>c</a:t>
            </a:r>
            <a:r>
              <a:rPr lang="zh-CN" altLang="zh-CN" b="0" dirty="0">
                <a:solidFill>
                  <a:schemeClr val="tx1"/>
                </a:solidFill>
              </a:rPr>
              <a:t>heckpoint 中保存了两类关键信息：</a:t>
            </a:r>
          </a:p>
          <a:p>
            <a:pPr lvl="0"/>
            <a:r>
              <a:rPr lang="zh-CN" altLang="zh-CN" b="0" dirty="0">
                <a:solidFill>
                  <a:schemeClr val="tx1"/>
                </a:solidFill>
              </a:rPr>
              <a:t>settings：模型结构的“设计图”</a:t>
            </a:r>
          </a:p>
          <a:p>
            <a:pPr lvl="0"/>
            <a:r>
              <a:rPr lang="zh-CN" altLang="zh-CN" b="0" dirty="0">
                <a:solidFill>
                  <a:schemeClr val="tx1"/>
                </a:solidFill>
              </a:rPr>
              <a:t>model：训练得到的“翻译能力”</a:t>
            </a:r>
          </a:p>
          <a:p>
            <a:r>
              <a:rPr lang="zh-CN" altLang="zh-CN" b="0" dirty="0">
                <a:solidFill>
                  <a:schemeClr val="tx1"/>
                </a:solidFill>
              </a:rPr>
              <a:t>必须先按照 settings 重建相同的模型，才能装入训练好的权重。</a:t>
            </a:r>
          </a:p>
        </p:txBody>
      </p:sp>
    </p:spTree>
    <p:extLst>
      <p:ext uri="{BB962C8B-B14F-4D97-AF65-F5344CB8AC3E}">
        <p14:creationId xmlns:p14="http://schemas.microsoft.com/office/powerpoint/2010/main" val="23838749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FE35BAC-16F3-1666-49A5-37CF27C53F2E}"/>
              </a:ext>
            </a:extLst>
          </p:cNvPr>
          <p:cNvSpPr>
            <a:spLocks noGrp="1"/>
          </p:cNvSpPr>
          <p:nvPr>
            <p:ph type="title"/>
          </p:nvPr>
        </p:nvSpPr>
        <p:spPr/>
        <p:txBody>
          <a:bodyPr>
            <a:normAutofit/>
          </a:bodyPr>
          <a:lstStyle/>
          <a:p>
            <a:r>
              <a:rPr lang="en-US" altLang="zh-CN" dirty="0">
                <a:solidFill>
                  <a:srgbClr val="000000"/>
                </a:solidFill>
              </a:rPr>
              <a:t>1.4</a:t>
            </a:r>
            <a:r>
              <a:rPr lang="zh-CN" altLang="zh-CN" dirty="0"/>
              <a:t>实操 2：按 settings 重建模型并加载权重</a:t>
            </a:r>
            <a:endParaRPr kumimoji="1" lang="zh-CN" altLang="en-US" dirty="0"/>
          </a:p>
        </p:txBody>
      </p:sp>
      <p:pic>
        <p:nvPicPr>
          <p:cNvPr id="9" name="内容占位符 8">
            <a:extLst>
              <a:ext uri="{FF2B5EF4-FFF2-40B4-BE49-F238E27FC236}">
                <a16:creationId xmlns:a16="http://schemas.microsoft.com/office/drawing/2014/main" id="{6A2340C3-2478-895B-E736-EABA1647B3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13367" y="930352"/>
            <a:ext cx="6696580" cy="5632505"/>
          </a:xfrm>
          <a:prstGeom prst="rect">
            <a:avLst/>
          </a:prstGeom>
        </p:spPr>
      </p:pic>
    </p:spTree>
    <p:extLst>
      <p:ext uri="{BB962C8B-B14F-4D97-AF65-F5344CB8AC3E}">
        <p14:creationId xmlns:p14="http://schemas.microsoft.com/office/powerpoint/2010/main" val="3114097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5ED21B-05FC-202A-B04E-629EE288CD44}"/>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lang="en-US" altLang="zh-CN" dirty="0"/>
              <a:t>1.5 </a:t>
            </a:r>
            <a:r>
              <a:rPr lang="zh-CN" altLang="en-US" dirty="0"/>
              <a:t>加载成功，只是模型验证的第一步</a:t>
            </a:r>
          </a:p>
        </p:txBody>
      </p:sp>
      <p:sp>
        <p:nvSpPr>
          <p:cNvPr id="3" name="内容占位符 2">
            <a:extLst>
              <a:ext uri="{FF2B5EF4-FFF2-40B4-BE49-F238E27FC236}">
                <a16:creationId xmlns:a16="http://schemas.microsoft.com/office/drawing/2014/main" id="{77D35B07-6864-3E60-88E8-B60D4C6959B3}"/>
              </a:ext>
            </a:extLst>
          </p:cNvPr>
          <p:cNvSpPr>
            <a:spLocks noGrp="1"/>
          </p:cNvSpPr>
          <p:nvPr>
            <p:ph idx="1"/>
          </p:nvPr>
        </p:nvSpPr>
        <p:spPr>
          <a:xfrm>
            <a:off x="297277" y="1099825"/>
            <a:ext cx="4077015" cy="4794348"/>
          </a:xfrm>
        </p:spPr>
        <p:txBody>
          <a:bodyPr>
            <a:normAutofit fontScale="92500"/>
          </a:bodyPr>
          <a:lstStyle/>
          <a:p>
            <a:r>
              <a:rPr lang="zh-CN" altLang="zh-CN" dirty="0">
                <a:solidFill>
                  <a:schemeClr val="tx1"/>
                </a:solidFill>
              </a:rPr>
              <a:t>当终端出现 “Trained model state loaded” 时，只能说明：</a:t>
            </a:r>
          </a:p>
          <a:p>
            <a:r>
              <a:rPr lang="zh-CN" altLang="zh-CN" dirty="0">
                <a:solidFill>
                  <a:schemeClr val="tx1"/>
                </a:solidFill>
              </a:rPr>
              <a:t>checkpoint 中的参数已经成功装入模型。</a:t>
            </a:r>
          </a:p>
          <a:p>
            <a:r>
              <a:rPr lang="zh-CN" altLang="zh-CN" dirty="0">
                <a:solidFill>
                  <a:schemeClr val="tx1"/>
                </a:solidFill>
              </a:rPr>
              <a:t>接下来还要继续确认：</a:t>
            </a:r>
          </a:p>
          <a:p>
            <a:pPr marL="285750" lvl="0" indent="-285750">
              <a:buFont typeface="Arial" panose="020B0604020202020204" pitchFamily="34" charset="0"/>
              <a:buChar char="•"/>
            </a:pPr>
            <a:r>
              <a:rPr lang="zh-CN" altLang="zh-CN" b="0" dirty="0">
                <a:solidFill>
                  <a:schemeClr val="tx1"/>
                </a:solidFill>
              </a:rPr>
              <a:t>配套一致：词表、BPE 和运行设备是否正确；</a:t>
            </a:r>
            <a:endParaRPr lang="en-US" altLang="zh-CN" b="0" dirty="0">
              <a:solidFill>
                <a:schemeClr val="tx1"/>
              </a:solidFill>
            </a:endParaRPr>
          </a:p>
          <a:p>
            <a:pPr marL="285750" lvl="0" indent="-285750">
              <a:buFont typeface="Arial" panose="020B0604020202020204" pitchFamily="34" charset="0"/>
              <a:buChar char="•"/>
            </a:pPr>
            <a:r>
              <a:rPr lang="zh-CN" altLang="zh-CN" b="0" dirty="0">
                <a:solidFill>
                  <a:schemeClr val="tx1"/>
                </a:solidFill>
              </a:rPr>
              <a:t>数值正确：Attention 与 Mask 是否真的按预期计算；</a:t>
            </a:r>
            <a:endParaRPr lang="en-US" altLang="zh-CN" b="0" dirty="0">
              <a:solidFill>
                <a:schemeClr val="tx1"/>
              </a:solidFill>
            </a:endParaRPr>
          </a:p>
          <a:p>
            <a:pPr marL="285750" lvl="0" indent="-285750">
              <a:buFont typeface="Arial" panose="020B0604020202020204" pitchFamily="34" charset="0"/>
              <a:buChar char="•"/>
            </a:pPr>
            <a:r>
              <a:rPr lang="zh-CN" altLang="zh-CN" b="0" dirty="0">
                <a:solidFill>
                  <a:schemeClr val="tx1"/>
                </a:solidFill>
              </a:rPr>
              <a:t>翻译可用：固定测试句能否得到合理译文。</a:t>
            </a:r>
          </a:p>
        </p:txBody>
      </p:sp>
      <p:pic>
        <p:nvPicPr>
          <p:cNvPr id="5" name="图片 4">
            <a:extLst>
              <a:ext uri="{FF2B5EF4-FFF2-40B4-BE49-F238E27FC236}">
                <a16:creationId xmlns:a16="http://schemas.microsoft.com/office/drawing/2014/main" id="{16391D51-7182-0C3C-7E85-5232E188677A}"/>
              </a:ext>
            </a:extLst>
          </p:cNvPr>
          <p:cNvPicPr>
            <a:picLocks noChangeAspect="1"/>
          </p:cNvPicPr>
          <p:nvPr/>
        </p:nvPicPr>
        <p:blipFill>
          <a:blip r:embed="rId3">
            <a:extLst>
              <a:ext uri="{28A0092B-C50C-407E-A947-70E740481C1C}">
                <a14:useLocalDpi xmlns:a14="http://schemas.microsoft.com/office/drawing/2010/main" val="0"/>
              </a:ext>
            </a:extLst>
          </a:blip>
          <a:srcRect l="3507" r="1093"/>
          <a:stretch>
            <a:fillRect/>
          </a:stretch>
        </p:blipFill>
        <p:spPr>
          <a:xfrm>
            <a:off x="4284684" y="1987464"/>
            <a:ext cx="7907316" cy="3460496"/>
          </a:xfrm>
          <a:prstGeom prst="rect">
            <a:avLst/>
          </a:prstGeom>
          <a:noFill/>
        </p:spPr>
      </p:pic>
    </p:spTree>
    <p:extLst>
      <p:ext uri="{BB962C8B-B14F-4D97-AF65-F5344CB8AC3E}">
        <p14:creationId xmlns:p14="http://schemas.microsoft.com/office/powerpoint/2010/main" val="10238772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502BA-2A4C-2B7F-0D92-E15F6E130489}"/>
              </a:ext>
            </a:extLst>
          </p:cNvPr>
          <p:cNvSpPr>
            <a:spLocks noGrp="1"/>
          </p:cNvSpPr>
          <p:nvPr>
            <p:ph type="title"/>
          </p:nvPr>
        </p:nvSpPr>
        <p:spPr>
          <a:xfrm>
            <a:off x="5649182" y="3033427"/>
            <a:ext cx="5711095" cy="677323"/>
          </a:xfrm>
        </p:spPr>
        <p:txBody>
          <a:bodyPr/>
          <a:lstStyle/>
          <a:p>
            <a:pPr>
              <a:defRPr>
                <a:solidFill>
                  <a:srgbClr val="000000"/>
                </a:solidFill>
              </a:defRPr>
            </a:pPr>
            <a:r>
              <a:rPr dirty="0" err="1">
                <a:solidFill>
                  <a:srgbClr val="000000"/>
                </a:solidFill>
              </a:rPr>
              <a:t>二.数值验证</a:t>
            </a:r>
            <a:endParaRPr dirty="0">
              <a:solidFill>
                <a:srgbClr val="000000"/>
              </a:solidFill>
            </a:endParaRPr>
          </a:p>
        </p:txBody>
      </p:sp>
    </p:spTree>
    <p:extLst>
      <p:ext uri="{BB962C8B-B14F-4D97-AF65-F5344CB8AC3E}">
        <p14:creationId xmlns:p14="http://schemas.microsoft.com/office/powerpoint/2010/main" val="484978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D7A4D-A5E7-8269-02BF-7E56A3CF51FD}"/>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a:solidFill>
                  <a:srgbClr val="000000"/>
                </a:solidFill>
              </a:rPr>
              <a:t>2.1 数值验证要回答三个具体问题</a:t>
            </a:r>
          </a:p>
        </p:txBody>
      </p:sp>
      <p:sp>
        <p:nvSpPr>
          <p:cNvPr id="3" name="内容占位符 2">
            <a:extLst>
              <a:ext uri="{FF2B5EF4-FFF2-40B4-BE49-F238E27FC236}">
                <a16:creationId xmlns:a16="http://schemas.microsoft.com/office/drawing/2014/main" id="{F04B4906-6BB7-000C-7DE0-8DAEF8FE508C}"/>
              </a:ext>
            </a:extLst>
          </p:cNvPr>
          <p:cNvSpPr>
            <a:spLocks noGrp="1"/>
          </p:cNvSpPr>
          <p:nvPr>
            <p:ph idx="1"/>
          </p:nvPr>
        </p:nvSpPr>
        <p:spPr>
          <a:xfrm>
            <a:off x="297277" y="1099825"/>
            <a:ext cx="5662800" cy="5018400"/>
          </a:xfrm>
        </p:spPr>
        <p:txBody>
          <a:bodyPr>
            <a:normAutofit fontScale="98600"/>
          </a:bodyPr>
          <a:lstStyle/>
          <a:p>
            <a:endParaRPr dirty="0"/>
          </a:p>
        </p:txBody>
      </p:sp>
      <p:pic>
        <p:nvPicPr>
          <p:cNvPr id="5" name="图片 4">
            <a:extLst>
              <a:ext uri="{FF2B5EF4-FFF2-40B4-BE49-F238E27FC236}">
                <a16:creationId xmlns:a16="http://schemas.microsoft.com/office/drawing/2014/main" id="{BA97BCD2-C8BB-8C7D-A9BD-97E03321FB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7276" y="1163041"/>
            <a:ext cx="11046227" cy="4955183"/>
          </a:xfrm>
          <a:prstGeom prst="rect">
            <a:avLst/>
          </a:prstGeom>
        </p:spPr>
      </p:pic>
    </p:spTree>
    <p:extLst>
      <p:ext uri="{BB962C8B-B14F-4D97-AF65-F5344CB8AC3E}">
        <p14:creationId xmlns:p14="http://schemas.microsoft.com/office/powerpoint/2010/main" val="33209424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F7192-08D5-E245-13C4-79BB7DFA6DB0}"/>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sz="2000">
                <a:solidFill>
                  <a:srgbClr val="000000"/>
                </a:solidFill>
              </a:rPr>
              <a:t>2.2 Attention先检查shape与归一化</a:t>
            </a:r>
          </a:p>
        </p:txBody>
      </p:sp>
      <p:sp>
        <p:nvSpPr>
          <p:cNvPr id="3" name="内容占位符 2">
            <a:extLst>
              <a:ext uri="{FF2B5EF4-FFF2-40B4-BE49-F238E27FC236}">
                <a16:creationId xmlns:a16="http://schemas.microsoft.com/office/drawing/2014/main" id="{192D5453-1AD6-AFB4-D40C-5E6E248B147A}"/>
              </a:ext>
            </a:extLst>
          </p:cNvPr>
          <p:cNvSpPr>
            <a:spLocks noGrp="1"/>
          </p:cNvSpPr>
          <p:nvPr>
            <p:ph idx="14"/>
          </p:nvPr>
        </p:nvSpPr>
        <p:spPr>
          <a:xfrm>
            <a:off x="5931243" y="919799"/>
            <a:ext cx="5662800" cy="5018400"/>
          </a:xfrm>
        </p:spPr>
        <p:txBody>
          <a:bodyPr>
            <a:normAutofit fontScale="93343"/>
          </a:bodyPr>
          <a:lstStyle/>
          <a:p>
            <a:pPr marL="0" indent="0">
              <a:lnSpc>
                <a:spcPct val="140000"/>
              </a:lnSpc>
              <a:buNone/>
            </a:pPr>
            <a:endParaRPr sz="1700" dirty="0">
              <a:solidFill>
                <a:schemeClr val="tx1"/>
              </a:solidFill>
            </a:endParaRPr>
          </a:p>
        </p:txBody>
      </p:sp>
      <p:pic>
        <p:nvPicPr>
          <p:cNvPr id="7" name="图片 6"/>
          <p:cNvPicPr>
            <a:picLocks noChangeAspect="1"/>
          </p:cNvPicPr>
          <p:nvPr/>
        </p:nvPicPr>
        <p:blipFill>
          <a:blip r:embed="rId3"/>
          <a:stretch/>
        </p:blipFill>
        <p:spPr>
          <a:xfrm>
            <a:off x="1125412" y="919799"/>
            <a:ext cx="8890125" cy="5445203"/>
          </a:xfrm>
          <a:prstGeom prst="rect">
            <a:avLst/>
          </a:prstGeom>
        </p:spPr>
      </p:pic>
    </p:spTree>
    <p:extLst>
      <p:ext uri="{BB962C8B-B14F-4D97-AF65-F5344CB8AC3E}">
        <p14:creationId xmlns:p14="http://schemas.microsoft.com/office/powerpoint/2010/main" val="3056113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4DF7192-08D5-E245-13C4-79BB7DFA6DB0}"/>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sz="2000">
                <a:solidFill>
                  <a:srgbClr val="000000"/>
                </a:solidFill>
              </a:rPr>
              <a:t>2.3 被Mask的位置权重必须接近0</a:t>
            </a:r>
          </a:p>
        </p:txBody>
      </p:sp>
      <p:sp>
        <p:nvSpPr>
          <p:cNvPr id="3" name="内容占位符 2">
            <a:extLst>
              <a:ext uri="{FF2B5EF4-FFF2-40B4-BE49-F238E27FC236}">
                <a16:creationId xmlns:a16="http://schemas.microsoft.com/office/drawing/2014/main" id="{192D5453-1AD6-AFB4-D40C-5E6E248B147A}"/>
              </a:ext>
            </a:extLst>
          </p:cNvPr>
          <p:cNvSpPr>
            <a:spLocks noGrp="1"/>
          </p:cNvSpPr>
          <p:nvPr>
            <p:ph idx="14"/>
          </p:nvPr>
        </p:nvSpPr>
        <p:spPr>
          <a:xfrm>
            <a:off x="7909038" y="988541"/>
            <a:ext cx="4011114" cy="5288619"/>
          </a:xfrm>
        </p:spPr>
        <p:txBody>
          <a:bodyPr>
            <a:normAutofit fontScale="85262" lnSpcReduction="10000"/>
          </a:bodyPr>
          <a:lstStyle/>
          <a:p>
            <a:r>
              <a:rPr lang="zh-CN" altLang="zh-CN" sz="1600" dirty="0">
                <a:solidFill>
                  <a:schemeClr val="tx1"/>
                </a:solidFill>
              </a:rPr>
              <a:t>Mask 可以理解为一块“遮挡板”：不允许模型关注的位置，最终注意力权重必须接近0。</a:t>
            </a:r>
          </a:p>
          <a:p>
            <a:r>
              <a:rPr lang="zh-CN" altLang="zh-CN" sz="1600" dirty="0">
                <a:solidFill>
                  <a:schemeClr val="tx1"/>
                </a:solidFill>
              </a:rPr>
              <a:t>处理过程分为三步：</a:t>
            </a:r>
          </a:p>
          <a:p>
            <a:pPr marL="285750" lvl="0" indent="-285750">
              <a:buFont typeface="Arial" panose="020B0604020202020204" pitchFamily="34" charset="0"/>
              <a:buChar char="•"/>
            </a:pPr>
            <a:r>
              <a:rPr lang="zh-CN" altLang="zh-CN" sz="1600" b="0" dirty="0">
                <a:solidFill>
                  <a:schemeClr val="tx1"/>
                </a:solidFill>
              </a:rPr>
              <a:t>模型先计算每个位置的原始分数；</a:t>
            </a:r>
          </a:p>
          <a:p>
            <a:pPr marL="285750" lvl="0" indent="-285750">
              <a:buFont typeface="Arial" panose="020B0604020202020204" pitchFamily="34" charset="0"/>
              <a:buChar char="•"/>
            </a:pPr>
            <a:r>
              <a:rPr lang="zh-CN" altLang="zh-CN" sz="1600" b="0" dirty="0">
                <a:solidFill>
                  <a:schemeClr val="tx1"/>
                </a:solidFill>
              </a:rPr>
              <a:t>将禁止关注位置的分数改成一个极小值 </a:t>
            </a:r>
            <a:r>
              <a:rPr lang="zh-CN" altLang="zh-CN" b="0" dirty="0">
                <a:solidFill>
                  <a:schemeClr val="tx1"/>
                </a:solidFill>
              </a:rPr>
              <a:t>-1e9</a:t>
            </a:r>
            <a:r>
              <a:rPr lang="zh-CN" altLang="zh-CN" sz="1600" b="0" dirty="0">
                <a:solidFill>
                  <a:schemeClr val="tx1"/>
                </a:solidFill>
              </a:rPr>
              <a:t>；</a:t>
            </a:r>
          </a:p>
          <a:p>
            <a:pPr marL="285750" lvl="0" indent="-285750">
              <a:buFont typeface="Arial" panose="020B0604020202020204" pitchFamily="34" charset="0"/>
              <a:buChar char="•"/>
            </a:pPr>
            <a:r>
              <a:rPr lang="zh-CN" altLang="zh-CN" sz="1600" b="0" dirty="0">
                <a:solidFill>
                  <a:schemeClr val="tx1"/>
                </a:solidFill>
              </a:rPr>
              <a:t>经过 Softmax 后，该位置的权重变成接近 </a:t>
            </a:r>
            <a:r>
              <a:rPr lang="zh-CN" altLang="zh-CN" b="0" dirty="0">
                <a:solidFill>
                  <a:schemeClr val="tx1"/>
                </a:solidFill>
              </a:rPr>
              <a:t>0</a:t>
            </a:r>
            <a:r>
              <a:rPr lang="zh-CN" altLang="zh-CN" sz="1600" b="0" dirty="0">
                <a:solidFill>
                  <a:schemeClr val="tx1"/>
                </a:solidFill>
              </a:rPr>
              <a:t>。</a:t>
            </a:r>
          </a:p>
          <a:p>
            <a:r>
              <a:rPr lang="zh-CN" altLang="zh-CN" sz="1600" dirty="0">
                <a:solidFill>
                  <a:schemeClr val="tx1"/>
                </a:solidFill>
              </a:rPr>
              <a:t>为什么不能直接把原始分数改成0？</a:t>
            </a:r>
          </a:p>
          <a:p>
            <a:r>
              <a:rPr lang="zh-CN" altLang="zh-CN" sz="1600" b="0" dirty="0">
                <a:solidFill>
                  <a:schemeClr val="tx1"/>
                </a:solidFill>
              </a:rPr>
              <a:t>因为 Softmax 会把分数0转换成非零概率。只有先改成极小值，才能让该位置的最终权重接近0。</a:t>
            </a:r>
          </a:p>
          <a:p>
            <a:pPr rtl="0"/>
            <a:r>
              <a:rPr lang="zh-CN" altLang="en-US" b="0" dirty="0">
                <a:solidFill>
                  <a:schemeClr val="tx1"/>
                </a:solidFill>
              </a:rPr>
              <a:t>代码：</a:t>
            </a:r>
            <a:r>
              <a:rPr lang="zh-CN" altLang="zh-CN" b="0" dirty="0">
                <a:solidFill>
                  <a:schemeClr val="tx1"/>
                </a:solidFill>
              </a:rPr>
              <a:t>attn = attn.masked_fill(mask == 0, -1e9)</a:t>
            </a:r>
          </a:p>
          <a:p>
            <a:r>
              <a:rPr lang="zh-CN" altLang="zh-CN" sz="1600" b="0" dirty="0">
                <a:solidFill>
                  <a:schemeClr val="tx1"/>
                </a:solidFill>
              </a:rPr>
              <a:t>表示：凡是 Mask 等于0的位置，都用 </a:t>
            </a:r>
            <a:r>
              <a:rPr lang="zh-CN" altLang="zh-CN" b="0" dirty="0">
                <a:solidFill>
                  <a:schemeClr val="tx1"/>
                </a:solidFill>
              </a:rPr>
              <a:t>-1e9</a:t>
            </a:r>
            <a:r>
              <a:rPr lang="zh-CN" altLang="zh-CN" sz="1600" b="0" dirty="0">
                <a:solidFill>
                  <a:schemeClr val="tx1"/>
                </a:solidFill>
              </a:rPr>
              <a:t> 遮住。</a:t>
            </a:r>
          </a:p>
        </p:txBody>
      </p:sp>
      <p:pic>
        <p:nvPicPr>
          <p:cNvPr id="5" name="图片 4">
            <a:extLst>
              <a:ext uri="{FF2B5EF4-FFF2-40B4-BE49-F238E27FC236}">
                <a16:creationId xmlns:a16="http://schemas.microsoft.com/office/drawing/2014/main" id="{2FC68F49-A16E-31F2-0916-CA719C9BCE3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8319" y="1989438"/>
            <a:ext cx="7800719" cy="3494927"/>
          </a:xfrm>
          <a:prstGeom prst="rect">
            <a:avLst/>
          </a:prstGeom>
        </p:spPr>
      </p:pic>
    </p:spTree>
    <p:extLst>
      <p:ext uri="{BB962C8B-B14F-4D97-AF65-F5344CB8AC3E}">
        <p14:creationId xmlns:p14="http://schemas.microsoft.com/office/powerpoint/2010/main" val="30561139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dirty="0">
                <a:solidFill>
                  <a:srgbClr val="000000"/>
                </a:solidFill>
              </a:rPr>
              <a:t>2.4 </a:t>
            </a:r>
            <a:r>
              <a:rPr lang="zh-CN" altLang="zh-CN" dirty="0"/>
              <a:t>Decoder 为什么需要两种 Mask？</a:t>
            </a:r>
            <a:endParaRPr sz="1800" dirty="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297276" y="1297803"/>
            <a:ext cx="4694854" cy="5566547"/>
          </a:xfrm>
        </p:spPr>
        <p:txBody>
          <a:bodyPr>
            <a:normAutofit fontScale="56490" lnSpcReduction="20000"/>
          </a:bodyPr>
          <a:lstStyle/>
          <a:p>
            <a:r>
              <a:rPr lang="zh-CN" altLang="zh-CN" b="0" dirty="0">
                <a:solidFill>
                  <a:schemeClr val="tx1"/>
                </a:solidFill>
              </a:rPr>
              <a:t>假设 Decoder 的输入是：[BOS，我，爱，PAD]</a:t>
            </a:r>
          </a:p>
          <a:p>
            <a:r>
              <a:rPr lang="zh-CN" altLang="zh-CN" b="0" dirty="0">
                <a:solidFill>
                  <a:schemeClr val="tx1"/>
                </a:solidFill>
              </a:rPr>
              <a:t>其中，PAD 只是为了对齐句子长度而补上的空位置，并不是真实内容。</a:t>
            </a:r>
          </a:p>
          <a:p>
            <a:r>
              <a:rPr lang="zh-CN" altLang="zh-CN" dirty="0">
                <a:solidFill>
                  <a:schemeClr val="tx1"/>
                </a:solidFill>
              </a:rPr>
              <a:t>Padding Mask：</a:t>
            </a:r>
            <a:r>
              <a:rPr lang="zh-CN" altLang="zh-CN" b="0" dirty="0">
                <a:solidFill>
                  <a:schemeClr val="tx1"/>
                </a:solidFill>
              </a:rPr>
              <a:t>不看无意义的 PAD</a:t>
            </a:r>
            <a:r>
              <a:rPr lang="zh-CN" altLang="en-US" b="0" dirty="0">
                <a:solidFill>
                  <a:schemeClr val="tx1"/>
                </a:solidFill>
              </a:rPr>
              <a:t>，</a:t>
            </a:r>
            <a:r>
              <a:rPr lang="zh-CN" altLang="zh-CN" b="0" dirty="0">
                <a:solidFill>
                  <a:schemeClr val="tx1"/>
                </a:solidFill>
              </a:rPr>
              <a:t>无论当前正在处理哪个词，都不能把注意力分给 PAD。</a:t>
            </a:r>
          </a:p>
          <a:p>
            <a:r>
              <a:rPr lang="zh-CN" altLang="zh-CN" dirty="0">
                <a:solidFill>
                  <a:schemeClr val="tx1"/>
                </a:solidFill>
              </a:rPr>
              <a:t>它负责判断：</a:t>
            </a:r>
            <a:r>
              <a:rPr lang="zh-CN" altLang="zh-CN" b="0" dirty="0">
                <a:solidFill>
                  <a:schemeClr val="tx1"/>
                </a:solidFill>
              </a:rPr>
              <a:t>这个位置是真实内容，还是补齐符号？</a:t>
            </a:r>
          </a:p>
          <a:p>
            <a:r>
              <a:rPr lang="zh-CN" altLang="zh-CN" dirty="0">
                <a:solidFill>
                  <a:schemeClr val="tx1"/>
                </a:solidFill>
              </a:rPr>
              <a:t>Causal Mask：</a:t>
            </a:r>
            <a:r>
              <a:rPr lang="zh-CN" altLang="zh-CN" b="0" dirty="0">
                <a:solidFill>
                  <a:schemeClr val="tx1"/>
                </a:solidFill>
              </a:rPr>
              <a:t>不偷看未来的答案</a:t>
            </a:r>
          </a:p>
          <a:p>
            <a:r>
              <a:rPr lang="zh-CN" altLang="zh-CN" b="0" dirty="0">
                <a:solidFill>
                  <a:schemeClr val="tx1"/>
                </a:solidFill>
              </a:rPr>
              <a:t>Decoder 按顺序生成译文，当前位置只能看到自己和前面的词。</a:t>
            </a:r>
          </a:p>
          <a:p>
            <a:r>
              <a:rPr lang="zh-CN" altLang="zh-CN" dirty="0">
                <a:solidFill>
                  <a:schemeClr val="tx1"/>
                </a:solidFill>
              </a:rPr>
              <a:t>例如：</a:t>
            </a:r>
            <a:r>
              <a:rPr lang="zh-CN" altLang="zh-CN" b="0" dirty="0">
                <a:solidFill>
                  <a:schemeClr val="tx1"/>
                </a:solidFill>
              </a:rPr>
              <a:t>BOS 只能看到 BOS；“我”可以看到 BOS、我；“爱”可以看到 BOS、我、爱。</a:t>
            </a:r>
          </a:p>
          <a:p>
            <a:r>
              <a:rPr lang="zh-CN" altLang="zh-CN" dirty="0">
                <a:solidFill>
                  <a:schemeClr val="tx1"/>
                </a:solidFill>
              </a:rPr>
              <a:t>它负责判断：</a:t>
            </a:r>
            <a:r>
              <a:rPr lang="zh-CN" altLang="zh-CN" b="0" dirty="0">
                <a:solidFill>
                  <a:schemeClr val="tx1"/>
                </a:solidFill>
              </a:rPr>
              <a:t>这个词现在已经出现了吗？</a:t>
            </a:r>
            <a:endParaRPr lang="en-US" altLang="zh-CN" b="0" dirty="0">
              <a:solidFill>
                <a:schemeClr val="tx1"/>
              </a:solidFill>
            </a:endParaRPr>
          </a:p>
          <a:p>
            <a:r>
              <a:rPr lang="zh-CN" altLang="en-US" b="0" dirty="0">
                <a:solidFill>
                  <a:schemeClr val="tx1"/>
                </a:solidFill>
              </a:rPr>
              <a:t>两种</a:t>
            </a:r>
            <a:r>
              <a:rPr lang="en-US" altLang="zh-CN" b="0" dirty="0">
                <a:solidFill>
                  <a:schemeClr val="tx1"/>
                </a:solidFill>
              </a:rPr>
              <a:t>mask</a:t>
            </a:r>
            <a:r>
              <a:rPr lang="zh-CN" altLang="en-US" b="0" dirty="0">
                <a:solidFill>
                  <a:schemeClr val="tx1"/>
                </a:solidFill>
              </a:rPr>
              <a:t>合并：</a:t>
            </a:r>
            <a:r>
              <a:rPr lang="en" altLang="zh-CN" b="0" dirty="0" err="1">
                <a:solidFill>
                  <a:schemeClr val="tx1"/>
                </a:solidFill>
              </a:rPr>
              <a:t>trg_mask</a:t>
            </a:r>
            <a:r>
              <a:rPr lang="en" altLang="zh-CN" b="0" dirty="0">
                <a:solidFill>
                  <a:schemeClr val="tx1"/>
                </a:solidFill>
              </a:rPr>
              <a:t> = </a:t>
            </a:r>
            <a:r>
              <a:rPr lang="en" altLang="zh-CN" b="0" dirty="0" err="1">
                <a:solidFill>
                  <a:schemeClr val="tx1"/>
                </a:solidFill>
              </a:rPr>
              <a:t>get_pad_mask</a:t>
            </a:r>
            <a:r>
              <a:rPr lang="en" altLang="zh-CN" b="0" dirty="0">
                <a:solidFill>
                  <a:schemeClr val="tx1"/>
                </a:solidFill>
              </a:rPr>
              <a:t>(...) &amp;</a:t>
            </a:r>
            <a:r>
              <a:rPr lang="zh-CN" altLang="en-US" b="0" dirty="0">
                <a:solidFill>
                  <a:schemeClr val="tx1"/>
                </a:solidFill>
              </a:rPr>
              <a:t> </a:t>
            </a:r>
            <a:r>
              <a:rPr lang="en" altLang="zh-CN" b="0" dirty="0" err="1">
                <a:solidFill>
                  <a:schemeClr val="tx1"/>
                </a:solidFill>
              </a:rPr>
              <a:t>get_subsequent_mask</a:t>
            </a:r>
            <a:r>
              <a:rPr lang="en" altLang="zh-CN" b="0" dirty="0">
                <a:solidFill>
                  <a:schemeClr val="tx1"/>
                </a:solidFill>
              </a:rPr>
              <a:t>(...)</a:t>
            </a:r>
          </a:p>
          <a:p>
            <a:r>
              <a:rPr lang="zh-CN" altLang="zh-CN" dirty="0"/>
              <a:t>一个位置必须同时满足：</a:t>
            </a:r>
          </a:p>
          <a:p>
            <a:pPr lvl="0"/>
            <a:r>
              <a:rPr lang="zh-CN" altLang="zh-CN" dirty="0"/>
              <a:t>它不是 PAD；</a:t>
            </a:r>
          </a:p>
          <a:p>
            <a:pPr lvl="0"/>
            <a:r>
              <a:rPr lang="zh-CN" altLang="zh-CN" dirty="0"/>
              <a:t>它不是未来的词。</a:t>
            </a:r>
          </a:p>
          <a:p>
            <a:r>
              <a:rPr lang="zh-CN" altLang="zh-CN" dirty="0"/>
              <a:t>Decoder 才能关注这个位置。</a:t>
            </a:r>
          </a:p>
          <a:p>
            <a:endParaRPr lang="zh-CN" altLang="zh-CN" b="0" dirty="0">
              <a:solidFill>
                <a:schemeClr val="tx1"/>
              </a:solidFill>
            </a:endParaRP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6" name="图片 5">
            <a:extLst>
              <a:ext uri="{FF2B5EF4-FFF2-40B4-BE49-F238E27FC236}">
                <a16:creationId xmlns:a16="http://schemas.microsoft.com/office/drawing/2014/main" id="{0626ED45-D2CB-3FD6-EDD6-9F9ED8C2296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92130" y="2290099"/>
            <a:ext cx="7199870" cy="3393913"/>
          </a:xfrm>
          <a:prstGeom prst="rect">
            <a:avLst/>
          </a:prstGeom>
        </p:spPr>
      </p:pic>
    </p:spTree>
    <p:extLst>
      <p:ext uri="{BB962C8B-B14F-4D97-AF65-F5344CB8AC3E}">
        <p14:creationId xmlns:p14="http://schemas.microsoft.com/office/powerpoint/2010/main" val="3223137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7BEE689-0862-3E86-AD60-238ECD0CB101}"/>
              </a:ext>
            </a:extLst>
          </p:cNvPr>
          <p:cNvSpPr>
            <a:spLocks noGrp="1"/>
          </p:cNvSpPr>
          <p:nvPr>
            <p:ph type="title"/>
          </p:nvPr>
        </p:nvSpPr>
        <p:spPr/>
        <p:txBody>
          <a:bodyPr/>
          <a:lstStyle/>
          <a:p>
            <a:r>
              <a:rPr lang="zh-CN" altLang="zh-CN" dirty="0"/>
              <a:t>实操 3-A：构造 Padding Mask 与 Causal Mask</a:t>
            </a:r>
            <a:endParaRPr kumimoji="1" lang="zh-CN" altLang="en-US" dirty="0"/>
          </a:p>
        </p:txBody>
      </p:sp>
      <p:pic>
        <p:nvPicPr>
          <p:cNvPr id="6" name="内容占位符 5">
            <a:extLst>
              <a:ext uri="{FF2B5EF4-FFF2-40B4-BE49-F238E27FC236}">
                <a16:creationId xmlns:a16="http://schemas.microsoft.com/office/drawing/2014/main" id="{ABAECD65-A45F-3C5B-9410-9009A3F72151}"/>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088286" y="927148"/>
            <a:ext cx="6546742" cy="5506475"/>
          </a:xfrm>
          <a:prstGeom prst="rect">
            <a:avLst/>
          </a:prstGeom>
        </p:spPr>
      </p:pic>
    </p:spTree>
    <p:extLst>
      <p:ext uri="{BB962C8B-B14F-4D97-AF65-F5344CB8AC3E}">
        <p14:creationId xmlns:p14="http://schemas.microsoft.com/office/powerpoint/2010/main" val="6328958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dirty="0">
                <a:solidFill>
                  <a:srgbClr val="000000"/>
                </a:solidFill>
              </a:rPr>
              <a:t>2.5 </a:t>
            </a:r>
            <a:r>
              <a:rPr dirty="0" err="1">
                <a:solidFill>
                  <a:srgbClr val="000000"/>
                </a:solidFill>
              </a:rPr>
              <a:t>数值验证通过的最低标准</a:t>
            </a:r>
            <a:endParaRPr sz="1800" dirty="0"/>
          </a:p>
        </p:txBody>
      </p:sp>
      <p:pic>
        <p:nvPicPr>
          <p:cNvPr id="6" name="内容占位符 5">
            <a:extLst>
              <a:ext uri="{FF2B5EF4-FFF2-40B4-BE49-F238E27FC236}">
                <a16:creationId xmlns:a16="http://schemas.microsoft.com/office/drawing/2014/main" id="{8679C848-65CB-80B6-1AE2-444779884C3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97277" y="1086652"/>
            <a:ext cx="11395716" cy="4980515"/>
          </a:xfrm>
          <a:prstGeom prst="rect">
            <a:avLst/>
          </a:prstGeom>
        </p:spPr>
      </p:pic>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spTree>
    <p:extLst>
      <p:ext uri="{BB962C8B-B14F-4D97-AF65-F5344CB8AC3E}">
        <p14:creationId xmlns:p14="http://schemas.microsoft.com/office/powerpoint/2010/main" val="3223137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F6A3F1D-D68B-11EF-623D-EBE78FA56BD7}"/>
              </a:ext>
            </a:extLst>
          </p:cNvPr>
          <p:cNvSpPr>
            <a:spLocks noGrp="1"/>
          </p:cNvSpPr>
          <p:nvPr>
            <p:ph type="title"/>
          </p:nvPr>
        </p:nvSpPr>
        <p:spPr/>
        <p:txBody>
          <a:bodyPr/>
          <a:lstStyle/>
          <a:p>
            <a:r>
              <a:rPr lang="zh-CN" altLang="zh-CN" dirty="0"/>
              <a:t>实操 3-B：Attention 数值验证</a:t>
            </a:r>
            <a:endParaRPr kumimoji="1" lang="zh-CN" altLang="en-US" dirty="0"/>
          </a:p>
        </p:txBody>
      </p:sp>
      <p:pic>
        <p:nvPicPr>
          <p:cNvPr id="5" name="内容占位符 4">
            <a:extLst>
              <a:ext uri="{FF2B5EF4-FFF2-40B4-BE49-F238E27FC236}">
                <a16:creationId xmlns:a16="http://schemas.microsoft.com/office/drawing/2014/main" id="{2F3BEF8B-847E-E637-A7FE-365DA7190063}"/>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6409079" y="2985360"/>
            <a:ext cx="5448665" cy="2857878"/>
          </a:xfrm>
          <a:prstGeom prst="rect">
            <a:avLst/>
          </a:prstGeom>
        </p:spPr>
      </p:pic>
      <p:pic>
        <p:nvPicPr>
          <p:cNvPr id="7" name="图片 6">
            <a:extLst>
              <a:ext uri="{FF2B5EF4-FFF2-40B4-BE49-F238E27FC236}">
                <a16:creationId xmlns:a16="http://schemas.microsoft.com/office/drawing/2014/main" id="{6B9F04D4-0A1A-BD6D-D25F-0850967131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256" y="1536699"/>
            <a:ext cx="5404851" cy="4306539"/>
          </a:xfrm>
          <a:prstGeom prst="rect">
            <a:avLst/>
          </a:prstGeom>
        </p:spPr>
      </p:pic>
    </p:spTree>
    <p:extLst>
      <p:ext uri="{BB962C8B-B14F-4D97-AF65-F5344CB8AC3E}">
        <p14:creationId xmlns:p14="http://schemas.microsoft.com/office/powerpoint/2010/main" val="13622487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502BA-2A4C-2B7F-0D92-E15F6E130489}"/>
              </a:ext>
            </a:extLst>
          </p:cNvPr>
          <p:cNvSpPr>
            <a:spLocks noGrp="1"/>
          </p:cNvSpPr>
          <p:nvPr>
            <p:ph type="title"/>
          </p:nvPr>
        </p:nvSpPr>
        <p:spPr>
          <a:xfrm>
            <a:off x="5649182" y="3033427"/>
            <a:ext cx="5711095" cy="677323"/>
          </a:xfrm>
        </p:spPr>
        <p:txBody>
          <a:bodyPr/>
          <a:lstStyle/>
          <a:p>
            <a:pPr>
              <a:defRPr>
                <a:solidFill>
                  <a:srgbClr val="000000"/>
                </a:solidFill>
              </a:defRPr>
            </a:pPr>
            <a:r>
              <a:rPr dirty="0" err="1">
                <a:solidFill>
                  <a:srgbClr val="000000"/>
                </a:solidFill>
              </a:rPr>
              <a:t>三.损失与收敛</a:t>
            </a:r>
            <a:endParaRPr dirty="0">
              <a:solidFill>
                <a:srgbClr val="000000"/>
              </a:solidFill>
            </a:endParaRPr>
          </a:p>
        </p:txBody>
      </p:sp>
    </p:spTree>
    <p:extLst>
      <p:ext uri="{BB962C8B-B14F-4D97-AF65-F5344CB8AC3E}">
        <p14:creationId xmlns:p14="http://schemas.microsoft.com/office/powerpoint/2010/main" val="484978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EE96CD-3B6E-F6E8-26CD-9E40E33E755B}"/>
              </a:ext>
            </a:extLst>
          </p:cNvPr>
          <p:cNvSpPr>
            <a:spLocks noGrp="1"/>
          </p:cNvSpPr>
          <p:nvPr>
            <p:ph type="title"/>
          </p:nvPr>
        </p:nvSpPr>
        <p:spPr/>
        <p:txBody>
          <a:bodyPr/>
          <a:lstStyle/>
          <a:p>
            <a:r>
              <a:rPr lang="en-US" altLang="zh-CN" dirty="0">
                <a:solidFill>
                  <a:srgbClr val="000000"/>
                </a:solidFill>
              </a:rPr>
              <a:t>3.1 </a:t>
            </a:r>
            <a:r>
              <a:rPr lang="zh-CN" altLang="en-US" dirty="0">
                <a:solidFill>
                  <a:srgbClr val="000000"/>
                </a:solidFill>
              </a:rPr>
              <a:t>目标右移一位，</a:t>
            </a:r>
            <a:r>
              <a:rPr lang="en" altLang="zh-CN" dirty="0">
                <a:solidFill>
                  <a:srgbClr val="000000"/>
                </a:solidFill>
              </a:rPr>
              <a:t>loss</a:t>
            </a:r>
            <a:r>
              <a:rPr lang="zh-CN" altLang="en-US" dirty="0">
                <a:solidFill>
                  <a:srgbClr val="000000"/>
                </a:solidFill>
              </a:rPr>
              <a:t>才是在预测下一个词</a:t>
            </a:r>
            <a:endParaRPr kumimoji="1" lang="zh-CN" altLang="en-US" dirty="0"/>
          </a:p>
        </p:txBody>
      </p:sp>
      <p:sp>
        <p:nvSpPr>
          <p:cNvPr id="3" name="内容占位符 2">
            <a:extLst>
              <a:ext uri="{FF2B5EF4-FFF2-40B4-BE49-F238E27FC236}">
                <a16:creationId xmlns:a16="http://schemas.microsoft.com/office/drawing/2014/main" id="{97B70978-0C3D-6CD4-338D-31E5236B8CAD}"/>
              </a:ext>
            </a:extLst>
          </p:cNvPr>
          <p:cNvSpPr>
            <a:spLocks noGrp="1"/>
          </p:cNvSpPr>
          <p:nvPr>
            <p:ph idx="1"/>
          </p:nvPr>
        </p:nvSpPr>
        <p:spPr/>
        <p:txBody>
          <a:bodyPr>
            <a:normAutofit lnSpcReduction="10000"/>
          </a:bodyPr>
          <a:lstStyle/>
          <a:p>
            <a:r>
              <a:rPr lang="zh-CN" altLang="zh-CN" dirty="0">
                <a:solidFill>
                  <a:schemeClr val="tx1"/>
                </a:solidFill>
              </a:rPr>
              <a:t>假设正确译文是：我 爱 猫 。</a:t>
            </a:r>
          </a:p>
          <a:p>
            <a:r>
              <a:rPr lang="zh-CN" altLang="zh-CN" b="0" dirty="0">
                <a:solidFill>
                  <a:schemeClr val="tx1"/>
                </a:solidFill>
              </a:rPr>
              <a:t>训练时，Decoder 要反复完成一个任务：根据已经出现的内容，预测下一个词。</a:t>
            </a:r>
          </a:p>
          <a:p>
            <a:r>
              <a:rPr lang="zh-CN" altLang="zh-CN" b="0" dirty="0">
                <a:solidFill>
                  <a:schemeClr val="tx1"/>
                </a:solidFill>
              </a:rPr>
              <a:t>看到 BOS → 预测“我”</a:t>
            </a:r>
            <a:br>
              <a:rPr lang="zh-CN" altLang="zh-CN" b="0" dirty="0">
                <a:solidFill>
                  <a:schemeClr val="tx1"/>
                </a:solidFill>
              </a:rPr>
            </a:br>
            <a:r>
              <a:rPr lang="zh-CN" altLang="zh-CN" b="0" dirty="0">
                <a:solidFill>
                  <a:schemeClr val="tx1"/>
                </a:solidFill>
              </a:rPr>
              <a:t>看到 BOS、我 → 预测“爱”</a:t>
            </a:r>
            <a:br>
              <a:rPr lang="zh-CN" altLang="zh-CN" b="0" dirty="0">
                <a:solidFill>
                  <a:schemeClr val="tx1"/>
                </a:solidFill>
              </a:rPr>
            </a:br>
            <a:r>
              <a:rPr lang="zh-CN" altLang="zh-CN" b="0" dirty="0">
                <a:solidFill>
                  <a:schemeClr val="tx1"/>
                </a:solidFill>
              </a:rPr>
              <a:t>看到 BOS、我、爱 → 预测“猫”</a:t>
            </a:r>
            <a:br>
              <a:rPr lang="zh-CN" altLang="zh-CN" b="0" dirty="0">
                <a:solidFill>
                  <a:schemeClr val="tx1"/>
                </a:solidFill>
              </a:rPr>
            </a:br>
            <a:r>
              <a:rPr lang="zh-CN" altLang="zh-CN" b="0" dirty="0">
                <a:solidFill>
                  <a:schemeClr val="tx1"/>
                </a:solidFill>
              </a:rPr>
              <a:t>看到 BOS、我、爱、猫 → 预测“。”</a:t>
            </a:r>
            <a:br>
              <a:rPr lang="zh-CN" altLang="zh-CN" b="0" dirty="0">
                <a:solidFill>
                  <a:schemeClr val="tx1"/>
                </a:solidFill>
              </a:rPr>
            </a:br>
            <a:r>
              <a:rPr lang="zh-CN" altLang="zh-CN" b="0" dirty="0">
                <a:solidFill>
                  <a:schemeClr val="tx1"/>
                </a:solidFill>
              </a:rPr>
              <a:t>看到 BOS、我、爱、猫、。 → 预测 EOS</a:t>
            </a:r>
          </a:p>
          <a:p>
            <a:r>
              <a:rPr lang="zh-CN" altLang="zh-CN" dirty="0">
                <a:solidFill>
                  <a:schemeClr val="tx1"/>
                </a:solidFill>
              </a:rPr>
              <a:t>完整序列：</a:t>
            </a:r>
            <a:r>
              <a:rPr lang="zh-CN" altLang="zh-CN" b="0" dirty="0">
                <a:solidFill>
                  <a:schemeClr val="tx1"/>
                </a:solidFill>
              </a:rPr>
              <a:t>BOS | 我 | 爱 | 猫 | 。 | EOS</a:t>
            </a:r>
          </a:p>
          <a:p>
            <a:r>
              <a:rPr lang="zh-CN" altLang="zh-CN" dirty="0">
                <a:solidFill>
                  <a:schemeClr val="tx1"/>
                </a:solidFill>
              </a:rPr>
              <a:t>Decoder 输入：</a:t>
            </a:r>
            <a:r>
              <a:rPr lang="zh-CN" altLang="zh-CN" b="0" dirty="0">
                <a:solidFill>
                  <a:schemeClr val="tx1"/>
                </a:solidFill>
              </a:rPr>
              <a:t>BOS | 我 | 爱 | 猫 | 。</a:t>
            </a:r>
          </a:p>
          <a:p>
            <a:r>
              <a:rPr lang="zh-CN" altLang="zh-CN" dirty="0">
                <a:solidFill>
                  <a:schemeClr val="tx1"/>
                </a:solidFill>
              </a:rPr>
              <a:t>正确答案：</a:t>
            </a:r>
            <a:r>
              <a:rPr lang="zh-CN" altLang="zh-CN" b="0" dirty="0">
                <a:solidFill>
                  <a:schemeClr val="tx1"/>
                </a:solidFill>
              </a:rPr>
              <a:t>我 | 爱 | 猫 | 。 | EOS</a:t>
            </a:r>
          </a:p>
          <a:p>
            <a:endParaRPr kumimoji="1" lang="zh-CN" altLang="en-US" dirty="0"/>
          </a:p>
        </p:txBody>
      </p:sp>
      <p:sp>
        <p:nvSpPr>
          <p:cNvPr id="4" name="内容占位符 3">
            <a:extLst>
              <a:ext uri="{FF2B5EF4-FFF2-40B4-BE49-F238E27FC236}">
                <a16:creationId xmlns:a16="http://schemas.microsoft.com/office/drawing/2014/main" id="{D53418C6-A405-C6A5-6A64-ECA1BE2D1378}"/>
              </a:ext>
            </a:extLst>
          </p:cNvPr>
          <p:cNvSpPr>
            <a:spLocks noGrp="1"/>
          </p:cNvSpPr>
          <p:nvPr>
            <p:ph idx="14"/>
          </p:nvPr>
        </p:nvSpPr>
        <p:spPr/>
        <p:txBody>
          <a:bodyPr>
            <a:normAutofit lnSpcReduction="10000"/>
          </a:bodyPr>
          <a:lstStyle/>
          <a:p>
            <a:r>
              <a:rPr kumimoji="1" lang="zh-CN" altLang="en-US" dirty="0">
                <a:solidFill>
                  <a:schemeClr val="tx1"/>
                </a:solidFill>
              </a:rPr>
              <a:t>真实代码：</a:t>
            </a:r>
            <a:endParaRPr kumimoji="1" lang="en-US" altLang="zh-CN" dirty="0">
              <a:solidFill>
                <a:schemeClr val="tx1"/>
              </a:solidFill>
            </a:endParaRPr>
          </a:p>
          <a:p>
            <a:r>
              <a:rPr kumimoji="1" lang="en" altLang="zh-CN" b="0" dirty="0" err="1">
                <a:solidFill>
                  <a:schemeClr val="tx1"/>
                </a:solidFill>
              </a:rPr>
              <a:t>trg_seq</a:t>
            </a:r>
            <a:r>
              <a:rPr kumimoji="1" lang="en" altLang="zh-CN" b="0" dirty="0">
                <a:solidFill>
                  <a:schemeClr val="tx1"/>
                </a:solidFill>
              </a:rPr>
              <a:t> = </a:t>
            </a:r>
            <a:r>
              <a:rPr kumimoji="1" lang="en" altLang="zh-CN" b="0" dirty="0" err="1">
                <a:solidFill>
                  <a:schemeClr val="tx1"/>
                </a:solidFill>
              </a:rPr>
              <a:t>trg</a:t>
            </a:r>
            <a:r>
              <a:rPr kumimoji="1" lang="en" altLang="zh-CN" b="0" dirty="0">
                <a:solidFill>
                  <a:schemeClr val="tx1"/>
                </a:solidFill>
              </a:rPr>
              <a:t>[:, :-1]   # </a:t>
            </a:r>
            <a:r>
              <a:rPr kumimoji="1" lang="zh-CN" altLang="en-US" b="0" dirty="0">
                <a:solidFill>
                  <a:schemeClr val="tx1"/>
                </a:solidFill>
              </a:rPr>
              <a:t>去掉最后的 </a:t>
            </a:r>
            <a:r>
              <a:rPr kumimoji="1" lang="en" altLang="zh-CN" b="0" dirty="0">
                <a:solidFill>
                  <a:schemeClr val="tx1"/>
                </a:solidFill>
              </a:rPr>
              <a:t>EOS</a:t>
            </a:r>
            <a:r>
              <a:rPr kumimoji="1" lang="zh-CN" altLang="en" b="0" dirty="0">
                <a:solidFill>
                  <a:schemeClr val="tx1"/>
                </a:solidFill>
              </a:rPr>
              <a:t>，</a:t>
            </a:r>
            <a:r>
              <a:rPr kumimoji="1" lang="zh-CN" altLang="en-US" b="0" dirty="0">
                <a:solidFill>
                  <a:schemeClr val="tx1"/>
                </a:solidFill>
              </a:rPr>
              <a:t>作为 </a:t>
            </a:r>
            <a:r>
              <a:rPr kumimoji="1" lang="en" altLang="zh-CN" b="0" dirty="0">
                <a:solidFill>
                  <a:schemeClr val="tx1"/>
                </a:solidFill>
              </a:rPr>
              <a:t>Decoder </a:t>
            </a:r>
            <a:r>
              <a:rPr kumimoji="1" lang="zh-CN" altLang="en-US" b="0" dirty="0">
                <a:solidFill>
                  <a:schemeClr val="tx1"/>
                </a:solidFill>
              </a:rPr>
              <a:t>输入</a:t>
            </a:r>
          </a:p>
          <a:p>
            <a:r>
              <a:rPr kumimoji="1" lang="en" altLang="zh-CN" b="0" dirty="0">
                <a:solidFill>
                  <a:schemeClr val="tx1"/>
                </a:solidFill>
              </a:rPr>
              <a:t>gold = </a:t>
            </a:r>
            <a:r>
              <a:rPr kumimoji="1" lang="en" altLang="zh-CN" b="0" dirty="0" err="1">
                <a:solidFill>
                  <a:schemeClr val="tx1"/>
                </a:solidFill>
              </a:rPr>
              <a:t>trg</a:t>
            </a:r>
            <a:r>
              <a:rPr kumimoji="1" lang="en" altLang="zh-CN" b="0" dirty="0">
                <a:solidFill>
                  <a:schemeClr val="tx1"/>
                </a:solidFill>
              </a:rPr>
              <a:t>[:, 1:]       # </a:t>
            </a:r>
            <a:r>
              <a:rPr kumimoji="1" lang="zh-CN" altLang="en-US" b="0" dirty="0">
                <a:solidFill>
                  <a:schemeClr val="tx1"/>
                </a:solidFill>
              </a:rPr>
              <a:t>去掉开头的 </a:t>
            </a:r>
            <a:r>
              <a:rPr kumimoji="1" lang="en" altLang="zh-CN" b="0" dirty="0">
                <a:solidFill>
                  <a:schemeClr val="tx1"/>
                </a:solidFill>
              </a:rPr>
              <a:t>BOS</a:t>
            </a:r>
            <a:r>
              <a:rPr kumimoji="1" lang="zh-CN" altLang="en" b="0" dirty="0">
                <a:solidFill>
                  <a:schemeClr val="tx1"/>
                </a:solidFill>
              </a:rPr>
              <a:t>，</a:t>
            </a:r>
            <a:r>
              <a:rPr kumimoji="1" lang="zh-CN" altLang="en-US" b="0" dirty="0">
                <a:solidFill>
                  <a:schemeClr val="tx1"/>
                </a:solidFill>
              </a:rPr>
              <a:t>作为正确答案</a:t>
            </a:r>
            <a:endParaRPr kumimoji="1" lang="en-US" altLang="zh-CN" b="0" dirty="0">
              <a:solidFill>
                <a:schemeClr val="tx1"/>
              </a:solidFill>
            </a:endParaRPr>
          </a:p>
          <a:p>
            <a:endParaRPr kumimoji="1" lang="en-US" altLang="zh-CN" b="0" dirty="0">
              <a:solidFill>
                <a:schemeClr val="tx1"/>
              </a:solidFill>
            </a:endParaRPr>
          </a:p>
          <a:p>
            <a:r>
              <a:rPr lang="zh-CN" altLang="zh-CN" b="0" dirty="0"/>
              <a:t>trg_seq 和 gold 的长度相同，但内容错开一个位置</a:t>
            </a:r>
            <a:endParaRPr lang="en-US" altLang="zh-CN" b="0" dirty="0"/>
          </a:p>
          <a:p>
            <a:r>
              <a:rPr lang="zh-CN" altLang="zh-CN" b="0" dirty="0"/>
              <a:t>这样，模型在每个位置学习的都是：</a:t>
            </a:r>
          </a:p>
          <a:p>
            <a:pPr marL="285750" indent="-285750">
              <a:buFont typeface="Arial" panose="020B0604020202020204" pitchFamily="34" charset="0"/>
              <a:buChar char="•"/>
            </a:pPr>
            <a:r>
              <a:rPr lang="zh-CN" altLang="zh-CN" b="0" dirty="0"/>
              <a:t>根据当前已有内容，预测下一个正确的词。</a:t>
            </a:r>
          </a:p>
          <a:p>
            <a:pPr marL="285750" indent="-285750">
              <a:buFont typeface="Arial" panose="020B0604020202020204" pitchFamily="34" charset="0"/>
              <a:buChar char="•"/>
            </a:pPr>
            <a:r>
              <a:rPr lang="zh-CN" altLang="zh-CN" b="0" dirty="0"/>
              <a:t>如果不进行错位，模型可能只学会复制当前位置，而不是学习如何生成下一个词。</a:t>
            </a:r>
          </a:p>
          <a:p>
            <a:endParaRPr kumimoji="1" lang="en-US" altLang="zh-CN" b="0" dirty="0">
              <a:solidFill>
                <a:schemeClr val="tx1"/>
              </a:solidFill>
            </a:endParaRPr>
          </a:p>
        </p:txBody>
      </p:sp>
    </p:spTree>
    <p:extLst>
      <p:ext uri="{BB962C8B-B14F-4D97-AF65-F5344CB8AC3E}">
        <p14:creationId xmlns:p14="http://schemas.microsoft.com/office/powerpoint/2010/main" val="30345511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1C7A08-A60E-2986-4901-0A014A4B9D1D}"/>
              </a:ext>
            </a:extLst>
          </p:cNvPr>
          <p:cNvSpPr>
            <a:spLocks noGrp="1"/>
          </p:cNvSpPr>
          <p:nvPr>
            <p:ph type="title"/>
          </p:nvPr>
        </p:nvSpPr>
        <p:spPr/>
        <p:txBody>
          <a:bodyPr/>
          <a:lstStyle/>
          <a:p>
            <a:r>
              <a:rPr lang="zh-CN" altLang="zh-CN" dirty="0"/>
              <a:t>实操 4：验证 Decoder 目标右移</a:t>
            </a:r>
            <a:endParaRPr kumimoji="1" lang="zh-CN" altLang="en-US" dirty="0"/>
          </a:p>
        </p:txBody>
      </p:sp>
      <p:pic>
        <p:nvPicPr>
          <p:cNvPr id="5" name="内容占位符 4">
            <a:extLst>
              <a:ext uri="{FF2B5EF4-FFF2-40B4-BE49-F238E27FC236}">
                <a16:creationId xmlns:a16="http://schemas.microsoft.com/office/drawing/2014/main" id="{C008DF66-81DD-471C-64F8-52BAA0EFF6DF}"/>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984651" y="1060139"/>
            <a:ext cx="8222697" cy="5281419"/>
          </a:xfrm>
          <a:prstGeom prst="rect">
            <a:avLst/>
          </a:prstGeom>
        </p:spPr>
      </p:pic>
    </p:spTree>
    <p:extLst>
      <p:ext uri="{BB962C8B-B14F-4D97-AF65-F5344CB8AC3E}">
        <p14:creationId xmlns:p14="http://schemas.microsoft.com/office/powerpoint/2010/main" val="178502297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dirty="0">
                <a:solidFill>
                  <a:srgbClr val="000000"/>
                </a:solidFill>
              </a:rPr>
              <a:t>3.2 </a:t>
            </a:r>
            <a:r>
              <a:rPr dirty="0" err="1">
                <a:solidFill>
                  <a:srgbClr val="000000"/>
                </a:solidFill>
              </a:rPr>
              <a:t>loss与accuracy都必须忽略PAD</a:t>
            </a:r>
            <a:endParaRPr sz="1800" dirty="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297275" y="1099852"/>
            <a:ext cx="5671039" cy="5018437"/>
          </a:xfrm>
        </p:spPr>
        <p:txBody>
          <a:bodyPr>
            <a:normAutofit fontScale="81562" lnSpcReduction="20000"/>
          </a:bodyPr>
          <a:lstStyle/>
          <a:p>
            <a:r>
              <a:rPr lang="zh-CN" altLang="zh-CN" dirty="0">
                <a:solidFill>
                  <a:schemeClr val="tx1"/>
                </a:solidFill>
              </a:rPr>
              <a:t>PAD只是补齐符号，不是真实译文。</a:t>
            </a:r>
          </a:p>
          <a:p>
            <a:r>
              <a:rPr lang="zh-CN" altLang="zh-CN" dirty="0">
                <a:solidFill>
                  <a:schemeClr val="tx1"/>
                </a:solidFill>
              </a:rPr>
              <a:t>例如：</a:t>
            </a:r>
          </a:p>
          <a:p>
            <a:pPr rtl="0"/>
            <a:r>
              <a:rPr lang="zh-CN" altLang="zh-CN" b="0" dirty="0">
                <a:solidFill>
                  <a:schemeClr val="tx1"/>
                </a:solidFill>
              </a:rPr>
              <a:t>正确答案：我   爱   EOS   PAD   PAD</a:t>
            </a:r>
          </a:p>
          <a:p>
            <a:pPr rtl="0"/>
            <a:r>
              <a:rPr lang="zh-CN" altLang="zh-CN" b="0" dirty="0">
                <a:solidFill>
                  <a:schemeClr val="tx1"/>
                </a:solidFill>
              </a:rPr>
              <a:t>模型预测：错   错   错    PAD   PAD</a:t>
            </a:r>
          </a:p>
          <a:p>
            <a:r>
              <a:rPr lang="zh-CN" altLang="zh-CN" dirty="0">
                <a:solidFill>
                  <a:schemeClr val="tx1"/>
                </a:solidFill>
              </a:rPr>
              <a:t>如果把PAD也算进去：</a:t>
            </a:r>
          </a:p>
          <a:p>
            <a:pPr rtl="0"/>
            <a:r>
              <a:rPr lang="zh-CN" altLang="zh-CN" b="0" dirty="0">
                <a:solidFill>
                  <a:schemeClr val="tx1"/>
                </a:solidFill>
              </a:rPr>
              <a:t>Accuracy = 2 ÷ 5 = 40%</a:t>
            </a:r>
          </a:p>
          <a:p>
            <a:r>
              <a:rPr lang="zh-CN" altLang="zh-CN" b="0" dirty="0">
                <a:solidFill>
                  <a:schemeClr val="tx1"/>
                </a:solidFill>
              </a:rPr>
              <a:t>看起来模型答对了40%，但它一个真实词都没预测正确。</a:t>
            </a:r>
          </a:p>
          <a:p>
            <a:r>
              <a:rPr lang="zh-CN" altLang="zh-CN" dirty="0">
                <a:solidFill>
                  <a:schemeClr val="tx1"/>
                </a:solidFill>
              </a:rPr>
              <a:t>忽略PAD后：</a:t>
            </a:r>
          </a:p>
          <a:p>
            <a:pPr rtl="0"/>
            <a:r>
              <a:rPr lang="zh-CN" altLang="zh-CN" b="0" dirty="0">
                <a:solidFill>
                  <a:schemeClr val="tx1"/>
                </a:solidFill>
              </a:rPr>
              <a:t>Accuracy = 0 ÷ 3 = 0%</a:t>
            </a:r>
          </a:p>
          <a:p>
            <a:r>
              <a:rPr lang="zh-CN" altLang="zh-CN" dirty="0">
                <a:solidFill>
                  <a:schemeClr val="tx1"/>
                </a:solidFill>
              </a:rPr>
              <a:t>同时，PAD位置通常比较容易预测，会把平均Loss拉低，让训练效果看起来比实际更好。</a:t>
            </a:r>
          </a:p>
          <a:p>
            <a:r>
              <a:rPr lang="zh-CN" altLang="zh-CN" dirty="0">
                <a:solidFill>
                  <a:schemeClr val="tx1"/>
                </a:solidFill>
              </a:rPr>
              <a:t>因此，Loss和Accuracy都只能统计非PAD位置。</a:t>
            </a: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10" name="图片 9"/>
          <p:cNvPicPr>
            <a:picLocks noChangeAspect="1"/>
          </p:cNvPicPr>
          <p:nvPr/>
        </p:nvPicPr>
        <p:blipFill>
          <a:blip r:embed="rId3"/>
          <a:srcRect l="14712" r="14967"/>
          <a:stretch>
            <a:fillRect/>
          </a:stretch>
        </p:blipFill>
        <p:spPr>
          <a:xfrm>
            <a:off x="5968314" y="997192"/>
            <a:ext cx="5879602" cy="5121097"/>
          </a:xfrm>
          <a:prstGeom prst="rect">
            <a:avLst/>
          </a:prstGeom>
        </p:spPr>
      </p:pic>
    </p:spTree>
    <p:extLst>
      <p:ext uri="{BB962C8B-B14F-4D97-AF65-F5344CB8AC3E}">
        <p14:creationId xmlns:p14="http://schemas.microsoft.com/office/powerpoint/2010/main" val="3223137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85B724-6E2C-EC4B-73C1-201B491CA0BF}"/>
              </a:ext>
            </a:extLst>
          </p:cNvPr>
          <p:cNvSpPr>
            <a:spLocks noGrp="1"/>
          </p:cNvSpPr>
          <p:nvPr>
            <p:ph type="title"/>
          </p:nvPr>
        </p:nvSpPr>
        <p:spPr/>
        <p:txBody>
          <a:bodyPr/>
          <a:lstStyle/>
          <a:p>
            <a:r>
              <a:rPr lang="zh-CN" altLang="zh-CN" dirty="0"/>
              <a:t>实操 5：验证 Loss 与 Accuracy 忽略 PAD</a:t>
            </a:r>
            <a:endParaRPr kumimoji="1" lang="zh-CN" altLang="en-US" dirty="0"/>
          </a:p>
        </p:txBody>
      </p:sp>
      <p:pic>
        <p:nvPicPr>
          <p:cNvPr id="5" name="内容占位符 4">
            <a:extLst>
              <a:ext uri="{FF2B5EF4-FFF2-40B4-BE49-F238E27FC236}">
                <a16:creationId xmlns:a16="http://schemas.microsoft.com/office/drawing/2014/main" id="{63979BE9-AFBF-0AD5-1498-83A5D65BC48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790792" y="912423"/>
            <a:ext cx="6059673" cy="5633935"/>
          </a:xfrm>
          <a:prstGeom prst="rect">
            <a:avLst/>
          </a:prstGeom>
        </p:spPr>
      </p:pic>
      <p:pic>
        <p:nvPicPr>
          <p:cNvPr id="7" name="图片 6">
            <a:extLst>
              <a:ext uri="{FF2B5EF4-FFF2-40B4-BE49-F238E27FC236}">
                <a16:creationId xmlns:a16="http://schemas.microsoft.com/office/drawing/2014/main" id="{D9E8A531-C9D4-A851-A78F-6780677894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257" y="912423"/>
            <a:ext cx="5195610" cy="2756047"/>
          </a:xfrm>
          <a:prstGeom prst="rect">
            <a:avLst/>
          </a:prstGeom>
        </p:spPr>
      </p:pic>
    </p:spTree>
    <p:extLst>
      <p:ext uri="{BB962C8B-B14F-4D97-AF65-F5344CB8AC3E}">
        <p14:creationId xmlns:p14="http://schemas.microsoft.com/office/powerpoint/2010/main" val="53398585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169157" y="141526"/>
            <a:ext cx="10054800" cy="651600"/>
          </a:xfrm>
        </p:spPr>
        <p:txBody>
          <a:bodyPr anchor="ctr">
            <a:normAutofit/>
          </a:bodyPr>
          <a:lstStyle/>
          <a:p>
            <a:pPr>
              <a:defRPr>
                <a:solidFill>
                  <a:srgbClr val="000000"/>
                </a:solidFill>
              </a:defRPr>
            </a:pPr>
            <a:r>
              <a:rPr lang="en-US" altLang="zh-CN"/>
              <a:t>3.3</a:t>
            </a:r>
            <a:r>
              <a:rPr lang="zh-CN" altLang="en-US"/>
              <a:t> </a:t>
            </a:r>
            <a:r>
              <a:rPr lang="zh-CN" altLang="en-US" err="1"/>
              <a:t>收敛变化要看连续验证趋势</a:t>
            </a:r>
            <a:endParaRPr lang="zh-CN" altLang="en-US"/>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117071" y="972824"/>
            <a:ext cx="5662800" cy="5666877"/>
          </a:xfrm>
        </p:spPr>
        <p:txBody>
          <a:bodyPr>
            <a:noAutofit/>
          </a:bodyPr>
          <a:lstStyle/>
          <a:p>
            <a:pPr marL="0" indent="0">
              <a:lnSpc>
                <a:spcPct val="140000"/>
              </a:lnSpc>
              <a:buNone/>
            </a:pPr>
            <a:r>
              <a:rPr lang="en" sz="1400" dirty="0">
                <a:solidFill>
                  <a:schemeClr val="tx1"/>
                </a:solidFill>
              </a:rPr>
              <a:t>10 epoch </a:t>
            </a:r>
            <a:r>
              <a:rPr lang="zh-CN" altLang="en-US" sz="1400" dirty="0">
                <a:solidFill>
                  <a:schemeClr val="tx1"/>
                </a:solidFill>
              </a:rPr>
              <a:t>实测节点：</a:t>
            </a:r>
          </a:p>
          <a:p>
            <a:pPr rtl="0"/>
            <a:r>
              <a:rPr lang="zh-CN" altLang="zh-CN" sz="1400" dirty="0">
                <a:solidFill>
                  <a:schemeClr val="tx1"/>
                </a:solidFill>
              </a:rPr>
              <a:t>第1轮：PPL 2</a:t>
            </a:r>
            <a:r>
              <a:rPr lang="en-US" altLang="zh-CN" sz="1400" dirty="0">
                <a:solidFill>
                  <a:schemeClr val="tx1"/>
                </a:solidFill>
              </a:rPr>
              <a:t>27.27</a:t>
            </a:r>
            <a:r>
              <a:rPr lang="zh-CN" altLang="zh-CN" sz="1400" dirty="0">
                <a:solidFill>
                  <a:schemeClr val="tx1"/>
                </a:solidFill>
              </a:rPr>
              <a:t>｜Acc 19.093%</a:t>
            </a:r>
          </a:p>
          <a:p>
            <a:pPr rtl="0"/>
            <a:r>
              <a:rPr lang="zh-CN" altLang="zh-CN" sz="1400" dirty="0">
                <a:solidFill>
                  <a:schemeClr val="tx1"/>
                </a:solidFill>
              </a:rPr>
              <a:t>第4轮：PPL 67.70｜Acc 31.476%</a:t>
            </a:r>
          </a:p>
          <a:p>
            <a:pPr rtl="0"/>
            <a:r>
              <a:rPr lang="zh-CN" altLang="zh-CN" sz="1400" dirty="0">
                <a:solidFill>
                  <a:schemeClr val="tx1"/>
                </a:solidFill>
              </a:rPr>
              <a:t>第7轮：PPL 32.61｜Acc 40.148%</a:t>
            </a:r>
          </a:p>
          <a:p>
            <a:pPr rtl="0"/>
            <a:r>
              <a:rPr lang="zh-CN" altLang="zh-CN" sz="1400" dirty="0">
                <a:solidFill>
                  <a:schemeClr val="tx1"/>
                </a:solidFill>
              </a:rPr>
              <a:t>第10轮：PPL 21.66｜Acc 45.559%</a:t>
            </a:r>
            <a:endParaRPr lang="en-US" altLang="zh-CN" sz="1400" dirty="0">
              <a:solidFill>
                <a:schemeClr val="tx1"/>
              </a:solidFill>
            </a:endParaRPr>
          </a:p>
          <a:p>
            <a:pPr rtl="0"/>
            <a:endParaRPr lang="zh-CN" altLang="en-US" sz="1400" dirty="0">
              <a:solidFill>
                <a:schemeClr val="tx1"/>
              </a:solidFill>
            </a:endParaRPr>
          </a:p>
          <a:p>
            <a:pPr rtl="0"/>
            <a:r>
              <a:rPr lang="zh-CN" altLang="zh-CN" sz="1400" dirty="0">
                <a:solidFill>
                  <a:schemeClr val="tx1"/>
                </a:solidFill>
              </a:rPr>
              <a:t>判断：</a:t>
            </a:r>
          </a:p>
          <a:p>
            <a:pPr rtl="0">
              <a:buFont typeface="Arial" panose="020B0604020202020204" pitchFamily="34" charset="0"/>
              <a:buChar char="•"/>
            </a:pPr>
            <a:r>
              <a:rPr lang="zh-CN" altLang="zh-CN" sz="1400" b="0" dirty="0">
                <a:solidFill>
                  <a:schemeClr val="tx1"/>
                </a:solidFill>
              </a:rPr>
              <a:t>验证 PPL 持续下降：271.13 → 21.66；验证 Accuracy 持续上升：19.093% → 45.559%。说明模型在验证集上的 token 预测能力持续改善，训练过程正常收敛。</a:t>
            </a:r>
          </a:p>
          <a:p>
            <a:pPr rtl="0">
              <a:buFont typeface="Arial" panose="020B0604020202020204" pitchFamily="34" charset="0"/>
              <a:buChar char="•"/>
            </a:pPr>
            <a:r>
              <a:rPr lang="zh-CN" altLang="zh-CN" sz="1400" b="0" dirty="0">
                <a:solidFill>
                  <a:schemeClr val="tx1"/>
                </a:solidFill>
              </a:rPr>
              <a:t>第7轮到第10轮仍有明显提升：PPL 32.61 → 21.66，Accuracy 40.148% → 45.559%。</a:t>
            </a:r>
          </a:p>
          <a:p>
            <a:pPr rtl="0">
              <a:buFont typeface="Arial" panose="020B0604020202020204" pitchFamily="34" charset="0"/>
              <a:buChar char="•"/>
            </a:pPr>
            <a:r>
              <a:rPr lang="zh-CN" altLang="zh-CN" sz="1400" b="0" dirty="0">
                <a:solidFill>
                  <a:schemeClr val="tx1"/>
                </a:solidFill>
              </a:rPr>
              <a:t>实验中，每轮验证结果均改善，训练脚本自动更新 best_model.chkpt；第10轮对应当前最佳模型。</a:t>
            </a: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6" name="图片 5">
            <a:extLst>
              <a:ext uri="{FF2B5EF4-FFF2-40B4-BE49-F238E27FC236}">
                <a16:creationId xmlns:a16="http://schemas.microsoft.com/office/drawing/2014/main" id="{9EA3994F-D971-97AE-506F-ECA8C8BC5405}"/>
              </a:ext>
            </a:extLst>
          </p:cNvPr>
          <p:cNvPicPr>
            <a:picLocks noChangeAspect="1"/>
          </p:cNvPicPr>
          <p:nvPr/>
        </p:nvPicPr>
        <p:blipFill>
          <a:blip r:embed="rId3">
            <a:extLst>
              <a:ext uri="{28A0092B-C50C-407E-A947-70E740481C1C}">
                <a14:useLocalDpi xmlns:a14="http://schemas.microsoft.com/office/drawing/2010/main" val="0"/>
              </a:ext>
            </a:extLst>
          </a:blip>
          <a:srcRect r="16295"/>
          <a:stretch>
            <a:fillRect/>
          </a:stretch>
        </p:blipFill>
        <p:spPr>
          <a:xfrm>
            <a:off x="5779871" y="972825"/>
            <a:ext cx="5993029" cy="5666878"/>
          </a:xfrm>
          <a:prstGeom prst="rect">
            <a:avLst/>
          </a:prstGeom>
        </p:spPr>
      </p:pic>
      <mc:AlternateContent xmlns:mc="http://schemas.openxmlformats.org/markup-compatibility/2006" xmlns:p14="http://schemas.microsoft.com/office/powerpoint/2010/main">
        <mc:Choice Requires="p14">
          <p:contentPart p14:bwMode="auto" r:id="rId4">
            <p14:nvContentPartPr>
              <p14:cNvPr id="10" name="墨迹 9">
                <a:extLst>
                  <a:ext uri="{FF2B5EF4-FFF2-40B4-BE49-F238E27FC236}">
                    <a16:creationId xmlns:a16="http://schemas.microsoft.com/office/drawing/2014/main" id="{339AA3B5-10BD-2A77-4D8E-82EF56D58736}"/>
                  </a:ext>
                </a:extLst>
              </p14:cNvPr>
              <p14:cNvContentPartPr/>
              <p14:nvPr/>
            </p14:nvContentPartPr>
            <p14:xfrm>
              <a:off x="2288520" y="3771000"/>
              <a:ext cx="360" cy="360"/>
            </p14:xfrm>
          </p:contentPart>
        </mc:Choice>
        <mc:Fallback xmlns="">
          <p:pic>
            <p:nvPicPr>
              <p:cNvPr id="10" name="墨迹 9">
                <a:extLst>
                  <a:ext uri="{FF2B5EF4-FFF2-40B4-BE49-F238E27FC236}">
                    <a16:creationId xmlns:a16="http://schemas.microsoft.com/office/drawing/2014/main" id="{339AA3B5-10BD-2A77-4D8E-82EF56D58736}"/>
                  </a:ext>
                </a:extLst>
              </p:cNvPr>
              <p:cNvPicPr/>
              <p:nvPr/>
            </p:nvPicPr>
            <p:blipFill>
              <a:blip r:embed="rId5"/>
              <a:stretch>
                <a:fillRect/>
              </a:stretch>
            </p:blipFill>
            <p:spPr>
              <a:xfrm>
                <a:off x="2279160" y="3761640"/>
                <a:ext cx="19080" cy="19080"/>
              </a:xfrm>
              <a:prstGeom prst="rect">
                <a:avLst/>
              </a:prstGeom>
            </p:spPr>
          </p:pic>
        </mc:Fallback>
      </mc:AlternateContent>
    </p:spTree>
    <p:extLst>
      <p:ext uri="{BB962C8B-B14F-4D97-AF65-F5344CB8AC3E}">
        <p14:creationId xmlns:p14="http://schemas.microsoft.com/office/powerpoint/2010/main" val="3223137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795F09-DCA4-FFC0-403A-0C1B88738C14}"/>
              </a:ext>
            </a:extLst>
          </p:cNvPr>
          <p:cNvSpPr>
            <a:spLocks noGrp="1"/>
          </p:cNvSpPr>
          <p:nvPr>
            <p:ph type="title"/>
          </p:nvPr>
        </p:nvSpPr>
        <p:spPr/>
        <p:txBody>
          <a:bodyPr/>
          <a:lstStyle/>
          <a:p>
            <a:r>
              <a:rPr lang="zh-CN" altLang="zh-CN" dirty="0"/>
              <a:t>实操 6：10 epoch 验证日志与最佳模型选择</a:t>
            </a:r>
            <a:endParaRPr kumimoji="1" lang="zh-CN" altLang="en-US" dirty="0"/>
          </a:p>
        </p:txBody>
      </p:sp>
      <p:sp>
        <p:nvSpPr>
          <p:cNvPr id="3" name="内容占位符 2">
            <a:extLst>
              <a:ext uri="{FF2B5EF4-FFF2-40B4-BE49-F238E27FC236}">
                <a16:creationId xmlns:a16="http://schemas.microsoft.com/office/drawing/2014/main" id="{B188505C-4D80-05CE-826F-989E42CC37C1}"/>
              </a:ext>
            </a:extLst>
          </p:cNvPr>
          <p:cNvSpPr>
            <a:spLocks noGrp="1"/>
          </p:cNvSpPr>
          <p:nvPr>
            <p:ph idx="1"/>
          </p:nvPr>
        </p:nvSpPr>
        <p:spPr/>
        <p:txBody>
          <a:bodyPr/>
          <a:lstStyle/>
          <a:p>
            <a:r>
              <a:rPr kumimoji="1" lang="en-US" altLang="zh-CN" dirty="0">
                <a:solidFill>
                  <a:schemeClr val="tx1"/>
                </a:solidFill>
              </a:rPr>
              <a:t>1.</a:t>
            </a:r>
            <a:r>
              <a:rPr kumimoji="1" lang="zh-CN" altLang="en-US" dirty="0">
                <a:solidFill>
                  <a:schemeClr val="tx1"/>
                </a:solidFill>
              </a:rPr>
              <a:t> 先完成独立 </a:t>
            </a:r>
            <a:r>
              <a:rPr kumimoji="1" lang="en-US" altLang="zh-CN" dirty="0">
                <a:solidFill>
                  <a:schemeClr val="tx1"/>
                </a:solidFill>
              </a:rPr>
              <a:t>10 </a:t>
            </a:r>
            <a:r>
              <a:rPr kumimoji="1" lang="en" altLang="zh-CN" dirty="0">
                <a:solidFill>
                  <a:schemeClr val="tx1"/>
                </a:solidFill>
              </a:rPr>
              <a:t>epoch </a:t>
            </a:r>
            <a:r>
              <a:rPr kumimoji="1" lang="zh-CN" altLang="en-US" dirty="0">
                <a:solidFill>
                  <a:schemeClr val="tx1"/>
                </a:solidFill>
              </a:rPr>
              <a:t>训练</a:t>
            </a:r>
          </a:p>
          <a:p>
            <a:r>
              <a:rPr kumimoji="1" lang="zh-CN" altLang="en-US" dirty="0">
                <a:solidFill>
                  <a:schemeClr val="tx1"/>
                </a:solidFill>
              </a:rPr>
              <a:t>        ↓</a:t>
            </a:r>
          </a:p>
          <a:p>
            <a:r>
              <a:rPr kumimoji="1" lang="zh-CN" altLang="en-US" dirty="0">
                <a:solidFill>
                  <a:schemeClr val="tx1"/>
                </a:solidFill>
              </a:rPr>
              <a:t>    产生 </a:t>
            </a:r>
            <a:r>
              <a:rPr kumimoji="1" lang="en" altLang="zh-CN" dirty="0">
                <a:solidFill>
                  <a:schemeClr val="tx1"/>
                </a:solidFill>
              </a:rPr>
              <a:t>outputs/en_zh_epoch10/ </a:t>
            </a:r>
            <a:r>
              <a:rPr kumimoji="1" lang="zh-CN" altLang="en-US" dirty="0">
                <a:solidFill>
                  <a:schemeClr val="tx1"/>
                </a:solidFill>
              </a:rPr>
              <a:t>下的日志和 </a:t>
            </a:r>
            <a:r>
              <a:rPr kumimoji="1" lang="en" altLang="zh-CN" dirty="0">
                <a:solidFill>
                  <a:schemeClr val="tx1"/>
                </a:solidFill>
              </a:rPr>
              <a:t>checkpoint</a:t>
            </a:r>
          </a:p>
          <a:p>
            <a:r>
              <a:rPr kumimoji="1" lang="en" altLang="zh-CN" dirty="0">
                <a:solidFill>
                  <a:schemeClr val="tx1"/>
                </a:solidFill>
              </a:rPr>
              <a:t>        ↓</a:t>
            </a:r>
          </a:p>
          <a:p>
            <a:r>
              <a:rPr kumimoji="1" lang="en-US" altLang="zh-CN" dirty="0">
                <a:solidFill>
                  <a:schemeClr val="tx1"/>
                </a:solidFill>
              </a:rPr>
              <a:t>2.</a:t>
            </a:r>
            <a:r>
              <a:rPr kumimoji="1" lang="zh-CN" altLang="en-US" dirty="0">
                <a:solidFill>
                  <a:schemeClr val="tx1"/>
                </a:solidFill>
              </a:rPr>
              <a:t> 读取 </a:t>
            </a:r>
            <a:r>
              <a:rPr kumimoji="1" lang="en" altLang="zh-CN" dirty="0" err="1">
                <a:solidFill>
                  <a:schemeClr val="tx1"/>
                </a:solidFill>
              </a:rPr>
              <a:t>valid.log</a:t>
            </a:r>
            <a:r>
              <a:rPr kumimoji="1" lang="en" altLang="zh-CN" dirty="0">
                <a:solidFill>
                  <a:schemeClr val="tx1"/>
                </a:solidFill>
              </a:rPr>
              <a:t> </a:t>
            </a:r>
            <a:r>
              <a:rPr kumimoji="1" lang="zh-CN" altLang="en-US" dirty="0">
                <a:solidFill>
                  <a:schemeClr val="tx1"/>
                </a:solidFill>
              </a:rPr>
              <a:t>中每轮的 </a:t>
            </a:r>
            <a:r>
              <a:rPr kumimoji="1" lang="en" altLang="zh-CN" dirty="0">
                <a:solidFill>
                  <a:schemeClr val="tx1"/>
                </a:solidFill>
              </a:rPr>
              <a:t>loss / PPL / Accuracy</a:t>
            </a:r>
          </a:p>
          <a:p>
            <a:r>
              <a:rPr kumimoji="1" lang="en" altLang="zh-CN" dirty="0">
                <a:solidFill>
                  <a:schemeClr val="tx1"/>
                </a:solidFill>
              </a:rPr>
              <a:t>        ↓</a:t>
            </a:r>
          </a:p>
          <a:p>
            <a:r>
              <a:rPr kumimoji="1" lang="zh-CN" altLang="en-US" dirty="0">
                <a:solidFill>
                  <a:schemeClr val="tx1"/>
                </a:solidFill>
              </a:rPr>
              <a:t>     找 </a:t>
            </a:r>
            <a:r>
              <a:rPr kumimoji="1" lang="en" altLang="zh-CN" dirty="0">
                <a:solidFill>
                  <a:schemeClr val="tx1"/>
                </a:solidFill>
              </a:rPr>
              <a:t>valid loss </a:t>
            </a:r>
            <a:r>
              <a:rPr kumimoji="1" lang="zh-CN" altLang="en-US" dirty="0">
                <a:solidFill>
                  <a:schemeClr val="tx1"/>
                </a:solidFill>
              </a:rPr>
              <a:t>最小的那一轮</a:t>
            </a:r>
          </a:p>
          <a:p>
            <a:r>
              <a:rPr kumimoji="1" lang="zh-CN" altLang="en-US" dirty="0">
                <a:solidFill>
                  <a:schemeClr val="tx1"/>
                </a:solidFill>
              </a:rPr>
              <a:t>        ↓</a:t>
            </a:r>
          </a:p>
          <a:p>
            <a:r>
              <a:rPr kumimoji="1" lang="en-US" altLang="zh-CN" dirty="0">
                <a:solidFill>
                  <a:schemeClr val="tx1"/>
                </a:solidFill>
              </a:rPr>
              <a:t>3.</a:t>
            </a:r>
            <a:r>
              <a:rPr kumimoji="1" lang="zh-CN" altLang="en-US" dirty="0">
                <a:solidFill>
                  <a:schemeClr val="tx1"/>
                </a:solidFill>
              </a:rPr>
              <a:t> 确认对应的 </a:t>
            </a:r>
            <a:r>
              <a:rPr kumimoji="1" lang="en" altLang="zh-CN" dirty="0" err="1">
                <a:solidFill>
                  <a:schemeClr val="tx1"/>
                </a:solidFill>
              </a:rPr>
              <a:t>best_model.chkpt</a:t>
            </a:r>
            <a:endParaRPr kumimoji="1" lang="zh-CN" altLang="en-US" dirty="0">
              <a:solidFill>
                <a:schemeClr val="tx1"/>
              </a:solidFill>
            </a:endParaRPr>
          </a:p>
        </p:txBody>
      </p:sp>
    </p:spTree>
    <p:extLst>
      <p:ext uri="{BB962C8B-B14F-4D97-AF65-F5344CB8AC3E}">
        <p14:creationId xmlns:p14="http://schemas.microsoft.com/office/powerpoint/2010/main" val="7420393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5856AA2-FC53-9C40-10D3-294BDC97E460}"/>
              </a:ext>
            </a:extLst>
          </p:cNvPr>
          <p:cNvSpPr>
            <a:spLocks noGrp="1"/>
          </p:cNvSpPr>
          <p:nvPr>
            <p:ph type="title"/>
          </p:nvPr>
        </p:nvSpPr>
        <p:spPr/>
        <p:txBody>
          <a:bodyPr/>
          <a:lstStyle/>
          <a:p>
            <a:r>
              <a:rPr lang="zh-CN" altLang="zh-CN" dirty="0"/>
              <a:t>实操 6：10 epoch 验证日志与最佳模型选择</a:t>
            </a:r>
            <a:endParaRPr kumimoji="1" lang="zh-CN" altLang="en-US" dirty="0"/>
          </a:p>
        </p:txBody>
      </p:sp>
      <p:sp>
        <p:nvSpPr>
          <p:cNvPr id="3" name="内容占位符 2">
            <a:extLst>
              <a:ext uri="{FF2B5EF4-FFF2-40B4-BE49-F238E27FC236}">
                <a16:creationId xmlns:a16="http://schemas.microsoft.com/office/drawing/2014/main" id="{CE9552D6-A4A3-E49F-3734-476F6233D3DC}"/>
              </a:ext>
            </a:extLst>
          </p:cNvPr>
          <p:cNvSpPr>
            <a:spLocks noGrp="1"/>
          </p:cNvSpPr>
          <p:nvPr>
            <p:ph idx="1"/>
          </p:nvPr>
        </p:nvSpPr>
        <p:spPr>
          <a:xfrm>
            <a:off x="558800" y="1069480"/>
            <a:ext cx="10417629" cy="5102473"/>
          </a:xfrm>
        </p:spPr>
        <p:txBody>
          <a:bodyPr/>
          <a:lstStyle/>
          <a:p>
            <a:r>
              <a:rPr kumimoji="1" lang="zh-CN" altLang="en" dirty="0">
                <a:solidFill>
                  <a:schemeClr val="tx1"/>
                </a:solidFill>
              </a:rPr>
              <a:t>命令</a:t>
            </a:r>
            <a:r>
              <a:rPr kumimoji="1" lang="zh-CN" altLang="en-US" dirty="0">
                <a:solidFill>
                  <a:schemeClr val="tx1"/>
                </a:solidFill>
              </a:rPr>
              <a:t>：</a:t>
            </a:r>
            <a:endParaRPr kumimoji="1" lang="en" altLang="zh-CN" dirty="0">
              <a:solidFill>
                <a:schemeClr val="tx1"/>
              </a:solidFill>
            </a:endParaRPr>
          </a:p>
          <a:p>
            <a:endParaRPr kumimoji="1" lang="en" altLang="zh-CN" dirty="0">
              <a:solidFill>
                <a:schemeClr val="tx1"/>
              </a:solidFill>
            </a:endParaRPr>
          </a:p>
          <a:p>
            <a:endParaRPr kumimoji="1" lang="en" altLang="zh-CN" dirty="0">
              <a:solidFill>
                <a:schemeClr val="tx1"/>
              </a:solidFill>
            </a:endParaRPr>
          </a:p>
          <a:p>
            <a:endParaRPr kumimoji="1" lang="en" altLang="zh-CN" dirty="0">
              <a:solidFill>
                <a:schemeClr val="tx1"/>
              </a:solidFill>
            </a:endParaRPr>
          </a:p>
        </p:txBody>
      </p:sp>
      <p:pic>
        <p:nvPicPr>
          <p:cNvPr id="5" name="图片 4">
            <a:extLst>
              <a:ext uri="{FF2B5EF4-FFF2-40B4-BE49-F238E27FC236}">
                <a16:creationId xmlns:a16="http://schemas.microsoft.com/office/drawing/2014/main" id="{D8FEA417-F418-09B8-0670-C432A08E79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74303" y="1074490"/>
            <a:ext cx="3398676" cy="1378822"/>
          </a:xfrm>
          <a:prstGeom prst="rect">
            <a:avLst/>
          </a:prstGeom>
        </p:spPr>
      </p:pic>
      <p:pic>
        <p:nvPicPr>
          <p:cNvPr id="7" name="图片 6">
            <a:extLst>
              <a:ext uri="{FF2B5EF4-FFF2-40B4-BE49-F238E27FC236}">
                <a16:creationId xmlns:a16="http://schemas.microsoft.com/office/drawing/2014/main" id="{770A792F-5272-2C22-5406-358B99D8492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482630" y="3429000"/>
            <a:ext cx="3398677" cy="1378823"/>
          </a:xfrm>
          <a:prstGeom prst="rect">
            <a:avLst/>
          </a:prstGeom>
        </p:spPr>
      </p:pic>
      <p:pic>
        <p:nvPicPr>
          <p:cNvPr id="8" name="图片 7">
            <a:extLst>
              <a:ext uri="{FF2B5EF4-FFF2-40B4-BE49-F238E27FC236}">
                <a16:creationId xmlns:a16="http://schemas.microsoft.com/office/drawing/2014/main" id="{B5F11A50-0DC3-32E4-3224-D7DFF60034E4}"/>
              </a:ext>
            </a:extLst>
          </p:cNvPr>
          <p:cNvPicPr>
            <a:picLocks noChangeAspect="1"/>
          </p:cNvPicPr>
          <p:nvPr/>
        </p:nvPicPr>
        <p:blipFill>
          <a:blip r:embed="rId5">
            <a:extLst>
              <a:ext uri="{28A0092B-C50C-407E-A947-70E740481C1C}">
                <a14:useLocalDpi xmlns:a14="http://schemas.microsoft.com/office/drawing/2010/main" val="0"/>
              </a:ext>
            </a:extLst>
          </a:blip>
          <a:srcRect r="16295"/>
          <a:stretch>
            <a:fillRect/>
          </a:stretch>
        </p:blipFill>
        <p:spPr>
          <a:xfrm>
            <a:off x="5509083" y="876668"/>
            <a:ext cx="6124117" cy="5790832"/>
          </a:xfrm>
          <a:prstGeom prst="rect">
            <a:avLst/>
          </a:prstGeom>
        </p:spPr>
      </p:pic>
    </p:spTree>
    <p:extLst>
      <p:ext uri="{BB962C8B-B14F-4D97-AF65-F5344CB8AC3E}">
        <p14:creationId xmlns:p14="http://schemas.microsoft.com/office/powerpoint/2010/main" val="16068005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502BA-2A4C-2B7F-0D92-E15F6E130489}"/>
              </a:ext>
            </a:extLst>
          </p:cNvPr>
          <p:cNvSpPr>
            <a:spLocks noGrp="1"/>
          </p:cNvSpPr>
          <p:nvPr>
            <p:ph type="title"/>
          </p:nvPr>
        </p:nvSpPr>
        <p:spPr>
          <a:xfrm>
            <a:off x="5649182" y="3033427"/>
            <a:ext cx="5711095" cy="677323"/>
          </a:xfrm>
        </p:spPr>
        <p:txBody>
          <a:bodyPr/>
          <a:lstStyle/>
          <a:p>
            <a:pPr>
              <a:defRPr>
                <a:solidFill>
                  <a:srgbClr val="000000"/>
                </a:solidFill>
              </a:defRPr>
            </a:pPr>
            <a:r>
              <a:rPr dirty="0" err="1">
                <a:solidFill>
                  <a:srgbClr val="000000"/>
                </a:solidFill>
              </a:rPr>
              <a:t>四.训练技巧</a:t>
            </a:r>
            <a:endParaRPr dirty="0">
              <a:solidFill>
                <a:srgbClr val="000000"/>
              </a:solidFill>
            </a:endParaRPr>
          </a:p>
        </p:txBody>
      </p:sp>
    </p:spTree>
    <p:extLst>
      <p:ext uri="{BB962C8B-B14F-4D97-AF65-F5344CB8AC3E}">
        <p14:creationId xmlns:p14="http://schemas.microsoft.com/office/powerpoint/2010/main" val="4849785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a:solidFill>
                  <a:srgbClr val="000000"/>
                </a:solidFill>
              </a:rPr>
              <a:t>4.1 Batch训练：一次并行处理多条句对</a:t>
            </a:r>
            <a:endParaRPr sz="180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556054" y="1248032"/>
            <a:ext cx="5404024" cy="4870257"/>
          </a:xfrm>
        </p:spPr>
        <p:txBody>
          <a:bodyPr>
            <a:normAutofit fontScale="96562"/>
          </a:bodyPr>
          <a:lstStyle/>
          <a:p>
            <a:r>
              <a:rPr lang="zh-CN" altLang="zh-CN" dirty="0">
                <a:solidFill>
                  <a:schemeClr val="tx1"/>
                </a:solidFill>
              </a:rPr>
              <a:t>Batch Size表示模型一次同时学习多少组句子。</a:t>
            </a:r>
          </a:p>
          <a:p>
            <a:r>
              <a:rPr lang="zh-CN" altLang="zh-CN" dirty="0">
                <a:solidFill>
                  <a:schemeClr val="tx1"/>
                </a:solidFill>
              </a:rPr>
              <a:t>例如：</a:t>
            </a:r>
          </a:p>
          <a:p>
            <a:pPr rtl="0"/>
            <a:r>
              <a:rPr lang="zh-CN" altLang="zh-CN" b="0" dirty="0">
                <a:solidFill>
                  <a:schemeClr val="tx1"/>
                </a:solidFill>
              </a:rPr>
              <a:t>BATCH_SIZE = 32</a:t>
            </a:r>
          </a:p>
          <a:p>
            <a:r>
              <a:rPr lang="zh-CN" altLang="zh-CN" b="0" dirty="0">
                <a:solidFill>
                  <a:schemeClr val="tx1"/>
                </a:solidFill>
              </a:rPr>
              <a:t>表示模型每次同时处理32组句子。</a:t>
            </a:r>
          </a:p>
          <a:p>
            <a:pPr lvl="0"/>
            <a:r>
              <a:rPr lang="zh-CN" altLang="zh-CN" dirty="0">
                <a:solidFill>
                  <a:schemeClr val="tx1"/>
                </a:solidFill>
              </a:rPr>
              <a:t>Batch越大：</a:t>
            </a:r>
            <a:r>
              <a:rPr lang="zh-CN" altLang="zh-CN" b="0" dirty="0">
                <a:solidFill>
                  <a:schemeClr val="tx1"/>
                </a:solidFill>
              </a:rPr>
              <a:t>训练更快，但占用显存更多；</a:t>
            </a:r>
          </a:p>
          <a:p>
            <a:pPr lvl="0"/>
            <a:r>
              <a:rPr lang="zh-CN" altLang="zh-CN" dirty="0">
                <a:solidFill>
                  <a:schemeClr val="tx1"/>
                </a:solidFill>
              </a:rPr>
              <a:t>Batch越小：</a:t>
            </a:r>
            <a:r>
              <a:rPr lang="zh-CN" altLang="zh-CN" b="0" dirty="0">
                <a:solidFill>
                  <a:schemeClr val="tx1"/>
                </a:solidFill>
              </a:rPr>
              <a:t>占用显存更少，但训练可能更慢。</a:t>
            </a:r>
          </a:p>
          <a:p>
            <a:r>
              <a:rPr lang="zh-CN" altLang="zh-CN" b="0" dirty="0">
                <a:solidFill>
                  <a:schemeClr val="tx1"/>
                </a:solidFill>
              </a:rPr>
              <a:t>如果出现显存不足，可以调整：</a:t>
            </a:r>
          </a:p>
          <a:p>
            <a:pPr rtl="0"/>
            <a:r>
              <a:rPr lang="zh-CN" altLang="zh-CN" b="0" dirty="0">
                <a:solidFill>
                  <a:schemeClr val="tx1"/>
                </a:solidFill>
              </a:rPr>
              <a:t>32 → 16 → 8</a:t>
            </a:r>
          </a:p>
          <a:p>
            <a:r>
              <a:rPr lang="zh-CN" altLang="zh-CN" dirty="0">
                <a:solidFill>
                  <a:schemeClr val="tx1"/>
                </a:solidFill>
              </a:rPr>
              <a:t>结论：</a:t>
            </a:r>
            <a:r>
              <a:rPr lang="zh-CN" altLang="zh-CN" b="0" dirty="0">
                <a:solidFill>
                  <a:schemeClr val="tx1"/>
                </a:solidFill>
              </a:rPr>
              <a:t>选择GPU能够稳定运行的最大Batch。</a:t>
            </a: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10" name="图片 9"/>
          <p:cNvPicPr>
            <a:picLocks noChangeAspect="1"/>
          </p:cNvPicPr>
          <p:nvPr/>
        </p:nvPicPr>
        <p:blipFill>
          <a:blip r:embed="rId3"/>
          <a:stretch/>
        </p:blipFill>
        <p:spPr>
          <a:xfrm>
            <a:off x="5060537" y="2293641"/>
            <a:ext cx="6989905" cy="2599371"/>
          </a:xfrm>
          <a:prstGeom prst="rect">
            <a:avLst/>
          </a:prstGeom>
        </p:spPr>
      </p:pic>
    </p:spTree>
    <p:extLst>
      <p:ext uri="{BB962C8B-B14F-4D97-AF65-F5344CB8AC3E}">
        <p14:creationId xmlns:p14="http://schemas.microsoft.com/office/powerpoint/2010/main" val="3223137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5ED21B-05FC-202A-B04E-629EE288CD44}"/>
              </a:ext>
            </a:extLst>
          </p:cNvPr>
          <p:cNvSpPr>
            <a:spLocks noGrp="1"/>
          </p:cNvSpPr>
          <p:nvPr>
            <p:ph type="title"/>
          </p:nvPr>
        </p:nvSpPr>
        <p:spPr>
          <a:xfrm>
            <a:off x="334232" y="97155"/>
            <a:ext cx="10054780" cy="651605"/>
          </a:xfrm>
        </p:spPr>
        <p:txBody>
          <a:bodyPr/>
          <a:lstStyle/>
          <a:p>
            <a:pPr>
              <a:defRPr>
                <a:solidFill>
                  <a:srgbClr val="000000"/>
                </a:solidFill>
              </a:defRPr>
            </a:pPr>
            <a:r>
              <a:rPr>
                <a:solidFill>
                  <a:srgbClr val="000000"/>
                </a:solidFill>
              </a:rPr>
              <a:t>4.2 用mx-smi判断Batch是否合适</a:t>
            </a:r>
          </a:p>
        </p:txBody>
      </p:sp>
      <p:sp>
        <p:nvSpPr>
          <p:cNvPr id="3" name="内容占位符 2">
            <a:extLst>
              <a:ext uri="{FF2B5EF4-FFF2-40B4-BE49-F238E27FC236}">
                <a16:creationId xmlns:a16="http://schemas.microsoft.com/office/drawing/2014/main" id="{77D35B07-6864-3E60-88E8-B60D4C6959B3}"/>
              </a:ext>
            </a:extLst>
          </p:cNvPr>
          <p:cNvSpPr>
            <a:spLocks noGrp="1"/>
          </p:cNvSpPr>
          <p:nvPr>
            <p:ph idx="1"/>
          </p:nvPr>
        </p:nvSpPr>
        <p:spPr>
          <a:xfrm>
            <a:off x="297275" y="1099852"/>
            <a:ext cx="5662803" cy="5018437"/>
          </a:xfrm>
        </p:spPr>
        <p:txBody>
          <a:bodyPr>
            <a:normAutofit fontScale="81562" lnSpcReduction="20000"/>
          </a:bodyPr>
          <a:lstStyle/>
          <a:p>
            <a:r>
              <a:rPr dirty="0" err="1">
                <a:solidFill>
                  <a:schemeClr val="tx1"/>
                </a:solidFill>
              </a:rPr>
              <a:t>同步观察三项</a:t>
            </a:r>
            <a:endParaRPr dirty="0">
              <a:solidFill>
                <a:schemeClr val="tx1"/>
              </a:solidFill>
            </a:endParaRPr>
          </a:p>
          <a:p>
            <a:r>
              <a:rPr b="0" dirty="0">
                <a:solidFill>
                  <a:schemeClr val="tx1"/>
                </a:solidFill>
              </a:rPr>
              <a:t>• </a:t>
            </a:r>
            <a:r>
              <a:rPr b="0" dirty="0" err="1">
                <a:solidFill>
                  <a:schemeClr val="tx1"/>
                </a:solidFill>
              </a:rPr>
              <a:t>峰值显存：是否接近设备上限</a:t>
            </a:r>
            <a:endParaRPr b="0" dirty="0">
              <a:solidFill>
                <a:schemeClr val="tx1"/>
              </a:solidFill>
            </a:endParaRPr>
          </a:p>
          <a:p>
            <a:r>
              <a:rPr b="0" dirty="0">
                <a:solidFill>
                  <a:schemeClr val="tx1"/>
                </a:solidFill>
              </a:rPr>
              <a:t>• GPU </a:t>
            </a:r>
            <a:r>
              <a:rPr b="0" dirty="0" err="1">
                <a:solidFill>
                  <a:schemeClr val="tx1"/>
                </a:solidFill>
              </a:rPr>
              <a:t>利用率：训练阶段是否长期偏低</a:t>
            </a:r>
            <a:endParaRPr b="0" dirty="0">
              <a:solidFill>
                <a:schemeClr val="tx1"/>
              </a:solidFill>
            </a:endParaRPr>
          </a:p>
          <a:p>
            <a:r>
              <a:rPr b="0" dirty="0">
                <a:solidFill>
                  <a:schemeClr val="tx1"/>
                </a:solidFill>
              </a:rPr>
              <a:t>• </a:t>
            </a:r>
            <a:r>
              <a:rPr b="0" dirty="0" err="1">
                <a:solidFill>
                  <a:schemeClr val="tx1"/>
                </a:solidFill>
              </a:rPr>
              <a:t>单轮时间：增大</a:t>
            </a:r>
            <a:r>
              <a:rPr b="0" dirty="0">
                <a:solidFill>
                  <a:schemeClr val="tx1"/>
                </a:solidFill>
              </a:rPr>
              <a:t> Batch </a:t>
            </a:r>
            <a:r>
              <a:rPr b="0" dirty="0" err="1">
                <a:solidFill>
                  <a:schemeClr val="tx1"/>
                </a:solidFill>
              </a:rPr>
              <a:t>后吞吐是否真的提高</a:t>
            </a:r>
            <a:endParaRPr b="0" dirty="0">
              <a:solidFill>
                <a:schemeClr val="tx1"/>
              </a:solidFill>
            </a:endParaRPr>
          </a:p>
          <a:p>
            <a:pPr marL="0" lvl="0" indent="0">
              <a:buNone/>
            </a:pPr>
            <a:endParaRPr b="0" dirty="0">
              <a:solidFill>
                <a:schemeClr val="tx1"/>
              </a:solidFill>
            </a:endParaRPr>
          </a:p>
          <a:p>
            <a:pPr marL="0" lvl="0" indent="0">
              <a:buNone/>
            </a:pPr>
            <a:r>
              <a:rPr dirty="0" err="1">
                <a:solidFill>
                  <a:schemeClr val="tx1"/>
                </a:solidFill>
              </a:rPr>
              <a:t>对照</a:t>
            </a:r>
            <a:r>
              <a:rPr lang="zh-CN" altLang="en-US" dirty="0">
                <a:solidFill>
                  <a:schemeClr val="tx1"/>
                </a:solidFill>
              </a:rPr>
              <a:t>实验</a:t>
            </a:r>
            <a:endParaRPr dirty="0">
              <a:solidFill>
                <a:schemeClr val="tx1"/>
              </a:solidFill>
            </a:endParaRPr>
          </a:p>
          <a:p>
            <a:pPr marL="0" indent="0">
              <a:buNone/>
            </a:pPr>
            <a:r>
              <a:rPr b="0" dirty="0" err="1">
                <a:solidFill>
                  <a:schemeClr val="tx1"/>
                </a:solidFill>
              </a:rPr>
              <a:t>A：batch</a:t>
            </a:r>
            <a:r>
              <a:rPr b="0" dirty="0">
                <a:solidFill>
                  <a:schemeClr val="tx1"/>
                </a:solidFill>
              </a:rPr>
              <a:t>=32</a:t>
            </a:r>
          </a:p>
          <a:p>
            <a:pPr marL="0" indent="0">
              <a:buNone/>
            </a:pPr>
            <a:r>
              <a:rPr b="0" dirty="0" err="1">
                <a:solidFill>
                  <a:schemeClr val="tx1"/>
                </a:solidFill>
              </a:rPr>
              <a:t>B：batch</a:t>
            </a:r>
            <a:r>
              <a:rPr b="0" dirty="0">
                <a:solidFill>
                  <a:schemeClr val="tx1"/>
                </a:solidFill>
              </a:rPr>
              <a:t>=64，仅修改这一项</a:t>
            </a:r>
          </a:p>
          <a:p>
            <a:pPr marL="0" indent="0">
              <a:buNone/>
            </a:pPr>
            <a:endParaRPr b="0" dirty="0">
              <a:solidFill>
                <a:schemeClr val="tx1"/>
              </a:solidFill>
            </a:endParaRPr>
          </a:p>
          <a:p>
            <a:pPr marL="0" indent="0">
              <a:buNone/>
            </a:pPr>
            <a:r>
              <a:rPr dirty="0" err="1">
                <a:solidFill>
                  <a:schemeClr val="tx1"/>
                </a:solidFill>
              </a:rPr>
              <a:t>同时记录</a:t>
            </a:r>
            <a:r>
              <a:rPr dirty="0">
                <a:solidFill>
                  <a:schemeClr val="tx1"/>
                </a:solidFill>
              </a:rPr>
              <a:t> valid PPL </a:t>
            </a:r>
            <a:r>
              <a:rPr dirty="0" err="1">
                <a:solidFill>
                  <a:schemeClr val="tx1"/>
                </a:solidFill>
              </a:rPr>
              <a:t>与</a:t>
            </a:r>
            <a:r>
              <a:rPr dirty="0">
                <a:solidFill>
                  <a:schemeClr val="tx1"/>
                </a:solidFill>
              </a:rPr>
              <a:t> accuracy。</a:t>
            </a:r>
          </a:p>
          <a:p>
            <a:pPr marL="0" indent="0">
              <a:buNone/>
            </a:pPr>
            <a:r>
              <a:rPr dirty="0" err="1">
                <a:solidFill>
                  <a:schemeClr val="tx1"/>
                </a:solidFill>
              </a:rPr>
              <a:t>如果显存明显增加，但时间和验证指标没有收益，就不必保留更大的</a:t>
            </a:r>
            <a:r>
              <a:rPr dirty="0">
                <a:solidFill>
                  <a:schemeClr val="tx1"/>
                </a:solidFill>
              </a:rPr>
              <a:t> Batch</a:t>
            </a:r>
            <a:r>
              <a:rPr b="0" dirty="0">
                <a:solidFill>
                  <a:schemeClr val="tx1"/>
                </a:solidFill>
              </a:rPr>
              <a:t>。</a:t>
            </a:r>
          </a:p>
        </p:txBody>
      </p:sp>
      <p:pic>
        <p:nvPicPr>
          <p:cNvPr id="7" name="图片 6"/>
          <p:cNvPicPr>
            <a:picLocks noChangeAspect="1"/>
          </p:cNvPicPr>
          <p:nvPr/>
        </p:nvPicPr>
        <p:blipFill>
          <a:blip r:embed="rId3"/>
          <a:stretch/>
        </p:blipFill>
        <p:spPr>
          <a:xfrm>
            <a:off x="4479722" y="1099852"/>
            <a:ext cx="7712278" cy="2217280"/>
          </a:xfrm>
          <a:prstGeom prst="rect">
            <a:avLst/>
          </a:prstGeom>
        </p:spPr>
      </p:pic>
    </p:spTree>
    <p:extLst>
      <p:ext uri="{BB962C8B-B14F-4D97-AF65-F5344CB8AC3E}">
        <p14:creationId xmlns:p14="http://schemas.microsoft.com/office/powerpoint/2010/main" val="102387721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buNone/>
              <a:defRPr>
                <a:solidFill>
                  <a:srgbClr val="000000"/>
                </a:solidFill>
              </a:defRPr>
            </a:pPr>
            <a:r>
              <a:rPr>
                <a:solidFill>
                  <a:srgbClr val="000000"/>
                </a:solidFill>
              </a:rPr>
              <a:t>4.3 梯度累积：显存不够时模拟大Batch</a:t>
            </a:r>
            <a:endParaRPr sz="180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170551" y="1732676"/>
            <a:ext cx="5662803" cy="5018437"/>
          </a:xfrm>
        </p:spPr>
        <p:txBody>
          <a:bodyPr>
            <a:normAutofit fontScale="93239"/>
          </a:bodyPr>
          <a:lstStyle/>
          <a:p>
            <a:r>
              <a:rPr lang="zh-CN" altLang="zh-CN" dirty="0">
                <a:solidFill>
                  <a:schemeClr val="tx1"/>
                </a:solidFill>
              </a:rPr>
              <a:t>梯度累积：</a:t>
            </a:r>
            <a:r>
              <a:rPr lang="zh-CN" altLang="zh-CN" b="0" dirty="0">
                <a:solidFill>
                  <a:schemeClr val="tx1"/>
                </a:solidFill>
              </a:rPr>
              <a:t>显存不够时，分几次处理句子，最后统一更新模型。</a:t>
            </a:r>
          </a:p>
          <a:p>
            <a:r>
              <a:rPr lang="zh-CN" altLang="zh-CN" dirty="0">
                <a:solidFill>
                  <a:schemeClr val="tx1"/>
                </a:solidFill>
              </a:rPr>
              <a:t>例如：</a:t>
            </a:r>
          </a:p>
          <a:p>
            <a:pPr rtl="0"/>
            <a:r>
              <a:rPr lang="zh-CN" altLang="zh-CN" b="0" dirty="0">
                <a:solidFill>
                  <a:schemeClr val="tx1"/>
                </a:solidFill>
              </a:rPr>
              <a:t>每次处理16句 × 累积4次 = 相当于一次处理64句</a:t>
            </a:r>
          </a:p>
          <a:p>
            <a:r>
              <a:rPr lang="zh-CN" altLang="zh-CN" dirty="0">
                <a:solidFill>
                  <a:schemeClr val="tx1"/>
                </a:solidFill>
              </a:rPr>
              <a:t>作用：</a:t>
            </a:r>
            <a:r>
              <a:rPr lang="zh-CN" altLang="zh-CN" b="0" dirty="0">
                <a:solidFill>
                  <a:schemeClr val="tx1"/>
                </a:solidFill>
              </a:rPr>
              <a:t>不用增加显存，也能获得大Batch的训练效果。</a:t>
            </a: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10" name="图片 9"/>
          <p:cNvPicPr>
            <a:picLocks noChangeAspect="1"/>
          </p:cNvPicPr>
          <p:nvPr/>
        </p:nvPicPr>
        <p:blipFill>
          <a:blip r:embed="rId3"/>
          <a:srcRect l="15310" r="15995" b="8453"/>
          <a:stretch>
            <a:fillRect/>
          </a:stretch>
        </p:blipFill>
        <p:spPr>
          <a:xfrm>
            <a:off x="6566169" y="1460301"/>
            <a:ext cx="5094998" cy="4201196"/>
          </a:xfrm>
          <a:prstGeom prst="rect">
            <a:avLst/>
          </a:prstGeom>
        </p:spPr>
      </p:pic>
    </p:spTree>
    <p:extLst>
      <p:ext uri="{BB962C8B-B14F-4D97-AF65-F5344CB8AC3E}">
        <p14:creationId xmlns:p14="http://schemas.microsoft.com/office/powerpoint/2010/main" val="32231374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a:solidFill>
                  <a:srgbClr val="000000"/>
                </a:solidFill>
              </a:rPr>
              <a:t>4.4 学习率调度：先Warmup再衰减</a:t>
            </a:r>
            <a:endParaRPr sz="180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297275" y="1099852"/>
            <a:ext cx="5662803" cy="5018437"/>
          </a:xfrm>
        </p:spPr>
        <p:txBody>
          <a:bodyPr>
            <a:normAutofit fontScale="78990" lnSpcReduction="10000"/>
          </a:bodyPr>
          <a:lstStyle/>
          <a:p>
            <a:r>
              <a:rPr lang="zh-CN" altLang="zh-CN" dirty="0">
                <a:solidFill>
                  <a:schemeClr val="tx1"/>
                </a:solidFill>
              </a:rPr>
              <a:t>学习率可以理解为模型每次调整参数的“步子大小”。</a:t>
            </a:r>
          </a:p>
          <a:p>
            <a:pPr lvl="0"/>
            <a:r>
              <a:rPr lang="zh-CN" altLang="zh-CN" dirty="0">
                <a:solidFill>
                  <a:schemeClr val="tx1"/>
                </a:solidFill>
              </a:rPr>
              <a:t>步子太大：</a:t>
            </a:r>
            <a:r>
              <a:rPr lang="zh-CN" altLang="zh-CN" b="0" dirty="0">
                <a:solidFill>
                  <a:schemeClr val="tx1"/>
                </a:solidFill>
              </a:rPr>
              <a:t>训练可能不稳定；</a:t>
            </a:r>
          </a:p>
          <a:p>
            <a:pPr lvl="0"/>
            <a:r>
              <a:rPr lang="zh-CN" altLang="zh-CN" dirty="0">
                <a:solidFill>
                  <a:schemeClr val="tx1"/>
                </a:solidFill>
              </a:rPr>
              <a:t>步子太小：</a:t>
            </a:r>
            <a:r>
              <a:rPr lang="zh-CN" altLang="zh-CN" b="0" dirty="0">
                <a:solidFill>
                  <a:schemeClr val="tx1"/>
                </a:solidFill>
              </a:rPr>
              <a:t>训练速度会很慢。</a:t>
            </a:r>
          </a:p>
          <a:p>
            <a:r>
              <a:rPr lang="zh-CN" altLang="zh-CN" b="0" dirty="0">
                <a:solidFill>
                  <a:schemeClr val="tx1"/>
                </a:solidFill>
              </a:rPr>
              <a:t>训练开始时，模型还不稳定，因此先使用较小的学习率，再逐渐增大，这个过程叫做 </a:t>
            </a:r>
            <a:r>
              <a:rPr lang="zh-CN" altLang="zh-CN" dirty="0">
                <a:solidFill>
                  <a:schemeClr val="tx1"/>
                </a:solidFill>
              </a:rPr>
              <a:t>Warmup。</a:t>
            </a:r>
          </a:p>
          <a:p>
            <a:r>
              <a:rPr lang="zh-CN" altLang="zh-CN" b="0" dirty="0">
                <a:solidFill>
                  <a:schemeClr val="tx1"/>
                </a:solidFill>
              </a:rPr>
              <a:t>训练稳定后，再慢慢减小学习率，让模型进行更细致的调整。</a:t>
            </a:r>
          </a:p>
          <a:p>
            <a:pPr rtl="0"/>
            <a:r>
              <a:rPr lang="zh-CN" altLang="zh-CN" dirty="0">
                <a:solidFill>
                  <a:schemeClr val="tx1"/>
                </a:solidFill>
              </a:rPr>
              <a:t>开始</a:t>
            </a:r>
            <a:r>
              <a:rPr lang="zh-CN" altLang="zh-CN" b="0" dirty="0">
                <a:solidFill>
                  <a:schemeClr val="tx1"/>
                </a:solidFill>
              </a:rPr>
              <a:t>：小步试探</a:t>
            </a:r>
          </a:p>
          <a:p>
            <a:pPr rtl="0"/>
            <a:r>
              <a:rPr lang="zh-CN" altLang="zh-CN" dirty="0">
                <a:solidFill>
                  <a:schemeClr val="tx1"/>
                </a:solidFill>
              </a:rPr>
              <a:t>中间</a:t>
            </a:r>
            <a:r>
              <a:rPr lang="zh-CN" altLang="zh-CN" b="0" dirty="0">
                <a:solidFill>
                  <a:schemeClr val="tx1"/>
                </a:solidFill>
              </a:rPr>
              <a:t>：加快学习</a:t>
            </a:r>
          </a:p>
          <a:p>
            <a:pPr rtl="0"/>
            <a:r>
              <a:rPr lang="zh-CN" altLang="zh-CN" dirty="0">
                <a:solidFill>
                  <a:schemeClr val="tx1"/>
                </a:solidFill>
              </a:rPr>
              <a:t>后期</a:t>
            </a:r>
            <a:r>
              <a:rPr lang="zh-CN" altLang="zh-CN" b="0" dirty="0">
                <a:solidFill>
                  <a:schemeClr val="tx1"/>
                </a:solidFill>
              </a:rPr>
              <a:t>：小步调整</a:t>
            </a:r>
          </a:p>
          <a:p>
            <a:r>
              <a:rPr lang="zh-CN" altLang="zh-CN" dirty="0">
                <a:solidFill>
                  <a:schemeClr val="tx1"/>
                </a:solidFill>
              </a:rPr>
              <a:t>本课设置：</a:t>
            </a:r>
          </a:p>
          <a:p>
            <a:pPr rtl="0"/>
            <a:r>
              <a:rPr lang="zh-CN" altLang="zh-CN" b="0" dirty="0">
                <a:solidFill>
                  <a:schemeClr val="tx1"/>
                </a:solidFill>
              </a:rPr>
              <a:t>WARMUP_STEPS = 4000</a:t>
            </a:r>
          </a:p>
          <a:p>
            <a:r>
              <a:rPr lang="zh-CN" altLang="zh-CN" dirty="0">
                <a:solidFill>
                  <a:schemeClr val="tx1"/>
                </a:solidFill>
              </a:rPr>
              <a:t>结论：学习率先升高、再降低，可以让训练更加稳定。</a:t>
            </a: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10" name="图片 9"/>
          <p:cNvPicPr>
            <a:picLocks noChangeAspect="1"/>
          </p:cNvPicPr>
          <p:nvPr/>
        </p:nvPicPr>
        <p:blipFill>
          <a:blip r:embed="rId3"/>
          <a:srcRect l="2743" t="4399" r="6901" b="7239"/>
          <a:stretch>
            <a:fillRect/>
          </a:stretch>
        </p:blipFill>
        <p:spPr>
          <a:xfrm>
            <a:off x="5324677" y="2937971"/>
            <a:ext cx="6829028" cy="3005220"/>
          </a:xfrm>
          <a:prstGeom prst="rect">
            <a:avLst/>
          </a:prstGeom>
        </p:spPr>
      </p:pic>
    </p:spTree>
    <p:extLst>
      <p:ext uri="{BB962C8B-B14F-4D97-AF65-F5344CB8AC3E}">
        <p14:creationId xmlns:p14="http://schemas.microsoft.com/office/powerpoint/2010/main" val="3223137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D7A4D-A5E7-8269-02BF-7E56A3CF51FD}"/>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dirty="0">
                <a:solidFill>
                  <a:srgbClr val="000000"/>
                </a:solidFill>
              </a:rPr>
              <a:t>4.5 </a:t>
            </a:r>
            <a:r>
              <a:rPr lang="zh-CN" altLang="zh-CN" dirty="0"/>
              <a:t>Warmup太短或太长会怎样？</a:t>
            </a:r>
            <a:endParaRPr dirty="0">
              <a:solidFill>
                <a:srgbClr val="000000"/>
              </a:solidFill>
            </a:endParaRPr>
          </a:p>
        </p:txBody>
      </p:sp>
      <p:sp>
        <p:nvSpPr>
          <p:cNvPr id="3" name="内容占位符 2">
            <a:extLst>
              <a:ext uri="{FF2B5EF4-FFF2-40B4-BE49-F238E27FC236}">
                <a16:creationId xmlns:a16="http://schemas.microsoft.com/office/drawing/2014/main" id="{F04B4906-6BB7-000C-7DE0-8DAEF8FE508C}"/>
              </a:ext>
            </a:extLst>
          </p:cNvPr>
          <p:cNvSpPr>
            <a:spLocks noGrp="1"/>
          </p:cNvSpPr>
          <p:nvPr>
            <p:ph idx="1"/>
          </p:nvPr>
        </p:nvSpPr>
        <p:spPr>
          <a:xfrm>
            <a:off x="297277" y="1099825"/>
            <a:ext cx="9909404" cy="5018400"/>
          </a:xfrm>
        </p:spPr>
        <p:txBody>
          <a:bodyPr>
            <a:normAutofit fontScale="99133"/>
          </a:bodyPr>
          <a:lstStyle/>
          <a:p>
            <a:r>
              <a:rPr lang="zh-CN" altLang="zh-CN" b="0" dirty="0">
                <a:solidFill>
                  <a:schemeClr val="tx1"/>
                </a:solidFill>
              </a:rPr>
              <a:t>Warmup可以理解为模型正式训练前的“适应过程”。</a:t>
            </a:r>
          </a:p>
          <a:p>
            <a:r>
              <a:rPr lang="zh-CN" altLang="zh-CN" dirty="0">
                <a:solidFill>
                  <a:schemeClr val="tx1"/>
                </a:solidFill>
              </a:rPr>
              <a:t>Warmup太短</a:t>
            </a:r>
            <a:r>
              <a:rPr lang="zh-CN" altLang="en-US" dirty="0">
                <a:solidFill>
                  <a:schemeClr val="tx1"/>
                </a:solidFill>
              </a:rPr>
              <a:t>：</a:t>
            </a:r>
            <a:r>
              <a:rPr lang="zh-CN" altLang="zh-CN" b="0" dirty="0">
                <a:solidFill>
                  <a:schemeClr val="tx1"/>
                </a:solidFill>
              </a:rPr>
              <a:t>学习率上升太快，模型可能训练不稳定，Loss上下波动。</a:t>
            </a:r>
          </a:p>
          <a:p>
            <a:r>
              <a:rPr lang="zh-CN" altLang="zh-CN" dirty="0">
                <a:solidFill>
                  <a:schemeClr val="tx1"/>
                </a:solidFill>
              </a:rPr>
              <a:t>Warmup太长</a:t>
            </a:r>
            <a:r>
              <a:rPr lang="zh-CN" altLang="en-US" dirty="0">
                <a:solidFill>
                  <a:schemeClr val="tx1"/>
                </a:solidFill>
              </a:rPr>
              <a:t>：</a:t>
            </a:r>
            <a:r>
              <a:rPr lang="zh-CN" altLang="zh-CN" b="0" dirty="0">
                <a:solidFill>
                  <a:schemeClr val="tx1"/>
                </a:solidFill>
              </a:rPr>
              <a:t>模型长时间使用较小的学习率，训练速度比较慢。</a:t>
            </a:r>
          </a:p>
          <a:p>
            <a:r>
              <a:rPr lang="zh-CN" altLang="zh-CN" b="0" dirty="0">
                <a:solidFill>
                  <a:schemeClr val="tx1"/>
                </a:solidFill>
              </a:rPr>
              <a:t>本课使用：WARMUP_STEPS = 4000</a:t>
            </a:r>
          </a:p>
          <a:p>
            <a:r>
              <a:rPr lang="zh-CN" altLang="zh-CN" dirty="0">
                <a:solidFill>
                  <a:schemeClr val="tx1"/>
                </a:solidFill>
              </a:rPr>
              <a:t>判断方法：</a:t>
            </a:r>
          </a:p>
          <a:p>
            <a:pPr lvl="0"/>
            <a:r>
              <a:rPr lang="zh-CN" altLang="zh-CN" b="0" dirty="0">
                <a:solidFill>
                  <a:schemeClr val="tx1"/>
                </a:solidFill>
              </a:rPr>
              <a:t>Loss剧烈波动：Warmup可能太短；</a:t>
            </a:r>
          </a:p>
          <a:p>
            <a:pPr lvl="0"/>
            <a:r>
              <a:rPr lang="zh-CN" altLang="zh-CN" b="0" dirty="0">
                <a:solidFill>
                  <a:schemeClr val="tx1"/>
                </a:solidFill>
              </a:rPr>
              <a:t>Loss下降很慢：Warmup可能太长。</a:t>
            </a:r>
          </a:p>
          <a:p>
            <a:r>
              <a:rPr lang="zh-CN" altLang="zh-CN" dirty="0">
                <a:solidFill>
                  <a:schemeClr val="tx1"/>
                </a:solidFill>
              </a:rPr>
              <a:t>结论：Warmup是否合适，要观察训练前期的Loss变化。</a:t>
            </a:r>
          </a:p>
        </p:txBody>
      </p:sp>
    </p:spTree>
    <p:extLst>
      <p:ext uri="{BB962C8B-B14F-4D97-AF65-F5344CB8AC3E}">
        <p14:creationId xmlns:p14="http://schemas.microsoft.com/office/powerpoint/2010/main" val="33209424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D8D7A4D-A5E7-8269-02BF-7E56A3CF51FD}"/>
              </a:ext>
            </a:extLst>
          </p:cNvPr>
          <p:cNvSpPr>
            <a:spLocks noGrp="1"/>
          </p:cNvSpPr>
          <p:nvPr>
            <p:ph type="title"/>
          </p:nvPr>
        </p:nvSpPr>
        <p:spPr>
          <a:xfrm>
            <a:off x="334257" y="97129"/>
            <a:ext cx="10054800" cy="651600"/>
          </a:xfrm>
        </p:spPr>
        <p:txBody>
          <a:bodyPr anchor="ctr">
            <a:normAutofit/>
          </a:bodyPr>
          <a:lstStyle/>
          <a:p>
            <a:pPr>
              <a:defRPr>
                <a:solidFill>
                  <a:srgbClr val="000000"/>
                </a:solidFill>
              </a:defRPr>
            </a:pPr>
            <a:r>
              <a:rPr lang="zh-CN" altLang="zh-CN" dirty="0"/>
              <a:t>4.6 三个训练参数分别管什么？</a:t>
            </a:r>
            <a:endParaRPr dirty="0">
              <a:solidFill>
                <a:srgbClr val="000000"/>
              </a:solidFill>
            </a:endParaRPr>
          </a:p>
        </p:txBody>
      </p:sp>
      <p:pic>
        <p:nvPicPr>
          <p:cNvPr id="9" name="内容占位符 8">
            <a:extLst>
              <a:ext uri="{FF2B5EF4-FFF2-40B4-BE49-F238E27FC236}">
                <a16:creationId xmlns:a16="http://schemas.microsoft.com/office/drawing/2014/main" id="{A5626D0A-94E6-0B85-5BB7-5BAB3F253ED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473741" y="1070093"/>
            <a:ext cx="10948511" cy="4964095"/>
          </a:xfrm>
          <a:prstGeom prst="rect">
            <a:avLst/>
          </a:prstGeom>
        </p:spPr>
      </p:pic>
    </p:spTree>
    <p:extLst>
      <p:ext uri="{BB962C8B-B14F-4D97-AF65-F5344CB8AC3E}">
        <p14:creationId xmlns:p14="http://schemas.microsoft.com/office/powerpoint/2010/main" val="332094249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D502BA-2A4C-2B7F-0D92-E15F6E130489}"/>
              </a:ext>
            </a:extLst>
          </p:cNvPr>
          <p:cNvSpPr>
            <a:spLocks noGrp="1"/>
          </p:cNvSpPr>
          <p:nvPr>
            <p:ph type="title"/>
          </p:nvPr>
        </p:nvSpPr>
        <p:spPr>
          <a:xfrm>
            <a:off x="5649182" y="3033427"/>
            <a:ext cx="5711095" cy="677323"/>
          </a:xfrm>
        </p:spPr>
        <p:txBody>
          <a:bodyPr/>
          <a:lstStyle/>
          <a:p>
            <a:pPr>
              <a:defRPr>
                <a:solidFill>
                  <a:srgbClr val="000000"/>
                </a:solidFill>
              </a:defRPr>
            </a:pPr>
            <a:r>
              <a:rPr>
                <a:solidFill>
                  <a:srgbClr val="000000"/>
                </a:solidFill>
              </a:rPr>
              <a:t>五.验证与翻译（10分钟）</a:t>
            </a:r>
          </a:p>
        </p:txBody>
      </p:sp>
    </p:spTree>
    <p:extLst>
      <p:ext uri="{BB962C8B-B14F-4D97-AF65-F5344CB8AC3E}">
        <p14:creationId xmlns:p14="http://schemas.microsoft.com/office/powerpoint/2010/main" val="4849785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51FD47-7D93-D77C-911D-A5EF3FAB424E}"/>
              </a:ext>
            </a:extLst>
          </p:cNvPr>
          <p:cNvSpPr>
            <a:spLocks noGrp="1"/>
          </p:cNvSpPr>
          <p:nvPr>
            <p:ph type="title"/>
          </p:nvPr>
        </p:nvSpPr>
        <p:spPr/>
        <p:txBody>
          <a:bodyPr/>
          <a:lstStyle/>
          <a:p>
            <a:r>
              <a:rPr lang="zh-CN" altLang="zh-CN" dirty="0"/>
              <a:t>5.1 训练结束后，选哪一轮模型？</a:t>
            </a:r>
            <a:endParaRPr kumimoji="1" lang="zh-CN" altLang="en-US" dirty="0"/>
          </a:p>
        </p:txBody>
      </p:sp>
      <p:sp>
        <p:nvSpPr>
          <p:cNvPr id="3" name="内容占位符 2">
            <a:extLst>
              <a:ext uri="{FF2B5EF4-FFF2-40B4-BE49-F238E27FC236}">
                <a16:creationId xmlns:a16="http://schemas.microsoft.com/office/drawing/2014/main" id="{58936785-C562-8C8E-15CE-A66FE90B6595}"/>
              </a:ext>
            </a:extLst>
          </p:cNvPr>
          <p:cNvSpPr>
            <a:spLocks noGrp="1"/>
          </p:cNvSpPr>
          <p:nvPr>
            <p:ph idx="1"/>
          </p:nvPr>
        </p:nvSpPr>
        <p:spPr>
          <a:xfrm>
            <a:off x="297276" y="1099825"/>
            <a:ext cx="10281823" cy="5018400"/>
          </a:xfrm>
        </p:spPr>
        <p:txBody>
          <a:bodyPr>
            <a:normAutofit fontScale="92500" lnSpcReduction="10000"/>
          </a:bodyPr>
          <a:lstStyle/>
          <a:p>
            <a:r>
              <a:rPr lang="zh-CN" altLang="zh-CN" b="0" dirty="0">
                <a:solidFill>
                  <a:schemeClr val="tx1"/>
                </a:solidFill>
              </a:rPr>
              <a:t>模型每训练一轮，都会得到一份模型权重。例如</a:t>
            </a:r>
            <a:r>
              <a:rPr lang="zh-CN" altLang="en-US" b="0" dirty="0">
                <a:solidFill>
                  <a:schemeClr val="tx1"/>
                </a:solidFill>
              </a:rPr>
              <a:t>：</a:t>
            </a:r>
            <a:r>
              <a:rPr lang="zh-CN" altLang="zh-CN" b="0" dirty="0">
                <a:solidFill>
                  <a:schemeClr val="tx1"/>
                </a:solidFill>
              </a:rPr>
              <a:t>训练10轮后，我们会有10个模型。那么应</a:t>
            </a:r>
            <a:r>
              <a:rPr lang="zh-CN" altLang="en-US" b="0" dirty="0">
                <a:solidFill>
                  <a:schemeClr val="tx1"/>
                </a:solidFill>
              </a:rPr>
              <a:t>选</a:t>
            </a:r>
            <a:r>
              <a:rPr lang="zh-CN" altLang="zh-CN" b="0" dirty="0">
                <a:solidFill>
                  <a:schemeClr val="tx1"/>
                </a:solidFill>
              </a:rPr>
              <a:t>择哪一个？</a:t>
            </a:r>
          </a:p>
          <a:p>
            <a:r>
              <a:rPr lang="zh-CN" altLang="zh-CN" dirty="0">
                <a:solidFill>
                  <a:schemeClr val="tx1"/>
                </a:solidFill>
              </a:rPr>
              <a:t>使用模型没有训练过的验证集进行测试：</a:t>
            </a:r>
          </a:p>
          <a:p>
            <a:pPr rtl="0"/>
            <a:r>
              <a:rPr lang="zh-CN" altLang="zh-CN" b="0" dirty="0">
                <a:solidFill>
                  <a:schemeClr val="tx1"/>
                </a:solidFill>
              </a:rPr>
              <a:t>第1轮：验证Loss 8.2</a:t>
            </a:r>
          </a:p>
          <a:p>
            <a:pPr rtl="0"/>
            <a:r>
              <a:rPr lang="zh-CN" altLang="zh-CN" b="0" dirty="0">
                <a:solidFill>
                  <a:schemeClr val="tx1"/>
                </a:solidFill>
              </a:rPr>
              <a:t>第5轮：验证Loss 4.1</a:t>
            </a:r>
          </a:p>
          <a:p>
            <a:pPr rtl="0"/>
            <a:r>
              <a:rPr lang="zh-CN" altLang="zh-CN" b="0" dirty="0">
                <a:solidFill>
                  <a:schemeClr val="tx1"/>
                </a:solidFill>
              </a:rPr>
              <a:t>第8轮：验证Loss 2.6  ← 最好</a:t>
            </a:r>
          </a:p>
          <a:p>
            <a:pPr rtl="0"/>
            <a:r>
              <a:rPr lang="zh-CN" altLang="zh-CN" b="0" dirty="0">
                <a:solidFill>
                  <a:schemeClr val="tx1"/>
                </a:solidFill>
              </a:rPr>
              <a:t>第10轮：验证Loss 2.9</a:t>
            </a:r>
          </a:p>
          <a:p>
            <a:r>
              <a:rPr lang="zh-CN" altLang="zh-CN" dirty="0">
                <a:solidFill>
                  <a:schemeClr val="tx1"/>
                </a:solidFill>
              </a:rPr>
              <a:t>第10轮虽然是最后一轮，但验证Loss不是最低。</a:t>
            </a:r>
          </a:p>
          <a:p>
            <a:r>
              <a:rPr lang="zh-CN" altLang="zh-CN" dirty="0">
                <a:solidFill>
                  <a:schemeClr val="tx1"/>
                </a:solidFill>
              </a:rPr>
              <a:t>因此，我们选择第8轮模型，并保存为：</a:t>
            </a:r>
          </a:p>
          <a:p>
            <a:pPr rtl="0"/>
            <a:r>
              <a:rPr lang="zh-CN" altLang="zh-CN" dirty="0">
                <a:solidFill>
                  <a:schemeClr val="tx1"/>
                </a:solidFill>
              </a:rPr>
              <a:t>best_model.c</a:t>
            </a:r>
            <a:r>
              <a:rPr lang="en-US" altLang="zh-CN" dirty="0">
                <a:solidFill>
                  <a:schemeClr val="tx1"/>
                </a:solidFill>
              </a:rPr>
              <a:t>h</a:t>
            </a:r>
            <a:r>
              <a:rPr lang="zh-CN" altLang="zh-CN" dirty="0">
                <a:solidFill>
                  <a:schemeClr val="tx1"/>
                </a:solidFill>
              </a:rPr>
              <a:t>kpt</a:t>
            </a:r>
          </a:p>
          <a:p>
            <a:r>
              <a:rPr lang="zh-CN" altLang="zh-CN" dirty="0">
                <a:solidFill>
                  <a:schemeClr val="tx1"/>
                </a:solidFill>
              </a:rPr>
              <a:t>结论：</a:t>
            </a:r>
            <a:r>
              <a:rPr lang="zh-CN" altLang="zh-CN" b="0" dirty="0">
                <a:solidFill>
                  <a:schemeClr val="tx1"/>
                </a:solidFill>
              </a:rPr>
              <a:t>不一定选择最后一轮，而是选择验证Loss最低的一轮。</a:t>
            </a:r>
          </a:p>
          <a:p>
            <a:endParaRPr kumimoji="1" lang="zh-CN" altLang="en-US" dirty="0"/>
          </a:p>
        </p:txBody>
      </p:sp>
    </p:spTree>
    <p:extLst>
      <p:ext uri="{BB962C8B-B14F-4D97-AF65-F5344CB8AC3E}">
        <p14:creationId xmlns:p14="http://schemas.microsoft.com/office/powerpoint/2010/main" val="12937196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F4C50C3-F363-6502-4F7F-52EFC208E5D2}"/>
              </a:ext>
            </a:extLst>
          </p:cNvPr>
          <p:cNvSpPr>
            <a:spLocks noGrp="1"/>
          </p:cNvSpPr>
          <p:nvPr>
            <p:ph type="title"/>
          </p:nvPr>
        </p:nvSpPr>
        <p:spPr/>
        <p:txBody>
          <a:bodyPr/>
          <a:lstStyle/>
          <a:p>
            <a:r>
              <a:rPr lang="zh-CN" altLang="zh-CN" dirty="0"/>
              <a:t>5.2 实际翻译：从BOS开始，逐词生成</a:t>
            </a:r>
            <a:endParaRPr kumimoji="1" lang="zh-CN" altLang="en-US" dirty="0"/>
          </a:p>
        </p:txBody>
      </p:sp>
      <p:sp>
        <p:nvSpPr>
          <p:cNvPr id="3" name="内容占位符 2">
            <a:extLst>
              <a:ext uri="{FF2B5EF4-FFF2-40B4-BE49-F238E27FC236}">
                <a16:creationId xmlns:a16="http://schemas.microsoft.com/office/drawing/2014/main" id="{F40FD7A0-AE62-2CBA-9BA3-A583C12E51C5}"/>
              </a:ext>
            </a:extLst>
          </p:cNvPr>
          <p:cNvSpPr>
            <a:spLocks noGrp="1"/>
          </p:cNvSpPr>
          <p:nvPr>
            <p:ph idx="1"/>
          </p:nvPr>
        </p:nvSpPr>
        <p:spPr/>
        <p:txBody>
          <a:bodyPr>
            <a:normAutofit fontScale="77500" lnSpcReduction="20000"/>
          </a:bodyPr>
          <a:lstStyle/>
          <a:p>
            <a:r>
              <a:rPr lang="zh-CN" altLang="zh-CN" dirty="0">
                <a:solidFill>
                  <a:schemeClr val="tx1"/>
                </a:solidFill>
              </a:rPr>
              <a:t>训练时</a:t>
            </a:r>
            <a:r>
              <a:rPr lang="zh-CN" altLang="en-US" dirty="0">
                <a:solidFill>
                  <a:schemeClr val="tx1"/>
                </a:solidFill>
              </a:rPr>
              <a:t>：</a:t>
            </a:r>
            <a:r>
              <a:rPr lang="zh-CN" altLang="zh-CN" dirty="0">
                <a:solidFill>
                  <a:schemeClr val="tx1"/>
                </a:solidFill>
              </a:rPr>
              <a:t>模型可以使用正确译文中已经出现的词，学习预测下一个词</a:t>
            </a:r>
            <a:r>
              <a:rPr lang="zh-CN" altLang="zh-CN" b="0" dirty="0">
                <a:solidFill>
                  <a:schemeClr val="tx1"/>
                </a:solidFill>
              </a:rPr>
              <a:t>。</a:t>
            </a:r>
          </a:p>
          <a:p>
            <a:r>
              <a:rPr lang="zh-CN" altLang="zh-CN" dirty="0">
                <a:solidFill>
                  <a:schemeClr val="tx1"/>
                </a:solidFill>
              </a:rPr>
              <a:t>例如：</a:t>
            </a:r>
          </a:p>
          <a:p>
            <a:pPr rtl="0"/>
            <a:r>
              <a:rPr lang="zh-CN" altLang="zh-CN" b="0" dirty="0">
                <a:solidFill>
                  <a:schemeClr val="tx1"/>
                </a:solidFill>
              </a:rPr>
              <a:t>输入 BOS        → 预测“我”</a:t>
            </a:r>
          </a:p>
          <a:p>
            <a:pPr rtl="0"/>
            <a:r>
              <a:rPr lang="zh-CN" altLang="zh-CN" b="0" dirty="0">
                <a:solidFill>
                  <a:schemeClr val="tx1"/>
                </a:solidFill>
              </a:rPr>
              <a:t>输入 BOS、我    → 预测“爱”</a:t>
            </a:r>
          </a:p>
          <a:p>
            <a:pPr rtl="0"/>
            <a:r>
              <a:rPr lang="zh-CN" altLang="zh-CN" b="0" dirty="0">
                <a:solidFill>
                  <a:schemeClr val="tx1"/>
                </a:solidFill>
              </a:rPr>
              <a:t>输入 BOS、我、爱 → 预测“猫”</a:t>
            </a:r>
          </a:p>
          <a:p>
            <a:r>
              <a:rPr lang="zh-CN" altLang="zh-CN" dirty="0">
                <a:solidFill>
                  <a:schemeClr val="tx1"/>
                </a:solidFill>
              </a:rPr>
              <a:t>实际翻译时</a:t>
            </a:r>
            <a:r>
              <a:rPr lang="zh-CN" altLang="en-US" dirty="0">
                <a:solidFill>
                  <a:schemeClr val="tx1"/>
                </a:solidFill>
              </a:rPr>
              <a:t>：</a:t>
            </a:r>
            <a:r>
              <a:rPr lang="zh-CN" altLang="zh-CN" dirty="0">
                <a:solidFill>
                  <a:schemeClr val="tx1"/>
                </a:solidFill>
              </a:rPr>
              <a:t>模型看不到正确译文，只能使用自己已经生成的内容：</a:t>
            </a:r>
          </a:p>
          <a:p>
            <a:pPr rtl="0"/>
            <a:r>
              <a:rPr lang="zh-CN" altLang="zh-CN" b="0" dirty="0">
                <a:solidFill>
                  <a:schemeClr val="tx1"/>
                </a:solidFill>
              </a:rPr>
              <a:t>BOS</a:t>
            </a:r>
          </a:p>
          <a:p>
            <a:pPr rtl="0"/>
            <a:r>
              <a:rPr lang="zh-CN" altLang="zh-CN" b="0" dirty="0">
                <a:solidFill>
                  <a:schemeClr val="tx1"/>
                </a:solidFill>
              </a:rPr>
              <a:t>BOS → 我</a:t>
            </a:r>
          </a:p>
          <a:p>
            <a:pPr rtl="0"/>
            <a:r>
              <a:rPr lang="zh-CN" altLang="zh-CN" b="0" dirty="0">
                <a:solidFill>
                  <a:schemeClr val="tx1"/>
                </a:solidFill>
              </a:rPr>
              <a:t>BOS、我 → 爱</a:t>
            </a:r>
          </a:p>
          <a:p>
            <a:pPr rtl="0"/>
            <a:r>
              <a:rPr lang="zh-CN" altLang="zh-CN" b="0" dirty="0">
                <a:solidFill>
                  <a:schemeClr val="tx1"/>
                </a:solidFill>
              </a:rPr>
              <a:t>BOS、我、爱 → 猫</a:t>
            </a:r>
          </a:p>
          <a:p>
            <a:pPr rtl="0"/>
            <a:r>
              <a:rPr lang="zh-CN" altLang="zh-CN" b="0" dirty="0">
                <a:solidFill>
                  <a:schemeClr val="tx1"/>
                </a:solidFill>
              </a:rPr>
              <a:t>BOS、我、爱、猫 → 。</a:t>
            </a:r>
          </a:p>
          <a:p>
            <a:pPr rtl="0"/>
            <a:r>
              <a:rPr lang="zh-CN" altLang="zh-CN" b="0" dirty="0">
                <a:solidFill>
                  <a:schemeClr val="tx1"/>
                </a:solidFill>
              </a:rPr>
              <a:t>遇到 EOS，翻译结束</a:t>
            </a:r>
          </a:p>
          <a:p>
            <a:endParaRPr kumimoji="1" lang="zh-CN" altLang="en-US" b="0" dirty="0">
              <a:solidFill>
                <a:schemeClr val="tx1"/>
              </a:solidFill>
            </a:endParaRPr>
          </a:p>
        </p:txBody>
      </p:sp>
      <p:sp>
        <p:nvSpPr>
          <p:cNvPr id="4" name="内容占位符 3">
            <a:extLst>
              <a:ext uri="{FF2B5EF4-FFF2-40B4-BE49-F238E27FC236}">
                <a16:creationId xmlns:a16="http://schemas.microsoft.com/office/drawing/2014/main" id="{65B16149-EE91-5992-69F2-28BB6499D1E7}"/>
              </a:ext>
            </a:extLst>
          </p:cNvPr>
          <p:cNvSpPr>
            <a:spLocks noGrp="1"/>
          </p:cNvSpPr>
          <p:nvPr>
            <p:ph idx="14"/>
          </p:nvPr>
        </p:nvSpPr>
        <p:spPr/>
        <p:txBody>
          <a:bodyPr/>
          <a:lstStyle/>
          <a:p>
            <a:r>
              <a:rPr kumimoji="1" lang="zh-CN" altLang="en-US" dirty="0"/>
              <a:t>运行命令：</a:t>
            </a:r>
            <a:endParaRPr kumimoji="1" lang="en-US" altLang="zh-CN" dirty="0"/>
          </a:p>
          <a:p>
            <a:r>
              <a:rPr kumimoji="1" lang="en" altLang="zh-CN" dirty="0"/>
              <a:t>python -m </a:t>
            </a:r>
            <a:r>
              <a:rPr kumimoji="1" lang="en" altLang="zh-CN" dirty="0" err="1"/>
              <a:t>transformer.Translator_en_zh</a:t>
            </a:r>
            <a:r>
              <a:rPr kumimoji="1" lang="en" altLang="zh-CN" dirty="0"/>
              <a:t> \</a:t>
            </a:r>
          </a:p>
          <a:p>
            <a:r>
              <a:rPr kumimoji="1" lang="en" altLang="zh-CN" dirty="0"/>
              <a:t>  -model outputs/</a:t>
            </a:r>
            <a:r>
              <a:rPr kumimoji="1" lang="en" altLang="zh-CN" dirty="0" err="1"/>
              <a:t>en_zh</a:t>
            </a:r>
            <a:r>
              <a:rPr kumimoji="1" lang="en" altLang="zh-CN" dirty="0"/>
              <a:t>/</a:t>
            </a:r>
            <a:r>
              <a:rPr kumimoji="1" lang="en" altLang="zh-CN" dirty="0" err="1"/>
              <a:t>best_model.chkpt</a:t>
            </a:r>
            <a:r>
              <a:rPr kumimoji="1" lang="en" altLang="zh-CN" dirty="0"/>
              <a:t> \</a:t>
            </a:r>
          </a:p>
          <a:p>
            <a:r>
              <a:rPr kumimoji="1" lang="en" altLang="zh-CN" dirty="0"/>
              <a:t>  -</a:t>
            </a:r>
            <a:r>
              <a:rPr kumimoji="1" lang="en" altLang="zh-CN" dirty="0" err="1"/>
              <a:t>data_pkl</a:t>
            </a:r>
            <a:r>
              <a:rPr kumimoji="1" lang="en" altLang="zh-CN" dirty="0"/>
              <a:t> dataset/</a:t>
            </a:r>
            <a:r>
              <a:rPr kumimoji="1" lang="en" altLang="zh-CN" dirty="0" err="1"/>
              <a:t>en_zh</a:t>
            </a:r>
            <a:r>
              <a:rPr kumimoji="1" lang="en" altLang="zh-CN" dirty="0"/>
              <a:t>/</a:t>
            </a:r>
            <a:r>
              <a:rPr kumimoji="1" lang="en" altLang="zh-CN" dirty="0" err="1"/>
              <a:t>tatoeba_en_zh.pkl</a:t>
            </a:r>
            <a:r>
              <a:rPr kumimoji="1" lang="en" altLang="zh-CN" dirty="0"/>
              <a:t> \</a:t>
            </a:r>
          </a:p>
          <a:p>
            <a:r>
              <a:rPr kumimoji="1" lang="en" altLang="zh-CN" dirty="0"/>
              <a:t>  -codes dataset/</a:t>
            </a:r>
            <a:r>
              <a:rPr kumimoji="1" lang="en" altLang="zh-CN" dirty="0" err="1"/>
              <a:t>en_zh</a:t>
            </a:r>
            <a:r>
              <a:rPr kumimoji="1" lang="en" altLang="zh-CN" dirty="0"/>
              <a:t>/</a:t>
            </a:r>
            <a:r>
              <a:rPr kumimoji="1" lang="en" altLang="zh-CN" dirty="0" err="1"/>
              <a:t>bpe_codes.txt</a:t>
            </a:r>
            <a:r>
              <a:rPr kumimoji="1" lang="en" altLang="zh-CN" dirty="0"/>
              <a:t> \</a:t>
            </a:r>
          </a:p>
          <a:p>
            <a:r>
              <a:rPr kumimoji="1" lang="en" altLang="zh-CN" dirty="0"/>
              <a:t>  -</a:t>
            </a:r>
            <a:r>
              <a:rPr kumimoji="1" lang="en" altLang="zh-CN" dirty="0" err="1"/>
              <a:t>src</a:t>
            </a:r>
            <a:r>
              <a:rPr kumimoji="1" lang="en" altLang="zh-CN" dirty="0"/>
              <a:t> "Thank you for your help."</a:t>
            </a:r>
            <a:endParaRPr kumimoji="1" lang="zh-CN" altLang="en-US" dirty="0"/>
          </a:p>
        </p:txBody>
      </p:sp>
    </p:spTree>
    <p:extLst>
      <p:ext uri="{BB962C8B-B14F-4D97-AF65-F5344CB8AC3E}">
        <p14:creationId xmlns:p14="http://schemas.microsoft.com/office/powerpoint/2010/main" val="13322753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B0F67-3511-D2A1-7A15-029075826DF4}"/>
              </a:ext>
            </a:extLst>
          </p:cNvPr>
          <p:cNvSpPr>
            <a:spLocks noGrp="1"/>
          </p:cNvSpPr>
          <p:nvPr>
            <p:ph type="title"/>
          </p:nvPr>
        </p:nvSpPr>
        <p:spPr>
          <a:xfrm>
            <a:off x="297277" y="278103"/>
            <a:ext cx="10054800" cy="642647"/>
          </a:xfrm>
        </p:spPr>
        <p:txBody>
          <a:bodyPr>
            <a:normAutofit/>
          </a:bodyPr>
          <a:lstStyle/>
          <a:p>
            <a:pPr>
              <a:defRPr>
                <a:solidFill>
                  <a:srgbClr val="000000"/>
                </a:solidFill>
              </a:defRPr>
            </a:pPr>
            <a:r>
              <a:rPr>
                <a:solidFill>
                  <a:srgbClr val="000000"/>
                </a:solidFill>
              </a:rPr>
              <a:t>5.3 指标与译文必须一起验收</a:t>
            </a:r>
            <a:endParaRPr sz="1800"/>
          </a:p>
        </p:txBody>
      </p:sp>
      <p:sp>
        <p:nvSpPr>
          <p:cNvPr id="3" name="内容占位符 2">
            <a:extLst>
              <a:ext uri="{FF2B5EF4-FFF2-40B4-BE49-F238E27FC236}">
                <a16:creationId xmlns:a16="http://schemas.microsoft.com/office/drawing/2014/main" id="{5A9CD56F-AB03-E1B7-0E20-5BCD53D8DCD7}"/>
              </a:ext>
            </a:extLst>
          </p:cNvPr>
          <p:cNvSpPr>
            <a:spLocks noGrp="1"/>
          </p:cNvSpPr>
          <p:nvPr>
            <p:ph idx="1"/>
          </p:nvPr>
        </p:nvSpPr>
        <p:spPr>
          <a:xfrm>
            <a:off x="297275" y="1099852"/>
            <a:ext cx="5662803" cy="5018437"/>
          </a:xfrm>
        </p:spPr>
        <p:txBody>
          <a:bodyPr>
            <a:normAutofit fontScale="91101" lnSpcReduction="10000"/>
          </a:bodyPr>
          <a:lstStyle/>
          <a:p>
            <a:pPr marL="0" indent="0">
              <a:buNone/>
            </a:pPr>
            <a:r>
              <a:rPr b="0" dirty="0">
                <a:solidFill>
                  <a:schemeClr val="tx1"/>
                </a:solidFill>
              </a:rPr>
              <a:t>10 epoch </a:t>
            </a:r>
            <a:r>
              <a:rPr b="0" dirty="0" err="1">
                <a:solidFill>
                  <a:schemeClr val="tx1"/>
                </a:solidFill>
              </a:rPr>
              <a:t>实测现象</a:t>
            </a:r>
            <a:endParaRPr b="0" dirty="0">
              <a:solidFill>
                <a:schemeClr val="tx1"/>
              </a:solidFill>
            </a:endParaRPr>
          </a:p>
          <a:p>
            <a:pPr marL="0" indent="0">
              <a:buNone/>
            </a:pPr>
            <a:r>
              <a:rPr b="0" dirty="0">
                <a:solidFill>
                  <a:schemeClr val="tx1"/>
                </a:solidFill>
              </a:rPr>
              <a:t>• “I'm too busy.” → “</a:t>
            </a:r>
            <a:r>
              <a:rPr b="0" dirty="0" err="1">
                <a:solidFill>
                  <a:schemeClr val="tx1"/>
                </a:solidFill>
              </a:rPr>
              <a:t>我很忙</a:t>
            </a:r>
            <a:r>
              <a:rPr b="0" dirty="0">
                <a:solidFill>
                  <a:schemeClr val="tx1"/>
                </a:solidFill>
              </a:rPr>
              <a:t>。”：</a:t>
            </a:r>
            <a:r>
              <a:rPr b="0" dirty="0" err="1">
                <a:solidFill>
                  <a:schemeClr val="tx1"/>
                </a:solidFill>
              </a:rPr>
              <a:t>核心意思较完整</a:t>
            </a:r>
            <a:endParaRPr b="0" dirty="0">
              <a:solidFill>
                <a:schemeClr val="tx1"/>
              </a:solidFill>
            </a:endParaRPr>
          </a:p>
          <a:p>
            <a:pPr marL="0" indent="0">
              <a:buNone/>
            </a:pPr>
            <a:r>
              <a:rPr b="0" dirty="0">
                <a:solidFill>
                  <a:schemeClr val="tx1"/>
                </a:solidFill>
              </a:rPr>
              <a:t>• “hello” → “</a:t>
            </a:r>
            <a:r>
              <a:rPr b="0" dirty="0" err="1">
                <a:solidFill>
                  <a:schemeClr val="tx1"/>
                </a:solidFill>
              </a:rPr>
              <a:t>谢谢谢谢</a:t>
            </a:r>
            <a:r>
              <a:rPr b="0" dirty="0">
                <a:solidFill>
                  <a:schemeClr val="tx1"/>
                </a:solidFill>
              </a:rPr>
              <a:t>”：</a:t>
            </a:r>
            <a:r>
              <a:rPr b="0" dirty="0" err="1">
                <a:solidFill>
                  <a:schemeClr val="tx1"/>
                </a:solidFill>
              </a:rPr>
              <a:t>存在重复</a:t>
            </a:r>
            <a:endParaRPr b="0" dirty="0">
              <a:solidFill>
                <a:schemeClr val="tx1"/>
              </a:solidFill>
            </a:endParaRPr>
          </a:p>
          <a:p>
            <a:pPr marL="0" indent="0">
              <a:buNone/>
            </a:pPr>
            <a:r>
              <a:rPr dirty="0"/>
              <a:t>• three books 可能译成“</a:t>
            </a:r>
            <a:r>
              <a:rPr dirty="0" err="1"/>
              <a:t>两本书</a:t>
            </a:r>
            <a:r>
              <a:rPr dirty="0"/>
              <a:t>”：</a:t>
            </a:r>
            <a:r>
              <a:rPr dirty="0" err="1"/>
              <a:t>数字错误</a:t>
            </a:r>
            <a:endParaRPr dirty="0"/>
          </a:p>
          <a:p>
            <a:pPr marL="0" lvl="0" indent="0">
              <a:buNone/>
            </a:pPr>
            <a:endParaRPr dirty="0"/>
          </a:p>
          <a:p>
            <a:pPr marL="0" lvl="0" indent="0">
              <a:buNone/>
            </a:pPr>
            <a:r>
              <a:rPr dirty="0" err="1">
                <a:solidFill>
                  <a:schemeClr val="tx1"/>
                </a:solidFill>
              </a:rPr>
              <a:t>检查五类问题</a:t>
            </a:r>
            <a:endParaRPr dirty="0">
              <a:solidFill>
                <a:schemeClr val="tx1"/>
              </a:solidFill>
            </a:endParaRPr>
          </a:p>
          <a:p>
            <a:pPr marL="0" lvl="0" indent="0">
              <a:buNone/>
            </a:pPr>
            <a:r>
              <a:rPr dirty="0" err="1">
                <a:solidFill>
                  <a:schemeClr val="tx1"/>
                </a:solidFill>
              </a:rPr>
              <a:t>核心意思｜数字｜否定｜重复｜漏译或过早结束</a:t>
            </a:r>
            <a:endParaRPr dirty="0">
              <a:solidFill>
                <a:schemeClr val="tx1"/>
              </a:solidFill>
            </a:endParaRPr>
          </a:p>
          <a:p>
            <a:pPr marL="0" indent="0">
              <a:buNone/>
            </a:pPr>
            <a:endParaRPr b="0" dirty="0">
              <a:solidFill>
                <a:schemeClr val="tx1"/>
              </a:solidFill>
            </a:endParaRPr>
          </a:p>
          <a:p>
            <a:pPr marL="0" indent="0">
              <a:buNone/>
            </a:pPr>
            <a:r>
              <a:rPr dirty="0" err="1"/>
              <a:t>结论</a:t>
            </a:r>
            <a:endParaRPr b="0" dirty="0">
              <a:solidFill>
                <a:schemeClr val="tx1"/>
              </a:solidFill>
            </a:endParaRPr>
          </a:p>
          <a:p>
            <a:pPr marL="0" indent="0">
              <a:buNone/>
            </a:pPr>
            <a:r>
              <a:rPr dirty="0"/>
              <a:t>PPL </a:t>
            </a:r>
            <a:r>
              <a:rPr dirty="0" err="1"/>
              <a:t>下降和</a:t>
            </a:r>
            <a:r>
              <a:rPr dirty="0"/>
              <a:t> accuracy </a:t>
            </a:r>
            <a:r>
              <a:rPr dirty="0" err="1"/>
              <a:t>上升说明</a:t>
            </a:r>
            <a:r>
              <a:rPr dirty="0"/>
              <a:t> token </a:t>
            </a:r>
            <a:r>
              <a:rPr dirty="0" err="1"/>
              <a:t>预测改善，但不能证明每个句子都翻译正确</a:t>
            </a:r>
            <a:r>
              <a:rPr dirty="0"/>
              <a:t>。</a:t>
            </a:r>
            <a:endParaRPr b="0" dirty="0">
              <a:solidFill>
                <a:schemeClr val="tx1"/>
              </a:solidFill>
            </a:endParaRPr>
          </a:p>
        </p:txBody>
      </p:sp>
      <p:sp>
        <p:nvSpPr>
          <p:cNvPr id="5" name="文本框 4">
            <a:extLst>
              <a:ext uri="{FF2B5EF4-FFF2-40B4-BE49-F238E27FC236}">
                <a16:creationId xmlns:a16="http://schemas.microsoft.com/office/drawing/2014/main" id="{6AB4BC0A-68D3-A2C6-DD08-DF0428389EF7}"/>
              </a:ext>
            </a:extLst>
          </p:cNvPr>
          <p:cNvSpPr>
            <a:spLocks noGrp="1"/>
          </p:cNvSpPr>
          <p:nvPr/>
        </p:nvSpPr>
        <p:spPr>
          <a:xfrm>
            <a:off x="5410200" y="533400"/>
            <a:ext cx="0" cy="0"/>
          </a:xfrm>
          <a:prstGeom prst="rect">
            <a:avLst/>
          </a:prstGeom>
        </p:spPr>
        <p:txBody>
          <a:bodyPr vert="horz" wrap="none" lIns="91440" tIns="45720" rIns="91440" bIns="45720" anchor="ctr">
            <a:normAutofit fontScale="25000" lnSpcReduction="20000"/>
          </a:bodyPr>
          <a:lstStyle/>
          <a:p>
            <a:endParaRPr/>
          </a:p>
        </p:txBody>
      </p:sp>
      <p:pic>
        <p:nvPicPr>
          <p:cNvPr id="10" name="图片 9"/>
          <p:cNvPicPr>
            <a:picLocks noChangeAspect="1"/>
          </p:cNvPicPr>
          <p:nvPr/>
        </p:nvPicPr>
        <p:blipFill>
          <a:blip r:embed="rId3"/>
          <a:srcRect t="14380" r="56768"/>
          <a:stretch>
            <a:fillRect/>
          </a:stretch>
        </p:blipFill>
        <p:spPr>
          <a:xfrm>
            <a:off x="5960078" y="1651000"/>
            <a:ext cx="6011978" cy="4107148"/>
          </a:xfrm>
          <a:prstGeom prst="rect">
            <a:avLst/>
          </a:prstGeom>
        </p:spPr>
      </p:pic>
    </p:spTree>
    <p:extLst>
      <p:ext uri="{BB962C8B-B14F-4D97-AF65-F5344CB8AC3E}">
        <p14:creationId xmlns:p14="http://schemas.microsoft.com/office/powerpoint/2010/main" val="32231374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5804A9-3376-2548-CD96-726BAE11D1D5}"/>
              </a:ext>
            </a:extLst>
          </p:cNvPr>
          <p:cNvSpPr>
            <a:spLocks noGrp="1"/>
          </p:cNvSpPr>
          <p:nvPr>
            <p:ph type="title"/>
          </p:nvPr>
        </p:nvSpPr>
        <p:spPr/>
        <p:txBody>
          <a:bodyPr/>
          <a:lstStyle/>
          <a:p>
            <a:r>
              <a:rPr kumimoji="1" lang="zh-CN" altLang="en-US" dirty="0"/>
              <a:t>六</a:t>
            </a:r>
            <a:r>
              <a:rPr kumimoji="1" lang="en-US" altLang="zh-CN" dirty="0"/>
              <a:t>.</a:t>
            </a:r>
            <a:r>
              <a:rPr kumimoji="1" lang="zh-CN" altLang="en-US" dirty="0"/>
              <a:t>课堂回顾与任务验收</a:t>
            </a:r>
          </a:p>
        </p:txBody>
      </p:sp>
    </p:spTree>
    <p:extLst>
      <p:ext uri="{BB962C8B-B14F-4D97-AF65-F5344CB8AC3E}">
        <p14:creationId xmlns:p14="http://schemas.microsoft.com/office/powerpoint/2010/main" val="166171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426EF9-4B35-4844-AECF-6116504081EA}"/>
              </a:ext>
            </a:extLst>
          </p:cNvPr>
          <p:cNvSpPr>
            <a:spLocks noGrp="1"/>
          </p:cNvSpPr>
          <p:nvPr>
            <p:ph type="title"/>
          </p:nvPr>
        </p:nvSpPr>
        <p:spPr>
          <a:xfrm>
            <a:off x="334257" y="97129"/>
            <a:ext cx="10054800" cy="651600"/>
          </a:xfrm>
        </p:spPr>
        <p:txBody>
          <a:bodyPr anchor="ctr">
            <a:normAutofit/>
          </a:bodyPr>
          <a:lstStyle/>
          <a:p>
            <a:r>
              <a:rPr kumimoji="1" lang="en-US" altLang="zh-CN" dirty="0"/>
              <a:t>6.1</a:t>
            </a:r>
            <a:r>
              <a:rPr kumimoji="1" lang="zh-CN" altLang="en-US" dirty="0"/>
              <a:t>课堂回顾</a:t>
            </a:r>
          </a:p>
        </p:txBody>
      </p:sp>
      <p:pic>
        <p:nvPicPr>
          <p:cNvPr id="5" name="内容占位符 4">
            <a:extLst>
              <a:ext uri="{FF2B5EF4-FFF2-40B4-BE49-F238E27FC236}">
                <a16:creationId xmlns:a16="http://schemas.microsoft.com/office/drawing/2014/main" id="{D4F8C6CF-41F4-BF40-BE00-24CB0DE5F734}"/>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305" t="5134" r="2133" b="6641"/>
          <a:stretch>
            <a:fillRect/>
          </a:stretch>
        </p:blipFill>
        <p:spPr>
          <a:xfrm>
            <a:off x="864651" y="931985"/>
            <a:ext cx="10462697" cy="5490835"/>
          </a:xfrm>
          <a:prstGeom prst="rect">
            <a:avLst/>
          </a:prstGeom>
          <a:noFill/>
        </p:spPr>
      </p:pic>
    </p:spTree>
    <p:extLst>
      <p:ext uri="{BB962C8B-B14F-4D97-AF65-F5344CB8AC3E}">
        <p14:creationId xmlns:p14="http://schemas.microsoft.com/office/powerpoint/2010/main" val="417876957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D3141F8-1161-8FCF-040E-9406E58D3CC3}"/>
              </a:ext>
            </a:extLst>
          </p:cNvPr>
          <p:cNvSpPr>
            <a:spLocks noGrp="1"/>
          </p:cNvSpPr>
          <p:nvPr>
            <p:ph type="title"/>
          </p:nvPr>
        </p:nvSpPr>
        <p:spPr>
          <a:xfrm>
            <a:off x="334257" y="97129"/>
            <a:ext cx="10054800" cy="651600"/>
          </a:xfrm>
        </p:spPr>
        <p:txBody>
          <a:bodyPr anchor="ctr">
            <a:normAutofit/>
          </a:bodyPr>
          <a:lstStyle/>
          <a:p>
            <a:r>
              <a:rPr kumimoji="1" lang="en-US" altLang="zh-CN" dirty="0"/>
              <a:t>6.2</a:t>
            </a:r>
            <a:r>
              <a:rPr kumimoji="1" lang="zh-CN" altLang="en-US" dirty="0"/>
              <a:t> 任务验收</a:t>
            </a:r>
          </a:p>
        </p:txBody>
      </p:sp>
      <p:pic>
        <p:nvPicPr>
          <p:cNvPr id="7" name="内容占位符 6">
            <a:extLst>
              <a:ext uri="{FF2B5EF4-FFF2-40B4-BE49-F238E27FC236}">
                <a16:creationId xmlns:a16="http://schemas.microsoft.com/office/drawing/2014/main" id="{619111A0-B93C-BB36-5BA2-DE3E6171E291}"/>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l="3157" t="16192" b="1278"/>
          <a:stretch>
            <a:fillRect/>
          </a:stretch>
        </p:blipFill>
        <p:spPr>
          <a:xfrm>
            <a:off x="614855" y="1072056"/>
            <a:ext cx="10962290" cy="5235879"/>
          </a:xfrm>
          <a:prstGeom prst="rect">
            <a:avLst/>
          </a:prstGeom>
        </p:spPr>
      </p:pic>
    </p:spTree>
    <p:extLst>
      <p:ext uri="{BB962C8B-B14F-4D97-AF65-F5344CB8AC3E}">
        <p14:creationId xmlns:p14="http://schemas.microsoft.com/office/powerpoint/2010/main" val="198064735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565E952-078E-B415-E300-5C68A2BA5D39}"/>
              </a:ext>
            </a:extLst>
          </p:cNvPr>
          <p:cNvSpPr>
            <a:spLocks noGrp="1"/>
          </p:cNvSpPr>
          <p:nvPr>
            <p:ph type="title"/>
          </p:nvPr>
        </p:nvSpPr>
        <p:spPr/>
        <p:txBody>
          <a:bodyPr/>
          <a:lstStyle/>
          <a:p>
            <a:r>
              <a:rPr kumimoji="1" lang="zh-CN" altLang="en-US" dirty="0"/>
              <a:t>七</a:t>
            </a:r>
            <a:r>
              <a:rPr kumimoji="1" lang="en-US" altLang="zh-CN" dirty="0"/>
              <a:t>.</a:t>
            </a:r>
            <a:r>
              <a:rPr kumimoji="1" lang="zh-CN" altLang="en-US" dirty="0"/>
              <a:t>附录</a:t>
            </a:r>
          </a:p>
        </p:txBody>
      </p:sp>
    </p:spTree>
    <p:extLst>
      <p:ext uri="{BB962C8B-B14F-4D97-AF65-F5344CB8AC3E}">
        <p14:creationId xmlns:p14="http://schemas.microsoft.com/office/powerpoint/2010/main" val="384371279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8ED0D63-1512-8AE7-D455-35146C7B5F47}"/>
              </a:ext>
            </a:extLst>
          </p:cNvPr>
          <p:cNvSpPr>
            <a:spLocks noGrp="1"/>
          </p:cNvSpPr>
          <p:nvPr>
            <p:ph type="title"/>
          </p:nvPr>
        </p:nvSpPr>
        <p:spPr>
          <a:xfrm>
            <a:off x="297277" y="365098"/>
            <a:ext cx="10054800" cy="651600"/>
          </a:xfrm>
        </p:spPr>
        <p:txBody>
          <a:bodyPr>
            <a:noAutofit/>
          </a:bodyPr>
          <a:lstStyle/>
          <a:p>
            <a:r>
              <a:rPr lang="zh-CN" altLang="en-US" dirty="0"/>
              <a:t>实操</a:t>
            </a:r>
            <a:r>
              <a:rPr lang="en-US" altLang="zh-CN" dirty="0"/>
              <a:t>1.</a:t>
            </a:r>
            <a:r>
              <a:rPr lang="zh-CN" altLang="en-US" dirty="0"/>
              <a:t> </a:t>
            </a:r>
            <a:r>
              <a:rPr lang="zh-CN" altLang="zh-CN" dirty="0"/>
              <a:t>checkpoint、词表与 PAD 配套 </a:t>
            </a:r>
            <a:br>
              <a:rPr lang="zh-CN" altLang="zh-CN" dirty="0"/>
            </a:br>
            <a:endParaRPr kumimoji="1" lang="zh-CN" altLang="en-US" dirty="0"/>
          </a:p>
        </p:txBody>
      </p:sp>
      <p:pic>
        <p:nvPicPr>
          <p:cNvPr id="10" name="内容占位符 9">
            <a:extLst>
              <a:ext uri="{FF2B5EF4-FFF2-40B4-BE49-F238E27FC236}">
                <a16:creationId xmlns:a16="http://schemas.microsoft.com/office/drawing/2014/main" id="{3E49947F-6A1D-4A7E-F3E8-3B0AB6115778}"/>
              </a:ext>
            </a:extLst>
          </p:cNvPr>
          <p:cNvPicPr>
            <a:picLocks noGrp="1" noChangeAspect="1"/>
          </p:cNvPicPr>
          <p:nvPr>
            <p:ph idx="14"/>
          </p:nvPr>
        </p:nvPicPr>
        <p:blipFill>
          <a:blip r:embed="rId2">
            <a:extLst>
              <a:ext uri="{28A0092B-C50C-407E-A947-70E740481C1C}">
                <a14:useLocalDpi xmlns:a14="http://schemas.microsoft.com/office/drawing/2010/main" val="0"/>
              </a:ext>
            </a:extLst>
          </a:blip>
          <a:stretch>
            <a:fillRect/>
          </a:stretch>
        </p:blipFill>
        <p:spPr>
          <a:xfrm>
            <a:off x="5810738" y="3602182"/>
            <a:ext cx="6255562" cy="3255818"/>
          </a:xfrm>
          <a:prstGeom prst="rect">
            <a:avLst/>
          </a:prstGeom>
        </p:spPr>
      </p:pic>
      <p:pic>
        <p:nvPicPr>
          <p:cNvPr id="8" name="内容占位符 7">
            <a:extLst>
              <a:ext uri="{FF2B5EF4-FFF2-40B4-BE49-F238E27FC236}">
                <a16:creationId xmlns:a16="http://schemas.microsoft.com/office/drawing/2014/main" id="{0F22AFCA-C5F3-C615-0501-A59EF2429E9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5700" y="898716"/>
            <a:ext cx="5537100" cy="5959284"/>
          </a:xfrm>
          <a:prstGeom prst="rect">
            <a:avLst/>
          </a:prstGeom>
        </p:spPr>
      </p:pic>
    </p:spTree>
    <p:extLst>
      <p:ext uri="{BB962C8B-B14F-4D97-AF65-F5344CB8AC3E}">
        <p14:creationId xmlns:p14="http://schemas.microsoft.com/office/powerpoint/2010/main" val="236146968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3F4D581-D5E2-FB60-35F2-A4D968441DE1}"/>
              </a:ext>
            </a:extLst>
          </p:cNvPr>
          <p:cNvSpPr>
            <a:spLocks noGrp="1"/>
          </p:cNvSpPr>
          <p:nvPr>
            <p:ph type="title"/>
          </p:nvPr>
        </p:nvSpPr>
        <p:spPr>
          <a:xfrm>
            <a:off x="297277" y="378952"/>
            <a:ext cx="10054800" cy="651600"/>
          </a:xfrm>
        </p:spPr>
        <p:txBody>
          <a:bodyPr>
            <a:normAutofit fontScale="90000"/>
          </a:bodyPr>
          <a:lstStyle/>
          <a:p>
            <a:r>
              <a:rPr lang="zh-CN" altLang="en-US" dirty="0"/>
              <a:t>实操</a:t>
            </a:r>
            <a:r>
              <a:rPr lang="en-US" altLang="zh-CN" dirty="0"/>
              <a:t>2.</a:t>
            </a:r>
            <a:r>
              <a:rPr lang="zh-CN" altLang="en-US" dirty="0"/>
              <a:t> </a:t>
            </a:r>
            <a:r>
              <a:rPr lang="zh-CN" altLang="zh-CN" dirty="0"/>
              <a:t>按 settings 重建模型并加载权重</a:t>
            </a:r>
            <a:br>
              <a:rPr lang="zh-CN" altLang="zh-CN" b="0" dirty="0"/>
            </a:br>
            <a:endParaRPr kumimoji="1" lang="zh-CN" altLang="en-US" dirty="0"/>
          </a:p>
        </p:txBody>
      </p:sp>
      <p:pic>
        <p:nvPicPr>
          <p:cNvPr id="6" name="内容占位符 5">
            <a:extLst>
              <a:ext uri="{FF2B5EF4-FFF2-40B4-BE49-F238E27FC236}">
                <a16:creationId xmlns:a16="http://schemas.microsoft.com/office/drawing/2014/main" id="{343DB6CD-21A2-8E68-E92C-CAEB00A4E94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4836" y="868697"/>
            <a:ext cx="5527964" cy="5989303"/>
          </a:xfrm>
          <a:prstGeom prst="rect">
            <a:avLst/>
          </a:prstGeom>
        </p:spPr>
      </p:pic>
      <p:pic>
        <p:nvPicPr>
          <p:cNvPr id="8" name="内容占位符 7">
            <a:extLst>
              <a:ext uri="{FF2B5EF4-FFF2-40B4-BE49-F238E27FC236}">
                <a16:creationId xmlns:a16="http://schemas.microsoft.com/office/drawing/2014/main" id="{AC68049E-F1FA-462D-FBF8-F293BD642CC1}"/>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5823956" y="3533401"/>
            <a:ext cx="5934658" cy="3324599"/>
          </a:xfrm>
          <a:prstGeom prst="rect">
            <a:avLst/>
          </a:prstGeom>
        </p:spPr>
      </p:pic>
    </p:spTree>
    <p:extLst>
      <p:ext uri="{BB962C8B-B14F-4D97-AF65-F5344CB8AC3E}">
        <p14:creationId xmlns:p14="http://schemas.microsoft.com/office/powerpoint/2010/main" val="10891977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14CFBD-AA15-8EB8-3F39-D3AE5FDED1D3}"/>
              </a:ext>
            </a:extLst>
          </p:cNvPr>
          <p:cNvSpPr>
            <a:spLocks noGrp="1"/>
          </p:cNvSpPr>
          <p:nvPr>
            <p:ph type="title"/>
          </p:nvPr>
        </p:nvSpPr>
        <p:spPr>
          <a:xfrm>
            <a:off x="297277" y="291092"/>
            <a:ext cx="10054800" cy="651600"/>
          </a:xfrm>
        </p:spPr>
        <p:txBody>
          <a:bodyPr>
            <a:normAutofit fontScale="90000"/>
          </a:bodyPr>
          <a:lstStyle/>
          <a:p>
            <a:r>
              <a:rPr lang="zh-CN" altLang="zh-CN" dirty="0"/>
              <a:t>实操 3-</a:t>
            </a:r>
            <a:r>
              <a:rPr lang="en-US" altLang="zh-CN" dirty="0"/>
              <a:t>AB.</a:t>
            </a:r>
            <a:r>
              <a:rPr lang="zh-CN" altLang="en-US" dirty="0"/>
              <a:t> </a:t>
            </a:r>
            <a:r>
              <a:rPr lang="zh-CN" altLang="zh-CN" dirty="0"/>
              <a:t>Attention 与 Mask 数值验证</a:t>
            </a:r>
            <a:br>
              <a:rPr lang="zh-CN" altLang="zh-CN" b="0" dirty="0"/>
            </a:br>
            <a:endParaRPr kumimoji="1" lang="zh-CN" altLang="en-US" dirty="0"/>
          </a:p>
        </p:txBody>
      </p:sp>
      <p:pic>
        <p:nvPicPr>
          <p:cNvPr id="6" name="内容占位符 5">
            <a:extLst>
              <a:ext uri="{FF2B5EF4-FFF2-40B4-BE49-F238E27FC236}">
                <a16:creationId xmlns:a16="http://schemas.microsoft.com/office/drawing/2014/main" id="{B5BE37FA-3588-8804-5B21-49E068971FA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34408"/>
            <a:ext cx="5534526" cy="6021436"/>
          </a:xfrm>
          <a:prstGeom prst="rect">
            <a:avLst/>
          </a:prstGeom>
        </p:spPr>
      </p:pic>
      <p:pic>
        <p:nvPicPr>
          <p:cNvPr id="8" name="内容占位符 7">
            <a:extLst>
              <a:ext uri="{FF2B5EF4-FFF2-40B4-BE49-F238E27FC236}">
                <a16:creationId xmlns:a16="http://schemas.microsoft.com/office/drawing/2014/main" id="{4AC14966-3E1D-6191-FDF8-A5F10984111D}"/>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5678905" y="834408"/>
            <a:ext cx="5534526" cy="6021435"/>
          </a:xfrm>
          <a:prstGeom prst="rect">
            <a:avLst/>
          </a:prstGeom>
        </p:spPr>
      </p:pic>
    </p:spTree>
    <p:extLst>
      <p:ext uri="{BB962C8B-B14F-4D97-AF65-F5344CB8AC3E}">
        <p14:creationId xmlns:p14="http://schemas.microsoft.com/office/powerpoint/2010/main" val="383383263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BE88DA9-9180-E4B9-F862-961DE7667889}"/>
              </a:ext>
            </a:extLst>
          </p:cNvPr>
          <p:cNvSpPr>
            <a:spLocks noGrp="1"/>
          </p:cNvSpPr>
          <p:nvPr>
            <p:ph type="title"/>
          </p:nvPr>
        </p:nvSpPr>
        <p:spPr/>
        <p:txBody>
          <a:bodyPr/>
          <a:lstStyle/>
          <a:p>
            <a:r>
              <a:rPr lang="zh-CN" altLang="en-US" dirty="0"/>
              <a:t>实操</a:t>
            </a:r>
            <a:r>
              <a:rPr lang="en-US" altLang="zh-CN" dirty="0"/>
              <a:t>3-AB.</a:t>
            </a:r>
            <a:r>
              <a:rPr lang="zh-CN" altLang="en-US" dirty="0"/>
              <a:t> </a:t>
            </a:r>
            <a:r>
              <a:rPr lang="zh-CN" altLang="zh-CN" dirty="0"/>
              <a:t>Attention 与 Mask 数值验证</a:t>
            </a:r>
            <a:endParaRPr kumimoji="1" lang="zh-CN" altLang="en-US" dirty="0"/>
          </a:p>
        </p:txBody>
      </p:sp>
      <p:pic>
        <p:nvPicPr>
          <p:cNvPr id="6" name="内容占位符 5">
            <a:extLst>
              <a:ext uri="{FF2B5EF4-FFF2-40B4-BE49-F238E27FC236}">
                <a16:creationId xmlns:a16="http://schemas.microsoft.com/office/drawing/2014/main" id="{6F398352-BDB4-95D4-04B2-47DB2C98CA0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35444"/>
            <a:ext cx="5510463" cy="5995255"/>
          </a:xfrm>
          <a:prstGeom prst="rect">
            <a:avLst/>
          </a:prstGeom>
        </p:spPr>
      </p:pic>
      <p:pic>
        <p:nvPicPr>
          <p:cNvPr id="8" name="内容占位符 7">
            <a:extLst>
              <a:ext uri="{FF2B5EF4-FFF2-40B4-BE49-F238E27FC236}">
                <a16:creationId xmlns:a16="http://schemas.microsoft.com/office/drawing/2014/main" id="{30329420-03DD-C9ED-F4BE-C7809E11FFD5}"/>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5630779" y="3336735"/>
            <a:ext cx="6081409" cy="3424136"/>
          </a:xfrm>
          <a:prstGeom prst="rect">
            <a:avLst/>
          </a:prstGeom>
        </p:spPr>
      </p:pic>
    </p:spTree>
    <p:extLst>
      <p:ext uri="{BB962C8B-B14F-4D97-AF65-F5344CB8AC3E}">
        <p14:creationId xmlns:p14="http://schemas.microsoft.com/office/powerpoint/2010/main" val="11045161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8BC3DE6-1025-7EE4-0E58-B36CB69E60CB}"/>
              </a:ext>
            </a:extLst>
          </p:cNvPr>
          <p:cNvSpPr>
            <a:spLocks noGrp="1"/>
          </p:cNvSpPr>
          <p:nvPr>
            <p:ph type="title"/>
          </p:nvPr>
        </p:nvSpPr>
        <p:spPr>
          <a:xfrm>
            <a:off x="170277" y="350475"/>
            <a:ext cx="10054800" cy="497583"/>
          </a:xfrm>
        </p:spPr>
        <p:txBody>
          <a:bodyPr>
            <a:normAutofit fontScale="90000"/>
          </a:bodyPr>
          <a:lstStyle/>
          <a:p>
            <a:r>
              <a:rPr lang="zh-CN" altLang="zh-CN" dirty="0"/>
              <a:t>实操 4–5 </a:t>
            </a:r>
            <a:r>
              <a:rPr lang="zh-CN" altLang="en-US" dirty="0"/>
              <a:t>：</a:t>
            </a:r>
            <a:r>
              <a:rPr lang="zh-CN" altLang="zh-CN" dirty="0"/>
              <a:t>目标右移与 PAD 忽略</a:t>
            </a:r>
            <a:r>
              <a:rPr kumimoji="1" lang="en-US" altLang="zh-CN" dirty="0"/>
              <a:t>.</a:t>
            </a:r>
            <a:r>
              <a:rPr kumimoji="1" lang="zh-CN" altLang="en-US" dirty="0"/>
              <a:t> </a:t>
            </a:r>
            <a:br>
              <a:rPr lang="zh-CN" altLang="zh-CN" b="0" dirty="0"/>
            </a:br>
            <a:endParaRPr kumimoji="1" lang="zh-CN" altLang="en-US" dirty="0"/>
          </a:p>
        </p:txBody>
      </p:sp>
      <p:pic>
        <p:nvPicPr>
          <p:cNvPr id="6" name="内容占位符 5">
            <a:extLst>
              <a:ext uri="{FF2B5EF4-FFF2-40B4-BE49-F238E27FC236}">
                <a16:creationId xmlns:a16="http://schemas.microsoft.com/office/drawing/2014/main" id="{A8723170-1CA8-A2FF-EDCD-351E74BD56B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48058"/>
            <a:ext cx="5556360" cy="6009941"/>
          </a:xfrm>
          <a:prstGeom prst="rect">
            <a:avLst/>
          </a:prstGeom>
        </p:spPr>
      </p:pic>
      <p:pic>
        <p:nvPicPr>
          <p:cNvPr id="8" name="内容占位符 7">
            <a:extLst>
              <a:ext uri="{FF2B5EF4-FFF2-40B4-BE49-F238E27FC236}">
                <a16:creationId xmlns:a16="http://schemas.microsoft.com/office/drawing/2014/main" id="{D673CD88-C067-5AC2-FC26-7748CE4C3C97}"/>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6009991" y="848058"/>
            <a:ext cx="5556361" cy="6009942"/>
          </a:xfrm>
          <a:prstGeom prst="rect">
            <a:avLst/>
          </a:prstGeom>
        </p:spPr>
      </p:pic>
    </p:spTree>
    <p:extLst>
      <p:ext uri="{BB962C8B-B14F-4D97-AF65-F5344CB8AC3E}">
        <p14:creationId xmlns:p14="http://schemas.microsoft.com/office/powerpoint/2010/main" val="8248766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099284-14C8-9DD9-CFA0-881CD2ED9150}"/>
              </a:ext>
            </a:extLst>
          </p:cNvPr>
          <p:cNvSpPr>
            <a:spLocks noGrp="1"/>
          </p:cNvSpPr>
          <p:nvPr>
            <p:ph type="title"/>
          </p:nvPr>
        </p:nvSpPr>
        <p:spPr/>
        <p:txBody>
          <a:bodyPr>
            <a:normAutofit/>
          </a:bodyPr>
          <a:lstStyle/>
          <a:p>
            <a:r>
              <a:rPr lang="zh-CN" altLang="zh-CN" sz="2800" dirty="0"/>
              <a:t>实操 4–5</a:t>
            </a:r>
            <a:r>
              <a:rPr kumimoji="1" lang="en-US" altLang="zh-CN" sz="2900" dirty="0"/>
              <a:t>.</a:t>
            </a:r>
            <a:r>
              <a:rPr kumimoji="1" lang="zh-CN" altLang="en-US" sz="2900" dirty="0"/>
              <a:t> </a:t>
            </a:r>
            <a:r>
              <a:rPr lang="zh-CN" altLang="zh-CN" sz="2900" dirty="0"/>
              <a:t>目标右移与 PAD 忽略</a:t>
            </a:r>
            <a:endParaRPr kumimoji="1" lang="zh-CN" altLang="en-US" sz="2900" dirty="0"/>
          </a:p>
        </p:txBody>
      </p:sp>
      <p:pic>
        <p:nvPicPr>
          <p:cNvPr id="6" name="内容占位符 5">
            <a:extLst>
              <a:ext uri="{FF2B5EF4-FFF2-40B4-BE49-F238E27FC236}">
                <a16:creationId xmlns:a16="http://schemas.microsoft.com/office/drawing/2014/main" id="{8DB3B586-2732-9A43-C60C-0EEC4130E3E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35442"/>
            <a:ext cx="5568024" cy="6022557"/>
          </a:xfrm>
          <a:prstGeom prst="rect">
            <a:avLst/>
          </a:prstGeom>
        </p:spPr>
      </p:pic>
      <p:pic>
        <p:nvPicPr>
          <p:cNvPr id="8" name="内容占位符 7">
            <a:extLst>
              <a:ext uri="{FF2B5EF4-FFF2-40B4-BE49-F238E27FC236}">
                <a16:creationId xmlns:a16="http://schemas.microsoft.com/office/drawing/2014/main" id="{C0818959-762C-B2E3-D112-F46A2A8D7713}"/>
              </a:ext>
            </a:extLst>
          </p:cNvPr>
          <p:cNvPicPr>
            <a:picLocks noGrp="1" noChangeAspect="1"/>
          </p:cNvPicPr>
          <p:nvPr>
            <p:ph idx="14"/>
          </p:nvPr>
        </p:nvPicPr>
        <p:blipFill>
          <a:blip r:embed="rId3">
            <a:extLst>
              <a:ext uri="{28A0092B-C50C-407E-A947-70E740481C1C}">
                <a14:useLocalDpi xmlns:a14="http://schemas.microsoft.com/office/drawing/2010/main" val="0"/>
              </a:ext>
            </a:extLst>
          </a:blip>
          <a:stretch>
            <a:fillRect/>
          </a:stretch>
        </p:blipFill>
        <p:spPr>
          <a:xfrm>
            <a:off x="5666864" y="1777069"/>
            <a:ext cx="6091750" cy="5080930"/>
          </a:xfrm>
          <a:prstGeom prst="rect">
            <a:avLst/>
          </a:prstGeom>
        </p:spPr>
      </p:pic>
    </p:spTree>
    <p:extLst>
      <p:ext uri="{BB962C8B-B14F-4D97-AF65-F5344CB8AC3E}">
        <p14:creationId xmlns:p14="http://schemas.microsoft.com/office/powerpoint/2010/main" val="180130053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3C6D2F9-FD81-2C30-864A-B047DF7F5C15}"/>
              </a:ext>
            </a:extLst>
          </p:cNvPr>
          <p:cNvSpPr>
            <a:spLocks noGrp="1"/>
          </p:cNvSpPr>
          <p:nvPr>
            <p:ph type="title"/>
          </p:nvPr>
        </p:nvSpPr>
        <p:spPr>
          <a:xfrm>
            <a:off x="334257" y="97129"/>
            <a:ext cx="10054800" cy="651600"/>
          </a:xfrm>
        </p:spPr>
        <p:txBody>
          <a:bodyPr anchor="ctr">
            <a:normAutofit fontScale="90000"/>
          </a:bodyPr>
          <a:lstStyle/>
          <a:p>
            <a:r>
              <a:rPr kumimoji="1" lang="zh-CN" altLang="en-US" dirty="0"/>
              <a:t>实操七</a:t>
            </a:r>
            <a:r>
              <a:rPr kumimoji="1" lang="en-US" altLang="zh-CN" dirty="0"/>
              <a:t>.</a:t>
            </a:r>
            <a:r>
              <a:rPr kumimoji="1" lang="zh-CN" altLang="en-US" dirty="0"/>
              <a:t> </a:t>
            </a:r>
            <a:r>
              <a:rPr kumimoji="1" lang="en-US" altLang="zh-CN" dirty="0"/>
              <a:t>10</a:t>
            </a:r>
            <a:r>
              <a:rPr kumimoji="1" lang="zh-CN" altLang="en-US" dirty="0"/>
              <a:t>句翻译与结果分析</a:t>
            </a:r>
            <a:br>
              <a:rPr kumimoji="1" lang="en-US" altLang="zh-CN" dirty="0"/>
            </a:br>
            <a:r>
              <a:rPr kumimoji="1" lang="zh-CN" altLang="en-US" sz="1300" dirty="0"/>
              <a:t>（说明：本实操继续使用 </a:t>
            </a:r>
            <a:r>
              <a:rPr kumimoji="1" lang="en-US" altLang="zh-CN" sz="1300" dirty="0"/>
              <a:t>2 </a:t>
            </a:r>
            <a:r>
              <a:rPr kumimoji="1" lang="en" altLang="zh-CN" sz="1300" dirty="0"/>
              <a:t>epoch </a:t>
            </a:r>
            <a:r>
              <a:rPr kumimoji="1" lang="zh-CN" altLang="en-US" sz="1300" dirty="0"/>
              <a:t>快速验证模型。）</a:t>
            </a:r>
          </a:p>
        </p:txBody>
      </p:sp>
      <p:pic>
        <p:nvPicPr>
          <p:cNvPr id="6" name="内容占位符 5">
            <a:extLst>
              <a:ext uri="{FF2B5EF4-FFF2-40B4-BE49-F238E27FC236}">
                <a16:creationId xmlns:a16="http://schemas.microsoft.com/office/drawing/2014/main" id="{332620F3-61AE-C4A5-6FB5-3CE66D7A83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460261" y="954174"/>
            <a:ext cx="5271477" cy="5653060"/>
          </a:xfrm>
          <a:prstGeom prst="rect">
            <a:avLst/>
          </a:prstGeom>
          <a:noFill/>
        </p:spPr>
      </p:pic>
    </p:spTree>
    <p:extLst>
      <p:ext uri="{BB962C8B-B14F-4D97-AF65-F5344CB8AC3E}">
        <p14:creationId xmlns:p14="http://schemas.microsoft.com/office/powerpoint/2010/main" val="12867191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BCCFA135-D995-48D4-9064-5E35FE339612}"/>
              </a:ext>
            </a:extLst>
          </p:cNvPr>
          <p:cNvSpPr>
            <a:spLocks noGrp="1"/>
          </p:cNvSpPr>
          <p:nvPr>
            <p:ph type="ctrTitle"/>
          </p:nvPr>
        </p:nvSpPr>
        <p:spPr>
          <a:xfrm>
            <a:off x="743998" y="2437162"/>
            <a:ext cx="9144000" cy="1369981"/>
          </a:xfrm>
        </p:spPr>
        <p:txBody>
          <a:bodyPr>
            <a:normAutofit fontScale="90000"/>
          </a:bodyPr>
          <a:lstStyle/>
          <a:p>
            <a:r>
              <a:t>加载权重 → 数值验证 → 优化训练 → 验证翻译</a:t>
            </a:r>
          </a:p>
          <a:p>
            <a:r>
              <a:t>完成第三课四项任务</a:t>
            </a:r>
          </a:p>
        </p:txBody>
      </p:sp>
    </p:spTree>
    <p:extLst>
      <p:ext uri="{BB962C8B-B14F-4D97-AF65-F5344CB8AC3E}">
        <p14:creationId xmlns:p14="http://schemas.microsoft.com/office/powerpoint/2010/main" val="775055501"/>
      </p:ext>
    </p:extLst>
  </p:cSld>
  <p:clrMapOvr>
    <a:masterClrMapping/>
  </p:clrMapOvr>
</p:sld>
</file>

<file path=ppt/theme/theme1.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1_Office 主题​​">
  <a:themeElements>
    <a:clrScheme name="自定义 1">
      <a:dk1>
        <a:srgbClr val="000000"/>
      </a:dk1>
      <a:lt1>
        <a:srgbClr val="FFFFFF"/>
      </a:lt1>
      <a:dk2>
        <a:srgbClr val="1E8E94"/>
      </a:dk2>
      <a:lt2>
        <a:srgbClr val="E5E6E9"/>
      </a:lt2>
      <a:accent1>
        <a:srgbClr val="660874"/>
      </a:accent1>
      <a:accent2>
        <a:srgbClr val="A4D487"/>
      </a:accent2>
      <a:accent3>
        <a:srgbClr val="48BB00"/>
      </a:accent3>
      <a:accent4>
        <a:srgbClr val="A894B1"/>
      </a:accent4>
      <a:accent5>
        <a:srgbClr val="1E8E94"/>
      </a:accent5>
      <a:accent6>
        <a:srgbClr val="E5E6E9"/>
      </a:accent6>
      <a:hlink>
        <a:srgbClr val="48BB00"/>
      </a:hlink>
      <a:folHlink>
        <a:srgbClr val="660874"/>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18190</TotalTime>
  <Words>12636</Words>
  <Application>Microsoft Macintosh PowerPoint</Application>
  <DocSecurity>0</DocSecurity>
  <PresentationFormat>宽屏</PresentationFormat>
  <Paragraphs>1049</Paragraphs>
  <Slides>48</Slides>
  <Notes>39</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48</vt:i4>
      </vt:variant>
    </vt:vector>
  </HeadingPairs>
  <TitlesOfParts>
    <vt:vector size="56" baseType="lpstr">
      <vt:lpstr>思源黑体 CN Regular</vt:lpstr>
      <vt:lpstr>Source Han Sans CN</vt:lpstr>
      <vt:lpstr>ZapfDingbatsITC</vt:lpstr>
      <vt:lpstr>AppleSymbols</vt:lpstr>
      <vt:lpstr>Arial</vt:lpstr>
      <vt:lpstr>Helvetica</vt:lpstr>
      <vt:lpstr>1_Office 主题​​</vt:lpstr>
      <vt:lpstr>自定义设计方案</vt:lpstr>
      <vt:lpstr>第三课：国产 GPU 上的 Encoder–Decoder 翻译训练与验证</vt:lpstr>
      <vt:lpstr>一.加载权重</vt:lpstr>
      <vt:lpstr>1.1 第三课从第二课的训练产物继续</vt:lpstr>
      <vt:lpstr>1.2 90分钟围绕六个流程展开</vt:lpstr>
      <vt:lpstr>1.3 加载权重前，三类文件必须配套</vt:lpstr>
      <vt:lpstr>1.3实操 1：确认 checkpoint、词表与 BPE 配套</vt:lpstr>
      <vt:lpstr>1.4加载模型：先恢复结构，再装入训练好的权重</vt:lpstr>
      <vt:lpstr>1.4实操 2：按 settings 重建模型并加载权重</vt:lpstr>
      <vt:lpstr>1.5 加载成功，只是模型验证的第一步</vt:lpstr>
      <vt:lpstr>二.数值验证</vt:lpstr>
      <vt:lpstr>2.1 数值验证要回答三个具体问题</vt:lpstr>
      <vt:lpstr>2.2 Attention先检查shape与归一化</vt:lpstr>
      <vt:lpstr>2.3 被Mask的位置权重必须接近0</vt:lpstr>
      <vt:lpstr>2.4 Decoder 为什么需要两种 Mask？</vt:lpstr>
      <vt:lpstr>实操 3-A：构造 Padding Mask 与 Causal Mask</vt:lpstr>
      <vt:lpstr>2.5 数值验证通过的最低标准</vt:lpstr>
      <vt:lpstr>实操 3-B：Attention 数值验证</vt:lpstr>
      <vt:lpstr>三.损失与收敛</vt:lpstr>
      <vt:lpstr>3.1 目标右移一位，loss才是在预测下一个词</vt:lpstr>
      <vt:lpstr>实操 4：验证 Decoder 目标右移</vt:lpstr>
      <vt:lpstr>3.2 loss与accuracy都必须忽略PAD</vt:lpstr>
      <vt:lpstr>实操 5：验证 Loss 与 Accuracy 忽略 PAD</vt:lpstr>
      <vt:lpstr>3.3 收敛变化要看连续验证趋势</vt:lpstr>
      <vt:lpstr>实操 6：10 epoch 验证日志与最佳模型选择</vt:lpstr>
      <vt:lpstr>实操 6：10 epoch 验证日志与最佳模型选择</vt:lpstr>
      <vt:lpstr>四.训练技巧</vt:lpstr>
      <vt:lpstr>4.1 Batch训练：一次并行处理多条句对</vt:lpstr>
      <vt:lpstr>4.2 用mx-smi判断Batch是否合适</vt:lpstr>
      <vt:lpstr>4.3 梯度累积：显存不够时模拟大Batch</vt:lpstr>
      <vt:lpstr>4.4 学习率调度：先Warmup再衰减</vt:lpstr>
      <vt:lpstr>4.5 Warmup太短或太长会怎样？</vt:lpstr>
      <vt:lpstr>4.6 三个训练参数分别管什么？</vt:lpstr>
      <vt:lpstr>五.验证与翻译（10分钟）</vt:lpstr>
      <vt:lpstr>5.1 训练结束后，选哪一轮模型？</vt:lpstr>
      <vt:lpstr>5.2 实际翻译：从BOS开始，逐词生成</vt:lpstr>
      <vt:lpstr>5.3 指标与译文必须一起验收</vt:lpstr>
      <vt:lpstr>六.课堂回顾与任务验收</vt:lpstr>
      <vt:lpstr>6.1课堂回顾</vt:lpstr>
      <vt:lpstr>6.2 任务验收</vt:lpstr>
      <vt:lpstr>七.附录</vt:lpstr>
      <vt:lpstr>实操1. checkpoint、词表与 PAD 配套  </vt:lpstr>
      <vt:lpstr>实操2. 按 settings 重建模型并加载权重 </vt:lpstr>
      <vt:lpstr>实操 3-AB. Attention 与 Mask 数值验证 </vt:lpstr>
      <vt:lpstr>实操3-AB. Attention 与 Mask 数值验证</vt:lpstr>
      <vt:lpstr>实操 4–5 ：目标右移与 PAD 忽略.  </vt:lpstr>
      <vt:lpstr>实操 4–5. 目标右移与 PAD 忽略</vt:lpstr>
      <vt:lpstr>实操七. 10句翻译与结果分析 （说明：本实操继续使用 2 epoch 快速验证模型。）</vt:lpstr>
      <vt:lpstr>加载权重 → 数值验证 → 优化训练 → 验证翻译 完成第三课四项任务</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Xinyi Liu (SDS,123090366)</cp:lastModifiedBy>
  <cp:revision>17</cp:revision>
  <dcterms:created xsi:type="dcterms:W3CDTF">2026-08-11T05:13:03Z</dcterms:created>
  <dcterms:modified xsi:type="dcterms:W3CDTF">2026-08-24T07:19:16Z</dcterms:modified>
</cp:coreProperties>
</file>